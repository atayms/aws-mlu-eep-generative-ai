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45"/>
  </p:notesMasterIdLst>
  <p:sldIdLst>
    <p:sldId id="256" r:id="rId2"/>
    <p:sldId id="413" r:id="rId3"/>
    <p:sldId id="2147482858" r:id="rId4"/>
    <p:sldId id="2147482859" r:id="rId5"/>
    <p:sldId id="385" r:id="rId6"/>
    <p:sldId id="2147482819" r:id="rId7"/>
    <p:sldId id="2147482821" r:id="rId8"/>
    <p:sldId id="2147482823" r:id="rId9"/>
    <p:sldId id="2147482824" r:id="rId10"/>
    <p:sldId id="2147482825" r:id="rId11"/>
    <p:sldId id="2147482827" r:id="rId12"/>
    <p:sldId id="2147482803" r:id="rId13"/>
    <p:sldId id="2147482820" r:id="rId14"/>
    <p:sldId id="2147482828" r:id="rId15"/>
    <p:sldId id="2147482830" r:id="rId16"/>
    <p:sldId id="2147482834" r:id="rId17"/>
    <p:sldId id="2147482836" r:id="rId18"/>
    <p:sldId id="2147482832" r:id="rId19"/>
    <p:sldId id="2147482835" r:id="rId20"/>
    <p:sldId id="2147482833" r:id="rId21"/>
    <p:sldId id="2147482837" r:id="rId22"/>
    <p:sldId id="2147482838" r:id="rId23"/>
    <p:sldId id="2147482839" r:id="rId24"/>
    <p:sldId id="2147482840" r:id="rId25"/>
    <p:sldId id="2147482841" r:id="rId26"/>
    <p:sldId id="2147482842" r:id="rId27"/>
    <p:sldId id="2147482846" r:id="rId28"/>
    <p:sldId id="2147482847" r:id="rId29"/>
    <p:sldId id="2147482850" r:id="rId30"/>
    <p:sldId id="2147482851" r:id="rId31"/>
    <p:sldId id="2147482852" r:id="rId32"/>
    <p:sldId id="2147482853" r:id="rId33"/>
    <p:sldId id="2147482854" r:id="rId34"/>
    <p:sldId id="2147482855" r:id="rId35"/>
    <p:sldId id="2147482848" r:id="rId36"/>
    <p:sldId id="2147482849" r:id="rId37"/>
    <p:sldId id="2147482856" r:id="rId38"/>
    <p:sldId id="2147482857" r:id="rId39"/>
    <p:sldId id="2147482845" r:id="rId40"/>
    <p:sldId id="2147482843" r:id="rId41"/>
    <p:sldId id="2147482844" r:id="rId42"/>
    <p:sldId id="4042" r:id="rId43"/>
    <p:sldId id="26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57756" autoAdjust="0"/>
  </p:normalViewPr>
  <p:slideViewPr>
    <p:cSldViewPr snapToGrid="0">
      <p:cViewPr varScale="1">
        <p:scale>
          <a:sx n="65" d="100"/>
          <a:sy n="65" d="100"/>
        </p:scale>
        <p:origin x="240" y="2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Multimodal Embeddings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25400" cap="rnd">
              <a:noFill/>
              <a:round/>
            </a:ln>
            <a:effectLst/>
          </c:spPr>
          <c:marker>
            <c:symbol val="circle"/>
            <c:size val="5"/>
            <c:spPr>
              <a:solidFill>
                <a:schemeClr val="accent1">
                  <a:shade val="80000"/>
                  <a:satMod val="150000"/>
                </a:schemeClr>
              </a:solidFill>
              <a:ln w="9525">
                <a:solidFill>
                  <a:schemeClr val="accent1"/>
                </a:solidFill>
                <a:round/>
              </a:ln>
              <a:effectLst/>
            </c:spPr>
          </c:marker>
          <c:xVal>
            <c:numRef>
              <c:f>Sheet1!$A$2:$A$21</c:f>
              <c:numCache>
                <c:formatCode>General</c:formatCode>
                <c:ptCount val="20"/>
                <c:pt idx="0">
                  <c:v>0.12</c:v>
                </c:pt>
                <c:pt idx="1">
                  <c:v>0.25</c:v>
                </c:pt>
                <c:pt idx="2">
                  <c:v>0.38</c:v>
                </c:pt>
                <c:pt idx="3">
                  <c:v>0.51</c:v>
                </c:pt>
                <c:pt idx="4">
                  <c:v>0.64</c:v>
                </c:pt>
                <c:pt idx="5">
                  <c:v>0.77</c:v>
                </c:pt>
                <c:pt idx="6">
                  <c:v>0.89</c:v>
                </c:pt>
                <c:pt idx="7">
                  <c:v>0.15</c:v>
                </c:pt>
                <c:pt idx="8">
                  <c:v>0.32</c:v>
                </c:pt>
                <c:pt idx="9">
                  <c:v>0.47</c:v>
                </c:pt>
                <c:pt idx="10">
                  <c:v>0.61</c:v>
                </c:pt>
                <c:pt idx="11">
                  <c:v>0.74</c:v>
                </c:pt>
                <c:pt idx="12">
                  <c:v>0.22</c:v>
                </c:pt>
                <c:pt idx="13">
                  <c:v>0.36</c:v>
                </c:pt>
                <c:pt idx="14">
                  <c:v>0.53</c:v>
                </c:pt>
                <c:pt idx="15">
                  <c:v>0.68</c:v>
                </c:pt>
                <c:pt idx="16">
                  <c:v>0.81</c:v>
                </c:pt>
                <c:pt idx="17">
                  <c:v>0.94</c:v>
                </c:pt>
                <c:pt idx="18">
                  <c:v>0.18</c:v>
                </c:pt>
                <c:pt idx="19">
                  <c:v>0.28999999999999998</c:v>
                </c:pt>
              </c:numCache>
            </c:numRef>
          </c:xVal>
          <c:yVal>
            <c:numRef>
              <c:f>Sheet1!$B$2:$B$21</c:f>
              <c:numCache>
                <c:formatCode>General</c:formatCode>
                <c:ptCount val="20"/>
                <c:pt idx="0">
                  <c:v>0.87</c:v>
                </c:pt>
                <c:pt idx="1">
                  <c:v>0.34</c:v>
                </c:pt>
                <c:pt idx="2">
                  <c:v>0.62</c:v>
                </c:pt>
                <c:pt idx="3">
                  <c:v>0.19</c:v>
                </c:pt>
                <c:pt idx="4">
                  <c:v>0.76</c:v>
                </c:pt>
                <c:pt idx="5">
                  <c:v>0.43</c:v>
                </c:pt>
                <c:pt idx="6">
                  <c:v>0.28000000000000003</c:v>
                </c:pt>
                <c:pt idx="7">
                  <c:v>0.55000000000000004</c:v>
                </c:pt>
                <c:pt idx="8">
                  <c:v>0.71</c:v>
                </c:pt>
                <c:pt idx="9">
                  <c:v>0.39</c:v>
                </c:pt>
                <c:pt idx="10">
                  <c:v>0.92</c:v>
                </c:pt>
                <c:pt idx="11">
                  <c:v>0.11</c:v>
                </c:pt>
                <c:pt idx="12">
                  <c:v>0.48</c:v>
                </c:pt>
                <c:pt idx="13">
                  <c:v>0.83</c:v>
                </c:pt>
                <c:pt idx="14">
                  <c:v>0.26</c:v>
                </c:pt>
                <c:pt idx="15">
                  <c:v>0.59</c:v>
                </c:pt>
                <c:pt idx="16">
                  <c:v>0.77</c:v>
                </c:pt>
                <c:pt idx="17">
                  <c:v>0.32</c:v>
                </c:pt>
                <c:pt idx="18">
                  <c:v>0.65</c:v>
                </c:pt>
                <c:pt idx="19">
                  <c:v>0.41</c:v>
                </c:pt>
              </c:numCache>
            </c:numRef>
          </c:yVal>
          <c:smooth val="0"/>
          <c:extLst>
            <c:ext xmlns:c16="http://schemas.microsoft.com/office/drawing/2014/chart" uri="{C3380CC4-5D6E-409C-BE32-E72D297353CC}">
              <c16:uniqueId val="{00000000-A22E-F047-9F22-1CBAF492009F}"/>
            </c:ext>
          </c:extLst>
        </c:ser>
        <c:dLbls>
          <c:showLegendKey val="0"/>
          <c:showVal val="0"/>
          <c:showCatName val="0"/>
          <c:showSerName val="0"/>
          <c:showPercent val="0"/>
          <c:showBubbleSize val="0"/>
        </c:dLbls>
        <c:axId val="522007039"/>
        <c:axId val="414671888"/>
      </c:scatterChart>
      <c:valAx>
        <c:axId val="522007039"/>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14671888"/>
        <c:crosses val="autoZero"/>
        <c:crossBetween val="midCat"/>
      </c:valAx>
      <c:valAx>
        <c:axId val="414671888"/>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2200703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Multimodal Embeddings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25400" cap="rnd">
              <a:noFill/>
              <a:round/>
            </a:ln>
            <a:effectLst/>
          </c:spPr>
          <c:marker>
            <c:symbol val="circle"/>
            <c:size val="5"/>
            <c:spPr>
              <a:solidFill>
                <a:schemeClr val="accent1">
                  <a:shade val="80000"/>
                  <a:satMod val="150000"/>
                </a:schemeClr>
              </a:solidFill>
              <a:ln w="9525">
                <a:solidFill>
                  <a:schemeClr val="accent1"/>
                </a:solidFill>
                <a:round/>
              </a:ln>
              <a:effectLst/>
            </c:spPr>
          </c:marker>
          <c:xVal>
            <c:numRef>
              <c:f>Sheet1!$A$2:$A$21</c:f>
              <c:numCache>
                <c:formatCode>General</c:formatCode>
                <c:ptCount val="20"/>
                <c:pt idx="0">
                  <c:v>0.12</c:v>
                </c:pt>
                <c:pt idx="1">
                  <c:v>0.25</c:v>
                </c:pt>
                <c:pt idx="2">
                  <c:v>0.38</c:v>
                </c:pt>
                <c:pt idx="3">
                  <c:v>0.51</c:v>
                </c:pt>
                <c:pt idx="4">
                  <c:v>0.64</c:v>
                </c:pt>
                <c:pt idx="5">
                  <c:v>0.77</c:v>
                </c:pt>
                <c:pt idx="6">
                  <c:v>0.89</c:v>
                </c:pt>
                <c:pt idx="7">
                  <c:v>0.15</c:v>
                </c:pt>
                <c:pt idx="8">
                  <c:v>0.32</c:v>
                </c:pt>
                <c:pt idx="9">
                  <c:v>0.47</c:v>
                </c:pt>
                <c:pt idx="10">
                  <c:v>0.61</c:v>
                </c:pt>
                <c:pt idx="11">
                  <c:v>0.74</c:v>
                </c:pt>
                <c:pt idx="12">
                  <c:v>0.22</c:v>
                </c:pt>
                <c:pt idx="13">
                  <c:v>0.36</c:v>
                </c:pt>
                <c:pt idx="14">
                  <c:v>0.53</c:v>
                </c:pt>
                <c:pt idx="15">
                  <c:v>0.68</c:v>
                </c:pt>
                <c:pt idx="16">
                  <c:v>0.81</c:v>
                </c:pt>
                <c:pt idx="17">
                  <c:v>0.94</c:v>
                </c:pt>
                <c:pt idx="18">
                  <c:v>0.18</c:v>
                </c:pt>
                <c:pt idx="19">
                  <c:v>0.28999999999999998</c:v>
                </c:pt>
              </c:numCache>
            </c:numRef>
          </c:xVal>
          <c:yVal>
            <c:numRef>
              <c:f>Sheet1!$B$2:$B$21</c:f>
              <c:numCache>
                <c:formatCode>General</c:formatCode>
                <c:ptCount val="20"/>
                <c:pt idx="0">
                  <c:v>0.87</c:v>
                </c:pt>
                <c:pt idx="1">
                  <c:v>0.34</c:v>
                </c:pt>
                <c:pt idx="2">
                  <c:v>0.62</c:v>
                </c:pt>
                <c:pt idx="3">
                  <c:v>0.19</c:v>
                </c:pt>
                <c:pt idx="4">
                  <c:v>0.76</c:v>
                </c:pt>
                <c:pt idx="5">
                  <c:v>0.43</c:v>
                </c:pt>
                <c:pt idx="6">
                  <c:v>0.28000000000000003</c:v>
                </c:pt>
                <c:pt idx="7">
                  <c:v>0.55000000000000004</c:v>
                </c:pt>
                <c:pt idx="8">
                  <c:v>0.71</c:v>
                </c:pt>
                <c:pt idx="9">
                  <c:v>0.39</c:v>
                </c:pt>
                <c:pt idx="10">
                  <c:v>0.92</c:v>
                </c:pt>
                <c:pt idx="11">
                  <c:v>0.11</c:v>
                </c:pt>
                <c:pt idx="12">
                  <c:v>0.48</c:v>
                </c:pt>
                <c:pt idx="13">
                  <c:v>0.83</c:v>
                </c:pt>
                <c:pt idx="14">
                  <c:v>0.26</c:v>
                </c:pt>
                <c:pt idx="15">
                  <c:v>0.59</c:v>
                </c:pt>
                <c:pt idx="16">
                  <c:v>0.77</c:v>
                </c:pt>
                <c:pt idx="17">
                  <c:v>0.32</c:v>
                </c:pt>
                <c:pt idx="18">
                  <c:v>0.65</c:v>
                </c:pt>
                <c:pt idx="19">
                  <c:v>0.41</c:v>
                </c:pt>
              </c:numCache>
            </c:numRef>
          </c:yVal>
          <c:smooth val="0"/>
          <c:extLst>
            <c:ext xmlns:c16="http://schemas.microsoft.com/office/drawing/2014/chart" uri="{C3380CC4-5D6E-409C-BE32-E72D297353CC}">
              <c16:uniqueId val="{00000000-623E-E64F-8D1D-885D917A9FB6}"/>
            </c:ext>
          </c:extLst>
        </c:ser>
        <c:dLbls>
          <c:showLegendKey val="0"/>
          <c:showVal val="0"/>
          <c:showCatName val="0"/>
          <c:showSerName val="0"/>
          <c:showPercent val="0"/>
          <c:showBubbleSize val="0"/>
        </c:dLbls>
        <c:axId val="522007039"/>
        <c:axId val="414671888"/>
      </c:scatterChart>
      <c:valAx>
        <c:axId val="522007039"/>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14671888"/>
        <c:crosses val="autoZero"/>
        <c:crossBetween val="midCat"/>
      </c:valAx>
      <c:valAx>
        <c:axId val="414671888"/>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2200703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10/1/25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models and large language models are at the core of generative AI. These powerful models serve as the foundation for numerous advanced applications, enabling us to tackle challenging tasks more effectively. Foundation models and large language models are versatile and can be adapted to various domains. This presentation delves into the concepts and capabilities of these models, which are driving innovation in the field of generative AI.</a:t>
            </a:r>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Core Components of a Simple Chatbot</a:t>
            </a:r>
          </a:p>
          <a:p>
            <a:r>
              <a:rPr lang="en-US" dirty="0"/>
              <a:t>- Large Language Model (LLM)</a:t>
            </a:r>
          </a:p>
          <a:p>
            <a:r>
              <a:rPr lang="en-US" dirty="0"/>
              <a:t>   * Forms the AI foundation of the chatbot</a:t>
            </a:r>
          </a:p>
          <a:p>
            <a:r>
              <a:rPr lang="en-US" dirty="0"/>
              <a:t>   * Processes and generates human-like text</a:t>
            </a:r>
          </a:p>
          <a:p>
            <a:r>
              <a:rPr lang="en-US" dirty="0"/>
              <a:t>- Prompt Template</a:t>
            </a:r>
          </a:p>
          <a:p>
            <a:r>
              <a:rPr lang="en-US" dirty="0"/>
              <a:t>   * Defines the chatbot's role and behavior</a:t>
            </a:r>
          </a:p>
          <a:p>
            <a:r>
              <a:rPr lang="en-US" dirty="0"/>
              <a:t>   * Sets guidelines and parameters for responses</a:t>
            </a:r>
          </a:p>
          <a:p>
            <a:r>
              <a:rPr lang="en-US" dirty="0"/>
              <a:t>   * Ensures consistent interaction style</a:t>
            </a:r>
          </a:p>
          <a:p>
            <a:r>
              <a:rPr lang="en-US" dirty="0"/>
              <a:t>- Memory Module</a:t>
            </a:r>
          </a:p>
          <a:p>
            <a:r>
              <a:rPr lang="en-US" dirty="0"/>
              <a:t>   * Maintains context across conversations</a:t>
            </a:r>
          </a:p>
          <a:p>
            <a:r>
              <a:rPr lang="en-US" dirty="0"/>
              <a:t>   * Stores relevant information from previous exchanges</a:t>
            </a:r>
          </a:p>
          <a:p>
            <a:endParaRPr lang="en-US" dirty="0"/>
          </a:p>
          <a:p>
            <a:r>
              <a:rPr lang="en-US" dirty="0"/>
              <a:t>2. Flow of Operation</a:t>
            </a:r>
          </a:p>
          <a:p>
            <a:r>
              <a:rPr lang="en-US" dirty="0"/>
              <a:t>- User provides input</a:t>
            </a:r>
          </a:p>
          <a:p>
            <a:r>
              <a:rPr lang="en-US" dirty="0"/>
              <a:t>- Input is processed through the prompt template</a:t>
            </a:r>
          </a:p>
          <a:p>
            <a:r>
              <a:rPr lang="en-US" dirty="0"/>
              <a:t>- Memory module provides contextual information</a:t>
            </a:r>
          </a:p>
          <a:p>
            <a:r>
              <a:rPr lang="en-US" dirty="0"/>
              <a:t>- LLM generates appropriate response</a:t>
            </a:r>
          </a:p>
          <a:p>
            <a:r>
              <a:rPr lang="en-US" dirty="0"/>
              <a:t>- Response is delivered to user</a:t>
            </a:r>
          </a:p>
          <a:p>
            <a:endParaRPr lang="en-US" dirty="0"/>
          </a:p>
          <a:p>
            <a:r>
              <a:rPr lang="en-US" dirty="0"/>
              <a:t>3. Key Points</a:t>
            </a:r>
          </a:p>
          <a:p>
            <a:r>
              <a:rPr lang="en-US" dirty="0"/>
              <a:t>- Simplicity in design doesn't compromise functionality</a:t>
            </a:r>
          </a:p>
          <a:p>
            <a:r>
              <a:rPr lang="en-US" dirty="0"/>
              <a:t>- Each component serves a specific, essential purpose</a:t>
            </a:r>
          </a:p>
          <a:p>
            <a:r>
              <a:rPr lang="en-US" dirty="0"/>
              <a:t>- Integration of components creates seamless interaction</a:t>
            </a:r>
          </a:p>
          <a:p>
            <a:r>
              <a:rPr lang="en-US" dirty="0"/>
              <a:t>- Memory enables more natural, context-aware conversations</a:t>
            </a:r>
          </a:p>
          <a:p>
            <a:endParaRPr lang="en-US" b="1" dirty="0"/>
          </a:p>
          <a:p>
            <a:r>
              <a:rPr lang="en-US" b="1" dirty="0"/>
              <a:t>EDUCATOR NOTES:</a:t>
            </a:r>
          </a:p>
          <a:p>
            <a:endParaRPr lang="en-US" dirty="0"/>
          </a:p>
          <a:p>
            <a:r>
              <a:rPr lang="en-US" dirty="0"/>
              <a:t>”Now we’ll review the fundamental components that make up a basic chatbot system. While this may seem simple with just three main components, each plays a crucial role in creating an effective conversational AI.</a:t>
            </a:r>
          </a:p>
          <a:p>
            <a:endParaRPr lang="en-US" dirty="0"/>
          </a:p>
          <a:p>
            <a:r>
              <a:rPr lang="en-US" dirty="0"/>
              <a:t>The LLM is our powerhouse - it's what enables the chatbot to understand and generate human-like responses. The prompt template acts as the chatbot's personality and rule book, ensuring it stays on track and maintains its intended purpose. Finally, the memory module is what gives our chatbot continuity, allowing it to remember previous parts of the conversation and provide more coherent, contextual responses.</a:t>
            </a:r>
          </a:p>
          <a:p>
            <a:endParaRPr lang="en-US" dirty="0"/>
          </a:p>
          <a:p>
            <a:r>
              <a:rPr lang="en-US" dirty="0"/>
              <a:t>As shown in the diagram, these components work together in a synchronized flow, from receiving user input to delivering appropriate responses. This basic architecture can be enhanced with additional features, but these three components form the essential foundation of any functional chatbot system.</a:t>
            </a:r>
          </a:p>
          <a:p>
            <a:endParaRPr lang="en-US" dirty="0"/>
          </a:p>
          <a:p>
            <a:r>
              <a:rPr lang="en-US" dirty="0"/>
              <a:t>Remember, while the system appears straightforward, the sophistication lies in how these components interact and complement each other to create a natural conversational experience."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4080458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Main Components:</a:t>
            </a:r>
          </a:p>
          <a:p>
            <a:r>
              <a:rPr lang="en-US" dirty="0"/>
              <a:t>1. Title: Chatting with your source documents. Key Point: "Prompt with the entire text of the document(s)"</a:t>
            </a:r>
          </a:p>
          <a:p>
            <a:endParaRPr lang="en-US" dirty="0"/>
          </a:p>
          <a:p>
            <a:r>
              <a:rPr lang="en-US" dirty="0"/>
              <a:t>Flow Diagram Elements:</a:t>
            </a:r>
          </a:p>
          <a:p>
            <a:r>
              <a:rPr lang="en-US" dirty="0"/>
              <a:t>- User input (purple box on left)</a:t>
            </a:r>
          </a:p>
          <a:p>
            <a:r>
              <a:rPr lang="en-US" dirty="0"/>
              <a:t>- Chatbot system (central box) containing:</a:t>
            </a:r>
          </a:p>
          <a:p>
            <a:r>
              <a:rPr lang="en-US" dirty="0"/>
              <a:t>  * Memory component</a:t>
            </a:r>
          </a:p>
          <a:p>
            <a:r>
              <a:rPr lang="en-US" dirty="0"/>
              <a:t>  * Prompt processing</a:t>
            </a:r>
          </a:p>
          <a:p>
            <a:r>
              <a:rPr lang="en-US" dirty="0"/>
              <a:t>  * LLM component</a:t>
            </a:r>
          </a:p>
          <a:p>
            <a:r>
              <a:rPr lang="en-US" dirty="0"/>
              <a:t>- Response/output (purple box on right)</a:t>
            </a:r>
          </a:p>
          <a:p>
            <a:r>
              <a:rPr lang="en-US" dirty="0"/>
              <a:t>- Document input feeding into the prompt</a:t>
            </a:r>
          </a:p>
          <a:p>
            <a:r>
              <a:rPr lang="en-US" dirty="0"/>
              <a:t>- Red question: "How can this be a problem?"</a:t>
            </a:r>
          </a:p>
          <a:p>
            <a:endParaRPr lang="en-US" dirty="0"/>
          </a:p>
          <a:p>
            <a:r>
              <a:rPr lang="en-US" dirty="0"/>
              <a:t>Process Flow:</a:t>
            </a:r>
          </a:p>
          <a:p>
            <a:r>
              <a:rPr lang="en-US" dirty="0"/>
              <a:t>1. User provides input</a:t>
            </a:r>
          </a:p>
          <a:p>
            <a:r>
              <a:rPr lang="en-US" dirty="0"/>
              <a:t>2. Input goes to chatbot system</a:t>
            </a:r>
          </a:p>
          <a:p>
            <a:r>
              <a:rPr lang="en-US" dirty="0"/>
              <a:t>3. System processes input using:</a:t>
            </a:r>
          </a:p>
          <a:p>
            <a:r>
              <a:rPr lang="en-US" dirty="0"/>
              <a:t>   - Stored memory</a:t>
            </a:r>
          </a:p>
          <a:p>
            <a:r>
              <a:rPr lang="en-US" dirty="0"/>
              <a:t>   - Document content</a:t>
            </a:r>
          </a:p>
          <a:p>
            <a:r>
              <a:rPr lang="en-US" dirty="0"/>
              <a:t>   - Prompt engineering</a:t>
            </a:r>
          </a:p>
          <a:p>
            <a:r>
              <a:rPr lang="en-US" dirty="0"/>
              <a:t>4. AI processes information</a:t>
            </a:r>
          </a:p>
          <a:p>
            <a:r>
              <a:rPr lang="en-US" dirty="0"/>
              <a:t>5. Generates response/output</a:t>
            </a:r>
          </a:p>
          <a:p>
            <a:endParaRPr lang="en-US" b="1" dirty="0"/>
          </a:p>
          <a:p>
            <a:r>
              <a:rPr lang="en-US" b="1" dirty="0"/>
              <a:t>EDUCATOR NOTES:</a:t>
            </a:r>
          </a:p>
          <a:p>
            <a:endParaRPr lang="en-US" dirty="0"/>
          </a:p>
          <a:p>
            <a:r>
              <a:rPr lang="en-US" dirty="0"/>
              <a:t>"In this slide, we’re review the process of chatting with documents through an AI system. The diagram illustrates how user input, document content, and system memory come together in the prompt engineering process. The key challenge we need to consider is the implications of feeding entire documents into the prompt. This can lead to several issues such as:</a:t>
            </a:r>
          </a:p>
          <a:p>
            <a:r>
              <a:rPr lang="en-US" dirty="0"/>
              <a:t>- Token limitations</a:t>
            </a:r>
          </a:p>
          <a:p>
            <a:r>
              <a:rPr lang="en-US" dirty="0"/>
              <a:t>- Processing overhead</a:t>
            </a:r>
          </a:p>
          <a:p>
            <a:r>
              <a:rPr lang="en-US" dirty="0"/>
              <a:t>- Memory constraints</a:t>
            </a:r>
          </a:p>
          <a:p>
            <a:r>
              <a:rPr lang="en-US" dirty="0"/>
              <a:t>- Context window limitations</a:t>
            </a:r>
          </a:p>
          <a:p>
            <a:r>
              <a:rPr lang="en-US" dirty="0"/>
              <a:t>- Potential information overload</a:t>
            </a:r>
          </a:p>
          <a:p>
            <a:endParaRPr lang="en-US" dirty="0"/>
          </a:p>
          <a:p>
            <a:r>
              <a:rPr lang="en-US" dirty="0"/>
              <a:t>Understanding these challenges is crucial for developing effective document-based chat systems and implementing appropriate solutions for document handling and processing.</a:t>
            </a:r>
          </a:p>
          <a:p>
            <a:endParaRPr lang="en-US" dirty="0"/>
          </a:p>
          <a:p>
            <a:r>
              <a:rPr lang="en-US" dirty="0"/>
              <a:t>Start a discussion on how chatting with documents can be a problem"</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4</a:t>
            </a:fld>
            <a:endParaRPr lang="en-US"/>
          </a:p>
        </p:txBody>
      </p:sp>
    </p:spTree>
    <p:extLst>
      <p:ext uri="{BB962C8B-B14F-4D97-AF65-F5344CB8AC3E}">
        <p14:creationId xmlns:p14="http://schemas.microsoft.com/office/powerpoint/2010/main" val="820759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581051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Grounding</a:t>
            </a:r>
          </a:p>
          <a:p>
            <a:r>
              <a:rPr lang="en-US" dirty="0"/>
              <a:t>- A collection of techniques applied to Large Language Models (LLMs)</a:t>
            </a:r>
          </a:p>
          <a:p>
            <a:r>
              <a:rPr lang="en-US" dirty="0"/>
              <a:t>- Purpose: Ensure consistent and reliable output</a:t>
            </a:r>
          </a:p>
          <a:p>
            <a:r>
              <a:rPr lang="en-US" dirty="0"/>
              <a:t>- Fundamental to improving AI model performance</a:t>
            </a:r>
          </a:p>
          <a:p>
            <a:endParaRPr lang="en-US" dirty="0"/>
          </a:p>
          <a:p>
            <a:r>
              <a:rPr lang="en-US" dirty="0"/>
              <a:t>2. Key Components of Grounding:</a:t>
            </a:r>
          </a:p>
          <a:p>
            <a:r>
              <a:rPr lang="en-US" dirty="0"/>
              <a:t>a) Established Facts</a:t>
            </a:r>
          </a:p>
          <a:p>
            <a:r>
              <a:rPr lang="en-US" dirty="0"/>
              <a:t>- Focus on verifiable information</a:t>
            </a:r>
          </a:p>
          <a:p>
            <a:r>
              <a:rPr lang="en-US" dirty="0"/>
              <a:t>- Helps prevent AI hallucinations</a:t>
            </a:r>
          </a:p>
          <a:p>
            <a:r>
              <a:rPr lang="en-US" dirty="0"/>
              <a:t>- Based on documented and proven data</a:t>
            </a:r>
          </a:p>
          <a:p>
            <a:endParaRPr lang="en-US" dirty="0"/>
          </a:p>
          <a:p>
            <a:r>
              <a:rPr lang="en-US" dirty="0"/>
              <a:t>b) Common-sense Reasoning</a:t>
            </a:r>
          </a:p>
          <a:p>
            <a:r>
              <a:rPr lang="en-US" dirty="0"/>
              <a:t>- Logical thinking patterns</a:t>
            </a:r>
          </a:p>
          <a:p>
            <a:r>
              <a:rPr lang="en-US" dirty="0"/>
              <a:t>- Natural problem-solving approaches</a:t>
            </a:r>
          </a:p>
          <a:p>
            <a:r>
              <a:rPr lang="en-US" dirty="0"/>
              <a:t>- Practical decision-making capabilities</a:t>
            </a:r>
          </a:p>
          <a:p>
            <a:endParaRPr lang="en-US" dirty="0"/>
          </a:p>
          <a:p>
            <a:r>
              <a:rPr lang="en-US" dirty="0"/>
              <a:t>c) Real-world Context</a:t>
            </a:r>
          </a:p>
          <a:p>
            <a:r>
              <a:rPr lang="en-US" dirty="0"/>
              <a:t>- Situational awareness</a:t>
            </a:r>
          </a:p>
          <a:p>
            <a:r>
              <a:rPr lang="en-US" dirty="0"/>
              <a:t>- Understanding practical applications</a:t>
            </a:r>
          </a:p>
          <a:p>
            <a:r>
              <a:rPr lang="en-US" dirty="0"/>
              <a:t>- Environmental and circumstantial relevance</a:t>
            </a:r>
          </a:p>
          <a:p>
            <a:endParaRPr lang="en-US" dirty="0"/>
          </a:p>
          <a:p>
            <a:r>
              <a:rPr lang="en-US" dirty="0"/>
              <a:t>d) User Intent</a:t>
            </a:r>
          </a:p>
          <a:p>
            <a:r>
              <a:rPr lang="en-US" dirty="0"/>
              <a:t>- Understanding user requirements</a:t>
            </a:r>
          </a:p>
          <a:p>
            <a:r>
              <a:rPr lang="en-US" dirty="0"/>
              <a:t>- Aligning responses with user needs</a:t>
            </a:r>
          </a:p>
          <a:p>
            <a:r>
              <a:rPr lang="en-US" dirty="0"/>
              <a:t>- Contextual comprehension of queries</a:t>
            </a:r>
          </a:p>
          <a:p>
            <a:endParaRPr lang="en-US" dirty="0"/>
          </a:p>
          <a:p>
            <a:r>
              <a:rPr lang="en-US" b="1" dirty="0"/>
              <a:t>EDUCATOR NOTES:</a:t>
            </a:r>
          </a:p>
          <a:p>
            <a:endParaRPr lang="en-US" dirty="0"/>
          </a:p>
          <a:p>
            <a:r>
              <a:rPr lang="en-US" dirty="0"/>
              <a:t>”Now we're discussing the concept of 'grounding' in LLMs. This is a crucial aspect of AI development that ensures our models provide reliable, accurate, and contextually appropriate responses. The four pillars we'll focus on are established facts, common-sense reasoning, real-world context, and user intent. These elements work together to create a more trustworthy and effective AI system that can better serve user needs while minimizing the risk of hallucinations or incorrect information. Remember, grounding isn't just about accuracy – it's about creating AI systems that can truly understand and respond to human needs in a practical and meaningful way."</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6</a:t>
            </a:fld>
            <a:endParaRPr lang="en-US"/>
          </a:p>
        </p:txBody>
      </p:sp>
    </p:spTree>
    <p:extLst>
      <p:ext uri="{BB962C8B-B14F-4D97-AF65-F5344CB8AC3E}">
        <p14:creationId xmlns:p14="http://schemas.microsoft.com/office/powerpoint/2010/main" val="2732662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Introduction to Grounding</a:t>
            </a:r>
          </a:p>
          <a:p>
            <a:r>
              <a:rPr lang="en-US" dirty="0"/>
              <a:t>- Grounding is a fundamental concept in AI/ML that helps models connect to and work with real-world information</a:t>
            </a:r>
          </a:p>
          <a:p>
            <a:r>
              <a:rPr lang="en-US" dirty="0"/>
              <a:t>- Multiple approaches exist to achieve effective grounding</a:t>
            </a:r>
          </a:p>
          <a:p>
            <a:endParaRPr lang="en-US" dirty="0"/>
          </a:p>
          <a:p>
            <a:r>
              <a:rPr lang="en-US" dirty="0"/>
              <a:t>2. Main Methods of Grounding:</a:t>
            </a:r>
          </a:p>
          <a:p>
            <a:r>
              <a:rPr lang="en-US" dirty="0"/>
              <a:t>a) Prompt Engineering (In-context Learning)</a:t>
            </a:r>
          </a:p>
          <a:p>
            <a:r>
              <a:rPr lang="en-US" dirty="0"/>
              <a:t>   - Uses carefully crafted prompts to guide model behavior</a:t>
            </a:r>
          </a:p>
          <a:p>
            <a:r>
              <a:rPr lang="en-US" dirty="0"/>
              <a:t>   - Helps models understand context and generate appropriate responses</a:t>
            </a:r>
          </a:p>
          <a:p>
            <a:r>
              <a:rPr lang="en-US" dirty="0"/>
              <a:t>   </a:t>
            </a:r>
          </a:p>
          <a:p>
            <a:r>
              <a:rPr lang="en-US" dirty="0"/>
              <a:t>b) Fine Tuning</a:t>
            </a:r>
          </a:p>
          <a:p>
            <a:r>
              <a:rPr lang="en-US" dirty="0"/>
              <a:t>   - Process of further training a pre-trained model on specific data</a:t>
            </a:r>
          </a:p>
          <a:p>
            <a:r>
              <a:rPr lang="en-US" dirty="0"/>
              <a:t>   - Adapts model behavior to specific use cases or domains</a:t>
            </a:r>
          </a:p>
          <a:p>
            <a:r>
              <a:rPr lang="en-US" dirty="0"/>
              <a:t>   </a:t>
            </a:r>
          </a:p>
          <a:p>
            <a:r>
              <a:rPr lang="en-US" dirty="0"/>
              <a:t>c) RAG (Retrieval Augmented Generation)</a:t>
            </a:r>
          </a:p>
          <a:p>
            <a:r>
              <a:rPr lang="en-US" dirty="0"/>
              <a:t>   - Combines retrieval of relevant information with text generation</a:t>
            </a:r>
          </a:p>
          <a:p>
            <a:r>
              <a:rPr lang="en-US" dirty="0"/>
              <a:t>   - Enhances responses with factual, up-to-date information</a:t>
            </a:r>
          </a:p>
          <a:p>
            <a:r>
              <a:rPr lang="en-US" dirty="0"/>
              <a:t>   </a:t>
            </a:r>
          </a:p>
          <a:p>
            <a:r>
              <a:rPr lang="en-US" dirty="0"/>
              <a:t>d) Tools with Agents</a:t>
            </a:r>
          </a:p>
          <a:p>
            <a:r>
              <a:rPr lang="en-US" dirty="0"/>
              <a:t>   - Integration of AI models with external tools and systems</a:t>
            </a:r>
          </a:p>
          <a:p>
            <a:r>
              <a:rPr lang="en-US" dirty="0"/>
              <a:t>   - Enables practical application and real-world interaction</a:t>
            </a:r>
          </a:p>
          <a:p>
            <a:endParaRPr lang="en-US" dirty="0"/>
          </a:p>
          <a:p>
            <a:r>
              <a:rPr lang="en-US" b="1" dirty="0"/>
              <a:t>EDUCATOR NOTES:</a:t>
            </a:r>
          </a:p>
          <a:p>
            <a:endParaRPr lang="en-US" b="1" dirty="0"/>
          </a:p>
          <a:p>
            <a:r>
              <a:rPr lang="en-US" dirty="0"/>
              <a:t>”Now we'll be discussing various methods of grounding in AI systems. Grounding is essential for making AI models more reliable and contextually aware. We'll explore four main approaches:</a:t>
            </a:r>
          </a:p>
          <a:p>
            <a:pPr marL="171450" indent="-171450">
              <a:buFont typeface="Arial" panose="020B0604020202020204" pitchFamily="34" charset="0"/>
              <a:buChar char="•"/>
            </a:pPr>
            <a:r>
              <a:rPr lang="en-US" dirty="0"/>
              <a:t>First, prompt engineering, which involves crafting effective prompts for in-context learning. This is often the first step in improving model outputs.</a:t>
            </a:r>
          </a:p>
          <a:p>
            <a:pPr marL="171450" indent="-171450">
              <a:buFont typeface="Arial" panose="020B0604020202020204" pitchFamily="34" charset="0"/>
              <a:buChar char="•"/>
            </a:pPr>
            <a:r>
              <a:rPr lang="en-US" dirty="0"/>
              <a:t>Second, fine-tuning, which allows us to specialize models for specific tasks or domains.</a:t>
            </a:r>
          </a:p>
          <a:p>
            <a:pPr marL="171450" indent="-171450">
              <a:buFont typeface="Arial" panose="020B0604020202020204" pitchFamily="34" charset="0"/>
              <a:buChar char="•"/>
            </a:pPr>
            <a:r>
              <a:rPr lang="en-US" dirty="0"/>
              <a:t>Third, RAG, or Retrieval Augmented Generation, which combines the power of knowledge retrieval with generation capabilities.</a:t>
            </a:r>
          </a:p>
          <a:p>
            <a:pPr marL="171450" indent="-171450">
              <a:buFont typeface="Arial" panose="020B0604020202020204" pitchFamily="34" charset="0"/>
              <a:buChar char="•"/>
            </a:pPr>
            <a:r>
              <a:rPr lang="en-US" dirty="0"/>
              <a:t>And finally, we'll look at tools with agents, which represent a more practical approach to grounding through direct interaction with external systems.</a:t>
            </a:r>
          </a:p>
          <a:p>
            <a:endParaRPr lang="en-US" dirty="0"/>
          </a:p>
          <a:p>
            <a:r>
              <a:rPr lang="en-US" dirty="0"/>
              <a:t>Each of these methods has its strengths, and often, the best results come from combining multiple approaches. Questions so far?"</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2187299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Definition and Foundation</a:t>
            </a:r>
          </a:p>
          <a:p>
            <a:r>
              <a:rPr lang="en-US" dirty="0"/>
              <a:t>- Fine-tuning builds upon pre-training as its foundation</a:t>
            </a:r>
          </a:p>
          <a:p>
            <a:r>
              <a:rPr lang="en-US" dirty="0"/>
              <a:t>- It's a continuation process of the initial training</a:t>
            </a:r>
          </a:p>
          <a:p>
            <a:endParaRPr lang="en-US" dirty="0"/>
          </a:p>
          <a:p>
            <a:r>
              <a:rPr lang="en-US" dirty="0"/>
              <a:t>2. Data Requirements</a:t>
            </a:r>
          </a:p>
          <a:p>
            <a:r>
              <a:rPr lang="en-US" dirty="0"/>
              <a:t>- Requires high-quality training data for supplementation</a:t>
            </a:r>
          </a:p>
          <a:p>
            <a:r>
              <a:rPr lang="en-US" dirty="0"/>
              <a:t>- Data quality is crucial for successful fine-tuning</a:t>
            </a:r>
          </a:p>
          <a:p>
            <a:endParaRPr lang="en-US" dirty="0"/>
          </a:p>
          <a:p>
            <a:r>
              <a:rPr lang="en-US" dirty="0"/>
              <a:t>3. Purpose and Application</a:t>
            </a:r>
          </a:p>
          <a:p>
            <a:r>
              <a:rPr lang="en-US" dirty="0"/>
              <a:t>- Customizes LLMs for specialized tasks</a:t>
            </a:r>
          </a:p>
          <a:p>
            <a:r>
              <a:rPr lang="en-US" dirty="0"/>
              <a:t>- Enables adaptation to specific domains</a:t>
            </a:r>
          </a:p>
          <a:p>
            <a:r>
              <a:rPr lang="en-US" dirty="0"/>
              <a:t>- Makes models more focused and efficient in particular areas</a:t>
            </a:r>
          </a:p>
          <a:p>
            <a:endParaRPr lang="en-US" dirty="0"/>
          </a:p>
          <a:p>
            <a:r>
              <a:rPr lang="en-US" dirty="0"/>
              <a:t>4. Technical Impact</a:t>
            </a:r>
          </a:p>
          <a:p>
            <a:r>
              <a:rPr lang="en-US" dirty="0"/>
              <a:t>- Modifies existing model weights</a:t>
            </a:r>
          </a:p>
          <a:p>
            <a:r>
              <a:rPr lang="en-US" dirty="0"/>
              <a:t>- Results in creation of a new model</a:t>
            </a:r>
          </a:p>
          <a:p>
            <a:r>
              <a:rPr lang="en-US" dirty="0"/>
              <a:t>- Transforms the base model into a specialized version</a:t>
            </a:r>
          </a:p>
          <a:p>
            <a:endParaRPr lang="en-US" b="1" dirty="0"/>
          </a:p>
          <a:p>
            <a:r>
              <a:rPr lang="en-US" b="1" dirty="0"/>
              <a:t>EDUCATOR NOTES:</a:t>
            </a:r>
          </a:p>
          <a:p>
            <a:endParaRPr lang="en-US" dirty="0"/>
          </a:p>
          <a:p>
            <a:r>
              <a:rPr lang="en-US" dirty="0"/>
              <a:t>”Now we'll be discussing fine-tuning of Large Language Models, or LLMs. This is a crucial process that builds upon pre-training to create more specialized AI models. I want to emphasize that while fine-tuning might sound simple, it requires extremely high-quality training data to be effective. Think of it like taking a general-purpose tool and carefully refining it for a specific job.</a:t>
            </a:r>
          </a:p>
          <a:p>
            <a:endParaRPr lang="en-US" dirty="0"/>
          </a:p>
          <a:p>
            <a:r>
              <a:rPr lang="en-US" dirty="0"/>
              <a:t>When we fine-tune an LLM, we're essentially customizing it for particular tasks or domains. This process actually changes the model's internal weights, resulting in a new model that's more specialized than its predecessor. As we go through this presentation, we'll explore how this process works in practice and why it's so important in modern AI development.</a:t>
            </a:r>
          </a:p>
          <a:p>
            <a:endParaRPr lang="en-US" dirty="0"/>
          </a:p>
          <a:p>
            <a:r>
              <a:rPr lang="en-US" dirty="0"/>
              <a:t>Remember, the key to successful fine-tuning lies in the quality of your training data and having a clear understanding of your target application. </a:t>
            </a:r>
          </a:p>
          <a:p>
            <a:endParaRPr lang="en-US" dirty="0"/>
          </a:p>
          <a:p>
            <a:r>
              <a:rPr lang="en-US" dirty="0"/>
              <a:t>Any questions before we dive deeper into the technical aspects?"</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3929793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Amazon Bedrock UX Accessibility</a:t>
            </a:r>
          </a:p>
          <a:p>
            <a:r>
              <a:rPr lang="en-US" dirty="0"/>
              <a:t>- Completely user-friendly interface</a:t>
            </a:r>
          </a:p>
          <a:p>
            <a:r>
              <a:rPr lang="en-US" dirty="0"/>
              <a:t>- Zero coding knowledge required</a:t>
            </a:r>
          </a:p>
          <a:p>
            <a:r>
              <a:rPr lang="en-US" dirty="0"/>
              <a:t>- Simple process: Upload CSV files to S3 service and use button controls</a:t>
            </a:r>
          </a:p>
          <a:p>
            <a:r>
              <a:rPr lang="en-US" dirty="0"/>
              <a:t>- Bedrock handles all storage and inference operations</a:t>
            </a:r>
          </a:p>
          <a:p>
            <a:endParaRPr lang="en-US" dirty="0"/>
          </a:p>
          <a:p>
            <a:r>
              <a:rPr lang="en-US" dirty="0"/>
              <a:t>2. Training Data Requirements</a:t>
            </a:r>
          </a:p>
          <a:p>
            <a:r>
              <a:rPr lang="en-US" dirty="0"/>
              <a:t>- Minimal dataset size needed: ~100 to ~1,000 examples</a:t>
            </a:r>
          </a:p>
          <a:p>
            <a:r>
              <a:rPr lang="en-US" dirty="0"/>
              <a:t>- Quality over quantity approach</a:t>
            </a:r>
          </a:p>
          <a:p>
            <a:r>
              <a:rPr lang="en-US" dirty="0"/>
              <a:t>- Emphasis on high-quality training examples</a:t>
            </a:r>
          </a:p>
          <a:p>
            <a:r>
              <a:rPr lang="en-US" dirty="0"/>
              <a:t>- No need for massive datasets</a:t>
            </a:r>
          </a:p>
          <a:p>
            <a:endParaRPr lang="en-US" dirty="0"/>
          </a:p>
          <a:p>
            <a:r>
              <a:rPr lang="en-US" dirty="0"/>
              <a:t>3. Use Case Suitability</a:t>
            </a:r>
          </a:p>
          <a:p>
            <a:r>
              <a:rPr lang="en-US" dirty="0"/>
              <a:t>- Ideal for data with annual update cycles</a:t>
            </a:r>
          </a:p>
          <a:p>
            <a:r>
              <a:rPr lang="en-US" dirty="0"/>
              <a:t>- Perfect for businesses with periodic data refreshes</a:t>
            </a:r>
          </a:p>
          <a:p>
            <a:endParaRPr lang="en-US" dirty="0"/>
          </a:p>
          <a:p>
            <a:r>
              <a:rPr lang="en-US" b="1" dirty="0"/>
              <a:t>EDUCATOR NOTES:</a:t>
            </a:r>
          </a:p>
          <a:p>
            <a:endParaRPr lang="en-US" dirty="0"/>
          </a:p>
          <a:p>
            <a:r>
              <a:rPr lang="en-US" dirty="0"/>
              <a:t>”Now I'll be discussing the key strengths of fine-tuning in Amazon Bedrock. The first major advantage is its incredible ease of use - you don't need to be a programmer or data scientist to use it. Simply upload your CSV files to S3 simple storage service and use the intuitive button interface.</a:t>
            </a:r>
          </a:p>
          <a:p>
            <a:endParaRPr lang="en-US" dirty="0"/>
          </a:p>
          <a:p>
            <a:r>
              <a:rPr lang="en-US" dirty="0"/>
              <a:t>What's particularly exciting is that you don't need massive amounts of training data. Just 100 to 1,000 high-quality examples can be sufficient for effective fine-tuning. Remember, it's not about how much data you have, but rather the quality of that data.</a:t>
            </a:r>
          </a:p>
          <a:p>
            <a:endParaRPr lang="en-US" dirty="0"/>
          </a:p>
          <a:p>
            <a:r>
              <a:rPr lang="en-US" dirty="0"/>
              <a:t>This makes it particularly valuable for businesses that update their data annually or on a regular schedule. The system is designed to be both powerful and practical for real-world applications.</a:t>
            </a:r>
          </a:p>
          <a:p>
            <a:endParaRPr lang="en-US" dirty="0"/>
          </a:p>
          <a:p>
            <a:r>
              <a:rPr lang="en-US" dirty="0"/>
              <a:t>Before we move on, I want to emphasize that while the technical barrier to entry is low, the impact on your AI applications can be significant. The key is ensuring your training examples are well-curated and relevant to your use case."</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1321871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Fast-Changing Information Limitation</a:t>
            </a:r>
          </a:p>
          <a:p>
            <a:r>
              <a:rPr lang="en-US" dirty="0"/>
              <a:t>- Fine-tuning shows poor performance with rapidly changing data</a:t>
            </a:r>
          </a:p>
          <a:p>
            <a:r>
              <a:rPr lang="en-US" dirty="0"/>
              <a:t>- Particularly problematic for information that changes within days/weeks</a:t>
            </a:r>
          </a:p>
          <a:p>
            <a:r>
              <a:rPr lang="en-US" dirty="0"/>
              <a:t>- Stock prices cited as a specific example</a:t>
            </a:r>
          </a:p>
          <a:p>
            <a:r>
              <a:rPr lang="en-US" dirty="0"/>
              <a:t>- Models can become quickly outdated</a:t>
            </a:r>
          </a:p>
          <a:p>
            <a:endParaRPr lang="en-US" dirty="0"/>
          </a:p>
          <a:p>
            <a:r>
              <a:rPr lang="en-US" dirty="0"/>
              <a:t>2. Performance Improvement Limitations</a:t>
            </a:r>
          </a:p>
          <a:p>
            <a:r>
              <a:rPr lang="en-US" dirty="0"/>
              <a:t>- Cannot effectively address fundamental weaknesses like mathematical abilities</a:t>
            </a:r>
          </a:p>
          <a:p>
            <a:r>
              <a:rPr lang="en-US" dirty="0"/>
              <a:t>- Fine-tuning has inherent limitations in fixing core LLM limitations</a:t>
            </a:r>
          </a:p>
          <a:p>
            <a:r>
              <a:rPr lang="en-US" dirty="0"/>
              <a:t>- Mathematical processing remains a challenge despite fine-tuning efforts</a:t>
            </a:r>
          </a:p>
          <a:p>
            <a:endParaRPr lang="en-US" dirty="0"/>
          </a:p>
          <a:p>
            <a:r>
              <a:rPr lang="en-US" dirty="0"/>
              <a:t>KEY TAKEAWAY:</a:t>
            </a:r>
          </a:p>
          <a:p>
            <a:r>
              <a:rPr lang="en-US" dirty="0"/>
              <a:t>Fine-tuning, while useful in many scenarios, has significant limitations particularly when dealing with dynamic data and fundamental model weaknesses.</a:t>
            </a:r>
          </a:p>
          <a:p>
            <a:endParaRPr lang="en-US" dirty="0"/>
          </a:p>
          <a:p>
            <a:r>
              <a:rPr lang="en-US" b="1" dirty="0"/>
              <a:t>EDUCATOR NOTES:</a:t>
            </a:r>
          </a:p>
          <a:p>
            <a:endParaRPr lang="en-US" dirty="0"/>
          </a:p>
          <a:p>
            <a:r>
              <a:rPr lang="en-US" dirty="0"/>
              <a:t>”Now we're going to discuss some critical limitations of fine-tuning in LLMs. The first major weakness we need to understand is how fine-tuning struggles with rapidly changing information. Think about stock prices - by the time we fine-tune a model on today's prices, they're already outdated.</a:t>
            </a:r>
          </a:p>
          <a:p>
            <a:endParaRPr lang="en-US" dirty="0"/>
          </a:p>
          <a:p>
            <a:r>
              <a:rPr lang="en-US" dirty="0"/>
              <a:t>Another crucial limitation is that fine-tuning cannot fix fundamental model weaknesses. If an LLM struggles with mathematical computations, fine-tuning alone won't solve this problem. These are inherent limitations built into the model's architecture.</a:t>
            </a:r>
          </a:p>
          <a:p>
            <a:endParaRPr lang="en-US" dirty="0"/>
          </a:p>
          <a:p>
            <a:r>
              <a:rPr lang="en-US" dirty="0"/>
              <a:t>When implementing fine-tuning in your projects, keep these limitations in mind and consider complementary approaches where necessary. Questions from the audience?"</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1420111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Maintenance Burden</a:t>
            </a:r>
          </a:p>
          <a:p>
            <a:r>
              <a:rPr lang="en-US" dirty="0"/>
              <a:t>- Teams face ongoing maintenance responsibilities</a:t>
            </a:r>
          </a:p>
          <a:p>
            <a:r>
              <a:rPr lang="en-US" dirty="0"/>
              <a:t>- Regular updates required for fine-tuning training data</a:t>
            </a:r>
          </a:p>
          <a:p>
            <a:r>
              <a:rPr lang="en-US" dirty="0"/>
              <a:t>- Need to monitor and respond to parent model changes</a:t>
            </a:r>
          </a:p>
          <a:p>
            <a:r>
              <a:rPr lang="en-US" dirty="0"/>
              <a:t>- Unexpected re-tuning may be necessary with short notice</a:t>
            </a:r>
          </a:p>
          <a:p>
            <a:endParaRPr lang="en-US" dirty="0"/>
          </a:p>
          <a:p>
            <a:r>
              <a:rPr lang="en-US" dirty="0"/>
              <a:t>2. Responsible AI Concerns</a:t>
            </a:r>
          </a:p>
          <a:p>
            <a:r>
              <a:rPr lang="en-US" dirty="0"/>
              <a:t>- Potential degradation of safety measures</a:t>
            </a:r>
          </a:p>
          <a:p>
            <a:r>
              <a:rPr lang="en-US" dirty="0"/>
              <a:t>- Privacy considerations may be compromised</a:t>
            </a:r>
          </a:p>
          <a:p>
            <a:r>
              <a:rPr lang="en-US" dirty="0"/>
              <a:t>- Fine-tuned models might underperform compared to baseline versions</a:t>
            </a:r>
          </a:p>
          <a:p>
            <a:r>
              <a:rPr lang="en-US" dirty="0"/>
              <a:t>- Regular performance evaluation required</a:t>
            </a:r>
          </a:p>
          <a:p>
            <a:r>
              <a:rPr lang="en-US" dirty="0"/>
              <a:t>- Need to monitor for model drift</a:t>
            </a:r>
          </a:p>
          <a:p>
            <a:endParaRPr lang="en-US" dirty="0"/>
          </a:p>
          <a:p>
            <a:r>
              <a:rPr lang="en-US" dirty="0"/>
              <a:t>3. Key Challenges</a:t>
            </a:r>
          </a:p>
          <a:p>
            <a:r>
              <a:rPr lang="en-US" dirty="0"/>
              <a:t>- Data currency and relevance maintenance</a:t>
            </a:r>
          </a:p>
          <a:p>
            <a:r>
              <a:rPr lang="en-US" dirty="0"/>
              <a:t>- Quick adaptation to parent model updates</a:t>
            </a:r>
          </a:p>
          <a:p>
            <a:r>
              <a:rPr lang="en-US" dirty="0"/>
              <a:t>- Continuous monitoring requirements</a:t>
            </a:r>
          </a:p>
          <a:p>
            <a:r>
              <a:rPr lang="en-US" dirty="0"/>
              <a:t>- Balance between performance and responsible AI</a:t>
            </a:r>
          </a:p>
          <a:p>
            <a:endParaRPr lang="en-US" dirty="0"/>
          </a:p>
          <a:p>
            <a:r>
              <a:rPr lang="en-US" b="1" dirty="0"/>
              <a:t>EDUCATOR NOTES:</a:t>
            </a:r>
          </a:p>
          <a:p>
            <a:endParaRPr lang="en-US" dirty="0"/>
          </a:p>
          <a:p>
            <a:r>
              <a:rPr lang="en-US" dirty="0"/>
              <a:t>"In this section, we're discussing critical weaknesses of fine-tuning that teams need to be aware of. The first major challenge is the maintenance burden. Teams must constantly update training data and be prepared for sudden changes in parent models that might require emergency re-tuning.</a:t>
            </a:r>
          </a:p>
          <a:p>
            <a:endParaRPr lang="en-US" dirty="0"/>
          </a:p>
          <a:p>
            <a:r>
              <a:rPr lang="en-US" dirty="0"/>
              <a:t>More crucially, we need to address the impact on Responsible AI mitigations. Fine-tuned models may not maintain the same level of safety and privacy protections as their baseline versions. This requires teams to implement robust evaluation processes after fine-tuning and regularly check for model drift.</a:t>
            </a:r>
          </a:p>
          <a:p>
            <a:endParaRPr lang="en-US" dirty="0"/>
          </a:p>
          <a:p>
            <a:r>
              <a:rPr lang="en-US" dirty="0"/>
              <a:t>To mitigate these challenges, it is recommend establishing a systematic maintenance schedule, creating clear protocols for emergency updates, and implementing comprehensive testing frameworks that specifically address safety and privacy concerns. Remember, the goal is to balance model performance with responsible AI practices."</a:t>
            </a:r>
          </a:p>
        </p:txBody>
      </p:sp>
      <p:sp>
        <p:nvSpPr>
          <p:cNvPr id="4" name="Slide Number Placeholder 3"/>
          <p:cNvSpPr>
            <a:spLocks noGrp="1"/>
          </p:cNvSpPr>
          <p:nvPr>
            <p:ph type="sldNum" sz="quarter" idx="5"/>
          </p:nvPr>
        </p:nvSpPr>
        <p:spPr/>
        <p:txBody>
          <a:bodyPr/>
          <a:lstStyle/>
          <a:p>
            <a:fld id="{688EF870-5850-6643-A228-25AFAA8E2BB1}" type="slidenum">
              <a:rPr lang="en-US" smtClean="0"/>
              <a:t>11</a:t>
            </a:fld>
            <a:endParaRPr lang="en-US"/>
          </a:p>
        </p:txBody>
      </p:sp>
    </p:spTree>
    <p:extLst>
      <p:ext uri="{BB962C8B-B14F-4D97-AF65-F5344CB8AC3E}">
        <p14:creationId xmlns:p14="http://schemas.microsoft.com/office/powerpoint/2010/main" val="18348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In-context Learning</a:t>
            </a:r>
          </a:p>
          <a:p>
            <a:r>
              <a:rPr lang="en-US" dirty="0"/>
              <a:t>- RAG is an in-context learning technique</a:t>
            </a:r>
          </a:p>
          <a:p>
            <a:r>
              <a:rPr lang="en-US" dirty="0"/>
              <a:t>- Allows for dynamic learning without modifying the base model</a:t>
            </a:r>
          </a:p>
          <a:p>
            <a:r>
              <a:rPr lang="en-US" dirty="0"/>
              <a:t>- Enables real-time adaptation to new information</a:t>
            </a:r>
          </a:p>
          <a:p>
            <a:endParaRPr lang="en-US" dirty="0"/>
          </a:p>
          <a:p>
            <a:r>
              <a:rPr lang="en-US" dirty="0"/>
              <a:t>2. Knowledge Provision to LLMs</a:t>
            </a:r>
          </a:p>
          <a:p>
            <a:r>
              <a:rPr lang="en-US" dirty="0"/>
              <a:t>- Extends beyond initial training data</a:t>
            </a:r>
          </a:p>
          <a:p>
            <a:r>
              <a:rPr lang="en-US" dirty="0"/>
              <a:t>- Allows LLMs to access and utilize current or specific information</a:t>
            </a:r>
          </a:p>
          <a:p>
            <a:r>
              <a:rPr lang="en-US" dirty="0"/>
              <a:t>- Bridges the gap between training cutoff and current knowledge needs</a:t>
            </a:r>
          </a:p>
          <a:p>
            <a:endParaRPr lang="en-US" dirty="0"/>
          </a:p>
          <a:p>
            <a:r>
              <a:rPr lang="en-US" dirty="0"/>
              <a:t>3. No Training or Fine-tuning Required</a:t>
            </a:r>
          </a:p>
          <a:p>
            <a:r>
              <a:rPr lang="en-US" dirty="0"/>
              <a:t>- Zero additional training needed</a:t>
            </a:r>
          </a:p>
          <a:p>
            <a:r>
              <a:rPr lang="en-US" dirty="0"/>
              <a:t>- Model remains unchanged</a:t>
            </a:r>
          </a:p>
          <a:p>
            <a:r>
              <a:rPr lang="en-US" dirty="0"/>
              <a:t>- Cost-effective and efficient implementation</a:t>
            </a:r>
          </a:p>
          <a:p>
            <a:endParaRPr lang="en-US" dirty="0"/>
          </a:p>
          <a:p>
            <a:r>
              <a:rPr lang="en-US" b="1" dirty="0"/>
              <a:t>EDUCATOR NOTES:</a:t>
            </a:r>
          </a:p>
          <a:p>
            <a:endParaRPr lang="en-US" dirty="0"/>
          </a:p>
          <a:p>
            <a:r>
              <a:rPr lang="en-US" dirty="0"/>
              <a:t>”Now we're discussing Retrieval Augmented Generation, or RAG, which represents a significant advancement in how we can enhance LLM capabilities. The key advantage of this technology is that it allows us to supplement LLM knowledge without the need for retraining or fine-tuning the model. Through in-context learning, we can provide our models with up-to-date information that wasn't available during their initial training. Think of it as giving your LLM a dynamic knowledge base that can be updated in real-time. This is particularly valuable for organizations that need to work with current data or specialized information while maintaining the efficiency and reliability of their existing LLM infrastructure."</a:t>
            </a:r>
          </a:p>
          <a:p>
            <a:endParaRPr lang="en-US" dirty="0"/>
          </a:p>
          <a:p>
            <a:r>
              <a:rPr lang="en-US" dirty="0"/>
              <a:t>[Educator Tips: </a:t>
            </a:r>
          </a:p>
          <a:p>
            <a:r>
              <a:rPr lang="en-US" dirty="0"/>
              <a:t>- Start with a brief definition of RAG</a:t>
            </a:r>
          </a:p>
          <a:p>
            <a:r>
              <a:rPr lang="en-US" dirty="0"/>
              <a:t>- Emphasize the practical benefits of no training requirements</a:t>
            </a:r>
          </a:p>
          <a:p>
            <a:r>
              <a:rPr lang="en-US" dirty="0"/>
              <a:t>- Use examples to illustrate how in-context learning works</a:t>
            </a:r>
          </a:p>
          <a:p>
            <a:r>
              <a:rPr lang="en-US" dirty="0"/>
              <a:t>- Engage the audience by relating RAG to real-world applications]</a:t>
            </a:r>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2303790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Title: Retrieval Augmented Generation: Steps</a:t>
            </a:r>
          </a:p>
          <a:p>
            <a:endParaRPr lang="en-US" dirty="0"/>
          </a:p>
          <a:p>
            <a:r>
              <a:rPr lang="en-US" dirty="0"/>
              <a:t>Main Points:</a:t>
            </a:r>
          </a:p>
          <a:p>
            <a:r>
              <a:rPr lang="en-US" dirty="0"/>
              <a:t>1. RAG Process Components</a:t>
            </a:r>
          </a:p>
          <a:p>
            <a:r>
              <a:rPr lang="en-US" dirty="0"/>
              <a:t>- Consists of three fundamental steps</a:t>
            </a:r>
          </a:p>
          <a:p>
            <a:r>
              <a:rPr lang="en-US" dirty="0"/>
              <a:t>- Forms a sequential workflow for processing and generating information</a:t>
            </a:r>
          </a:p>
          <a:p>
            <a:endParaRPr lang="en-US" dirty="0"/>
          </a:p>
          <a:p>
            <a:r>
              <a:rPr lang="en-US" dirty="0"/>
              <a:t>2. Detailed Steps:</a:t>
            </a:r>
          </a:p>
          <a:p>
            <a:r>
              <a:rPr lang="en-US" dirty="0"/>
              <a:t>   a) Retrieve</a:t>
            </a:r>
          </a:p>
          <a:p>
            <a:r>
              <a:rPr lang="en-US" dirty="0"/>
              <a:t>   - Primary action: Collecting data from external sources</a:t>
            </a:r>
          </a:p>
          <a:p>
            <a:r>
              <a:rPr lang="en-US" dirty="0"/>
              <a:t>   - Purpose: Building the initial knowledge base</a:t>
            </a:r>
          </a:p>
          <a:p>
            <a:r>
              <a:rPr lang="en-US" dirty="0"/>
              <a:t>   </a:t>
            </a:r>
          </a:p>
          <a:p>
            <a:r>
              <a:rPr lang="en-US" dirty="0"/>
              <a:t>   b) Augment</a:t>
            </a:r>
          </a:p>
          <a:p>
            <a:r>
              <a:rPr lang="en-US" dirty="0"/>
              <a:t>   - Enhances the original prompt with retrieved information</a:t>
            </a:r>
          </a:p>
          <a:p>
            <a:r>
              <a:rPr lang="en-US" dirty="0"/>
              <a:t>   - Creates richer context for processing</a:t>
            </a:r>
          </a:p>
          <a:p>
            <a:r>
              <a:rPr lang="en-US" dirty="0"/>
              <a:t>   </a:t>
            </a:r>
          </a:p>
          <a:p>
            <a:r>
              <a:rPr lang="en-US" dirty="0"/>
              <a:t>   c) Generate</a:t>
            </a:r>
          </a:p>
          <a:p>
            <a:r>
              <a:rPr lang="en-US" dirty="0"/>
              <a:t>   - Uses Large Language Model (LLM)</a:t>
            </a:r>
          </a:p>
          <a:p>
            <a:r>
              <a:rPr lang="en-US" dirty="0"/>
              <a:t>   - Combines prompt and retrieved data</a:t>
            </a:r>
          </a:p>
          <a:p>
            <a:r>
              <a:rPr lang="en-US" dirty="0"/>
              <a:t>   - Produces final response</a:t>
            </a:r>
          </a:p>
          <a:p>
            <a:endParaRPr lang="en-US" dirty="0"/>
          </a:p>
          <a:p>
            <a:r>
              <a:rPr lang="en-US" dirty="0"/>
              <a:t>3. Data Sources:</a:t>
            </a:r>
          </a:p>
          <a:p>
            <a:r>
              <a:rPr lang="en-US" dirty="0"/>
              <a:t>- Multiple source types available:</a:t>
            </a:r>
          </a:p>
          <a:p>
            <a:r>
              <a:rPr lang="en-US" dirty="0"/>
              <a:t>  * Internal documents</a:t>
            </a:r>
          </a:p>
          <a:p>
            <a:r>
              <a:rPr lang="en-US" dirty="0"/>
              <a:t>  * System logs</a:t>
            </a:r>
          </a:p>
          <a:p>
            <a:r>
              <a:rPr lang="en-US" dirty="0"/>
              <a:t>  * Company policies</a:t>
            </a:r>
          </a:p>
          <a:p>
            <a:r>
              <a:rPr lang="en-US" dirty="0"/>
              <a:t>  * Other relevant documentation</a:t>
            </a:r>
          </a:p>
          <a:p>
            <a:endParaRPr lang="en-US" dirty="0"/>
          </a:p>
          <a:p>
            <a:r>
              <a:rPr lang="en-US" b="1" dirty="0"/>
              <a:t>EDUCATOR NOTES:</a:t>
            </a:r>
          </a:p>
          <a:p>
            <a:endParaRPr lang="en-US" dirty="0"/>
          </a:p>
          <a:p>
            <a:r>
              <a:rPr lang="en-US" dirty="0"/>
              <a:t>”Now we'll be discussing Retrieval Augmented Generation, or RAG, which is a powerful approach to enhancing AI responses. The process follows three key steps that work together seamlessly.</a:t>
            </a:r>
          </a:p>
          <a:p>
            <a:endParaRPr lang="en-US" dirty="0"/>
          </a:p>
          <a:p>
            <a:pPr marL="171450" indent="-171450">
              <a:buFont typeface="Arial" panose="020B0604020202020204" pitchFamily="34" charset="0"/>
              <a:buChar char="•"/>
            </a:pPr>
            <a:r>
              <a:rPr lang="en-US" dirty="0"/>
              <a:t>First, we retrieve relevant data from external sources - this could be anything from our internal documentation to company policies. Think of this as gathering all the ingredients before cooking.</a:t>
            </a:r>
          </a:p>
          <a:p>
            <a:endParaRPr lang="en-US" dirty="0"/>
          </a:p>
          <a:p>
            <a:pPr marL="171450" indent="-171450">
              <a:buFont typeface="Arial" panose="020B0604020202020204" pitchFamily="34" charset="0"/>
              <a:buChar char="•"/>
            </a:pPr>
            <a:r>
              <a:rPr lang="en-US" dirty="0"/>
              <a:t>Second, we augment or enhance the original prompt with this retrieved data. This is like adding seasoning to our dish - it enriches the context and makes the final result more comprehensive.</a:t>
            </a:r>
          </a:p>
          <a:p>
            <a:endParaRPr lang="en-US" dirty="0"/>
          </a:p>
          <a:p>
            <a:pPr marL="171450" indent="-171450">
              <a:buFont typeface="Arial" panose="020B0604020202020204" pitchFamily="34" charset="0"/>
              <a:buChar char="•"/>
            </a:pPr>
            <a:r>
              <a:rPr lang="en-US" dirty="0"/>
              <a:t>Finally, we generate the response using an LLM, which processes both the original prompt and our retrieved data. This final step is where everything comes together to create an accurate, informed response.</a:t>
            </a:r>
          </a:p>
          <a:p>
            <a:endParaRPr lang="en-US" dirty="0"/>
          </a:p>
          <a:p>
            <a:r>
              <a:rPr lang="en-US" dirty="0"/>
              <a:t>Remember, the strength of RAG lies in its ability to combine real-time information retrieval with the processing power of large language models. This makes our responses both current and contextually relevant."</a:t>
            </a:r>
          </a:p>
        </p:txBody>
      </p:sp>
      <p:sp>
        <p:nvSpPr>
          <p:cNvPr id="4" name="Slide Number Placeholder 3"/>
          <p:cNvSpPr>
            <a:spLocks noGrp="1"/>
          </p:cNvSpPr>
          <p:nvPr>
            <p:ph type="sldNum" sz="quarter" idx="5"/>
          </p:nvPr>
        </p:nvSpPr>
        <p:spPr/>
        <p:txBody>
          <a:bodyPr/>
          <a:lstStyle/>
          <a:p>
            <a:fld id="{688EF870-5850-6643-A228-25AFAA8E2BB1}" type="slidenum">
              <a:rPr lang="en-US" smtClean="0"/>
              <a:t>14</a:t>
            </a:fld>
            <a:endParaRPr lang="en-US"/>
          </a:p>
        </p:txBody>
      </p:sp>
    </p:spTree>
    <p:extLst>
      <p:ext uri="{BB962C8B-B14F-4D97-AF65-F5344CB8AC3E}">
        <p14:creationId xmlns:p14="http://schemas.microsoft.com/office/powerpoint/2010/main" val="3525871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Overview</a:t>
            </a:r>
          </a:p>
          <a:p>
            <a:r>
              <a:rPr lang="en-US" dirty="0"/>
              <a:t>- Both fine-tuning and RAG are domain adaptation techniques</a:t>
            </a:r>
          </a:p>
          <a:p>
            <a:r>
              <a:rPr lang="en-US" dirty="0"/>
              <a:t>- Each serves different purposes and has distinct characteristics</a:t>
            </a:r>
          </a:p>
          <a:p>
            <a:endParaRPr lang="en-US" dirty="0"/>
          </a:p>
          <a:p>
            <a:r>
              <a:rPr lang="en-US" dirty="0"/>
              <a:t>2. Fine-tuning</a:t>
            </a:r>
          </a:p>
          <a:p>
            <a:r>
              <a:rPr lang="en-US" dirty="0"/>
              <a:t>- Rationale: Creates a specialized LLM for specific tasks</a:t>
            </a:r>
          </a:p>
          <a:p>
            <a:r>
              <a:rPr lang="en-US" dirty="0"/>
              <a:t>- Implementation: Updates model weights through training</a:t>
            </a:r>
          </a:p>
          <a:p>
            <a:r>
              <a:rPr lang="en-US" dirty="0"/>
              <a:t>- Core Value: Embeds knowledge directly within the model</a:t>
            </a:r>
          </a:p>
          <a:p>
            <a:r>
              <a:rPr lang="en-US" dirty="0"/>
              <a:t>- Example Use Case: Developing an AI tutor for academic subjects</a:t>
            </a:r>
          </a:p>
          <a:p>
            <a:endParaRPr lang="en-US" dirty="0"/>
          </a:p>
          <a:p>
            <a:r>
              <a:rPr lang="en-US" dirty="0"/>
              <a:t>3. RAG (Retrieval-Augmented Generation)</a:t>
            </a:r>
          </a:p>
          <a:p>
            <a:r>
              <a:rPr lang="en-US" dirty="0"/>
              <a:t>- Rationale: Provides real-time context to LLM</a:t>
            </a:r>
          </a:p>
          <a:p>
            <a:r>
              <a:rPr lang="en-US" dirty="0"/>
              <a:t>- Implementation: Retrieves external data during prompting</a:t>
            </a:r>
          </a:p>
          <a:p>
            <a:r>
              <a:rPr lang="en-US" dirty="0"/>
              <a:t>- Core Value: Handles dynamic/current information effectively</a:t>
            </a:r>
          </a:p>
          <a:p>
            <a:r>
              <a:rPr lang="en-US" dirty="0"/>
              <a:t>- Example Use Case: Real-time financial advice/stock analysis</a:t>
            </a:r>
          </a:p>
          <a:p>
            <a:endParaRPr lang="en-US" dirty="0"/>
          </a:p>
          <a:p>
            <a:r>
              <a:rPr lang="en-US" b="1" dirty="0"/>
              <a:t>EDUCATOR NOTES:</a:t>
            </a:r>
          </a:p>
          <a:p>
            <a:endParaRPr lang="en-US" dirty="0"/>
          </a:p>
          <a:p>
            <a:r>
              <a:rPr lang="en-US" dirty="0"/>
              <a:t>”Now we're comparing two powerful techniques for domain adaptation in LLMs: Fine-tuning and RAG. While fine-tuning essentially 'teaches' the model by updating its weights, RAG acts more like giving the model access to a dynamic reference library. Think of fine-tuning as sending the model to school, while RAG is like giving it a constantly updated encyclopedia to consult.</a:t>
            </a:r>
          </a:p>
          <a:p>
            <a:endParaRPr lang="en-US" dirty="0"/>
          </a:p>
          <a:p>
            <a:r>
              <a:rPr lang="en-US" dirty="0"/>
              <a:t>The choice between these methods often depends on your specific needs. If you need to create a specialized system with stable knowledge, like a virtual tutor, fine-tuning might be your best bet. However, if you're dealing with constantly changing information, like stock prices or current events, RAG would be more appropriate as it can pull in fresh data on demand.</a:t>
            </a:r>
          </a:p>
          <a:p>
            <a:endParaRPr lang="en-US" dirty="0"/>
          </a:p>
          <a:p>
            <a:r>
              <a:rPr lang="en-US" dirty="0"/>
              <a:t>Remember, these aren't mutually exclusive techniques - some applications might benefit from using both approaches in combination. The key is understanding their strengths and choosing the right tool for your specific use case."</a:t>
            </a:r>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34751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195CB-76E7-68E1-AB85-ED0CF578F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72FA0-0FFC-5EFC-7F98-45C29A15B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047E0-5D61-5356-C10B-B4FFA631D0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8298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Document Splitting Process</a:t>
            </a:r>
          </a:p>
          <a:p>
            <a:r>
              <a:rPr lang="en-US" dirty="0"/>
              <a:t>- Long documents need to be divided into smaller chunks</a:t>
            </a:r>
          </a:p>
          <a:p>
            <a:r>
              <a:rPr lang="en-US" dirty="0"/>
              <a:t>- This is necessary to accommodate the LLM's context window limitations</a:t>
            </a:r>
          </a:p>
          <a:p>
            <a:r>
              <a:rPr lang="en-US" dirty="0"/>
              <a:t>- Chunking makes large documents more manageable for processing</a:t>
            </a:r>
          </a:p>
          <a:p>
            <a:endParaRPr lang="en-US" dirty="0"/>
          </a:p>
          <a:p>
            <a:r>
              <a:rPr lang="en-US" dirty="0"/>
              <a:t>2. Vector Database Storage</a:t>
            </a:r>
          </a:p>
          <a:p>
            <a:r>
              <a:rPr lang="en-US" dirty="0"/>
              <a:t>- After chunking, document segments are converted into vectorized representations</a:t>
            </a:r>
          </a:p>
          <a:p>
            <a:r>
              <a:rPr lang="en-US" dirty="0"/>
              <a:t>- These vectors are stored in a specialized vector database</a:t>
            </a:r>
          </a:p>
          <a:p>
            <a:r>
              <a:rPr lang="en-US" dirty="0"/>
              <a:t>- Enables efficient storage and retrieval of document chunks</a:t>
            </a:r>
          </a:p>
          <a:p>
            <a:endParaRPr lang="en-US" dirty="0"/>
          </a:p>
          <a:p>
            <a:r>
              <a:rPr lang="en-US" dirty="0"/>
              <a:t>3. Query Processing Workflow</a:t>
            </a:r>
          </a:p>
          <a:p>
            <a:r>
              <a:rPr lang="en-US" dirty="0"/>
              <a:t>- User queries are converted into vector format</a:t>
            </a:r>
          </a:p>
          <a:p>
            <a:r>
              <a:rPr lang="en-US" dirty="0"/>
              <a:t>- System searches for similar chunks in the vector database</a:t>
            </a:r>
          </a:p>
          <a:p>
            <a:r>
              <a:rPr lang="en-US" dirty="0"/>
              <a:t>- Enables semantic matching between query and stored content</a:t>
            </a:r>
          </a:p>
          <a:p>
            <a:endParaRPr lang="en-US" dirty="0"/>
          </a:p>
          <a:p>
            <a:r>
              <a:rPr lang="en-US" dirty="0"/>
              <a:t>Visual Representation:</a:t>
            </a:r>
          </a:p>
          <a:p>
            <a:r>
              <a:rPr lang="en-US" dirty="0"/>
              <a:t>- The slide shows a diagram illustrating the chunking process</a:t>
            </a:r>
          </a:p>
          <a:p>
            <a:r>
              <a:rPr lang="en-US" dirty="0"/>
              <a:t>- Left side shows a stack of documents</a:t>
            </a:r>
          </a:p>
          <a:p>
            <a:r>
              <a:rPr lang="en-US" dirty="0"/>
              <a:t>- Arrow indicates the chunking transformation</a:t>
            </a:r>
          </a:p>
          <a:p>
            <a:r>
              <a:rPr lang="en-US" dirty="0"/>
              <a:t>- Right side shows individual chunks after processing</a:t>
            </a:r>
          </a:p>
          <a:p>
            <a:endParaRPr lang="en-US" b="1" dirty="0"/>
          </a:p>
          <a:p>
            <a:r>
              <a:rPr lang="en-US" b="1" dirty="0"/>
              <a:t>EDUCATOR NOTES:</a:t>
            </a:r>
          </a:p>
          <a:p>
            <a:endParaRPr lang="en-US" dirty="0"/>
          </a:p>
          <a:p>
            <a:r>
              <a:rPr lang="en-US" dirty="0"/>
              <a:t>”Now we're discussing document chunking, a crucial process in working with large language models. When we deal with lengthy documents, we can't feed them into an LLM all at once due to context window limitations. Instead, we break them down into manageable chunks. These chunks are then converted into vector representations and stored in a vector database. When a user submits a query, we convert it to the same vector format and search for the most relevant chunks in our database. This approach ensures efficient document processing and retrieval while maintaining the context and meaning of the original content. The diagram illustrates how a single document is transformed into multiple, manageable chunks that can be processed effectively by our system."</a:t>
            </a:r>
          </a:p>
        </p:txBody>
      </p:sp>
      <p:sp>
        <p:nvSpPr>
          <p:cNvPr id="4" name="Slide Number Placeholder 3"/>
          <p:cNvSpPr>
            <a:spLocks noGrp="1"/>
          </p:cNvSpPr>
          <p:nvPr>
            <p:ph type="sldNum" sz="quarter" idx="5"/>
          </p:nvPr>
        </p:nvSpPr>
        <p:spPr/>
        <p:txBody>
          <a:bodyPr/>
          <a:lstStyle/>
          <a:p>
            <a:fld id="{688EF870-5850-6643-A228-25AFAA8E2BB1}" type="slidenum">
              <a:rPr lang="en-US" smtClean="0"/>
              <a:t>17</a:t>
            </a:fld>
            <a:endParaRPr lang="en-US"/>
          </a:p>
        </p:txBody>
      </p:sp>
    </p:spTree>
    <p:extLst>
      <p:ext uri="{BB962C8B-B14F-4D97-AF65-F5344CB8AC3E}">
        <p14:creationId xmlns:p14="http://schemas.microsoft.com/office/powerpoint/2010/main" val="1514468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r>
              <a:rPr lang="en-US" dirty="0"/>
              <a:t>Some tips for chunking documents:</a:t>
            </a:r>
          </a:p>
          <a:p>
            <a:endParaRPr lang="en-US" dirty="0"/>
          </a:p>
          <a:p>
            <a:r>
              <a:rPr lang="en-US" dirty="0"/>
              <a:t>1. Overlap in Chunking</a:t>
            </a:r>
          </a:p>
          <a:p>
            <a:r>
              <a:rPr lang="en-US" dirty="0"/>
              <a:t>- Definition: A technique that ensures continuity between different text chunks</a:t>
            </a:r>
          </a:p>
          <a:p>
            <a:r>
              <a:rPr lang="en-US" dirty="0"/>
              <a:t>- Purpose: Maintains context and coherence between separate chunks</a:t>
            </a:r>
          </a:p>
          <a:p>
            <a:r>
              <a:rPr lang="en-US" dirty="0"/>
              <a:t>- Importance: Prevents loss of context at chunk boundaries</a:t>
            </a:r>
          </a:p>
          <a:p>
            <a:endParaRPr lang="en-US" dirty="0"/>
          </a:p>
          <a:p>
            <a:r>
              <a:rPr lang="en-US" dirty="0"/>
              <a:t>2. Size of Chunks</a:t>
            </a:r>
          </a:p>
          <a:p>
            <a:r>
              <a:rPr lang="en-US" dirty="0"/>
              <a:t>- Two key considerations:</a:t>
            </a:r>
          </a:p>
          <a:p>
            <a:r>
              <a:rPr lang="en-US" dirty="0"/>
              <a:t>  a) Too Small:</a:t>
            </a:r>
          </a:p>
          <a:p>
            <a:r>
              <a:rPr lang="en-US" dirty="0"/>
              <a:t>     * Risk: Insufficient context within each chunk</a:t>
            </a:r>
          </a:p>
          <a:p>
            <a:r>
              <a:rPr lang="en-US" dirty="0"/>
              <a:t>     * Impact: May lead to incomplete understanding</a:t>
            </a:r>
          </a:p>
          <a:p>
            <a:r>
              <a:rPr lang="en-US" dirty="0"/>
              <a:t>  b) Too Large:</a:t>
            </a:r>
          </a:p>
          <a:p>
            <a:r>
              <a:rPr lang="en-US" dirty="0"/>
              <a:t>     * Risk: May exceed LLM's context window</a:t>
            </a:r>
          </a:p>
          <a:p>
            <a:r>
              <a:rPr lang="en-US" dirty="0"/>
              <a:t>     * Impact: Could result in information loss or processing issues</a:t>
            </a:r>
          </a:p>
          <a:p>
            <a:endParaRPr lang="en-US" dirty="0"/>
          </a:p>
          <a:p>
            <a:r>
              <a:rPr lang="en-US" dirty="0"/>
              <a:t>3. Separators</a:t>
            </a:r>
          </a:p>
          <a:p>
            <a:r>
              <a:rPr lang="en-US" dirty="0"/>
              <a:t>- Function: Enable multiple-basis chunking</a:t>
            </a:r>
          </a:p>
          <a:p>
            <a:r>
              <a:rPr lang="en-US" dirty="0"/>
              <a:t>- Flexibility: Allows for different ways to split text</a:t>
            </a:r>
          </a:p>
          <a:p>
            <a:endParaRPr lang="en-US" dirty="0"/>
          </a:p>
          <a:p>
            <a:r>
              <a:rPr lang="en-US" dirty="0"/>
              <a:t>4. </a:t>
            </a:r>
            <a:r>
              <a:rPr lang="en-US" dirty="0" err="1"/>
              <a:t>LangChain</a:t>
            </a:r>
            <a:r>
              <a:rPr lang="en-US" dirty="0"/>
              <a:t> Text Splitters</a:t>
            </a:r>
          </a:p>
          <a:p>
            <a:r>
              <a:rPr lang="en-US" dirty="0"/>
              <a:t>Three main types:</a:t>
            </a:r>
          </a:p>
          <a:p>
            <a:r>
              <a:rPr lang="en-US" dirty="0"/>
              <a:t>a) </a:t>
            </a:r>
            <a:r>
              <a:rPr lang="en-US" dirty="0" err="1"/>
              <a:t>CharacterTextSplitter</a:t>
            </a:r>
            <a:endParaRPr lang="en-US" dirty="0"/>
          </a:p>
          <a:p>
            <a:r>
              <a:rPr lang="en-US" dirty="0"/>
              <a:t>   * Purpose: Basic splitting based on characters</a:t>
            </a:r>
          </a:p>
          <a:p>
            <a:r>
              <a:rPr lang="en-US" dirty="0"/>
              <a:t>   * Use case: Simple text division</a:t>
            </a:r>
          </a:p>
          <a:p>
            <a:endParaRPr lang="en-US" dirty="0"/>
          </a:p>
          <a:p>
            <a:r>
              <a:rPr lang="en-US" dirty="0"/>
              <a:t>b) </a:t>
            </a:r>
            <a:r>
              <a:rPr lang="en-US" dirty="0" err="1"/>
              <a:t>MarkdownHeaderTextSplitter</a:t>
            </a:r>
            <a:endParaRPr lang="en-US" dirty="0"/>
          </a:p>
          <a:p>
            <a:r>
              <a:rPr lang="en-US" dirty="0"/>
              <a:t>   * Purpose: Splits text based on specific headers</a:t>
            </a:r>
          </a:p>
          <a:p>
            <a:r>
              <a:rPr lang="en-US" dirty="0"/>
              <a:t>   * Use case: Structured markdown documents</a:t>
            </a:r>
          </a:p>
          <a:p>
            <a:endParaRPr lang="en-US" dirty="0"/>
          </a:p>
          <a:p>
            <a:r>
              <a:rPr lang="en-US" dirty="0"/>
              <a:t>c) </a:t>
            </a:r>
            <a:r>
              <a:rPr lang="en-US" dirty="0" err="1"/>
              <a:t>RecursiveCharacterTextSplitter</a:t>
            </a:r>
            <a:endParaRPr lang="en-US" dirty="0"/>
          </a:p>
          <a:p>
            <a:r>
              <a:rPr lang="en-US" dirty="0"/>
              <a:t>   * Purpose: Complex splitting using multiple separators</a:t>
            </a:r>
          </a:p>
          <a:p>
            <a:r>
              <a:rPr lang="en-US" dirty="0"/>
              <a:t>   * Use case: Hierarchical or nested content</a:t>
            </a:r>
          </a:p>
          <a:p>
            <a:endParaRPr lang="en-US" dirty="0"/>
          </a:p>
          <a:p>
            <a:r>
              <a:rPr lang="en-US" b="1" dirty="0"/>
              <a:t>EDUCATOR NOTES:</a:t>
            </a:r>
          </a:p>
          <a:p>
            <a:endParaRPr lang="en-US" dirty="0"/>
          </a:p>
          <a:p>
            <a:r>
              <a:rPr lang="en-US" dirty="0"/>
              <a:t>"When presenting this material, emphasize the following points:</a:t>
            </a:r>
          </a:p>
          <a:p>
            <a:endParaRPr lang="en-US" dirty="0"/>
          </a:p>
          <a:p>
            <a:r>
              <a:rPr lang="en-US" dirty="0"/>
              <a:t>- Start by explaining why proper chunking is crucial for effective text processing</a:t>
            </a:r>
          </a:p>
          <a:p>
            <a:r>
              <a:rPr lang="en-US" dirty="0"/>
              <a:t>- Use real-world examples to demonstrate the impact of overlap on context preservation</a:t>
            </a:r>
          </a:p>
          <a:p>
            <a:r>
              <a:rPr lang="en-US" dirty="0"/>
              <a:t>- When discussing chunk sizes, provide specific examples of what's too small or too large</a:t>
            </a:r>
          </a:p>
          <a:p>
            <a:r>
              <a:rPr lang="en-US" dirty="0"/>
              <a:t>- Highlight that there's no one-size-fits-all approach - the choice of chunking method depends on the specific use case</a:t>
            </a:r>
          </a:p>
          <a:p>
            <a:r>
              <a:rPr lang="en-US" dirty="0"/>
              <a:t>- For the </a:t>
            </a:r>
            <a:r>
              <a:rPr lang="en-US" dirty="0" err="1"/>
              <a:t>LangChain</a:t>
            </a:r>
            <a:r>
              <a:rPr lang="en-US" dirty="0"/>
              <a:t> splitters section, consider showing quick demos of each splitter type</a:t>
            </a:r>
          </a:p>
          <a:p>
            <a:r>
              <a:rPr lang="en-US" dirty="0"/>
              <a:t>- Conclude by emphasizing the importance of testing different approaches to find the optimal chunking strategy for your specific needs</a:t>
            </a:r>
          </a:p>
          <a:p>
            <a:r>
              <a:rPr lang="en-US" dirty="0"/>
              <a:t>- Be prepared to answer questions about implementation details and best practices"</a:t>
            </a:r>
          </a:p>
        </p:txBody>
      </p:sp>
      <p:sp>
        <p:nvSpPr>
          <p:cNvPr id="4" name="Slide Number Placeholder 3"/>
          <p:cNvSpPr>
            <a:spLocks noGrp="1"/>
          </p:cNvSpPr>
          <p:nvPr>
            <p:ph type="sldNum" sz="quarter" idx="5"/>
          </p:nvPr>
        </p:nvSpPr>
        <p:spPr/>
        <p:txBody>
          <a:bodyPr/>
          <a:lstStyle/>
          <a:p>
            <a:fld id="{688EF870-5850-6643-A228-25AFAA8E2BB1}" type="slidenum">
              <a:rPr lang="en-US" smtClean="0"/>
              <a:t>18</a:t>
            </a:fld>
            <a:endParaRPr lang="en-US"/>
          </a:p>
        </p:txBody>
      </p:sp>
    </p:spTree>
    <p:extLst>
      <p:ext uri="{BB962C8B-B14F-4D97-AF65-F5344CB8AC3E}">
        <p14:creationId xmlns:p14="http://schemas.microsoft.com/office/powerpoint/2010/main" val="3750798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Purpose of Vector Database</a:t>
            </a:r>
          </a:p>
          <a:p>
            <a:r>
              <a:rPr lang="en-US" dirty="0"/>
              <a:t>- Designed for fast retrieval of relevant content</a:t>
            </a:r>
          </a:p>
          <a:p>
            <a:r>
              <a:rPr lang="en-US" dirty="0"/>
              <a:t>- Optimized for storing vectorized representations of data chunks</a:t>
            </a:r>
          </a:p>
          <a:p>
            <a:endParaRPr lang="en-US" dirty="0"/>
          </a:p>
          <a:p>
            <a:r>
              <a:rPr lang="en-US" dirty="0"/>
              <a:t>2. Core Components:</a:t>
            </a:r>
          </a:p>
          <a:p>
            <a:r>
              <a:rPr lang="en-US" dirty="0"/>
              <a:t>- Chunking mechanism to break down data</a:t>
            </a:r>
          </a:p>
          <a:p>
            <a:r>
              <a:rPr lang="en-US" dirty="0"/>
              <a:t>- Embedding model for vector conversion</a:t>
            </a:r>
          </a:p>
          <a:p>
            <a:r>
              <a:rPr lang="en-US" dirty="0"/>
              <a:t>- Vector database for storage</a:t>
            </a:r>
          </a:p>
          <a:p>
            <a:r>
              <a:rPr lang="en-US" dirty="0"/>
              <a:t>- Similarity search functionality</a:t>
            </a:r>
          </a:p>
          <a:p>
            <a:endParaRPr lang="en-US" dirty="0"/>
          </a:p>
          <a:p>
            <a:r>
              <a:rPr lang="en-US" dirty="0"/>
              <a:t>3. Process Flow:</a:t>
            </a:r>
          </a:p>
          <a:p>
            <a:r>
              <a:rPr lang="en-US" dirty="0"/>
              <a:t>a) Document Chunking:</a:t>
            </a:r>
          </a:p>
          <a:p>
            <a:r>
              <a:rPr lang="en-US" dirty="0"/>
              <a:t>- Original documents are split into smaller chunks</a:t>
            </a:r>
          </a:p>
          <a:p>
            <a:r>
              <a:rPr lang="en-US" dirty="0"/>
              <a:t>- Ensures manageable and relevant pieces of information</a:t>
            </a:r>
          </a:p>
          <a:p>
            <a:endParaRPr lang="en-US" dirty="0"/>
          </a:p>
          <a:p>
            <a:r>
              <a:rPr lang="en-US" dirty="0"/>
              <a:t>b) Vector Conversion:</a:t>
            </a:r>
          </a:p>
          <a:p>
            <a:r>
              <a:rPr lang="en-US" dirty="0"/>
              <a:t>- Chunks are processed through embedding model</a:t>
            </a:r>
          </a:p>
          <a:p>
            <a:r>
              <a:rPr lang="en-US" dirty="0"/>
              <a:t>- Converts text/data into vector representations</a:t>
            </a:r>
          </a:p>
          <a:p>
            <a:endParaRPr lang="en-US" dirty="0"/>
          </a:p>
          <a:p>
            <a:r>
              <a:rPr lang="en-US" dirty="0"/>
              <a:t>c) Storage &amp; Retrieval:</a:t>
            </a:r>
          </a:p>
          <a:p>
            <a:r>
              <a:rPr lang="en-US" dirty="0"/>
              <a:t>- Vectors stored in specialized database</a:t>
            </a:r>
          </a:p>
          <a:p>
            <a:r>
              <a:rPr lang="en-US" dirty="0"/>
              <a:t>- Query conversion to vectors for similarity matching</a:t>
            </a:r>
          </a:p>
          <a:p>
            <a:r>
              <a:rPr lang="en-US" dirty="0"/>
              <a:t>- Efficient similarity search of embeddings</a:t>
            </a:r>
          </a:p>
          <a:p>
            <a:endParaRPr lang="en-US" dirty="0"/>
          </a:p>
          <a:p>
            <a:r>
              <a:rPr lang="en-US" b="1" dirty="0"/>
              <a:t>EDUCATOR NOTES:</a:t>
            </a:r>
          </a:p>
          <a:p>
            <a:endParaRPr lang="en-US" dirty="0"/>
          </a:p>
          <a:p>
            <a:r>
              <a:rPr lang="en-US" dirty="0"/>
              <a:t>”Now we're discussing Vector Databases, a crucial component in modern information retrieval systems. The key advantage here is the ability to perform fast, relevant searches through vectorized data representations. The process begins with chunking documents into manageable pieces, which are then converted into vectors using an embedding model. These vectors are stored in our database, allowing for efficient similarity searches when queries come in.</a:t>
            </a:r>
          </a:p>
          <a:p>
            <a:endParaRPr lang="en-US" dirty="0"/>
          </a:p>
          <a:p>
            <a:r>
              <a:rPr lang="en-US" dirty="0"/>
              <a:t>When a user makes a query, we convert it into the same vector space and find the most similar chunks from our database. This approach is particularly powerful for semantic search and content retrieval applications. The diagram shows how we go from raw documents through chunking, embedding, and finally to structured storage in our vector database.</a:t>
            </a:r>
          </a:p>
          <a:p>
            <a:endParaRPr lang="en-US" dirty="0"/>
          </a:p>
          <a:p>
            <a:r>
              <a:rPr lang="en-US" dirty="0"/>
              <a:t>Remember, the success of this system relies heavily on both the quality of our embedding model and the efficiency of our vector database implementation."</a:t>
            </a:r>
          </a:p>
        </p:txBody>
      </p:sp>
      <p:sp>
        <p:nvSpPr>
          <p:cNvPr id="4" name="Slide Number Placeholder 3"/>
          <p:cNvSpPr>
            <a:spLocks noGrp="1"/>
          </p:cNvSpPr>
          <p:nvPr>
            <p:ph type="sldNum" sz="quarter" idx="5"/>
          </p:nvPr>
        </p:nvSpPr>
        <p:spPr/>
        <p:txBody>
          <a:bodyPr/>
          <a:lstStyle/>
          <a:p>
            <a:fld id="{688EF870-5850-6643-A228-25AFAA8E2BB1}" type="slidenum">
              <a:rPr lang="en-US" smtClean="0"/>
              <a:t>19</a:t>
            </a:fld>
            <a:endParaRPr lang="en-US"/>
          </a:p>
        </p:txBody>
      </p:sp>
    </p:spTree>
    <p:extLst>
      <p:ext uri="{BB962C8B-B14F-4D97-AF65-F5344CB8AC3E}">
        <p14:creationId xmlns:p14="http://schemas.microsoft.com/office/powerpoint/2010/main" val="3669204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Understanding LLM Recall</a:t>
            </a:r>
          </a:p>
          <a:p>
            <a:r>
              <a:rPr lang="en-US" dirty="0"/>
              <a:t>- Focuses on the LLM's capability to retrieve relevant information</a:t>
            </a:r>
          </a:p>
          <a:p>
            <a:r>
              <a:rPr lang="en-US" dirty="0"/>
              <a:t>- Deals with the model's ability to search through provided context</a:t>
            </a:r>
          </a:p>
          <a:p>
            <a:r>
              <a:rPr lang="en-US" dirty="0"/>
              <a:t>- Critical for accurate and comprehensive responses</a:t>
            </a:r>
          </a:p>
          <a:p>
            <a:endParaRPr lang="en-US" dirty="0"/>
          </a:p>
          <a:p>
            <a:r>
              <a:rPr lang="en-US" dirty="0"/>
              <a:t>2. Main Challenge</a:t>
            </a:r>
          </a:p>
          <a:p>
            <a:r>
              <a:rPr lang="en-US" dirty="0"/>
              <a:t>- Ability to find appropriate information from shared context</a:t>
            </a:r>
          </a:p>
          <a:p>
            <a:r>
              <a:rPr lang="en-US" dirty="0"/>
              <a:t>- Requires efficient search and retrieval mechanisms</a:t>
            </a:r>
          </a:p>
          <a:p>
            <a:r>
              <a:rPr lang="en-US" dirty="0"/>
              <a:t>- Important for maintaining response accuracy</a:t>
            </a:r>
          </a:p>
          <a:p>
            <a:endParaRPr lang="en-US" dirty="0"/>
          </a:p>
          <a:p>
            <a:r>
              <a:rPr lang="en-US" dirty="0"/>
              <a:t>3. Proposed Solution</a:t>
            </a:r>
          </a:p>
          <a:p>
            <a:r>
              <a:rPr lang="en-US" dirty="0"/>
              <a:t>- Increase the number of retrieved documents</a:t>
            </a:r>
          </a:p>
          <a:p>
            <a:r>
              <a:rPr lang="en-US" dirty="0"/>
              <a:t>- Expands the context window for better information access</a:t>
            </a:r>
          </a:p>
          <a:p>
            <a:r>
              <a:rPr lang="en-US" dirty="0"/>
              <a:t>- Helps improve comprehensiveness of responses</a:t>
            </a:r>
          </a:p>
          <a:p>
            <a:endParaRPr lang="en-US" dirty="0"/>
          </a:p>
          <a:p>
            <a:r>
              <a:rPr lang="en-US" dirty="0"/>
              <a:t>4. Document Importance Question</a:t>
            </a:r>
          </a:p>
          <a:p>
            <a:r>
              <a:rPr lang="en-US" dirty="0"/>
              <a:t>- Raises the critical question of document prioritization</a:t>
            </a:r>
          </a:p>
          <a:p>
            <a:r>
              <a:rPr lang="en-US" dirty="0"/>
              <a:t>- Suggests need for weighing document relevance</a:t>
            </a:r>
          </a:p>
          <a:p>
            <a:r>
              <a:rPr lang="en-US" dirty="0"/>
              <a:t>- Implies potential need for ranking system</a:t>
            </a:r>
          </a:p>
          <a:p>
            <a:endParaRPr lang="en-US" b="1" dirty="0"/>
          </a:p>
          <a:p>
            <a:r>
              <a:rPr lang="en-US" b="1" dirty="0"/>
              <a:t>EDUCATOR NOTES:</a:t>
            </a:r>
          </a:p>
          <a:p>
            <a:endParaRPr lang="en-US" dirty="0"/>
          </a:p>
          <a:p>
            <a:r>
              <a:rPr lang="en-US" dirty="0"/>
              <a:t>"In this slide, we're addressing a fundamental aspect of LLM performance: recall. The main challenge we face is ensuring the model can effectively find and utilize information from its given context. Our solution focuses on expanding the number of retrieved documents, but this raises an important question about document prioritization. When implementing this solution, we need to consider whether all documents carry equal weight in the context, as this will affect how we optimize the retrieval process. Consider discussing document ranking mechanisms and relevance scoring in your implementation strategy."</a:t>
            </a:r>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3726168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a:t>
            </a:r>
            <a:r>
              <a:rPr lang="en-US" dirty="0" err="1"/>
              <a:t>Rerankers</a:t>
            </a:r>
            <a:r>
              <a:rPr lang="en-US" dirty="0"/>
              <a:t>:</a:t>
            </a:r>
          </a:p>
          <a:p>
            <a:r>
              <a:rPr lang="en-US" dirty="0"/>
              <a:t>- These are specialized models designed to compute similarity scores</a:t>
            </a:r>
          </a:p>
          <a:p>
            <a:r>
              <a:rPr lang="en-US" dirty="0"/>
              <a:t>- Compare documents against queries</a:t>
            </a:r>
          </a:p>
          <a:p>
            <a:r>
              <a:rPr lang="en-US" dirty="0"/>
              <a:t>- Used for more precise document retrieval</a:t>
            </a:r>
          </a:p>
          <a:p>
            <a:endParaRPr lang="en-US" dirty="0"/>
          </a:p>
          <a:p>
            <a:r>
              <a:rPr lang="en-US" dirty="0"/>
              <a:t>2. Key Characteristics:</a:t>
            </a:r>
          </a:p>
          <a:p>
            <a:r>
              <a:rPr lang="en-US" dirty="0"/>
              <a:t>- Higher accuracy compared to embedding models</a:t>
            </a:r>
          </a:p>
          <a:p>
            <a:r>
              <a:rPr lang="en-US" dirty="0"/>
              <a:t>- Performance trade-off: significantly slower processing speed</a:t>
            </a:r>
          </a:p>
          <a:p>
            <a:r>
              <a:rPr lang="en-US" dirty="0"/>
              <a:t>- More sophisticated in measuring relevance</a:t>
            </a:r>
          </a:p>
          <a:p>
            <a:endParaRPr lang="en-US" dirty="0"/>
          </a:p>
          <a:p>
            <a:r>
              <a:rPr lang="en-US" dirty="0"/>
              <a:t>3. Two-Stage Retrieval Process:</a:t>
            </a:r>
          </a:p>
          <a:p>
            <a:r>
              <a:rPr lang="en-US" dirty="0"/>
              <a:t>a) First Stage:</a:t>
            </a:r>
          </a:p>
          <a:p>
            <a:r>
              <a:rPr lang="en-US" dirty="0"/>
              <a:t>   - Initial retrieval using embeddings</a:t>
            </a:r>
          </a:p>
          <a:p>
            <a:r>
              <a:rPr lang="en-US" dirty="0"/>
              <a:t>   - Faster but less precise</a:t>
            </a:r>
          </a:p>
          <a:p>
            <a:r>
              <a:rPr lang="en-US" dirty="0"/>
              <a:t>b) Second Stage:</a:t>
            </a:r>
          </a:p>
          <a:p>
            <a:r>
              <a:rPr lang="en-US" dirty="0"/>
              <a:t>   - Applies </a:t>
            </a:r>
            <a:r>
              <a:rPr lang="en-US" dirty="0" err="1"/>
              <a:t>rerankers</a:t>
            </a:r>
            <a:r>
              <a:rPr lang="en-US" dirty="0"/>
              <a:t> to measure relevance</a:t>
            </a:r>
          </a:p>
          <a:p>
            <a:r>
              <a:rPr lang="en-US" dirty="0"/>
              <a:t>   - Refines initial results for better accuracy</a:t>
            </a:r>
          </a:p>
          <a:p>
            <a:endParaRPr lang="en-US" dirty="0"/>
          </a:p>
          <a:p>
            <a:r>
              <a:rPr lang="en-US" b="1" dirty="0"/>
              <a:t>EDUCATOR NOTES:</a:t>
            </a:r>
          </a:p>
          <a:p>
            <a:endParaRPr lang="en-US" dirty="0"/>
          </a:p>
          <a:p>
            <a:r>
              <a:rPr lang="en-US" dirty="0"/>
              <a:t>”Now we're discussing </a:t>
            </a:r>
            <a:r>
              <a:rPr lang="en-US" dirty="0" err="1"/>
              <a:t>Rerankers</a:t>
            </a:r>
            <a:r>
              <a:rPr lang="en-US" dirty="0"/>
              <a:t>, which represent an important advancement in document retrieval technology. While they're slower than traditional embedding models, they offer superior accuracy in computing similarity between documents and queries. </a:t>
            </a:r>
          </a:p>
          <a:p>
            <a:endParaRPr lang="en-US" dirty="0"/>
          </a:p>
          <a:p>
            <a:r>
              <a:rPr lang="en-US" dirty="0"/>
              <a:t>The key innovation here is the two-stage retrieval process. We start with quick embedding-based retrieval to get a preliminary set of documents, then apply </a:t>
            </a:r>
            <a:r>
              <a:rPr lang="en-US" dirty="0" err="1"/>
              <a:t>rerankers</a:t>
            </a:r>
            <a:r>
              <a:rPr lang="en-US" dirty="0"/>
              <a:t> to fine-tune the results. This hybrid approach gives us the best of both worlds: the speed of embeddings for initial filtering, and the accuracy of </a:t>
            </a:r>
            <a:r>
              <a:rPr lang="en-US" dirty="0" err="1"/>
              <a:t>rerankers</a:t>
            </a:r>
            <a:r>
              <a:rPr lang="en-US" dirty="0"/>
              <a:t> for final selection.</a:t>
            </a:r>
          </a:p>
          <a:p>
            <a:endParaRPr lang="en-US" dirty="0"/>
          </a:p>
          <a:p>
            <a:r>
              <a:rPr lang="en-US" dirty="0"/>
              <a:t>Think of it like a two-step hiring process: first, you quickly screen resumes to find potential candidates (embeddings), then conduct detailed interviews (</a:t>
            </a:r>
            <a:r>
              <a:rPr lang="en-US" dirty="0" err="1"/>
              <a:t>rerankers</a:t>
            </a:r>
            <a:r>
              <a:rPr lang="en-US" dirty="0"/>
              <a:t>) with the shortlisted candidates to find the best match. This approach is particularly valuable when precision is crucial and the slight speed trade-off is acceptable."</a:t>
            </a:r>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2641923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Query Generation Process</a:t>
            </a:r>
          </a:p>
          <a:p>
            <a:r>
              <a:rPr lang="en-US" dirty="0"/>
              <a:t>- Queries are specifically generated for retrieval purposes</a:t>
            </a:r>
          </a:p>
          <a:p>
            <a:r>
              <a:rPr lang="en-US" dirty="0"/>
              <a:t>- System needs to handle verbose prompts effectively</a:t>
            </a:r>
          </a:p>
          <a:p>
            <a:r>
              <a:rPr lang="en-US" dirty="0"/>
              <a:t>- Important components to consider:</a:t>
            </a:r>
          </a:p>
          <a:p>
            <a:r>
              <a:rPr lang="en-US" dirty="0"/>
              <a:t>  * Setting LLM's role</a:t>
            </a:r>
          </a:p>
          <a:p>
            <a:r>
              <a:rPr lang="en-US" dirty="0"/>
              <a:t>  * Output instructions</a:t>
            </a:r>
          </a:p>
          <a:p>
            <a:r>
              <a:rPr lang="en-US" dirty="0"/>
              <a:t>  * Filtering irrelevant details</a:t>
            </a:r>
          </a:p>
          <a:p>
            <a:endParaRPr lang="en-US" dirty="0"/>
          </a:p>
          <a:p>
            <a:r>
              <a:rPr lang="en-US" dirty="0"/>
              <a:t>2. Architecture Flow</a:t>
            </a:r>
          </a:p>
          <a:p>
            <a:r>
              <a:rPr lang="en-US" dirty="0"/>
              <a:t>- Shows how a user prompt gets transformed into a retrieval query</a:t>
            </a:r>
          </a:p>
          <a:p>
            <a:r>
              <a:rPr lang="en-US" dirty="0"/>
              <a:t>- Example demonstrates a practical use case:</a:t>
            </a:r>
          </a:p>
          <a:p>
            <a:r>
              <a:rPr lang="en-US" dirty="0"/>
              <a:t>  * User asks about company return policy</a:t>
            </a:r>
          </a:p>
          <a:p>
            <a:r>
              <a:rPr lang="en-US" dirty="0"/>
              <a:t>  * System generates appropriate query for retrieval</a:t>
            </a:r>
          </a:p>
          <a:p>
            <a:r>
              <a:rPr lang="en-US" dirty="0"/>
              <a:t>  * Query targets "Amazon's return policy in USA"</a:t>
            </a:r>
          </a:p>
          <a:p>
            <a:endParaRPr lang="en-US" dirty="0"/>
          </a:p>
          <a:p>
            <a:r>
              <a:rPr lang="en-US" dirty="0"/>
              <a:t>3. Key Points</a:t>
            </a:r>
          </a:p>
          <a:p>
            <a:r>
              <a:rPr lang="en-US" dirty="0"/>
              <a:t>- Prompt transformation is essential for effective retrieval</a:t>
            </a:r>
          </a:p>
          <a:p>
            <a:r>
              <a:rPr lang="en-US" dirty="0"/>
              <a:t>- System must maintain context while removing unnecessary information</a:t>
            </a:r>
          </a:p>
          <a:p>
            <a:r>
              <a:rPr lang="en-US" dirty="0"/>
              <a:t>- Focus on generating precise, targeted queries</a:t>
            </a:r>
          </a:p>
          <a:p>
            <a:endParaRPr lang="en-US" dirty="0"/>
          </a:p>
          <a:p>
            <a:r>
              <a:rPr lang="en-US" b="1" dirty="0"/>
              <a:t>EDUCATOR NOTES:</a:t>
            </a:r>
          </a:p>
          <a:p>
            <a:endParaRPr lang="en-US" dirty="0"/>
          </a:p>
          <a:p>
            <a:r>
              <a:rPr lang="en-US" dirty="0"/>
              <a:t>"In this slide, we're examining the first part of the RAG architecture, specifically the query generation process. When a user asks a question, we don't just pass it directly to our retrieval system. Instead, we transform it into an optimized query that's more likely to fetch relevant information.</a:t>
            </a:r>
          </a:p>
          <a:p>
            <a:endParaRPr lang="en-US" dirty="0"/>
          </a:p>
          <a:p>
            <a:r>
              <a:rPr lang="en-US" dirty="0"/>
              <a:t>Notice how a seemingly casual question like 'What is the company's return policy?' gets transformed into a more specific query about 'Amazon's return policy in USA.' This transformation is crucial because it helps us retrieve more accurate and relevant information from our knowledge base.</a:t>
            </a:r>
          </a:p>
          <a:p>
            <a:endParaRPr lang="en-US" dirty="0"/>
          </a:p>
          <a:p>
            <a:r>
              <a:rPr lang="en-US" dirty="0"/>
              <a:t>Remember, while prompts can sometimes be verbose or contain unnecessary details, our goal is to distill them down to their essential elements while maintaining the core intent of the query. This balance between preservation of meaning and optimization for retrieval is what makes this step so critical in the RAG pipeline."</a:t>
            </a:r>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4188434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I'll focus specifically on what new information was added in this second slide compared to the first:</a:t>
            </a:r>
          </a:p>
          <a:p>
            <a:endParaRPr lang="en-US" dirty="0"/>
          </a:p>
          <a:p>
            <a:r>
              <a:rPr lang="en-US" dirty="0"/>
              <a:t>New Information Added in Slide 2:</a:t>
            </a:r>
          </a:p>
          <a:p>
            <a:endParaRPr lang="en-US" dirty="0"/>
          </a:p>
          <a:p>
            <a:r>
              <a:rPr lang="en-US" dirty="0"/>
              <a:t>1. Technical Components Added:</a:t>
            </a:r>
          </a:p>
          <a:p>
            <a:r>
              <a:rPr lang="en-US" dirty="0"/>
              <a:t>   * Embedding model box (new purple component)</a:t>
            </a:r>
          </a:p>
          <a:p>
            <a:r>
              <a:rPr lang="en-US" dirty="0"/>
              <a:t>   * Directional arrow from Query to Embedding model</a:t>
            </a:r>
          </a:p>
          <a:p>
            <a:r>
              <a:rPr lang="en-US" dirty="0"/>
              <a:t>   * "Convert query to embedding" process box</a:t>
            </a:r>
          </a:p>
          <a:p>
            <a:endParaRPr lang="en-US" dirty="0"/>
          </a:p>
          <a:p>
            <a:r>
              <a:rPr lang="en-US" dirty="0"/>
              <a:t>2. New Concepts Introduced:</a:t>
            </a:r>
          </a:p>
          <a:p>
            <a:r>
              <a:rPr lang="en-US" dirty="0"/>
              <a:t>   * Common embedding model concept</a:t>
            </a:r>
          </a:p>
          <a:p>
            <a:endParaRPr lang="en-US" dirty="0"/>
          </a:p>
          <a:p>
            <a:r>
              <a:rPr lang="en-US" dirty="0"/>
              <a:t>3. Additional Technical Details:</a:t>
            </a:r>
          </a:p>
          <a:p>
            <a:r>
              <a:rPr lang="en-US" dirty="0"/>
              <a:t>   * The concept of common embedding model as a standardized approach</a:t>
            </a:r>
          </a:p>
          <a:p>
            <a:endParaRPr lang="en-US" dirty="0"/>
          </a:p>
          <a:p>
            <a:r>
              <a:rPr lang="en-US" dirty="0"/>
              <a:t>4. Architecture Evolution:</a:t>
            </a:r>
          </a:p>
          <a:p>
            <a:r>
              <a:rPr lang="en-US" dirty="0"/>
              <a:t>   * Shows transformation from pure text query to embedded format</a:t>
            </a:r>
          </a:p>
          <a:p>
            <a:endParaRPr lang="en-US" dirty="0"/>
          </a:p>
          <a:p>
            <a:r>
              <a:rPr lang="en-US" dirty="0"/>
              <a:t>The key progression is from slide 1's focus on query generation and prompt handling to slide 2's introduction of the technical embedding process that transforms the query into a format suitable for vector-based retrieval.</a:t>
            </a:r>
          </a:p>
          <a:p>
            <a:endParaRPr lang="en-US" dirty="0"/>
          </a:p>
          <a:p>
            <a:r>
              <a:rPr lang="en-US" b="1" dirty="0"/>
              <a:t>EDUCATOR NOTES: </a:t>
            </a:r>
          </a:p>
          <a:p>
            <a:endParaRPr lang="en-US" dirty="0"/>
          </a:p>
          <a:p>
            <a:r>
              <a:rPr lang="en-US" dirty="0"/>
              <a:t>"What you're seeing added here is the crucial embedding layer of our RAG architecture. While slide 1 showed us how we generate and clean our query, slide 2 introduces how we transform that query into a mathematical representation through the embedding model. This is a vital addition because it shows how we bridge the gap between human language and machine-processable vectors. The introduction of the common embedding model concept sets up how we'll actually perform the retrieval process in our next steps."</a:t>
            </a:r>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22221695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br>
              <a:rPr lang="en-US" dirty="0"/>
            </a:br>
            <a:endParaRPr lang="en-US" dirty="0"/>
          </a:p>
          <a:p>
            <a:r>
              <a:rPr lang="en-US" dirty="0"/>
              <a:t>New Information Added in Slide 3:</a:t>
            </a:r>
          </a:p>
          <a:p>
            <a:endParaRPr lang="en-US" dirty="0"/>
          </a:p>
          <a:p>
            <a:r>
              <a:rPr lang="en-US" dirty="0"/>
              <a:t>1. New Components Added:</a:t>
            </a:r>
          </a:p>
          <a:p>
            <a:r>
              <a:rPr lang="en-US" dirty="0"/>
              <a:t>   * Vector database icon (black stacked cylinders)</a:t>
            </a:r>
          </a:p>
          <a:p>
            <a:r>
              <a:rPr lang="en-US" dirty="0"/>
              <a:t>   * Document/text icon with return policy snippet</a:t>
            </a:r>
          </a:p>
          <a:p>
            <a:r>
              <a:rPr lang="en-US" dirty="0"/>
              <a:t>   * Additional process box "Retrieve relevant info from a vector database"</a:t>
            </a:r>
          </a:p>
          <a:p>
            <a:endParaRPr lang="en-US" dirty="0"/>
          </a:p>
          <a:p>
            <a:r>
              <a:rPr lang="en-US" dirty="0"/>
              <a:t>2. Visual Progression:</a:t>
            </a:r>
          </a:p>
          <a:p>
            <a:r>
              <a:rPr lang="en-US" dirty="0"/>
              <a:t>   * New arrow from Embedding model to vector database</a:t>
            </a:r>
          </a:p>
          <a:p>
            <a:r>
              <a:rPr lang="en-US" dirty="0"/>
              <a:t>   * First appearance of actual retrieved content ("Return policy: 15 days after purchase...")</a:t>
            </a:r>
          </a:p>
          <a:p>
            <a:endParaRPr lang="en-US" dirty="0"/>
          </a:p>
          <a:p>
            <a:r>
              <a:rPr lang="en-US" dirty="0"/>
              <a:t>3. Functional Elements Added:</a:t>
            </a:r>
          </a:p>
          <a:p>
            <a:r>
              <a:rPr lang="en-US" dirty="0"/>
              <a:t>   * Vector database retrieval step</a:t>
            </a:r>
          </a:p>
          <a:p>
            <a:r>
              <a:rPr lang="en-US" dirty="0"/>
              <a:t>   * Demonstration of actual information retrieval</a:t>
            </a:r>
          </a:p>
          <a:p>
            <a:r>
              <a:rPr lang="en-US" dirty="0"/>
              <a:t>   * Complete flow from query to retrieved content</a:t>
            </a:r>
          </a:p>
          <a:p>
            <a:endParaRPr lang="en-US" dirty="0"/>
          </a:p>
          <a:p>
            <a:r>
              <a:rPr lang="en-US" dirty="0"/>
              <a:t>4. Process Completion Addition:</a:t>
            </a:r>
          </a:p>
          <a:p>
            <a:r>
              <a:rPr lang="en-US" dirty="0"/>
              <a:t>   * Shows the full retrieval pipeline</a:t>
            </a:r>
          </a:p>
          <a:p>
            <a:r>
              <a:rPr lang="en-US" dirty="0"/>
              <a:t>   * Demonstrates actual data being retrieved</a:t>
            </a:r>
          </a:p>
          <a:p>
            <a:r>
              <a:rPr lang="en-US" dirty="0"/>
              <a:t>   * Connects query processing to actual content retrieval</a:t>
            </a:r>
          </a:p>
          <a:p>
            <a:endParaRPr lang="en-US" b="1" dirty="0"/>
          </a:p>
          <a:p>
            <a:r>
              <a:rPr lang="en-US" b="1" dirty="0"/>
              <a:t>EDUCATOR NOTES:</a:t>
            </a:r>
          </a:p>
          <a:p>
            <a:endParaRPr lang="en-US" dirty="0"/>
          </a:p>
          <a:p>
            <a:r>
              <a:rPr lang="en-US" dirty="0"/>
              <a:t>"In this third stage of our RAG architecture, we've added the crucial retrieval component. What's new here is the vector database and the actual retrieval of relevant information. Notice how we've moved from just processing the query in slides 1 and 2, to actually getting results from our knowledge base. The addition of the document icon with the return policy snippet shows the practical outcome of our retrieval process. This completes the basic retrieval cycle of our RAG system, showing how we go from user question to actual retrieved content."</a:t>
            </a:r>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8365856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New Information Added in Slide 4:</a:t>
            </a:r>
          </a:p>
          <a:p>
            <a:endParaRPr lang="en-US" dirty="0"/>
          </a:p>
          <a:p>
            <a:r>
              <a:rPr lang="en-US" dirty="0"/>
              <a:t>1. New Components Added:</a:t>
            </a:r>
          </a:p>
          <a:p>
            <a:r>
              <a:rPr lang="en-US" dirty="0"/>
              <a:t>   * "Augment prompt with retrieved results" process box</a:t>
            </a:r>
          </a:p>
          <a:p>
            <a:r>
              <a:rPr lang="en-US" dirty="0"/>
              <a:t>   * "Prompt + Context" component (purple box)</a:t>
            </a:r>
          </a:p>
          <a:p>
            <a:r>
              <a:rPr lang="en-US" dirty="0"/>
              <a:t>   * New arrow connecting retrieved information to prompt augmentation</a:t>
            </a:r>
          </a:p>
          <a:p>
            <a:endParaRPr lang="en-US" dirty="0"/>
          </a:p>
          <a:p>
            <a:r>
              <a:rPr lang="en-US" dirty="0"/>
              <a:t>2. Process Addition:</a:t>
            </a:r>
          </a:p>
          <a:p>
            <a:r>
              <a:rPr lang="en-US" dirty="0"/>
              <a:t>   * Final step of combining retrieved information with original prompt</a:t>
            </a:r>
          </a:p>
          <a:p>
            <a:r>
              <a:rPr lang="en-US" dirty="0"/>
              <a:t>   * Introduction of context augmentation concept</a:t>
            </a:r>
          </a:p>
          <a:p>
            <a:r>
              <a:rPr lang="en-US" dirty="0"/>
              <a:t>   * Completion of the information flow from retrieval to prompt enhancement</a:t>
            </a:r>
          </a:p>
          <a:p>
            <a:endParaRPr lang="en-US" dirty="0"/>
          </a:p>
          <a:p>
            <a:r>
              <a:rPr lang="en-US" dirty="0"/>
              <a:t>3. Flow Enhancement:</a:t>
            </a:r>
          </a:p>
          <a:p>
            <a:r>
              <a:rPr lang="en-US" dirty="0"/>
              <a:t>   * Additional arrow showing how retrieved information feeds into prompt enhancement</a:t>
            </a:r>
          </a:p>
          <a:p>
            <a:r>
              <a:rPr lang="en-US" dirty="0"/>
              <a:t>   * Integration of context with original query</a:t>
            </a:r>
          </a:p>
          <a:p>
            <a:r>
              <a:rPr lang="en-US" dirty="0"/>
              <a:t>   * Connection between retrieved data and prompt processing</a:t>
            </a:r>
          </a:p>
          <a:p>
            <a:endParaRPr lang="en-US" dirty="0"/>
          </a:p>
          <a:p>
            <a:r>
              <a:rPr lang="en-US" dirty="0"/>
              <a:t>4. Architecture Completion Elements:</a:t>
            </a:r>
          </a:p>
          <a:p>
            <a:r>
              <a:rPr lang="en-US" dirty="0"/>
              <a:t>   * Shows how retrieved information gets incorporated back into the prompt</a:t>
            </a:r>
          </a:p>
          <a:p>
            <a:r>
              <a:rPr lang="en-US" dirty="0"/>
              <a:t>   * Demonstrates the "augmentation" aspect of RAG</a:t>
            </a:r>
          </a:p>
          <a:p>
            <a:r>
              <a:rPr lang="en-US" dirty="0"/>
              <a:t>   * Illustrates the full circle from query to enhanced prompt</a:t>
            </a:r>
          </a:p>
          <a:p>
            <a:endParaRPr lang="en-US" dirty="0"/>
          </a:p>
          <a:p>
            <a:r>
              <a:rPr lang="en-US" b="1" dirty="0"/>
              <a:t>EDUCATOR NOTES:</a:t>
            </a:r>
          </a:p>
          <a:p>
            <a:endParaRPr lang="en-US" dirty="0"/>
          </a:p>
          <a:p>
            <a:r>
              <a:rPr lang="en-US" dirty="0"/>
              <a:t>"In this fourth stage, we see the critical augmentation step that gives RAG its name. What's new here is how we take our retrieved information and combine it with the original prompt to create an enhanced context. Notice the additional process of augmenting the prompt with our retrieved results, which completes the retrieval-augmentation cycle. This is where RAG really shows its power - by combining the original query with relevant retrieved context to create more informed responses."</a:t>
            </a:r>
          </a:p>
        </p:txBody>
      </p:sp>
      <p:sp>
        <p:nvSpPr>
          <p:cNvPr id="4" name="Slide Number Placeholder 3"/>
          <p:cNvSpPr>
            <a:spLocks noGrp="1"/>
          </p:cNvSpPr>
          <p:nvPr>
            <p:ph type="sldNum" sz="quarter" idx="5"/>
          </p:nvPr>
        </p:nvSpPr>
        <p:spPr/>
        <p:txBody>
          <a:bodyPr/>
          <a:lstStyle/>
          <a:p>
            <a:fld id="{688EF870-5850-6643-A228-25AFAA8E2BB1}" type="slidenum">
              <a:rPr lang="en-US" smtClean="0"/>
              <a:t>25</a:t>
            </a:fld>
            <a:endParaRPr lang="en-US"/>
          </a:p>
        </p:txBody>
      </p:sp>
    </p:spTree>
    <p:extLst>
      <p:ext uri="{BB962C8B-B14F-4D97-AF65-F5344CB8AC3E}">
        <p14:creationId xmlns:p14="http://schemas.microsoft.com/office/powerpoint/2010/main" val="1422319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New Information Added in Slide 5:</a:t>
            </a:r>
          </a:p>
          <a:p>
            <a:endParaRPr lang="en-US" dirty="0"/>
          </a:p>
          <a:p>
            <a:r>
              <a:rPr lang="en-US" dirty="0"/>
              <a:t>1. New Components Added:</a:t>
            </a:r>
          </a:p>
          <a:p>
            <a:r>
              <a:rPr lang="en-US" dirty="0"/>
              <a:t>   * "Generate response with the LLM" process box (final step)</a:t>
            </a:r>
          </a:p>
          <a:p>
            <a:r>
              <a:rPr lang="en-US" dirty="0"/>
              <a:t>   * Neural network/LLM icon (purple circuit-style brain icon)</a:t>
            </a:r>
          </a:p>
          <a:p>
            <a:r>
              <a:rPr lang="en-US" dirty="0"/>
              <a:t>   * "Response" arrow pointing to the user</a:t>
            </a:r>
          </a:p>
          <a:p>
            <a:r>
              <a:rPr lang="en-US" dirty="0"/>
              <a:t>  </a:t>
            </a:r>
          </a:p>
          <a:p>
            <a:r>
              <a:rPr lang="en-US" dirty="0"/>
              <a:t>2. Process Completion:</a:t>
            </a:r>
          </a:p>
          <a:p>
            <a:r>
              <a:rPr lang="en-US" dirty="0"/>
              <a:t>   * Final step showing LLM response generation</a:t>
            </a:r>
          </a:p>
          <a:p>
            <a:r>
              <a:rPr lang="en-US" dirty="0"/>
              <a:t>   * Complete end-to-end RAG pipeline visualization</a:t>
            </a:r>
          </a:p>
          <a:p>
            <a:r>
              <a:rPr lang="en-US" dirty="0"/>
              <a:t>   * Response flow back to the user</a:t>
            </a:r>
          </a:p>
          <a:p>
            <a:endParaRPr lang="en-US" dirty="0"/>
          </a:p>
          <a:p>
            <a:r>
              <a:rPr lang="en-US" dirty="0"/>
              <a:t>3. Visual Flow Addition:</a:t>
            </a:r>
          </a:p>
          <a:p>
            <a:r>
              <a:rPr lang="en-US" dirty="0"/>
              <a:t>   * New arrow from </a:t>
            </a:r>
            <a:r>
              <a:rPr lang="en-US" dirty="0" err="1"/>
              <a:t>Prompt+Context</a:t>
            </a:r>
            <a:r>
              <a:rPr lang="en-US" dirty="0"/>
              <a:t> to LLM</a:t>
            </a:r>
          </a:p>
          <a:p>
            <a:r>
              <a:rPr lang="en-US" dirty="0"/>
              <a:t>   * Final arrow showing response delivery</a:t>
            </a:r>
          </a:p>
          <a:p>
            <a:r>
              <a:rPr lang="en-US" dirty="0"/>
              <a:t>   * Completion of the full information cycle</a:t>
            </a:r>
          </a:p>
          <a:p>
            <a:endParaRPr lang="en-US" dirty="0"/>
          </a:p>
          <a:p>
            <a:r>
              <a:rPr lang="en-US" dirty="0"/>
              <a:t>4. Architecture Completion:</a:t>
            </a:r>
          </a:p>
          <a:p>
            <a:r>
              <a:rPr lang="en-US" dirty="0"/>
              <a:t>   * Shows the complete RAG process from query to response</a:t>
            </a:r>
          </a:p>
          <a:p>
            <a:r>
              <a:rPr lang="en-US" dirty="0"/>
              <a:t>   * Demonstrates how the augmented prompt is used by the LLM</a:t>
            </a:r>
          </a:p>
          <a:p>
            <a:r>
              <a:rPr lang="en-US" dirty="0"/>
              <a:t>   * Illustrates the final step of response generation</a:t>
            </a:r>
          </a:p>
          <a:p>
            <a:endParaRPr lang="en-US" b="1" dirty="0"/>
          </a:p>
          <a:p>
            <a:r>
              <a:rPr lang="en-US" b="1" dirty="0"/>
              <a:t>EDUCATOR NOTES:</a:t>
            </a:r>
          </a:p>
          <a:p>
            <a:endParaRPr lang="en-US" dirty="0"/>
          </a:p>
          <a:p>
            <a:r>
              <a:rPr lang="en-US" dirty="0"/>
              <a:t>"In this final slide of our RAG architecture sequence, we see the crucial last step that completes the entire process. The addition of the LLM component shows how the augmented prompt (combining the original query with retrieved context) is used to generate the final response. This completes our understanding of how RAG moves from initial query through retrieval and augmentation to finally delivering an informed response to the user."</a:t>
            </a:r>
          </a:p>
        </p:txBody>
      </p:sp>
      <p:sp>
        <p:nvSpPr>
          <p:cNvPr id="4" name="Slide Number Placeholder 3"/>
          <p:cNvSpPr>
            <a:spLocks noGrp="1"/>
          </p:cNvSpPr>
          <p:nvPr>
            <p:ph type="sldNum" sz="quarter" idx="5"/>
          </p:nvPr>
        </p:nvSpPr>
        <p:spPr/>
        <p:txBody>
          <a:bodyPr/>
          <a:lstStyle/>
          <a:p>
            <a:fld id="{688EF870-5850-6643-A228-25AFAA8E2BB1}" type="slidenum">
              <a:rPr lang="en-US" smtClean="0"/>
              <a:t>26</a:t>
            </a:fld>
            <a:endParaRPr lang="en-US"/>
          </a:p>
        </p:txBody>
      </p:sp>
    </p:spTree>
    <p:extLst>
      <p:ext uri="{BB962C8B-B14F-4D97-AF65-F5344CB8AC3E}">
        <p14:creationId xmlns:p14="http://schemas.microsoft.com/office/powerpoint/2010/main" val="2572725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27</a:t>
            </a:fld>
            <a:endParaRPr lang="en-US"/>
          </a:p>
        </p:txBody>
      </p:sp>
    </p:spTree>
    <p:extLst>
      <p:ext uri="{BB962C8B-B14F-4D97-AF65-F5344CB8AC3E}">
        <p14:creationId xmlns:p14="http://schemas.microsoft.com/office/powerpoint/2010/main" val="2127427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br>
              <a:rPr lang="en-US" dirty="0"/>
            </a:br>
            <a:endParaRPr lang="en-US" dirty="0"/>
          </a:p>
          <a:p>
            <a:r>
              <a:rPr lang="en-US" dirty="0"/>
              <a:t>1. Multimodal Representation Challenges</a:t>
            </a:r>
          </a:p>
          <a:p>
            <a:r>
              <a:rPr lang="en-US" dirty="0"/>
              <a:t>   - Main challenge: Efficiently representing multiple modalities</a:t>
            </a:r>
          </a:p>
          <a:p>
            <a:r>
              <a:rPr lang="en-US" dirty="0"/>
              <a:t>   - Need to effectively utilize complementary information</a:t>
            </a:r>
          </a:p>
          <a:p>
            <a:r>
              <a:rPr lang="en-US" dirty="0"/>
              <a:t>   - Important to minimize redundancy across modalities</a:t>
            </a:r>
          </a:p>
          <a:p>
            <a:endParaRPr lang="en-US" dirty="0"/>
          </a:p>
          <a:p>
            <a:r>
              <a:rPr lang="en-US" dirty="0"/>
              <a:t>2. Data Integration</a:t>
            </a:r>
          </a:p>
          <a:p>
            <a:r>
              <a:rPr lang="en-US" dirty="0"/>
              <a:t>   - Complex task of combining heterogeneous data sources</a:t>
            </a:r>
          </a:p>
          <a:p>
            <a:r>
              <a:rPr lang="en-US" dirty="0"/>
              <a:t>   - Different data types require different handling:</a:t>
            </a:r>
          </a:p>
          <a:p>
            <a:r>
              <a:rPr lang="en-US" dirty="0"/>
              <a:t>     * Language: Symbolic representation</a:t>
            </a:r>
          </a:p>
          <a:p>
            <a:r>
              <a:rPr lang="en-US" dirty="0"/>
              <a:t>     * Images: Numeric matrices</a:t>
            </a:r>
          </a:p>
          <a:p>
            <a:r>
              <a:rPr lang="en-US" dirty="0"/>
              <a:t>     * Audio/Video: Signal-based data</a:t>
            </a:r>
          </a:p>
          <a:p>
            <a:endParaRPr lang="en-US" dirty="0"/>
          </a:p>
          <a:p>
            <a:r>
              <a:rPr lang="en-US" dirty="0"/>
              <a:t>3. Data Quality Issues</a:t>
            </a:r>
          </a:p>
          <a:p>
            <a:r>
              <a:rPr lang="en-US" dirty="0"/>
              <a:t>   - Must handle noise in various modalities</a:t>
            </a:r>
          </a:p>
          <a:p>
            <a:r>
              <a:rPr lang="en-US" dirty="0"/>
              <a:t>   - Need strategies for dealing with missing data</a:t>
            </a:r>
          </a:p>
          <a:p>
            <a:r>
              <a:rPr lang="en-US" dirty="0"/>
              <a:t>   - Requires robust preprocessing techniques</a:t>
            </a:r>
          </a:p>
          <a:p>
            <a:endParaRPr lang="en-US" dirty="0"/>
          </a:p>
          <a:p>
            <a:r>
              <a:rPr lang="en-US" b="1" dirty="0"/>
              <a:t>EDUCATOR NOTES:</a:t>
            </a:r>
          </a:p>
          <a:p>
            <a:endParaRPr lang="en-US" dirty="0"/>
          </a:p>
          <a:p>
            <a:r>
              <a:rPr lang="en-US" dirty="0"/>
              <a:t>”Now we'll explore the fundamental challenges in multimodal modeling, particularly in data representation. The key challenge lies in efficiently handling different types of data - from text to images to audio - each with its unique characteristics. </a:t>
            </a:r>
          </a:p>
          <a:p>
            <a:endParaRPr lang="en-US" dirty="0"/>
          </a:p>
          <a:p>
            <a:r>
              <a:rPr lang="en-US" dirty="0"/>
              <a:t>When working with multimodal data, we need to consider that language operates in symbolic form, images are essentially numeric matrices, and audio/video comes as signals. The trick is combining these diverse data types while maintaining their complementary information and avoiding redundancy.</a:t>
            </a:r>
          </a:p>
          <a:p>
            <a:endParaRPr lang="en-US" dirty="0"/>
          </a:p>
          <a:p>
            <a:r>
              <a:rPr lang="en-US" dirty="0"/>
              <a:t>A critical aspect often overlooked is dealing with imperfect data - whether it's noise in audio signals, missing frames in video, or incomplete text data. Our models need to be robust enough to handle these real-world scenarios.</a:t>
            </a:r>
          </a:p>
          <a:p>
            <a:endParaRPr lang="en-US" dirty="0"/>
          </a:p>
          <a:p>
            <a:r>
              <a:rPr lang="en-US" dirty="0"/>
              <a:t>Remember, the goal isn't just to process these different modalities separately, but to create a cohesive representation that leverages the strengths of each modality while compensating for their individual weaknesses."</a:t>
            </a:r>
          </a:p>
        </p:txBody>
      </p:sp>
      <p:sp>
        <p:nvSpPr>
          <p:cNvPr id="4" name="Slide Number Placeholder 3"/>
          <p:cNvSpPr>
            <a:spLocks noGrp="1"/>
          </p:cNvSpPr>
          <p:nvPr>
            <p:ph type="sldNum" sz="quarter" idx="5"/>
          </p:nvPr>
        </p:nvSpPr>
        <p:spPr/>
        <p:txBody>
          <a:bodyPr/>
          <a:lstStyle/>
          <a:p>
            <a:fld id="{688EF870-5850-6643-A228-25AFAA8E2BB1}" type="slidenum">
              <a:rPr lang="en-US" smtClean="0"/>
              <a:t>28</a:t>
            </a:fld>
            <a:endParaRPr lang="en-US"/>
          </a:p>
        </p:txBody>
      </p:sp>
    </p:spTree>
    <p:extLst>
      <p:ext uri="{BB962C8B-B14F-4D97-AF65-F5344CB8AC3E}">
        <p14:creationId xmlns:p14="http://schemas.microsoft.com/office/powerpoint/2010/main" val="40078984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Alignment</a:t>
            </a:r>
          </a:p>
          <a:p>
            <a:r>
              <a:rPr lang="en-US" dirty="0"/>
              <a:t>- Focuses on integrating information across different modalities</a:t>
            </a:r>
          </a:p>
          <a:p>
            <a:r>
              <a:rPr lang="en-US" dirty="0"/>
              <a:t>- Core challenge in multimodal AI systems</a:t>
            </a:r>
          </a:p>
          <a:p>
            <a:r>
              <a:rPr lang="en-US" dirty="0"/>
              <a:t>- Essential for creating coherent understanding between different types of data</a:t>
            </a:r>
          </a:p>
          <a:p>
            <a:endParaRPr lang="en-US" dirty="0"/>
          </a:p>
          <a:p>
            <a:r>
              <a:rPr lang="en-US" dirty="0"/>
              <a:t>2. Key Aspects</a:t>
            </a:r>
          </a:p>
          <a:p>
            <a:r>
              <a:rPr lang="en-US" dirty="0"/>
              <a:t>- Identifies and establishes direct relationships between elements</a:t>
            </a:r>
          </a:p>
          <a:p>
            <a:r>
              <a:rPr lang="en-US" dirty="0"/>
              <a:t>- Works across multiple modalities (e.g., text, images, audio, video)</a:t>
            </a:r>
          </a:p>
          <a:p>
            <a:r>
              <a:rPr lang="en-US" dirty="0"/>
              <a:t>- Creates meaningful connections between different data types</a:t>
            </a:r>
          </a:p>
          <a:p>
            <a:endParaRPr lang="en-US" dirty="0"/>
          </a:p>
          <a:p>
            <a:r>
              <a:rPr lang="en-US" dirty="0"/>
              <a:t>3. Practical Application</a:t>
            </a:r>
          </a:p>
          <a:p>
            <a:r>
              <a:rPr lang="en-US" dirty="0"/>
              <a:t>- Image-caption alignment as a common example</a:t>
            </a:r>
          </a:p>
          <a:p>
            <a:r>
              <a:rPr lang="en-US" dirty="0"/>
              <a:t>- Ensures visual elements match textual descriptions</a:t>
            </a:r>
          </a:p>
          <a:p>
            <a:r>
              <a:rPr lang="en-US" dirty="0"/>
              <a:t>- Critical for accurate information representation</a:t>
            </a:r>
          </a:p>
          <a:p>
            <a:endParaRPr lang="en-US" dirty="0"/>
          </a:p>
          <a:p>
            <a:r>
              <a:rPr lang="en-US" b="1" dirty="0"/>
              <a:t>EDUCATOR NOTES:</a:t>
            </a:r>
          </a:p>
          <a:p>
            <a:endParaRPr lang="en-US" dirty="0"/>
          </a:p>
          <a:p>
            <a:r>
              <a:rPr lang="en-US" dirty="0"/>
              <a:t>”Now we'll explore one of the fundamental challenges in multimodal AI: alignment. Think of alignment as the bridge that connects different types of information - like matching a picture with its description. When we talk about 'integrating information from different modalities,' we're really talking about making sure our AI systems can understand and connect information across different formats seamlessly.</a:t>
            </a:r>
          </a:p>
          <a:p>
            <a:endParaRPr lang="en-US" dirty="0"/>
          </a:p>
          <a:p>
            <a:r>
              <a:rPr lang="en-US" dirty="0"/>
              <a:t>A practical example we often see is in image captioning, where the system needs to align visual elements with textual descriptions. This isn't just about simple matching - it's about understanding deep relationships between different types of data.</a:t>
            </a:r>
          </a:p>
          <a:p>
            <a:endParaRPr lang="en-US" dirty="0"/>
          </a:p>
          <a:p>
            <a:r>
              <a:rPr lang="en-US" dirty="0"/>
              <a:t>Remember, good alignment is crucial for creating AI systems that can truly understand and work with multiple types of information simultaneously."</a:t>
            </a:r>
          </a:p>
        </p:txBody>
      </p:sp>
      <p:sp>
        <p:nvSpPr>
          <p:cNvPr id="4" name="Slide Number Placeholder 3"/>
          <p:cNvSpPr>
            <a:spLocks noGrp="1"/>
          </p:cNvSpPr>
          <p:nvPr>
            <p:ph type="sldNum" sz="quarter" idx="5"/>
          </p:nvPr>
        </p:nvSpPr>
        <p:spPr/>
        <p:txBody>
          <a:bodyPr/>
          <a:lstStyle/>
          <a:p>
            <a:fld id="{688EF870-5850-6643-A228-25AFAA8E2BB1}" type="slidenum">
              <a:rPr lang="en-US" smtClean="0"/>
              <a:t>29</a:t>
            </a:fld>
            <a:endParaRPr lang="en-US"/>
          </a:p>
        </p:txBody>
      </p:sp>
    </p:spTree>
    <p:extLst>
      <p:ext uri="{BB962C8B-B14F-4D97-AF65-F5344CB8AC3E}">
        <p14:creationId xmlns:p14="http://schemas.microsoft.com/office/powerpoint/2010/main" val="816244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Modality Mapping Challenge</a:t>
            </a:r>
          </a:p>
          <a:p>
            <a:r>
              <a:rPr lang="en-US" dirty="0"/>
              <a:t>- Primary challenge involves mapping between different modalities</a:t>
            </a:r>
          </a:p>
          <a:p>
            <a:r>
              <a:rPr lang="en-US" dirty="0"/>
              <a:t>- Need to create meaningful connections between different types of data</a:t>
            </a:r>
          </a:p>
          <a:p>
            <a:endParaRPr lang="en-US" dirty="0"/>
          </a:p>
          <a:p>
            <a:r>
              <a:rPr lang="en-US" dirty="0"/>
              <a:t>2. Data Heterogeneity</a:t>
            </a:r>
          </a:p>
          <a:p>
            <a:r>
              <a:rPr lang="en-US" dirty="0"/>
              <a:t>- Dealing with heterogeneous (diverse/varied) data types</a:t>
            </a:r>
          </a:p>
          <a:p>
            <a:r>
              <a:rPr lang="en-US" dirty="0"/>
              <a:t>- Different modalities have different structures and characteristics</a:t>
            </a:r>
          </a:p>
          <a:p>
            <a:endParaRPr lang="en-US" dirty="0"/>
          </a:p>
          <a:p>
            <a:r>
              <a:rPr lang="en-US" dirty="0"/>
              <a:t>3. Translation Types examples</a:t>
            </a:r>
          </a:p>
          <a:p>
            <a:r>
              <a:rPr lang="en-US" dirty="0"/>
              <a:t>- Image-to-text: Converting visual information into textual descriptions</a:t>
            </a:r>
          </a:p>
          <a:p>
            <a:r>
              <a:rPr lang="en-US" dirty="0"/>
              <a:t>- Text-to-image: Generating visual content from textual descriptions</a:t>
            </a:r>
          </a:p>
          <a:p>
            <a:endParaRPr lang="en-US" dirty="0"/>
          </a:p>
          <a:p>
            <a:r>
              <a:rPr lang="en-US" dirty="0"/>
              <a:t>4. Subjective &amp; Open-ended Nature</a:t>
            </a:r>
          </a:p>
          <a:p>
            <a:r>
              <a:rPr lang="en-US" dirty="0"/>
              <a:t>- Relationships between modalities aren't always straightforward</a:t>
            </a:r>
          </a:p>
          <a:p>
            <a:r>
              <a:rPr lang="en-US" dirty="0"/>
              <a:t>- Multiple valid interpretations possible</a:t>
            </a:r>
          </a:p>
          <a:p>
            <a:r>
              <a:rPr lang="en-US" dirty="0"/>
              <a:t>- Example: Different valid descriptions of the same painting</a:t>
            </a:r>
          </a:p>
          <a:p>
            <a:endParaRPr lang="en-US" dirty="0"/>
          </a:p>
          <a:p>
            <a:r>
              <a:rPr lang="en-US" b="1" dirty="0"/>
              <a:t>EDUCATOR NOTES:</a:t>
            </a:r>
          </a:p>
          <a:p>
            <a:endParaRPr lang="en-US" dirty="0"/>
          </a:p>
          <a:p>
            <a:r>
              <a:rPr lang="en-US" dirty="0"/>
              <a:t>”Now we'll explore the key challenges in multimodal models, particularly in translation tasks. The first major hurdle is mapping between different modalities - think of it like translating between two very different modalities.</a:t>
            </a:r>
          </a:p>
          <a:p>
            <a:endParaRPr lang="en-US" dirty="0"/>
          </a:p>
          <a:p>
            <a:r>
              <a:rPr lang="en-US" dirty="0"/>
              <a:t>When we look at specific translation tasks like image-to-text or text-to-image, we must acknowledge that these relationships can be subjective and open-ended. Just as a painting can be interpreted in multiple valid ways, there isn't always a single 'correct' translation between modalities.</a:t>
            </a:r>
          </a:p>
          <a:p>
            <a:endParaRPr lang="en-US" dirty="0"/>
          </a:p>
          <a:p>
            <a:r>
              <a:rPr lang="en-US" dirty="0"/>
              <a:t>Remember, the goal isn't just to create technically accurate translations, but to capture meaningful relationships between different types of data while acknowledging the inherent subjectivity in these transformations."</a:t>
            </a:r>
          </a:p>
        </p:txBody>
      </p:sp>
      <p:sp>
        <p:nvSpPr>
          <p:cNvPr id="4" name="Slide Number Placeholder 3"/>
          <p:cNvSpPr>
            <a:spLocks noGrp="1"/>
          </p:cNvSpPr>
          <p:nvPr>
            <p:ph type="sldNum" sz="quarter" idx="5"/>
          </p:nvPr>
        </p:nvSpPr>
        <p:spPr/>
        <p:txBody>
          <a:bodyPr/>
          <a:lstStyle/>
          <a:p>
            <a:fld id="{688EF870-5850-6643-A228-25AFAA8E2BB1}" type="slidenum">
              <a:rPr lang="en-US" smtClean="0"/>
              <a:t>30</a:t>
            </a:fld>
            <a:endParaRPr lang="en-US"/>
          </a:p>
        </p:txBody>
      </p:sp>
    </p:spTree>
    <p:extLst>
      <p:ext uri="{BB962C8B-B14F-4D97-AF65-F5344CB8AC3E}">
        <p14:creationId xmlns:p14="http://schemas.microsoft.com/office/powerpoint/2010/main" val="37248128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Challenge Overview</a:t>
            </a:r>
          </a:p>
          <a:p>
            <a:r>
              <a:rPr lang="en-US" dirty="0"/>
              <a:t>- Goal: Ensure model comprehends relationship between images and their descriptions</a:t>
            </a:r>
          </a:p>
          <a:p>
            <a:r>
              <a:rPr lang="en-US" dirty="0"/>
              <a:t>- Focus on matching images with corresponding captions about same concept</a:t>
            </a:r>
          </a:p>
          <a:p>
            <a:r>
              <a:rPr lang="en-US" dirty="0"/>
              <a:t>- Example given: "digital camera" as a concept that could be represented both visually and textually</a:t>
            </a:r>
          </a:p>
          <a:p>
            <a:endParaRPr lang="en-US" dirty="0"/>
          </a:p>
          <a:p>
            <a:r>
              <a:rPr lang="en-US" dirty="0"/>
              <a:t>2. Core Problem</a:t>
            </a:r>
          </a:p>
          <a:p>
            <a:r>
              <a:rPr lang="en-US" dirty="0"/>
              <a:t>- How to make the model understand semantic connections between:</a:t>
            </a:r>
          </a:p>
          <a:p>
            <a:r>
              <a:rPr lang="en-US" dirty="0"/>
              <a:t>  * Visual content (images)</a:t>
            </a:r>
          </a:p>
          <a:p>
            <a:r>
              <a:rPr lang="en-US" dirty="0"/>
              <a:t>  * Textual content (captions/descriptions)</a:t>
            </a:r>
          </a:p>
          <a:p>
            <a:r>
              <a:rPr lang="en-US" dirty="0"/>
              <a:t>- Need for integrated processing of multiple modalities</a:t>
            </a:r>
          </a:p>
          <a:p>
            <a:endParaRPr lang="en-US" dirty="0"/>
          </a:p>
          <a:p>
            <a:r>
              <a:rPr lang="en-US" dirty="0"/>
              <a:t>3. Technical Consideration</a:t>
            </a:r>
          </a:p>
          <a:p>
            <a:r>
              <a:rPr lang="en-US" dirty="0"/>
              <a:t>- Challenge involves encoding information while maintaining:</a:t>
            </a:r>
          </a:p>
          <a:p>
            <a:r>
              <a:rPr lang="en-US" dirty="0"/>
              <a:t>  * Cross-modal alignment</a:t>
            </a:r>
          </a:p>
          <a:p>
            <a:r>
              <a:rPr lang="en-US" dirty="0"/>
              <a:t>  * Semantic consistency</a:t>
            </a:r>
          </a:p>
          <a:p>
            <a:r>
              <a:rPr lang="en-US" dirty="0"/>
              <a:t>  * Integrated understanding of both modalities</a:t>
            </a:r>
          </a:p>
          <a:p>
            <a:endParaRPr lang="en-US" dirty="0"/>
          </a:p>
          <a:p>
            <a:r>
              <a:rPr lang="en-US" b="1" dirty="0"/>
              <a:t>EDUCATOR NOTES:</a:t>
            </a:r>
          </a:p>
          <a:p>
            <a:endParaRPr lang="en-US" dirty="0"/>
          </a:p>
          <a:p>
            <a:r>
              <a:rPr lang="en-US" dirty="0"/>
              <a:t>"In this section, we're addressing a fundamental challenge in multimodal AI: how to create a model that truly understands the relationship between visual and textual information. Think of it like teaching a computer to make the same connections we humans naturally make - when we see a picture of a digital camera and read a description of one, we instantly know they're referring to the same thing. The technical challenge lies in creating embeddings that can capture and align these different types of information in a way that preserves their semantic relationship while allowing for meaningful cross-modal comparisons. This is crucial for applications like visual search, content recommendation, and accessibility tools."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31</a:t>
            </a:fld>
            <a:endParaRPr lang="en-US"/>
          </a:p>
        </p:txBody>
      </p:sp>
    </p:spTree>
    <p:extLst>
      <p:ext uri="{BB962C8B-B14F-4D97-AF65-F5344CB8AC3E}">
        <p14:creationId xmlns:p14="http://schemas.microsoft.com/office/powerpoint/2010/main" val="34829444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Title: Multimodal Embeddings: Representation</a:t>
            </a:r>
          </a:p>
          <a:p>
            <a:endParaRPr lang="en-US" dirty="0"/>
          </a:p>
          <a:p>
            <a:r>
              <a:rPr lang="en-US" dirty="0"/>
              <a:t>2. Main Concept:</a:t>
            </a:r>
          </a:p>
          <a:p>
            <a:r>
              <a:rPr lang="en-US" dirty="0"/>
              <a:t>- The slide introduces the concept of representing multiple modalities using the same embedding model</a:t>
            </a:r>
          </a:p>
          <a:p>
            <a:r>
              <a:rPr lang="en-US" dirty="0"/>
              <a:t>- This is a fundamental concept in multimodal machine learning</a:t>
            </a:r>
          </a:p>
          <a:p>
            <a:endParaRPr lang="en-US" dirty="0"/>
          </a:p>
          <a:p>
            <a:r>
              <a:rPr lang="en-US" dirty="0"/>
              <a:t>3. Key Points:</a:t>
            </a:r>
          </a:p>
          <a:p>
            <a:r>
              <a:rPr lang="en-US" dirty="0"/>
              <a:t>- A single embedding model can handle different types of inputs (modalities)</a:t>
            </a:r>
          </a:p>
          <a:p>
            <a:r>
              <a:rPr lang="en-US" dirty="0"/>
              <a:t>- The diagram shows a branched structure converging into the embedding model</a:t>
            </a:r>
          </a:p>
          <a:p>
            <a:r>
              <a:rPr lang="en-US" dirty="0"/>
              <a:t>- The output is in the format of vector representations (shown as stacked boxes)</a:t>
            </a:r>
          </a:p>
          <a:p>
            <a:endParaRPr lang="en-US" dirty="0"/>
          </a:p>
          <a:p>
            <a:r>
              <a:rPr lang="en-US" dirty="0"/>
              <a:t>4. Visual Elements:</a:t>
            </a:r>
          </a:p>
          <a:p>
            <a:r>
              <a:rPr lang="en-US" dirty="0"/>
              <a:t>- Two parallel pathways showing different input processing</a:t>
            </a:r>
          </a:p>
          <a:p>
            <a:r>
              <a:rPr lang="en-US" dirty="0"/>
              <a:t>- Orange embedding model boxes indicating shared architecture</a:t>
            </a:r>
          </a:p>
          <a:p>
            <a:r>
              <a:rPr lang="en-US" dirty="0"/>
              <a:t>- Vector outputs represented as stacked rectangular blocks</a:t>
            </a:r>
          </a:p>
          <a:p>
            <a:r>
              <a:rPr lang="en-US" dirty="0"/>
              <a:t>- Red arrows showing the flow of information</a:t>
            </a:r>
          </a:p>
          <a:p>
            <a:endParaRPr lang="en-US" dirty="0"/>
          </a:p>
          <a:p>
            <a:r>
              <a:rPr lang="en-US" dirty="0"/>
              <a:t>5. Technical Implications:</a:t>
            </a:r>
          </a:p>
          <a:p>
            <a:r>
              <a:rPr lang="en-US" dirty="0"/>
              <a:t>- Suggests unified representation learning</a:t>
            </a:r>
          </a:p>
          <a:p>
            <a:r>
              <a:rPr lang="en-US" dirty="0"/>
              <a:t>- Enables cross-modal compatibility</a:t>
            </a:r>
          </a:p>
          <a:p>
            <a:r>
              <a:rPr lang="en-US" dirty="0"/>
              <a:t>- Standardizes the output format regardless of input type</a:t>
            </a:r>
          </a:p>
          <a:p>
            <a:endParaRPr lang="en-US" dirty="0"/>
          </a:p>
          <a:p>
            <a:r>
              <a:rPr lang="en-US" b="1" dirty="0"/>
              <a:t>EDUCATOR NOTES:</a:t>
            </a:r>
          </a:p>
          <a:p>
            <a:endParaRPr lang="en-US" dirty="0"/>
          </a:p>
          <a:p>
            <a:r>
              <a:rPr lang="en-US" dirty="0"/>
              <a:t>"In this slide, we're looking at how multimodal embeddings work to represent different types of data using a single embedding model. This is crucial because it allows us to process various types of inputs - whether they're images, text, or other modalities - through the same embedding architecture. The beauty of this approach is that it creates comparable representations regardless of the input type, enabling us to perform cross-modal operations and comparisons efficiently. Notice how different inputs converge into the same embedding model, producing standardized vector representations. This unified approach is particularly valuable for applications requiring multimodal understanding and integration."</a:t>
            </a:r>
          </a:p>
        </p:txBody>
      </p:sp>
      <p:sp>
        <p:nvSpPr>
          <p:cNvPr id="4" name="Slide Number Placeholder 3"/>
          <p:cNvSpPr>
            <a:spLocks noGrp="1"/>
          </p:cNvSpPr>
          <p:nvPr>
            <p:ph type="sldNum" sz="quarter" idx="5"/>
          </p:nvPr>
        </p:nvSpPr>
        <p:spPr/>
        <p:txBody>
          <a:bodyPr/>
          <a:lstStyle/>
          <a:p>
            <a:fld id="{688EF870-5850-6643-A228-25AFAA8E2BB1}" type="slidenum">
              <a:rPr lang="en-US" smtClean="0"/>
              <a:t>32</a:t>
            </a:fld>
            <a:endParaRPr lang="en-US"/>
          </a:p>
        </p:txBody>
      </p:sp>
    </p:spTree>
    <p:extLst>
      <p:ext uri="{BB962C8B-B14F-4D97-AF65-F5344CB8AC3E}">
        <p14:creationId xmlns:p14="http://schemas.microsoft.com/office/powerpoint/2010/main" val="37493711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Key Concept: Multimodal Embeddings</a:t>
            </a:r>
          </a:p>
          <a:p>
            <a:r>
              <a:rPr lang="en-US" dirty="0"/>
              <a:t>- Refers to a joint embedding space that can process and understand both text and images simultaneously</a:t>
            </a:r>
          </a:p>
          <a:p>
            <a:r>
              <a:rPr lang="en-US" dirty="0"/>
              <a:t>- Creates a unified representation space for different types of data (modalities)</a:t>
            </a:r>
          </a:p>
          <a:p>
            <a:endParaRPr lang="en-US" dirty="0"/>
          </a:p>
          <a:p>
            <a:r>
              <a:rPr lang="en-US" dirty="0"/>
              <a:t>2. Similarity Principle:</a:t>
            </a:r>
          </a:p>
          <a:p>
            <a:r>
              <a:rPr lang="en-US" dirty="0"/>
              <a:t>- Objects with similar characteristics are positioned closer together in the embedding space</a:t>
            </a:r>
          </a:p>
          <a:p>
            <a:r>
              <a:rPr lang="en-US" dirty="0"/>
              <a:t>- Dissimilar objects are mapped farther apart</a:t>
            </a:r>
          </a:p>
          <a:p>
            <a:r>
              <a:rPr lang="en-US" dirty="0"/>
              <a:t>- This creates meaningful clusters and relationships in the representation</a:t>
            </a:r>
          </a:p>
          <a:p>
            <a:endParaRPr lang="en-US" dirty="0"/>
          </a:p>
          <a:p>
            <a:r>
              <a:rPr lang="en-US" dirty="0"/>
              <a:t>3. Cross-Modal Semantic Preservation:</a:t>
            </a:r>
          </a:p>
          <a:p>
            <a:r>
              <a:rPr lang="en-US" dirty="0"/>
              <a:t>- The model maintains semantic relationships across different modalities</a:t>
            </a:r>
          </a:p>
          <a:p>
            <a:r>
              <a:rPr lang="en-US" dirty="0"/>
              <a:t>- Ensures consistency between text and image representations</a:t>
            </a:r>
          </a:p>
          <a:p>
            <a:r>
              <a:rPr lang="en-US" dirty="0"/>
              <a:t>- Enables better understanding of relationships between different types of data</a:t>
            </a:r>
          </a:p>
          <a:p>
            <a:endParaRPr lang="en-US" dirty="0"/>
          </a:p>
          <a:p>
            <a:r>
              <a:rPr lang="en-US" dirty="0"/>
              <a:t>4. Visual Representation:</a:t>
            </a:r>
          </a:p>
          <a:p>
            <a:r>
              <a:rPr lang="en-US" dirty="0"/>
              <a:t>- The graph shows data points distributed in a 2D space</a:t>
            </a:r>
          </a:p>
          <a:p>
            <a:r>
              <a:rPr lang="en-US" dirty="0"/>
              <a:t>- "Cat" image and the text “cat” embeddings appears close together in the lower right corner</a:t>
            </a:r>
          </a:p>
          <a:p>
            <a:endParaRPr lang="en-US" b="1" dirty="0"/>
          </a:p>
          <a:p>
            <a:r>
              <a:rPr lang="en-US" b="1" dirty="0"/>
              <a:t>EDUCATOR NOTES:</a:t>
            </a:r>
          </a:p>
          <a:p>
            <a:endParaRPr lang="en-US" b="1" dirty="0"/>
          </a:p>
          <a:p>
            <a:r>
              <a:rPr lang="en-US" dirty="0"/>
              <a:t>”Now we'll explore multimodal embeddings and their alignment properties. This is a fascinating area where we combine different types of data - like text and images - into a single, unified space. Think of it as creating a universal language that our model can understand, regardless of whether the input is visual or textual.</a:t>
            </a:r>
          </a:p>
          <a:p>
            <a:endParaRPr lang="en-US" dirty="0"/>
          </a:p>
          <a:p>
            <a:r>
              <a:rPr lang="en-US" dirty="0"/>
              <a:t>The key thing to remember is how these embeddings organize information: similar concepts stay close together, while different ones drift apart. This isn't just within one type of data - it works across different types too. For example, a picture of a cat and the word "cat" would be mapped close together in this space.</a:t>
            </a:r>
          </a:p>
          <a:p>
            <a:endParaRPr lang="en-US" dirty="0"/>
          </a:p>
          <a:p>
            <a:r>
              <a:rPr lang="en-US" dirty="0"/>
              <a:t>Looking at the graph, you can see how these points are distributed, demonstrating this organization principle in action. This approach has revolutionized how AI systems can understand and process multiple types of information simultaneously.</a:t>
            </a:r>
          </a:p>
          <a:p>
            <a:r>
              <a:rPr lang="en-US" dirty="0"/>
              <a:t>Emphasize the practical applications, maybe give real-world examples of how this is used in modern AI systems, and be prepared to explain how this helps in tasks like image captioning or visual question answering”</a:t>
            </a:r>
          </a:p>
        </p:txBody>
      </p:sp>
      <p:sp>
        <p:nvSpPr>
          <p:cNvPr id="4" name="Slide Number Placeholder 3"/>
          <p:cNvSpPr>
            <a:spLocks noGrp="1"/>
          </p:cNvSpPr>
          <p:nvPr>
            <p:ph type="sldNum" sz="quarter" idx="5"/>
          </p:nvPr>
        </p:nvSpPr>
        <p:spPr/>
        <p:txBody>
          <a:bodyPr/>
          <a:lstStyle/>
          <a:p>
            <a:fld id="{688EF870-5850-6643-A228-25AFAA8E2BB1}" type="slidenum">
              <a:rPr lang="en-US" smtClean="0"/>
              <a:t>33</a:t>
            </a:fld>
            <a:endParaRPr lang="en-US"/>
          </a:p>
        </p:txBody>
      </p:sp>
    </p:spTree>
    <p:extLst>
      <p:ext uri="{BB962C8B-B14F-4D97-AF65-F5344CB8AC3E}">
        <p14:creationId xmlns:p14="http://schemas.microsoft.com/office/powerpoint/2010/main" val="19457577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Introduction to Multimodal Embeddings</a:t>
            </a:r>
          </a:p>
          <a:p>
            <a:r>
              <a:rPr lang="en-US" dirty="0"/>
              <a:t>   - Definition: A technique to map content between different modalities</a:t>
            </a:r>
          </a:p>
          <a:p>
            <a:r>
              <a:rPr lang="en-US" dirty="0"/>
              <a:t>   - Purpose: Enable translation across different forms of data representation</a:t>
            </a:r>
          </a:p>
          <a:p>
            <a:endParaRPr lang="en-US" dirty="0"/>
          </a:p>
          <a:p>
            <a:r>
              <a:rPr lang="en-US" dirty="0"/>
              <a:t>2. Key Concept: Cross-modality Translation</a:t>
            </a:r>
          </a:p>
          <a:p>
            <a:r>
              <a:rPr lang="en-US" dirty="0"/>
              <a:t>   - Allows conversion between different types of data representations</a:t>
            </a:r>
          </a:p>
          <a:p>
            <a:r>
              <a:rPr lang="en-US" dirty="0"/>
              <a:t>   - Enables seamless translation between various modalities</a:t>
            </a:r>
          </a:p>
          <a:p>
            <a:endParaRPr lang="en-US" dirty="0"/>
          </a:p>
          <a:p>
            <a:r>
              <a:rPr lang="en-US" dirty="0"/>
              <a:t>3. Visual Example Breakdown:</a:t>
            </a:r>
          </a:p>
          <a:p>
            <a:r>
              <a:rPr lang="en-US" dirty="0"/>
              <a:t>   - Left side: Black airplane icon (visual modality)</a:t>
            </a:r>
          </a:p>
          <a:p>
            <a:r>
              <a:rPr lang="en-US" dirty="0"/>
              <a:t>   - Center: Multimodal Embeddings representation (vector space)</a:t>
            </a:r>
          </a:p>
          <a:p>
            <a:r>
              <a:rPr lang="en-US" dirty="0"/>
              <a:t>   - Right side: Text description "Icon of a passenger airplane" (textual modality)</a:t>
            </a:r>
          </a:p>
          <a:p>
            <a:r>
              <a:rPr lang="en-US" dirty="0"/>
              <a:t>   - Bidirectional red arrows indicating two-way translation capability</a:t>
            </a:r>
          </a:p>
          <a:p>
            <a:endParaRPr lang="en-US" dirty="0"/>
          </a:p>
          <a:p>
            <a:r>
              <a:rPr lang="en-US" dirty="0"/>
              <a:t>4. Applications:</a:t>
            </a:r>
          </a:p>
          <a:p>
            <a:r>
              <a:rPr lang="en-US" dirty="0"/>
              <a:t>   - Image-to-text conversion</a:t>
            </a:r>
          </a:p>
          <a:p>
            <a:r>
              <a:rPr lang="en-US" dirty="0"/>
              <a:t>   - Text-to-image mapping</a:t>
            </a:r>
          </a:p>
          <a:p>
            <a:r>
              <a:rPr lang="en-US" dirty="0"/>
              <a:t>   - Cross-modal information retrieval</a:t>
            </a:r>
          </a:p>
          <a:p>
            <a:r>
              <a:rPr lang="en-US" dirty="0"/>
              <a:t>   - Semantic understanding across modalities</a:t>
            </a:r>
          </a:p>
          <a:p>
            <a:endParaRPr lang="en-US" dirty="0"/>
          </a:p>
          <a:p>
            <a:r>
              <a:rPr lang="en-US" b="1" dirty="0"/>
              <a:t>EDUCATOR NOTES:</a:t>
            </a:r>
          </a:p>
          <a:p>
            <a:endParaRPr lang="en-US" dirty="0"/>
          </a:p>
          <a:p>
            <a:r>
              <a:rPr lang="en-US" dirty="0"/>
              <a:t>"In this slide, we're exploring multimodal embeddings, specifically focusing on their translation capabilities. The diagram illustrates how we can translate content from one modality to another using a shared embedding space. Notice the airplane example - we can translate between its visual representation and textual description seamlessly.</a:t>
            </a:r>
          </a:p>
          <a:p>
            <a:endParaRPr lang="en-US" dirty="0"/>
          </a:p>
          <a:p>
            <a:r>
              <a:rPr lang="en-US" dirty="0"/>
              <a:t>Key points to emphasize:</a:t>
            </a:r>
          </a:p>
          <a:p>
            <a:r>
              <a:rPr lang="en-US" dirty="0"/>
              <a:t>- Multimodal embeddings serve as a bridge between different types of data</a:t>
            </a:r>
          </a:p>
          <a:p>
            <a:r>
              <a:rPr lang="en-US" dirty="0"/>
              <a:t>- The translation is bidirectional, meaning we can go from image to text and vice versa</a:t>
            </a:r>
          </a:p>
          <a:p>
            <a:r>
              <a:rPr lang="en-US" dirty="0"/>
              <a:t>- The embedding space acts as a common ground where different modalities can be represented and interpreted</a:t>
            </a:r>
          </a:p>
          <a:p>
            <a:r>
              <a:rPr lang="en-US" dirty="0"/>
              <a:t>- This technology has significant implications for AI applications, such as image captioning, visual search, and cross-modal retrieval systems.</a:t>
            </a:r>
          </a:p>
          <a:p>
            <a:endParaRPr lang="en-US" dirty="0"/>
          </a:p>
          <a:p>
            <a:r>
              <a:rPr lang="en-US" dirty="0"/>
              <a:t>Remember to highlight that this is just one example, and multimodal embeddings can handle various types of modalities beyond just image and text."</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34</a:t>
            </a:fld>
            <a:endParaRPr lang="en-US"/>
          </a:p>
        </p:txBody>
      </p:sp>
    </p:spTree>
    <p:extLst>
      <p:ext uri="{BB962C8B-B14F-4D97-AF65-F5344CB8AC3E}">
        <p14:creationId xmlns:p14="http://schemas.microsoft.com/office/powerpoint/2010/main" val="4838634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35</a:t>
            </a:fld>
            <a:endParaRPr lang="en-US"/>
          </a:p>
        </p:txBody>
      </p:sp>
    </p:spTree>
    <p:extLst>
      <p:ext uri="{BB962C8B-B14F-4D97-AF65-F5344CB8AC3E}">
        <p14:creationId xmlns:p14="http://schemas.microsoft.com/office/powerpoint/2010/main" val="19949520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Cross-Modal Retrieval Overview</a:t>
            </a:r>
          </a:p>
          <a:p>
            <a:r>
              <a:rPr lang="en-US" dirty="0"/>
              <a:t>- A technique to search across different types of media/modalities (text, images, video, etc.)</a:t>
            </a:r>
          </a:p>
          <a:p>
            <a:r>
              <a:rPr lang="en-US" dirty="0"/>
              <a:t>- Initial approach: Convert all modalities into text descriptions for lexical search</a:t>
            </a:r>
          </a:p>
          <a:p>
            <a:endParaRPr lang="en-US" dirty="0"/>
          </a:p>
          <a:p>
            <a:r>
              <a:rPr lang="en-US" dirty="0"/>
              <a:t>2. Challenge Identified</a:t>
            </a:r>
          </a:p>
          <a:p>
            <a:r>
              <a:rPr lang="en-US" dirty="0"/>
              <a:t>- Problem: Similar content may not always use similar words or phrases</a:t>
            </a:r>
          </a:p>
          <a:p>
            <a:r>
              <a:rPr lang="en-US" dirty="0"/>
              <a:t>- This creates a gap in traditional text-based search methods</a:t>
            </a:r>
          </a:p>
          <a:p>
            <a:r>
              <a:rPr lang="en-US" dirty="0"/>
              <a:t>- Example: An image of a "car" might be relevant to searches for "automobile" or "vehicle" even though these words aren't identical</a:t>
            </a:r>
          </a:p>
          <a:p>
            <a:endParaRPr lang="en-US" dirty="0"/>
          </a:p>
          <a:p>
            <a:r>
              <a:rPr lang="en-US" dirty="0"/>
              <a:t>3. Solution Proposed</a:t>
            </a:r>
          </a:p>
          <a:p>
            <a:r>
              <a:rPr lang="en-US" dirty="0"/>
              <a:t>- Implementation of multimodal embeddings</a:t>
            </a:r>
          </a:p>
          <a:p>
            <a:r>
              <a:rPr lang="en-US" dirty="0"/>
              <a:t>- Embeddings are extended across all modalities</a:t>
            </a:r>
          </a:p>
          <a:p>
            <a:r>
              <a:rPr lang="en-US" dirty="0"/>
              <a:t>- This allows for semantic matching rather than just lexical matching</a:t>
            </a:r>
          </a:p>
          <a:p>
            <a:r>
              <a:rPr lang="en-US" dirty="0"/>
              <a:t>- Creates a unified representation space for different types of content</a:t>
            </a:r>
          </a:p>
          <a:p>
            <a:endParaRPr lang="en-US" b="1" dirty="0"/>
          </a:p>
          <a:p>
            <a:r>
              <a:rPr lang="en-US" b="1" dirty="0"/>
              <a:t>EDUCATOR NOTES:</a:t>
            </a:r>
            <a:br>
              <a:rPr lang="en-US" b="1" dirty="0"/>
            </a:br>
            <a:endParaRPr lang="en-US" b="1" dirty="0"/>
          </a:p>
          <a:p>
            <a:r>
              <a:rPr lang="en-US" dirty="0"/>
              <a:t>"In this slide, we're discussing how to effectively perform cross-modal retrieval. While the traditional approach of converting everything to text descriptions works at a basic level, it has limitations. The key challenge we face is that semantically similar content doesn't always share the same vocabulary. That's where multimodal embeddings come in as a solution. By extending embeddings to all modalities, we can capture and match content based on meaning rather than just matching words. This is particularly powerful for applications like visual search, multi-language retrieval, and content recommendation systems where direct word matching might fail to capture relevant connections."</a:t>
            </a:r>
          </a:p>
        </p:txBody>
      </p:sp>
      <p:sp>
        <p:nvSpPr>
          <p:cNvPr id="4" name="Slide Number Placeholder 3"/>
          <p:cNvSpPr>
            <a:spLocks noGrp="1"/>
          </p:cNvSpPr>
          <p:nvPr>
            <p:ph type="sldNum" sz="quarter" idx="5"/>
          </p:nvPr>
        </p:nvSpPr>
        <p:spPr/>
        <p:txBody>
          <a:bodyPr/>
          <a:lstStyle/>
          <a:p>
            <a:fld id="{688EF870-5850-6643-A228-25AFAA8E2BB1}" type="slidenum">
              <a:rPr lang="en-US" smtClean="0"/>
              <a:t>36</a:t>
            </a:fld>
            <a:endParaRPr lang="en-US"/>
          </a:p>
        </p:txBody>
      </p:sp>
    </p:spTree>
    <p:extLst>
      <p:ext uri="{BB962C8B-B14F-4D97-AF65-F5344CB8AC3E}">
        <p14:creationId xmlns:p14="http://schemas.microsoft.com/office/powerpoint/2010/main" val="907819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 Concept: Multimodal Search and Retrieval</a:t>
            </a:r>
          </a:p>
          <a:p>
            <a:r>
              <a:rPr lang="en-US" dirty="0"/>
              <a:t>- A system that can search and retrieve information across different types of data (modalities)</a:t>
            </a:r>
          </a:p>
          <a:p>
            <a:r>
              <a:rPr lang="en-US" dirty="0"/>
              <a:t>- Uses embeddings to represent and match content</a:t>
            </a:r>
          </a:p>
          <a:p>
            <a:endParaRPr lang="en-US" dirty="0"/>
          </a:p>
          <a:p>
            <a:r>
              <a:rPr lang="en-US" dirty="0"/>
              <a:t>2. Key Components:</a:t>
            </a:r>
          </a:p>
          <a:p>
            <a:r>
              <a:rPr lang="en-US" dirty="0"/>
              <a:t>- Embedding Retrieval:</a:t>
            </a:r>
          </a:p>
          <a:p>
            <a:r>
              <a:rPr lang="en-US" dirty="0"/>
              <a:t>  * Finds embeddings that are semantically similar to the query</a:t>
            </a:r>
          </a:p>
          <a:p>
            <a:r>
              <a:rPr lang="en-US" dirty="0"/>
              <a:t>  * Works with words and phrases as input</a:t>
            </a:r>
          </a:p>
          <a:p>
            <a:r>
              <a:rPr lang="en-US" dirty="0"/>
              <a:t>  * Maps content to a shared embedding space</a:t>
            </a:r>
          </a:p>
          <a:p>
            <a:endParaRPr lang="en-US" dirty="0"/>
          </a:p>
          <a:p>
            <a:r>
              <a:rPr lang="en-US" dirty="0"/>
              <a:t>3. Cross-Modal Capabilities:</a:t>
            </a:r>
          </a:p>
          <a:p>
            <a:r>
              <a:rPr lang="en-US" dirty="0"/>
              <a:t>- Can search across multiple modalities simultaneously</a:t>
            </a:r>
          </a:p>
          <a:p>
            <a:r>
              <a:rPr lang="en-US" dirty="0"/>
              <a:t>- Example shown: Text query "Animals" retrieving image of a cat</a:t>
            </a:r>
          </a:p>
          <a:p>
            <a:r>
              <a:rPr lang="en-US" dirty="0"/>
              <a:t>- Demonstrates semantic matching rather than just keyword matching</a:t>
            </a:r>
          </a:p>
          <a:p>
            <a:endParaRPr lang="en-US" dirty="0"/>
          </a:p>
          <a:p>
            <a:r>
              <a:rPr lang="en-US" dirty="0"/>
              <a:t>4. Visual Example Explanation:</a:t>
            </a:r>
          </a:p>
          <a:p>
            <a:r>
              <a:rPr lang="en-US" dirty="0"/>
              <a:t>- Graph shows multimodal embeddings in 2D space</a:t>
            </a:r>
          </a:p>
          <a:p>
            <a:r>
              <a:rPr lang="en-US" dirty="0"/>
              <a:t>- Red circle indicates the search area for "Animals" query</a:t>
            </a:r>
          </a:p>
          <a:p>
            <a:r>
              <a:rPr lang="en-US" dirty="0"/>
              <a:t>- Blue dots represent different embedded content</a:t>
            </a:r>
          </a:p>
          <a:p>
            <a:r>
              <a:rPr lang="en-US" dirty="0"/>
              <a:t>- Successfully identifies and retrieves cat image based on semantic relevance</a:t>
            </a:r>
          </a:p>
          <a:p>
            <a:endParaRPr lang="en-US" b="1" dirty="0"/>
          </a:p>
          <a:p>
            <a:r>
              <a:rPr lang="en-US" b="1" dirty="0"/>
              <a:t>EDUCATOR NOTES:</a:t>
            </a:r>
          </a:p>
          <a:p>
            <a:endParaRPr lang="en-US" dirty="0"/>
          </a:p>
          <a:p>
            <a:r>
              <a:rPr lang="en-US" dirty="0"/>
              <a:t>"In this slide, we're exploring multimodal search and retrieval, a powerful technology that breaks down barriers between different types of content. When we input a query like 'Animals,' the system doesn't just look for exact text matches – it understands the semantic meaning and can find relevant content across different modalities.</a:t>
            </a:r>
          </a:p>
          <a:p>
            <a:endParaRPr lang="en-US" dirty="0"/>
          </a:p>
          <a:p>
            <a:r>
              <a:rPr lang="en-US" dirty="0"/>
              <a:t>Notice how in our example, a text query for 'Animals' successfully retrieves an image of a cat. This works because both the query and the image have been mapped to the same embedding space, where similar concepts are positioned close together, regardless of their original format.</a:t>
            </a:r>
          </a:p>
          <a:p>
            <a:endParaRPr lang="en-US" dirty="0"/>
          </a:p>
          <a:p>
            <a:r>
              <a:rPr lang="en-US" dirty="0"/>
              <a:t>This technology has numerous practical applications, from advanced image search engines to cross-modal content recommendation systems. The key takeaway is that modern search systems can understand and connect content at a deeper, more meaningful level than traditional keyword matching."</a:t>
            </a:r>
          </a:p>
          <a:p>
            <a:endParaRPr lang="en-US" dirty="0"/>
          </a:p>
          <a:p>
            <a:r>
              <a:rPr lang="en-US" dirty="0"/>
              <a:t>Remember to pace yourself when presenting this slide and use the visual graph to illustrate how embeddings cluster related concepts together in the vector space.</a:t>
            </a:r>
          </a:p>
        </p:txBody>
      </p:sp>
      <p:sp>
        <p:nvSpPr>
          <p:cNvPr id="4" name="Slide Number Placeholder 3"/>
          <p:cNvSpPr>
            <a:spLocks noGrp="1"/>
          </p:cNvSpPr>
          <p:nvPr>
            <p:ph type="sldNum" sz="quarter" idx="5"/>
          </p:nvPr>
        </p:nvSpPr>
        <p:spPr/>
        <p:txBody>
          <a:bodyPr/>
          <a:lstStyle/>
          <a:p>
            <a:fld id="{688EF870-5850-6643-A228-25AFAA8E2BB1}" type="slidenum">
              <a:rPr lang="en-US" smtClean="0"/>
              <a:t>37</a:t>
            </a:fld>
            <a:endParaRPr lang="en-US"/>
          </a:p>
        </p:txBody>
      </p:sp>
    </p:spTree>
    <p:extLst>
      <p:ext uri="{BB962C8B-B14F-4D97-AF65-F5344CB8AC3E}">
        <p14:creationId xmlns:p14="http://schemas.microsoft.com/office/powerpoint/2010/main" val="20368070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br>
              <a:rPr lang="en-US" dirty="0"/>
            </a:br>
            <a:endParaRPr lang="en-US" dirty="0"/>
          </a:p>
          <a:p>
            <a:r>
              <a:rPr lang="en-US" dirty="0"/>
              <a:t>1. Architecture Overview:</a:t>
            </a:r>
          </a:p>
          <a:p>
            <a:r>
              <a:rPr lang="en-US" dirty="0"/>
              <a:t>- The workflow shows a multimodal system that handles both text and image inputs</a:t>
            </a:r>
          </a:p>
          <a:p>
            <a:r>
              <a:rPr lang="en-US" dirty="0"/>
              <a:t>- Key components include Query, Prompt, Embedding model, Vector Database, and Foundation Models (FMs)</a:t>
            </a:r>
          </a:p>
          <a:p>
            <a:endParaRPr lang="en-US" dirty="0"/>
          </a:p>
          <a:p>
            <a:r>
              <a:rPr lang="en-US" dirty="0"/>
              <a:t>2. Components Breakdown:</a:t>
            </a:r>
          </a:p>
          <a:p>
            <a:r>
              <a:rPr lang="en-US" dirty="0"/>
              <a:t>a) Input Sources:</a:t>
            </a:r>
          </a:p>
          <a:p>
            <a:r>
              <a:rPr lang="en-US" dirty="0"/>
              <a:t>- Query component (shown in purple)</a:t>
            </a:r>
          </a:p>
          <a:p>
            <a:r>
              <a:rPr lang="en-US" dirty="0"/>
              <a:t>- Prompt component (shown in purple)</a:t>
            </a:r>
          </a:p>
          <a:p>
            <a:r>
              <a:rPr lang="en-US" dirty="0"/>
              <a:t>- Prompt Images (shown as image icons)</a:t>
            </a:r>
          </a:p>
          <a:p>
            <a:endParaRPr lang="en-US" dirty="0"/>
          </a:p>
          <a:p>
            <a:r>
              <a:rPr lang="en-US" dirty="0"/>
              <a:t>b) Processing Layer:</a:t>
            </a:r>
          </a:p>
          <a:p>
            <a:r>
              <a:rPr lang="en-US" dirty="0"/>
              <a:t>- Embedding model (shown in burgundy)</a:t>
            </a:r>
          </a:p>
          <a:p>
            <a:r>
              <a:rPr lang="en-US" dirty="0"/>
              <a:t>- Creates vector representations of inputs</a:t>
            </a:r>
          </a:p>
          <a:p>
            <a:r>
              <a:rPr lang="en-US" dirty="0"/>
              <a:t>- Handles both text and image data</a:t>
            </a:r>
          </a:p>
          <a:p>
            <a:endParaRPr lang="en-US" dirty="0"/>
          </a:p>
          <a:p>
            <a:r>
              <a:rPr lang="en-US" dirty="0"/>
              <a:t>c) Storage &amp; Retrieval:</a:t>
            </a:r>
          </a:p>
          <a:p>
            <a:r>
              <a:rPr lang="en-US" dirty="0"/>
              <a:t>- Vector database (shown as stacked cylinders)</a:t>
            </a:r>
          </a:p>
          <a:p>
            <a:r>
              <a:rPr lang="en-US" dirty="0"/>
              <a:t>- Stores embedded representations</a:t>
            </a:r>
          </a:p>
          <a:p>
            <a:r>
              <a:rPr lang="en-US" dirty="0"/>
              <a:t>- Enables efficient retrieval</a:t>
            </a:r>
          </a:p>
          <a:p>
            <a:endParaRPr lang="en-US" dirty="0"/>
          </a:p>
          <a:p>
            <a:r>
              <a:rPr lang="en-US" dirty="0"/>
              <a:t>3. Key Principles:</a:t>
            </a:r>
          </a:p>
          <a:p>
            <a:r>
              <a:rPr lang="en-US" dirty="0"/>
              <a:t>- Unified embedding model approach for both database and query processing</a:t>
            </a:r>
          </a:p>
          <a:p>
            <a:r>
              <a:rPr lang="en-US" dirty="0"/>
              <a:t>- Flexible handling of images for multiple purposes (retrieval, prompting, or both)</a:t>
            </a:r>
          </a:p>
          <a:p>
            <a:r>
              <a:rPr lang="en-US" dirty="0"/>
              <a:t>- Integration of prompt and context for enhanced processing</a:t>
            </a:r>
          </a:p>
          <a:p>
            <a:endParaRPr lang="en-US" dirty="0"/>
          </a:p>
          <a:p>
            <a:r>
              <a:rPr lang="en-US" b="1" dirty="0"/>
              <a:t>EDUCATOR NOTES:</a:t>
            </a:r>
          </a:p>
          <a:p>
            <a:endParaRPr lang="en-US" dirty="0"/>
          </a:p>
          <a:p>
            <a:r>
              <a:rPr lang="en-US" dirty="0"/>
              <a:t>"In this slide, we're examining a sophisticated multimodal RAG workflow that demonstrates how modern systems can process both text and image inputs seamlessly. The key takeaway here is the versatility of the system - notice how we use the same embedding model for both the vector database and query embedding, which ensures consistency in our representations.</a:t>
            </a:r>
          </a:p>
          <a:p>
            <a:endParaRPr lang="en-US" dirty="0"/>
          </a:p>
          <a:p>
            <a:r>
              <a:rPr lang="en-US" dirty="0"/>
              <a:t>When discussing the image capabilities, emphasize that images aren't limited to a single role - they can be used for retrieval purposes, as part of the prompting process, or both simultaneously. This flexibility is what makes this architecture particularly powerful for real-world applications. The prompt and context combination allows for more nuanced and accurate responses, essentially creating a more context-aware system that can better understand and process multimodal inputs.”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38</a:t>
            </a:fld>
            <a:endParaRPr lang="en-US"/>
          </a:p>
        </p:txBody>
      </p:sp>
    </p:spTree>
    <p:extLst>
      <p:ext uri="{BB962C8B-B14F-4D97-AF65-F5344CB8AC3E}">
        <p14:creationId xmlns:p14="http://schemas.microsoft.com/office/powerpoint/2010/main" val="29685418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BE8A-860A-3A27-638C-0B2D22B00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33B1A-59B9-B949-C685-D0588D777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F0C76-B893-371E-8724-7E1F39DBEB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4500052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Factual Accuracy</a:t>
            </a:r>
          </a:p>
          <a:p>
            <a:r>
              <a:rPr lang="en-US" dirty="0"/>
              <a:t>- RAG (Retrieval-Augmented Generation) improves the accuracy of generated text</a:t>
            </a:r>
          </a:p>
          <a:p>
            <a:r>
              <a:rPr lang="en-US" dirty="0"/>
              <a:t>- Reduces the risk of incorrect information in outputs</a:t>
            </a:r>
          </a:p>
          <a:p>
            <a:r>
              <a:rPr lang="en-US" dirty="0"/>
              <a:t>- Helps control and verify information being produced</a:t>
            </a:r>
          </a:p>
          <a:p>
            <a:endParaRPr lang="en-US" dirty="0"/>
          </a:p>
          <a:p>
            <a:r>
              <a:rPr lang="en-US" dirty="0"/>
              <a:t>2. Hallucination Mitigation</a:t>
            </a:r>
          </a:p>
          <a:p>
            <a:r>
              <a:rPr lang="en-US" dirty="0"/>
              <a:t>- Helps reduce AI hallucinations</a:t>
            </a:r>
          </a:p>
          <a:p>
            <a:r>
              <a:rPr lang="en-US" dirty="0"/>
              <a:t>- Important note: Cannot completely eliminate hallucinations</a:t>
            </a:r>
          </a:p>
          <a:p>
            <a:r>
              <a:rPr lang="en-US" dirty="0"/>
              <a:t>- Provides a more reliable information base</a:t>
            </a:r>
          </a:p>
          <a:p>
            <a:endParaRPr lang="en-US" dirty="0"/>
          </a:p>
          <a:p>
            <a:r>
              <a:rPr lang="en-US" dirty="0"/>
              <a:t>3. Domain Adaptability</a:t>
            </a:r>
          </a:p>
          <a:p>
            <a:r>
              <a:rPr lang="en-US" dirty="0"/>
              <a:t>- Single model can be adapted for multiple domains</a:t>
            </a:r>
          </a:p>
          <a:p>
            <a:r>
              <a:rPr lang="en-US" dirty="0"/>
              <a:t>- Flexible implementation across different use cases</a:t>
            </a:r>
          </a:p>
          <a:p>
            <a:r>
              <a:rPr lang="en-US" dirty="0"/>
              <a:t>- Applications include:</a:t>
            </a:r>
          </a:p>
          <a:p>
            <a:r>
              <a:rPr lang="en-US" dirty="0"/>
              <a:t>  * Internal documentation</a:t>
            </a:r>
          </a:p>
          <a:p>
            <a:r>
              <a:rPr lang="en-US" dirty="0"/>
              <a:t>  * Customer policies</a:t>
            </a:r>
          </a:p>
          <a:p>
            <a:r>
              <a:rPr lang="en-US" dirty="0"/>
              <a:t>  * Specialized domain knowledge, etc.</a:t>
            </a:r>
          </a:p>
          <a:p>
            <a:endParaRPr lang="en-US" dirty="0"/>
          </a:p>
          <a:p>
            <a:r>
              <a:rPr lang="en-US" dirty="0"/>
              <a:t>4. Maintainability</a:t>
            </a:r>
          </a:p>
          <a:p>
            <a:r>
              <a:rPr lang="en-US" dirty="0"/>
              <a:t>- Easier system maintenance for evolving information</a:t>
            </a:r>
          </a:p>
          <a:p>
            <a:r>
              <a:rPr lang="en-US" dirty="0"/>
              <a:t>- Knowledge source can be refreshed periodically, e.g. for quarterly-updating information</a:t>
            </a:r>
          </a:p>
          <a:p>
            <a:r>
              <a:rPr lang="en-US" dirty="0"/>
              <a:t>- Limited efficiency for daily changing facts</a:t>
            </a:r>
          </a:p>
          <a:p>
            <a:endParaRPr lang="en-US" dirty="0"/>
          </a:p>
          <a:p>
            <a:r>
              <a:rPr lang="en-US" dirty="0"/>
              <a:t>5. Explainability &amp; Interpretability</a:t>
            </a:r>
          </a:p>
          <a:p>
            <a:r>
              <a:rPr lang="en-US" dirty="0"/>
              <a:t>- Outputs can be traced to original sources</a:t>
            </a:r>
          </a:p>
          <a:p>
            <a:r>
              <a:rPr lang="en-US" dirty="0"/>
              <a:t>- Increases transparency in AI responses</a:t>
            </a:r>
          </a:p>
          <a:p>
            <a:r>
              <a:rPr lang="en-US" dirty="0"/>
              <a:t>- Enhances trust in the system</a:t>
            </a:r>
          </a:p>
          <a:p>
            <a:endParaRPr lang="en-US" dirty="0"/>
          </a:p>
          <a:p>
            <a:r>
              <a:rPr lang="en-US" b="1" dirty="0"/>
              <a:t>EDUCATOR NOTES:</a:t>
            </a:r>
          </a:p>
          <a:p>
            <a:endParaRPr lang="en-US" dirty="0"/>
          </a:p>
          <a:p>
            <a:r>
              <a:rPr lang="en-US" dirty="0"/>
              <a:t>”Now we'll discuss the key strengths of RAG technology. The system offers five major advantages: improved factual accuracy, reduced hallucinations, multi-domain adaptability, easy maintenance, and enhanced explainability. What makes RAG particularly valuable is its ability to adapt to different domains while maintaining accuracy. However, it's important to note that while it significantly reduces hallucinations, it cannot eliminate them entirely. For organizations dealing with frequently changing information, consider that RAG works best with quarterly updates rather than daily changes. The traceability of responses to their sources makes this system particularly valuable for enterprises requiring transparency and accountability in their AI implementations."</a:t>
            </a:r>
          </a:p>
        </p:txBody>
      </p:sp>
      <p:sp>
        <p:nvSpPr>
          <p:cNvPr id="4" name="Slide Number Placeholder 3"/>
          <p:cNvSpPr>
            <a:spLocks noGrp="1"/>
          </p:cNvSpPr>
          <p:nvPr>
            <p:ph type="sldNum" sz="quarter" idx="5"/>
          </p:nvPr>
        </p:nvSpPr>
        <p:spPr/>
        <p:txBody>
          <a:bodyPr/>
          <a:lstStyle/>
          <a:p>
            <a:fld id="{688EF870-5850-6643-A228-25AFAA8E2BB1}" type="slidenum">
              <a:rPr lang="en-US" smtClean="0"/>
              <a:t>40</a:t>
            </a:fld>
            <a:endParaRPr lang="en-US"/>
          </a:p>
        </p:txBody>
      </p:sp>
    </p:spTree>
    <p:extLst>
      <p:ext uri="{BB962C8B-B14F-4D97-AF65-F5344CB8AC3E}">
        <p14:creationId xmlns:p14="http://schemas.microsoft.com/office/powerpoint/2010/main" val="33265679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Semantic Search Dependency</a:t>
            </a:r>
          </a:p>
          <a:p>
            <a:r>
              <a:rPr lang="en-US" dirty="0"/>
              <a:t>- RAG's retrieval mechanism is fundamentally based on semantic search</a:t>
            </a:r>
          </a:p>
          <a:p>
            <a:r>
              <a:rPr lang="en-US" dirty="0"/>
              <a:t>- This creates a core dependency that could limit its effectiveness in certain scenarios</a:t>
            </a:r>
          </a:p>
          <a:p>
            <a:endParaRPr lang="en-US" dirty="0"/>
          </a:p>
          <a:p>
            <a:r>
              <a:rPr lang="en-US" dirty="0"/>
              <a:t>2. Document Quality and Relevance</a:t>
            </a:r>
          </a:p>
          <a:p>
            <a:r>
              <a:rPr lang="en-US" dirty="0"/>
              <a:t>- The system's performance is directly tied to the quality of retrieved documents</a:t>
            </a:r>
          </a:p>
          <a:p>
            <a:r>
              <a:rPr lang="en-US" dirty="0"/>
              <a:t>- Poor or irrelevant document retrieval can significantly impact RAG's effectiveness</a:t>
            </a:r>
          </a:p>
          <a:p>
            <a:r>
              <a:rPr lang="en-US" dirty="0"/>
              <a:t>- Critical factor for success relies on having high-quality, relevant documents in the database</a:t>
            </a:r>
          </a:p>
          <a:p>
            <a:endParaRPr lang="en-US" dirty="0"/>
          </a:p>
          <a:p>
            <a:r>
              <a:rPr lang="en-US" dirty="0"/>
              <a:t>3. Latency Issues</a:t>
            </a:r>
          </a:p>
          <a:p>
            <a:r>
              <a:rPr lang="en-US" dirty="0"/>
              <a:t>- Increased latency is a significant performance bottleneck</a:t>
            </a:r>
          </a:p>
          <a:p>
            <a:r>
              <a:rPr lang="en-US" dirty="0"/>
              <a:t>- The retrieval process adds extra time to the overall response generation</a:t>
            </a:r>
          </a:p>
          <a:p>
            <a:r>
              <a:rPr lang="en-US" dirty="0"/>
              <a:t>- Particularly noticeable when dealing with large databases</a:t>
            </a:r>
          </a:p>
          <a:p>
            <a:r>
              <a:rPr lang="en-US" dirty="0"/>
              <a:t>- Can affect real-time applications and user experience</a:t>
            </a:r>
          </a:p>
          <a:p>
            <a:endParaRPr lang="en-US" dirty="0"/>
          </a:p>
          <a:p>
            <a:r>
              <a:rPr lang="en-US" dirty="0"/>
              <a:t>4. Higher Computational Costs</a:t>
            </a:r>
          </a:p>
          <a:p>
            <a:r>
              <a:rPr lang="en-US" dirty="0"/>
              <a:t>- RAG requires more computational resources compared to simple inference</a:t>
            </a:r>
          </a:p>
          <a:p>
            <a:r>
              <a:rPr lang="en-US" dirty="0"/>
              <a:t>- Two main factors contribute to increased costs:</a:t>
            </a:r>
          </a:p>
          <a:p>
            <a:r>
              <a:rPr lang="en-US" dirty="0"/>
              <a:t>  a) Larger input tokens in the prompt</a:t>
            </a:r>
          </a:p>
          <a:p>
            <a:r>
              <a:rPr lang="en-US" dirty="0"/>
              <a:t>  b) Additional computation needed for retrieval operations</a:t>
            </a:r>
          </a:p>
          <a:p>
            <a:r>
              <a:rPr lang="en-US" dirty="0"/>
              <a:t>- Makes the system more expensive to operate at scale</a:t>
            </a:r>
          </a:p>
          <a:p>
            <a:endParaRPr lang="en-US" dirty="0"/>
          </a:p>
          <a:p>
            <a:r>
              <a:rPr lang="en-US" b="1" dirty="0"/>
              <a:t>EDUCATOR NOTES:</a:t>
            </a:r>
          </a:p>
          <a:p>
            <a:endParaRPr lang="en-US" dirty="0"/>
          </a:p>
          <a:p>
            <a:r>
              <a:rPr lang="en-US" dirty="0"/>
              <a:t>”Now we'll be discussing the key weaknesses of Retrieval-Augmented Generation, or RAG. While RAG is a powerful technology, it's important to understand its limitations. The system heavily relies on semantic search capabilities, which can be both a strength and a weakness, as the quality of our output is only as good as the documents we retrieve, making document quality crucial. We face significant challenges with latency, especially when working with large databases, which can impact real-time applications. Finally, the computational costs are higher than traditional inference methods due to the additional processing required for both retrieval and larger input handling. Understanding these limitations helps us make better decisions about when and how to implement RAG in our applications."</a:t>
            </a:r>
          </a:p>
        </p:txBody>
      </p:sp>
      <p:sp>
        <p:nvSpPr>
          <p:cNvPr id="4" name="Slide Number Placeholder 3"/>
          <p:cNvSpPr>
            <a:spLocks noGrp="1"/>
          </p:cNvSpPr>
          <p:nvPr>
            <p:ph type="sldNum" sz="quarter" idx="5"/>
          </p:nvPr>
        </p:nvSpPr>
        <p:spPr/>
        <p:txBody>
          <a:bodyPr/>
          <a:lstStyle/>
          <a:p>
            <a:fld id="{688EF870-5850-6643-A228-25AFAA8E2BB1}" type="slidenum">
              <a:rPr lang="en-US" smtClean="0"/>
              <a:t>41</a:t>
            </a:fld>
            <a:endParaRPr lang="en-US"/>
          </a:p>
        </p:txBody>
      </p:sp>
    </p:spTree>
    <p:extLst>
      <p:ext uri="{BB962C8B-B14F-4D97-AF65-F5344CB8AC3E}">
        <p14:creationId xmlns:p14="http://schemas.microsoft.com/office/powerpoint/2010/main" val="18832505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43</a:t>
            </a:fld>
            <a:endParaRPr lang="en-US"/>
          </a:p>
        </p:txBody>
      </p:sp>
    </p:spTree>
    <p:extLst>
      <p:ext uri="{BB962C8B-B14F-4D97-AF65-F5344CB8AC3E}">
        <p14:creationId xmlns:p14="http://schemas.microsoft.com/office/powerpoint/2010/main" val="323829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9.sv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1.sv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23.sv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3.sv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sv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7.sv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5.sv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5.svg"/></Relationships>
</file>

<file path=ppt/slides/_rels/slide2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5.sv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3.svg"/><Relationship Id="rId5" Type="http://schemas.openxmlformats.org/officeDocument/2006/relationships/image" Target="../media/image17.svg"/><Relationship Id="rId10" Type="http://schemas.openxmlformats.org/officeDocument/2006/relationships/image" Target="../media/image2.png"/><Relationship Id="rId4" Type="http://schemas.openxmlformats.org/officeDocument/2006/relationships/image" Target="../media/image16.png"/><Relationship Id="rId9" Type="http://schemas.openxmlformats.org/officeDocument/2006/relationships/image" Target="../media/image25.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7.svg"/></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29.sv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7.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3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29.sv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7.sv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32.png"/><Relationship Id="rId4" Type="http://schemas.openxmlformats.org/officeDocument/2006/relationships/image" Target="../media/image31.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Retrieval Augmented Generation</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3 – Lesson 3</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lesson 2</a:t>
            </a:r>
          </a:p>
          <a:p>
            <a:r>
              <a:rPr lang="en-US" dirty="0"/>
              <a:t>Grounding a model</a:t>
            </a:r>
          </a:p>
          <a:p>
            <a:r>
              <a:rPr lang="en-US" dirty="0"/>
              <a:t>Retrieval Augmented Generation (RAG)</a:t>
            </a:r>
          </a:p>
          <a:p>
            <a:r>
              <a:rPr lang="en-US" dirty="0"/>
              <a:t>RAG Workflow</a:t>
            </a:r>
          </a:p>
          <a:p>
            <a:r>
              <a:rPr lang="en-US" dirty="0"/>
              <a:t>Multimodal Embeddings</a:t>
            </a:r>
          </a:p>
          <a:p>
            <a:r>
              <a:rPr lang="en-US" dirty="0"/>
              <a:t>Multimodal RAG</a:t>
            </a:r>
          </a:p>
          <a:p>
            <a:endParaRPr lang="en-US" dirty="0"/>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B41B7F-BC3B-5AF7-786C-C5A78B22485F}"/>
              </a:ext>
            </a:extLst>
          </p:cNvPr>
          <p:cNvSpPr>
            <a:spLocks noGrp="1"/>
          </p:cNvSpPr>
          <p:nvPr>
            <p:ph type="sldNum" idx="97"/>
          </p:nvPr>
        </p:nvSpPr>
        <p:spPr/>
        <p:txBody>
          <a:bodyPr/>
          <a:lstStyle/>
          <a:p>
            <a:fld id="{86A8BF56-6CB3-514C-9A64-F39D95C9E25B}" type="slidenum">
              <a:rPr lang="en-US" smtClean="0"/>
              <a:t>3</a:t>
            </a:fld>
            <a:endParaRPr lang="en-US"/>
          </a:p>
        </p:txBody>
      </p:sp>
      <p:sp>
        <p:nvSpPr>
          <p:cNvPr id="3" name="Title 2">
            <a:extLst>
              <a:ext uri="{FF2B5EF4-FFF2-40B4-BE49-F238E27FC236}">
                <a16:creationId xmlns:a16="http://schemas.microsoft.com/office/drawing/2014/main" id="{9165CCFD-7B7E-B2F9-EDFC-CE81762F2F2E}"/>
              </a:ext>
            </a:extLst>
          </p:cNvPr>
          <p:cNvSpPr>
            <a:spLocks noGrp="1"/>
          </p:cNvSpPr>
          <p:nvPr>
            <p:ph type="title" idx="1"/>
          </p:nvPr>
        </p:nvSpPr>
        <p:spPr/>
        <p:txBody>
          <a:bodyPr/>
          <a:lstStyle/>
          <a:p>
            <a:r>
              <a:rPr lang="en-US" dirty="0"/>
              <a:t>Review: Chatbot components</a:t>
            </a:r>
          </a:p>
        </p:txBody>
      </p:sp>
      <p:sp>
        <p:nvSpPr>
          <p:cNvPr id="4" name="Content Placeholder 3">
            <a:extLst>
              <a:ext uri="{FF2B5EF4-FFF2-40B4-BE49-F238E27FC236}">
                <a16:creationId xmlns:a16="http://schemas.microsoft.com/office/drawing/2014/main" id="{91C0E7CB-CB75-CA52-7F72-CE85CA0013EB}"/>
              </a:ext>
            </a:extLst>
          </p:cNvPr>
          <p:cNvSpPr>
            <a:spLocks noGrp="1"/>
          </p:cNvSpPr>
          <p:nvPr>
            <p:ph idx="2"/>
          </p:nvPr>
        </p:nvSpPr>
        <p:spPr>
          <a:xfrm>
            <a:off x="365760" y="1165536"/>
            <a:ext cx="11466576" cy="2967552"/>
          </a:xfrm>
        </p:spPr>
        <p:txBody>
          <a:bodyPr/>
          <a:lstStyle/>
          <a:p>
            <a:r>
              <a:rPr lang="en-US" dirty="0"/>
              <a:t>The simplest chatbot only requires:</a:t>
            </a:r>
          </a:p>
          <a:p>
            <a:pPr lvl="1"/>
            <a:r>
              <a:rPr lang="en-US" dirty="0">
                <a:solidFill>
                  <a:schemeClr val="accent6"/>
                </a:solidFill>
                <a:latin typeface="+mj-lt"/>
              </a:rPr>
              <a:t>A large language model (LLM)</a:t>
            </a:r>
          </a:p>
          <a:p>
            <a:pPr lvl="1"/>
            <a:r>
              <a:rPr lang="en-US" dirty="0">
                <a:solidFill>
                  <a:schemeClr val="accent6"/>
                </a:solidFill>
                <a:latin typeface="+mj-lt"/>
              </a:rPr>
              <a:t>Prompt template</a:t>
            </a:r>
          </a:p>
          <a:p>
            <a:pPr lvl="2"/>
            <a:r>
              <a:rPr lang="en-US" dirty="0"/>
              <a:t>Define the role of the chatbot and general guidelines to follow</a:t>
            </a:r>
          </a:p>
          <a:p>
            <a:pPr lvl="1"/>
            <a:r>
              <a:rPr lang="en-US" dirty="0">
                <a:solidFill>
                  <a:schemeClr val="accent6"/>
                </a:solidFill>
                <a:latin typeface="+mj-lt"/>
              </a:rPr>
              <a:t>Memory module</a:t>
            </a:r>
          </a:p>
          <a:p>
            <a:pPr lvl="2"/>
            <a:r>
              <a:rPr lang="en-US" dirty="0"/>
              <a:t>Persist information across conversations</a:t>
            </a:r>
          </a:p>
          <a:p>
            <a:endParaRPr lang="en-US" dirty="0"/>
          </a:p>
        </p:txBody>
      </p:sp>
      <p:grpSp>
        <p:nvGrpSpPr>
          <p:cNvPr id="6" name="Group 5">
            <a:extLst>
              <a:ext uri="{FF2B5EF4-FFF2-40B4-BE49-F238E27FC236}">
                <a16:creationId xmlns:a16="http://schemas.microsoft.com/office/drawing/2014/main" id="{BB64CE30-660A-ABA9-B14F-C9D0B290137D}"/>
              </a:ext>
            </a:extLst>
          </p:cNvPr>
          <p:cNvGrpSpPr/>
          <p:nvPr/>
        </p:nvGrpSpPr>
        <p:grpSpPr>
          <a:xfrm>
            <a:off x="492017" y="4797487"/>
            <a:ext cx="11084632" cy="1559379"/>
            <a:chOff x="492017" y="4797487"/>
            <a:chExt cx="11084632" cy="1559379"/>
          </a:xfrm>
        </p:grpSpPr>
        <p:grpSp>
          <p:nvGrpSpPr>
            <p:cNvPr id="7" name="Group 6">
              <a:extLst>
                <a:ext uri="{FF2B5EF4-FFF2-40B4-BE49-F238E27FC236}">
                  <a16:creationId xmlns:a16="http://schemas.microsoft.com/office/drawing/2014/main" id="{4F185FD8-41E3-5DDF-0154-D3A5F2DA12B0}"/>
                </a:ext>
              </a:extLst>
            </p:cNvPr>
            <p:cNvGrpSpPr/>
            <p:nvPr/>
          </p:nvGrpSpPr>
          <p:grpSpPr>
            <a:xfrm>
              <a:off x="492017" y="4797487"/>
              <a:ext cx="11084632" cy="1559379"/>
              <a:chOff x="492017" y="3006835"/>
              <a:chExt cx="11084632" cy="1559379"/>
            </a:xfrm>
          </p:grpSpPr>
          <p:sp>
            <p:nvSpPr>
              <p:cNvPr id="11" name="Rounded Rectangle 10">
                <a:extLst>
                  <a:ext uri="{FF2B5EF4-FFF2-40B4-BE49-F238E27FC236}">
                    <a16:creationId xmlns:a16="http://schemas.microsoft.com/office/drawing/2014/main" id="{FDCA7594-14B5-11DB-008B-5075A7775821}"/>
                  </a:ext>
                </a:extLst>
              </p:cNvPr>
              <p:cNvSpPr/>
              <p:nvPr/>
            </p:nvSpPr>
            <p:spPr>
              <a:xfrm>
                <a:off x="3882925" y="3006835"/>
                <a:ext cx="4474029" cy="1559379"/>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12" name="Rounded Rectangle 11">
                <a:extLst>
                  <a:ext uri="{FF2B5EF4-FFF2-40B4-BE49-F238E27FC236}">
                    <a16:creationId xmlns:a16="http://schemas.microsoft.com/office/drawing/2014/main" id="{D8FB66DA-2536-380B-42E9-2976B0308C44}"/>
                  </a:ext>
                </a:extLst>
              </p:cNvPr>
              <p:cNvSpPr/>
              <p:nvPr/>
            </p:nvSpPr>
            <p:spPr>
              <a:xfrm>
                <a:off x="4623733" y="3915052"/>
                <a:ext cx="1300533" cy="520770"/>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Prompt</a:t>
                </a:r>
              </a:p>
            </p:txBody>
          </p:sp>
          <p:sp>
            <p:nvSpPr>
              <p:cNvPr id="13" name="Rounded Rectangle 12">
                <a:extLst>
                  <a:ext uri="{FF2B5EF4-FFF2-40B4-BE49-F238E27FC236}">
                    <a16:creationId xmlns:a16="http://schemas.microsoft.com/office/drawing/2014/main" id="{56CAF6DD-2CC0-7FC8-CF06-AF5522C798B8}"/>
                  </a:ext>
                </a:extLst>
              </p:cNvPr>
              <p:cNvSpPr/>
              <p:nvPr/>
            </p:nvSpPr>
            <p:spPr>
              <a:xfrm>
                <a:off x="492017" y="3258689"/>
                <a:ext cx="2126751"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User input</a:t>
                </a:r>
              </a:p>
            </p:txBody>
          </p:sp>
          <p:cxnSp>
            <p:nvCxnSpPr>
              <p:cNvPr id="14" name="Straight Arrow Connector 13">
                <a:extLst>
                  <a:ext uri="{FF2B5EF4-FFF2-40B4-BE49-F238E27FC236}">
                    <a16:creationId xmlns:a16="http://schemas.microsoft.com/office/drawing/2014/main" id="{200745A9-8F7D-4C8A-A3FD-5DFA2B74536B}"/>
                  </a:ext>
                </a:extLst>
              </p:cNvPr>
              <p:cNvCxnSpPr>
                <a:cxnSpLocks/>
              </p:cNvCxnSpPr>
              <p:nvPr/>
            </p:nvCxnSpPr>
            <p:spPr>
              <a:xfrm>
                <a:off x="2618768" y="3786524"/>
                <a:ext cx="1264157" cy="1"/>
              </a:xfrm>
              <a:prstGeom prst="straightConnector1">
                <a:avLst/>
              </a:prstGeom>
              <a:noFill/>
              <a:ln w="63500" cap="flat" cmpd="sng" algn="ctr">
                <a:solidFill>
                  <a:srgbClr val="DF2A5D"/>
                </a:solidFill>
                <a:prstDash val="solid"/>
                <a:miter lim="800000"/>
                <a:tailEnd type="triangle"/>
              </a:ln>
              <a:effectLst/>
            </p:spPr>
          </p:cxnSp>
          <p:sp>
            <p:nvSpPr>
              <p:cNvPr id="15" name="Rounded Rectangle 14">
                <a:extLst>
                  <a:ext uri="{FF2B5EF4-FFF2-40B4-BE49-F238E27FC236}">
                    <a16:creationId xmlns:a16="http://schemas.microsoft.com/office/drawing/2014/main" id="{BF779112-BD0B-87DD-7963-8B0F0206AA6E}"/>
                  </a:ext>
                </a:extLst>
              </p:cNvPr>
              <p:cNvSpPr/>
              <p:nvPr/>
            </p:nvSpPr>
            <p:spPr>
              <a:xfrm>
                <a:off x="9361704" y="3258689"/>
                <a:ext cx="2214945"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Response/output</a:t>
                </a:r>
              </a:p>
            </p:txBody>
          </p:sp>
          <p:cxnSp>
            <p:nvCxnSpPr>
              <p:cNvPr id="16" name="Straight Arrow Connector 15">
                <a:extLst>
                  <a:ext uri="{FF2B5EF4-FFF2-40B4-BE49-F238E27FC236}">
                    <a16:creationId xmlns:a16="http://schemas.microsoft.com/office/drawing/2014/main" id="{0E7E8A02-3EF7-D532-FA6D-A4C852FD784B}"/>
                  </a:ext>
                </a:extLst>
              </p:cNvPr>
              <p:cNvCxnSpPr>
                <a:cxnSpLocks/>
              </p:cNvCxnSpPr>
              <p:nvPr/>
            </p:nvCxnSpPr>
            <p:spPr>
              <a:xfrm flipV="1">
                <a:off x="8356954" y="3780172"/>
                <a:ext cx="1004750" cy="1"/>
              </a:xfrm>
              <a:prstGeom prst="straightConnector1">
                <a:avLst/>
              </a:prstGeom>
              <a:noFill/>
              <a:ln w="63500" cap="flat" cmpd="sng" algn="ctr">
                <a:solidFill>
                  <a:srgbClr val="DF2A5D"/>
                </a:solidFill>
                <a:prstDash val="solid"/>
                <a:miter lim="800000"/>
                <a:tailEnd type="triangle"/>
              </a:ln>
              <a:effectLst/>
            </p:spPr>
          </p:cxnSp>
          <p:cxnSp>
            <p:nvCxnSpPr>
              <p:cNvPr id="17" name="Straight Arrow Connector 16">
                <a:extLst>
                  <a:ext uri="{FF2B5EF4-FFF2-40B4-BE49-F238E27FC236}">
                    <a16:creationId xmlns:a16="http://schemas.microsoft.com/office/drawing/2014/main" id="{E923A84E-3267-02A9-3CAA-4A8B40E19E42}"/>
                  </a:ext>
                </a:extLst>
              </p:cNvPr>
              <p:cNvCxnSpPr>
                <a:cxnSpLocks/>
                <a:stCxn id="12" idx="3"/>
              </p:cNvCxnSpPr>
              <p:nvPr/>
            </p:nvCxnSpPr>
            <p:spPr>
              <a:xfrm flipV="1">
                <a:off x="5924266" y="3786524"/>
                <a:ext cx="1132089" cy="388913"/>
              </a:xfrm>
              <a:prstGeom prst="straightConnector1">
                <a:avLst/>
              </a:prstGeom>
              <a:noFill/>
              <a:ln w="63500" cap="flat" cmpd="sng" algn="ctr">
                <a:solidFill>
                  <a:srgbClr val="DF2A5D"/>
                </a:solidFill>
                <a:prstDash val="solid"/>
                <a:miter lim="800000"/>
                <a:tailEnd type="triangle"/>
              </a:ln>
              <a:effectLst/>
            </p:spPr>
          </p:cxnSp>
          <p:pic>
            <p:nvPicPr>
              <p:cNvPr id="18" name="Picture 7">
                <a:extLst>
                  <a:ext uri="{FF2B5EF4-FFF2-40B4-BE49-F238E27FC236}">
                    <a16:creationId xmlns:a16="http://schemas.microsoft.com/office/drawing/2014/main" id="{FEF5004A-D712-4E48-DC82-E62DABE18FCA}"/>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046" b="1275"/>
              <a:stretch/>
            </p:blipFill>
            <p:spPr>
              <a:xfrm>
                <a:off x="7114273" y="3213731"/>
                <a:ext cx="1056290" cy="1053869"/>
              </a:xfrm>
              <a:prstGeom prst="rect">
                <a:avLst/>
              </a:prstGeom>
              <a:effectLst>
                <a:outerShdw blurRad="50800" dist="38100" dir="2700000" algn="tl" rotWithShape="0">
                  <a:prstClr val="black">
                    <a:alpha val="40000"/>
                  </a:prstClr>
                </a:outerShdw>
              </a:effectLst>
            </p:spPr>
          </p:pic>
        </p:grpSp>
        <p:sp>
          <p:nvSpPr>
            <p:cNvPr id="8" name="Rounded Rectangle 7">
              <a:extLst>
                <a:ext uri="{FF2B5EF4-FFF2-40B4-BE49-F238E27FC236}">
                  <a16:creationId xmlns:a16="http://schemas.microsoft.com/office/drawing/2014/main" id="{856778B5-666C-66CC-0DBC-F8AF9D66E8CF}"/>
                </a:ext>
              </a:extLst>
            </p:cNvPr>
            <p:cNvSpPr/>
            <p:nvPr/>
          </p:nvSpPr>
          <p:spPr>
            <a:xfrm>
              <a:off x="4590152" y="4867389"/>
              <a:ext cx="1367693" cy="542419"/>
            </a:xfrm>
            <a:prstGeom prst="roundRect">
              <a:avLst/>
            </a:prstGeom>
            <a:solidFill>
              <a:srgbClr val="7CE8F4">
                <a:lumMod val="60000"/>
                <a:lumOff val="4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Memory</a:t>
              </a:r>
            </a:p>
          </p:txBody>
        </p:sp>
        <p:cxnSp>
          <p:nvCxnSpPr>
            <p:cNvPr id="9" name="Straight Arrow Connector 8">
              <a:extLst>
                <a:ext uri="{FF2B5EF4-FFF2-40B4-BE49-F238E27FC236}">
                  <a16:creationId xmlns:a16="http://schemas.microsoft.com/office/drawing/2014/main" id="{061253E9-C13F-3C7C-A2CA-670FCE25D8CD}"/>
                </a:ext>
              </a:extLst>
            </p:cNvPr>
            <p:cNvCxnSpPr>
              <a:cxnSpLocks/>
              <a:stCxn id="11" idx="1"/>
              <a:endCxn id="12" idx="1"/>
            </p:cNvCxnSpPr>
            <p:nvPr/>
          </p:nvCxnSpPr>
          <p:spPr>
            <a:xfrm>
              <a:off x="3882925" y="5577177"/>
              <a:ext cx="740808" cy="388912"/>
            </a:xfrm>
            <a:prstGeom prst="straightConnector1">
              <a:avLst/>
            </a:prstGeom>
            <a:noFill/>
            <a:ln w="63500" cap="flat" cmpd="sng" algn="ctr">
              <a:solidFill>
                <a:srgbClr val="DF2A5D"/>
              </a:solidFill>
              <a:prstDash val="solid"/>
              <a:miter lim="800000"/>
              <a:tailEnd type="triangle"/>
            </a:ln>
            <a:effectLst/>
          </p:spPr>
        </p:cxnSp>
        <p:cxnSp>
          <p:nvCxnSpPr>
            <p:cNvPr id="10" name="Straight Arrow Connector 9">
              <a:extLst>
                <a:ext uri="{FF2B5EF4-FFF2-40B4-BE49-F238E27FC236}">
                  <a16:creationId xmlns:a16="http://schemas.microsoft.com/office/drawing/2014/main" id="{8A6E2A01-9FEB-697F-F2C2-812746D7C8EF}"/>
                </a:ext>
              </a:extLst>
            </p:cNvPr>
            <p:cNvCxnSpPr>
              <a:cxnSpLocks/>
              <a:stCxn id="8" idx="2"/>
              <a:endCxn id="12" idx="0"/>
            </p:cNvCxnSpPr>
            <p:nvPr/>
          </p:nvCxnSpPr>
          <p:spPr>
            <a:xfrm>
              <a:off x="5273999" y="5409808"/>
              <a:ext cx="1" cy="295896"/>
            </a:xfrm>
            <a:prstGeom prst="straightConnector1">
              <a:avLst/>
            </a:prstGeom>
            <a:noFill/>
            <a:ln w="44450" cap="flat" cmpd="sng" algn="ctr">
              <a:solidFill>
                <a:srgbClr val="DF2A5D"/>
              </a:solidFill>
              <a:prstDash val="solid"/>
              <a:miter lim="800000"/>
              <a:tailEnd type="triangle"/>
            </a:ln>
            <a:effectLst/>
          </p:spPr>
        </p:cxnSp>
      </p:grpSp>
      <p:sp>
        <p:nvSpPr>
          <p:cNvPr id="19" name="TextBox 18">
            <a:extLst>
              <a:ext uri="{FF2B5EF4-FFF2-40B4-BE49-F238E27FC236}">
                <a16:creationId xmlns:a16="http://schemas.microsoft.com/office/drawing/2014/main" id="{730E3AA2-D252-6D44-6612-BFA29351C3AE}"/>
              </a:ext>
            </a:extLst>
          </p:cNvPr>
          <p:cNvSpPr txBox="1"/>
          <p:nvPr/>
        </p:nvSpPr>
        <p:spPr>
          <a:xfrm>
            <a:off x="5577268" y="4428155"/>
            <a:ext cx="1037463" cy="369332"/>
          </a:xfrm>
          <a:prstGeom prst="rect">
            <a:avLst/>
          </a:prstGeom>
          <a:noFill/>
        </p:spPr>
        <p:txBody>
          <a:bodyPr wrap="none" rtlCol="0">
            <a:spAutoFit/>
          </a:bodyPr>
          <a:lstStyle/>
          <a:p>
            <a:r>
              <a:rPr lang="en-US" dirty="0">
                <a:solidFill>
                  <a:srgbClr val="232F3E"/>
                </a:solidFill>
                <a:latin typeface="Amazon Ember Medium"/>
              </a:rPr>
              <a:t>Chatbot</a:t>
            </a:r>
          </a:p>
        </p:txBody>
      </p:sp>
    </p:spTree>
    <p:extLst>
      <p:ext uri="{BB962C8B-B14F-4D97-AF65-F5344CB8AC3E}">
        <p14:creationId xmlns:p14="http://schemas.microsoft.com/office/powerpoint/2010/main" val="1415569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5C0360-D9D0-A1F6-5556-E0603A061460}"/>
              </a:ext>
            </a:extLst>
          </p:cNvPr>
          <p:cNvSpPr>
            <a:spLocks noGrp="1"/>
          </p:cNvSpPr>
          <p:nvPr>
            <p:ph type="sldNum" idx="97"/>
          </p:nvPr>
        </p:nvSpPr>
        <p:spPr/>
        <p:txBody>
          <a:bodyPr/>
          <a:lstStyle/>
          <a:p>
            <a:fld id="{86A8BF56-6CB3-514C-9A64-F39D95C9E25B}" type="slidenum">
              <a:rPr lang="en-US" smtClean="0"/>
              <a:t>4</a:t>
            </a:fld>
            <a:endParaRPr lang="en-US"/>
          </a:p>
        </p:txBody>
      </p:sp>
      <p:sp>
        <p:nvSpPr>
          <p:cNvPr id="3" name="Title 2">
            <a:extLst>
              <a:ext uri="{FF2B5EF4-FFF2-40B4-BE49-F238E27FC236}">
                <a16:creationId xmlns:a16="http://schemas.microsoft.com/office/drawing/2014/main" id="{CCFF8EAB-3CAB-DFDD-205D-375827BD692F}"/>
              </a:ext>
            </a:extLst>
          </p:cNvPr>
          <p:cNvSpPr>
            <a:spLocks noGrp="1"/>
          </p:cNvSpPr>
          <p:nvPr>
            <p:ph type="title" idx="1"/>
          </p:nvPr>
        </p:nvSpPr>
        <p:spPr/>
        <p:txBody>
          <a:bodyPr/>
          <a:lstStyle/>
          <a:p>
            <a:r>
              <a:rPr lang="en-US" dirty="0"/>
              <a:t>Review: Chatting with Documents</a:t>
            </a:r>
          </a:p>
        </p:txBody>
      </p:sp>
      <p:sp>
        <p:nvSpPr>
          <p:cNvPr id="4" name="Content Placeholder 3">
            <a:extLst>
              <a:ext uri="{FF2B5EF4-FFF2-40B4-BE49-F238E27FC236}">
                <a16:creationId xmlns:a16="http://schemas.microsoft.com/office/drawing/2014/main" id="{047DDBCB-16C0-24DE-1741-E053B2BACB56}"/>
              </a:ext>
            </a:extLst>
          </p:cNvPr>
          <p:cNvSpPr>
            <a:spLocks noGrp="1"/>
          </p:cNvSpPr>
          <p:nvPr>
            <p:ph idx="2"/>
          </p:nvPr>
        </p:nvSpPr>
        <p:spPr>
          <a:xfrm>
            <a:off x="365760" y="1165536"/>
            <a:ext cx="11466576" cy="731520"/>
          </a:xfrm>
        </p:spPr>
        <p:txBody>
          <a:bodyPr/>
          <a:lstStyle/>
          <a:p>
            <a:r>
              <a:rPr lang="en-US" dirty="0"/>
              <a:t>Prompt with the entire text of the document(s)</a:t>
            </a:r>
          </a:p>
          <a:p>
            <a:endParaRPr lang="en-US" dirty="0"/>
          </a:p>
        </p:txBody>
      </p:sp>
      <p:grpSp>
        <p:nvGrpSpPr>
          <p:cNvPr id="26" name="Group 25">
            <a:extLst>
              <a:ext uri="{FF2B5EF4-FFF2-40B4-BE49-F238E27FC236}">
                <a16:creationId xmlns:a16="http://schemas.microsoft.com/office/drawing/2014/main" id="{D41C6B4B-6D45-EB09-79BC-A1495B4DBE7B}"/>
              </a:ext>
            </a:extLst>
          </p:cNvPr>
          <p:cNvGrpSpPr/>
          <p:nvPr/>
        </p:nvGrpSpPr>
        <p:grpSpPr>
          <a:xfrm>
            <a:off x="460859" y="2404427"/>
            <a:ext cx="11270282" cy="4317564"/>
            <a:chOff x="460859" y="1672479"/>
            <a:chExt cx="11270282" cy="4317564"/>
          </a:xfrm>
        </p:grpSpPr>
        <p:grpSp>
          <p:nvGrpSpPr>
            <p:cNvPr id="27" name="Group 26">
              <a:extLst>
                <a:ext uri="{FF2B5EF4-FFF2-40B4-BE49-F238E27FC236}">
                  <a16:creationId xmlns:a16="http://schemas.microsoft.com/office/drawing/2014/main" id="{5D639027-5BB7-2993-71B2-A871963591BD}"/>
                </a:ext>
              </a:extLst>
            </p:cNvPr>
            <p:cNvGrpSpPr/>
            <p:nvPr/>
          </p:nvGrpSpPr>
          <p:grpSpPr>
            <a:xfrm>
              <a:off x="460859" y="1672479"/>
              <a:ext cx="11270282" cy="4317564"/>
              <a:chOff x="460859" y="1651048"/>
              <a:chExt cx="11270282" cy="4317564"/>
            </a:xfrm>
          </p:grpSpPr>
          <p:grpSp>
            <p:nvGrpSpPr>
              <p:cNvPr id="29" name="Group 28">
                <a:extLst>
                  <a:ext uri="{FF2B5EF4-FFF2-40B4-BE49-F238E27FC236}">
                    <a16:creationId xmlns:a16="http://schemas.microsoft.com/office/drawing/2014/main" id="{9B5E4830-2000-6274-7348-EBA6C17BB061}"/>
                  </a:ext>
                </a:extLst>
              </p:cNvPr>
              <p:cNvGrpSpPr/>
              <p:nvPr/>
            </p:nvGrpSpPr>
            <p:grpSpPr>
              <a:xfrm>
                <a:off x="460859" y="2114527"/>
                <a:ext cx="11270282" cy="2093142"/>
                <a:chOff x="575929" y="1118422"/>
                <a:chExt cx="11270282" cy="2093142"/>
              </a:xfrm>
            </p:grpSpPr>
            <p:sp>
              <p:nvSpPr>
                <p:cNvPr id="38" name="Rounded Rectangle 37">
                  <a:extLst>
                    <a:ext uri="{FF2B5EF4-FFF2-40B4-BE49-F238E27FC236}">
                      <a16:creationId xmlns:a16="http://schemas.microsoft.com/office/drawing/2014/main" id="{B1C4B820-8A6F-7EE4-CBAB-997F8DA9E220}"/>
                    </a:ext>
                  </a:extLst>
                </p:cNvPr>
                <p:cNvSpPr/>
                <p:nvPr/>
              </p:nvSpPr>
              <p:spPr>
                <a:xfrm>
                  <a:off x="3882925" y="1118422"/>
                  <a:ext cx="4474029" cy="2093142"/>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39" name="Rounded Rectangle 38">
                  <a:extLst>
                    <a:ext uri="{FF2B5EF4-FFF2-40B4-BE49-F238E27FC236}">
                      <a16:creationId xmlns:a16="http://schemas.microsoft.com/office/drawing/2014/main" id="{AD8115F6-77CD-2839-AC46-10307F284E0A}"/>
                    </a:ext>
                  </a:extLst>
                </p:cNvPr>
                <p:cNvSpPr/>
                <p:nvPr/>
              </p:nvSpPr>
              <p:spPr>
                <a:xfrm>
                  <a:off x="5154642" y="2338316"/>
                  <a:ext cx="1300533" cy="520770"/>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Prompt</a:t>
                  </a:r>
                </a:p>
              </p:txBody>
            </p:sp>
            <p:sp>
              <p:nvSpPr>
                <p:cNvPr id="40" name="Rounded Rectangle 39">
                  <a:extLst>
                    <a:ext uri="{FF2B5EF4-FFF2-40B4-BE49-F238E27FC236}">
                      <a16:creationId xmlns:a16="http://schemas.microsoft.com/office/drawing/2014/main" id="{C90CB481-CF1F-69B9-B6D9-E88FF3233BBB}"/>
                    </a:ext>
                  </a:extLst>
                </p:cNvPr>
                <p:cNvSpPr/>
                <p:nvPr/>
              </p:nvSpPr>
              <p:spPr>
                <a:xfrm>
                  <a:off x="575929" y="2078456"/>
                  <a:ext cx="2126751"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User input</a:t>
                  </a:r>
                </a:p>
              </p:txBody>
            </p:sp>
            <p:sp>
              <p:nvSpPr>
                <p:cNvPr id="41" name="Rounded Rectangle 40">
                  <a:extLst>
                    <a:ext uri="{FF2B5EF4-FFF2-40B4-BE49-F238E27FC236}">
                      <a16:creationId xmlns:a16="http://schemas.microsoft.com/office/drawing/2014/main" id="{84D236CD-2731-ED65-5141-418B515CA9E7}"/>
                    </a:ext>
                  </a:extLst>
                </p:cNvPr>
                <p:cNvSpPr/>
                <p:nvPr/>
              </p:nvSpPr>
              <p:spPr>
                <a:xfrm>
                  <a:off x="9631266" y="2078456"/>
                  <a:ext cx="2214945"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Response/output</a:t>
                  </a:r>
                </a:p>
              </p:txBody>
            </p:sp>
            <p:cxnSp>
              <p:nvCxnSpPr>
                <p:cNvPr id="42" name="Straight Arrow Connector 41">
                  <a:extLst>
                    <a:ext uri="{FF2B5EF4-FFF2-40B4-BE49-F238E27FC236}">
                      <a16:creationId xmlns:a16="http://schemas.microsoft.com/office/drawing/2014/main" id="{7556004A-27E7-056D-80E0-DF1DF6A435DE}"/>
                    </a:ext>
                  </a:extLst>
                </p:cNvPr>
                <p:cNvCxnSpPr>
                  <a:cxnSpLocks/>
                  <a:endCxn id="41" idx="1"/>
                </p:cNvCxnSpPr>
                <p:nvPr/>
              </p:nvCxnSpPr>
              <p:spPr>
                <a:xfrm>
                  <a:off x="8356954" y="2606291"/>
                  <a:ext cx="1274312" cy="0"/>
                </a:xfrm>
                <a:prstGeom prst="straightConnector1">
                  <a:avLst/>
                </a:prstGeom>
                <a:noFill/>
                <a:ln w="63500" cap="flat" cmpd="sng" algn="ctr">
                  <a:solidFill>
                    <a:srgbClr val="DF2A5D"/>
                  </a:solidFill>
                  <a:prstDash val="solid"/>
                  <a:miter lim="800000"/>
                  <a:tailEnd type="triangle"/>
                </a:ln>
                <a:effectLst/>
              </p:spPr>
            </p:cxnSp>
            <p:cxnSp>
              <p:nvCxnSpPr>
                <p:cNvPr id="43" name="Straight Arrow Connector 42">
                  <a:extLst>
                    <a:ext uri="{FF2B5EF4-FFF2-40B4-BE49-F238E27FC236}">
                      <a16:creationId xmlns:a16="http://schemas.microsoft.com/office/drawing/2014/main" id="{0530BCFA-2548-E9BA-7EBB-46F529ACD655}"/>
                    </a:ext>
                  </a:extLst>
                </p:cNvPr>
                <p:cNvCxnSpPr>
                  <a:cxnSpLocks/>
                  <a:stCxn id="30" idx="2"/>
                  <a:endCxn id="39" idx="0"/>
                </p:cNvCxnSpPr>
                <p:nvPr/>
              </p:nvCxnSpPr>
              <p:spPr>
                <a:xfrm>
                  <a:off x="5798906" y="1818597"/>
                  <a:ext cx="6003" cy="519719"/>
                </a:xfrm>
                <a:prstGeom prst="straightConnector1">
                  <a:avLst/>
                </a:prstGeom>
                <a:noFill/>
                <a:ln w="63500" cap="flat" cmpd="sng" algn="ctr">
                  <a:solidFill>
                    <a:srgbClr val="DF2A5D"/>
                  </a:solidFill>
                  <a:prstDash val="solid"/>
                  <a:miter lim="800000"/>
                  <a:tailEnd type="triangle"/>
                </a:ln>
                <a:effectLst/>
              </p:spPr>
            </p:cxnSp>
            <p:pic>
              <p:nvPicPr>
                <p:cNvPr id="44" name="Picture 7">
                  <a:extLst>
                    <a:ext uri="{FF2B5EF4-FFF2-40B4-BE49-F238E27FC236}">
                      <a16:creationId xmlns:a16="http://schemas.microsoft.com/office/drawing/2014/main" id="{24875AAE-359A-D90B-522E-56BCD18F3CE2}"/>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046" b="1275"/>
                <a:stretch/>
              </p:blipFill>
              <p:spPr>
                <a:xfrm>
                  <a:off x="7166120" y="2064551"/>
                  <a:ext cx="1056290" cy="1053869"/>
                </a:xfrm>
                <a:prstGeom prst="rect">
                  <a:avLst/>
                </a:prstGeom>
                <a:effectLst>
                  <a:outerShdw blurRad="50800" dist="38100" dir="2700000" algn="tl" rotWithShape="0">
                    <a:prstClr val="black">
                      <a:alpha val="40000"/>
                    </a:prstClr>
                  </a:outerShdw>
                </a:effectLst>
              </p:spPr>
            </p:pic>
          </p:grpSp>
          <p:sp>
            <p:nvSpPr>
              <p:cNvPr id="30" name="Rounded Rectangle 29">
                <a:extLst>
                  <a:ext uri="{FF2B5EF4-FFF2-40B4-BE49-F238E27FC236}">
                    <a16:creationId xmlns:a16="http://schemas.microsoft.com/office/drawing/2014/main" id="{A81A45AA-894B-A7AB-2661-8803952823F6}"/>
                  </a:ext>
                </a:extLst>
              </p:cNvPr>
              <p:cNvSpPr/>
              <p:nvPr/>
            </p:nvSpPr>
            <p:spPr>
              <a:xfrm>
                <a:off x="4999989" y="2272283"/>
                <a:ext cx="1367693" cy="542419"/>
              </a:xfrm>
              <a:prstGeom prst="roundRect">
                <a:avLst/>
              </a:prstGeom>
              <a:solidFill>
                <a:srgbClr val="7CE8F4">
                  <a:lumMod val="60000"/>
                  <a:lumOff val="4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Memory</a:t>
                </a:r>
              </a:p>
            </p:txBody>
          </p:sp>
          <p:sp>
            <p:nvSpPr>
              <p:cNvPr id="31" name="TextBox 30">
                <a:extLst>
                  <a:ext uri="{FF2B5EF4-FFF2-40B4-BE49-F238E27FC236}">
                    <a16:creationId xmlns:a16="http://schemas.microsoft.com/office/drawing/2014/main" id="{E18CCD75-F264-BD76-8C06-4E5807FC7006}"/>
                  </a:ext>
                </a:extLst>
              </p:cNvPr>
              <p:cNvSpPr txBox="1"/>
              <p:nvPr/>
            </p:nvSpPr>
            <p:spPr>
              <a:xfrm>
                <a:off x="5178347" y="1651048"/>
                <a:ext cx="1319592"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32F3E"/>
                    </a:solidFill>
                    <a:effectLst/>
                    <a:uLnTx/>
                    <a:uFillTx/>
                    <a:latin typeface="Amazon Ember Medium"/>
                  </a:rPr>
                  <a:t>Chatbot</a:t>
                </a:r>
              </a:p>
            </p:txBody>
          </p:sp>
          <p:pic>
            <p:nvPicPr>
              <p:cNvPr id="32" name="Graphic 31" descr="Icon representing a Document for the RAG system">
                <a:extLst>
                  <a:ext uri="{FF2B5EF4-FFF2-40B4-BE49-F238E27FC236}">
                    <a16:creationId xmlns:a16="http://schemas.microsoft.com/office/drawing/2014/main" id="{1F52672A-97A3-E7F5-9DDA-9081DB65A2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29286" y="4432820"/>
                <a:ext cx="1008857" cy="1008857"/>
              </a:xfrm>
              <a:prstGeom prst="rect">
                <a:avLst/>
              </a:prstGeom>
            </p:spPr>
          </p:pic>
          <p:pic>
            <p:nvPicPr>
              <p:cNvPr id="33" name="Graphic 32" descr="Icon representing a Document for the RAG system">
                <a:extLst>
                  <a:ext uri="{FF2B5EF4-FFF2-40B4-BE49-F238E27FC236}">
                    <a16:creationId xmlns:a16="http://schemas.microsoft.com/office/drawing/2014/main" id="{176F3F17-C098-FA94-FC80-B11FB4C74F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91571" y="4524890"/>
                <a:ext cx="1008857" cy="1008857"/>
              </a:xfrm>
              <a:prstGeom prst="rect">
                <a:avLst/>
              </a:prstGeom>
            </p:spPr>
          </p:pic>
          <p:pic>
            <p:nvPicPr>
              <p:cNvPr id="34" name="Graphic 33" descr="Icon representing a Document for the RAG system">
                <a:extLst>
                  <a:ext uri="{FF2B5EF4-FFF2-40B4-BE49-F238E27FC236}">
                    <a16:creationId xmlns:a16="http://schemas.microsoft.com/office/drawing/2014/main" id="{4D40190C-B38C-5EE0-986A-33E7867B50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0428" y="4959755"/>
                <a:ext cx="1008857" cy="1008857"/>
              </a:xfrm>
              <a:prstGeom prst="rect">
                <a:avLst/>
              </a:prstGeom>
            </p:spPr>
          </p:pic>
          <p:cxnSp>
            <p:nvCxnSpPr>
              <p:cNvPr id="35" name="Straight Arrow Connector 34">
                <a:extLst>
                  <a:ext uri="{FF2B5EF4-FFF2-40B4-BE49-F238E27FC236}">
                    <a16:creationId xmlns:a16="http://schemas.microsoft.com/office/drawing/2014/main" id="{DF8EA951-C7DC-0AA0-27E2-7027D0C02B78}"/>
                  </a:ext>
                </a:extLst>
              </p:cNvPr>
              <p:cNvCxnSpPr>
                <a:cxnSpLocks/>
                <a:stCxn id="39" idx="3"/>
                <a:endCxn id="44" idx="1"/>
              </p:cNvCxnSpPr>
              <p:nvPr/>
            </p:nvCxnSpPr>
            <p:spPr>
              <a:xfrm flipV="1">
                <a:off x="6340105" y="3587591"/>
                <a:ext cx="710945" cy="7215"/>
              </a:xfrm>
              <a:prstGeom prst="straightConnector1">
                <a:avLst/>
              </a:prstGeom>
              <a:noFill/>
              <a:ln w="63500" cap="flat" cmpd="sng" algn="ctr">
                <a:solidFill>
                  <a:srgbClr val="DF2A5D"/>
                </a:solidFill>
                <a:prstDash val="solid"/>
                <a:miter lim="800000"/>
                <a:tailEnd type="triangle"/>
              </a:ln>
              <a:effectLst/>
            </p:spPr>
          </p:cxnSp>
          <p:cxnSp>
            <p:nvCxnSpPr>
              <p:cNvPr id="36" name="Straight Arrow Connector 35">
                <a:extLst>
                  <a:ext uri="{FF2B5EF4-FFF2-40B4-BE49-F238E27FC236}">
                    <a16:creationId xmlns:a16="http://schemas.microsoft.com/office/drawing/2014/main" id="{A5639F6D-8B92-8F3A-33DD-50E2B63686E5}"/>
                  </a:ext>
                </a:extLst>
              </p:cNvPr>
              <p:cNvCxnSpPr>
                <a:cxnSpLocks/>
                <a:stCxn id="40" idx="3"/>
                <a:endCxn id="39" idx="1"/>
              </p:cNvCxnSpPr>
              <p:nvPr/>
            </p:nvCxnSpPr>
            <p:spPr>
              <a:xfrm flipV="1">
                <a:off x="2587610" y="3594806"/>
                <a:ext cx="2451962" cy="7590"/>
              </a:xfrm>
              <a:prstGeom prst="straightConnector1">
                <a:avLst/>
              </a:prstGeom>
              <a:noFill/>
              <a:ln w="63500" cap="flat" cmpd="sng" algn="ctr">
                <a:solidFill>
                  <a:srgbClr val="DF2A5D"/>
                </a:solidFill>
                <a:prstDash val="solid"/>
                <a:miter lim="800000"/>
                <a:tailEnd type="triangle"/>
              </a:ln>
              <a:effectLst/>
            </p:spPr>
          </p:cxnSp>
          <p:cxnSp>
            <p:nvCxnSpPr>
              <p:cNvPr id="37" name="Straight Arrow Connector 36">
                <a:extLst>
                  <a:ext uri="{FF2B5EF4-FFF2-40B4-BE49-F238E27FC236}">
                    <a16:creationId xmlns:a16="http://schemas.microsoft.com/office/drawing/2014/main" id="{4194EA35-3E3D-7E86-4AE5-73EC60BF5B4B}"/>
                  </a:ext>
                </a:extLst>
              </p:cNvPr>
              <p:cNvCxnSpPr>
                <a:cxnSpLocks/>
                <a:endCxn id="39" idx="2"/>
              </p:cNvCxnSpPr>
              <p:nvPr/>
            </p:nvCxnSpPr>
            <p:spPr>
              <a:xfrm flipV="1">
                <a:off x="5689839" y="3855191"/>
                <a:ext cx="0" cy="823965"/>
              </a:xfrm>
              <a:prstGeom prst="straightConnector1">
                <a:avLst/>
              </a:prstGeom>
              <a:noFill/>
              <a:ln w="63500" cap="flat" cmpd="sng" algn="ctr">
                <a:solidFill>
                  <a:srgbClr val="DF2A5D"/>
                </a:solidFill>
                <a:prstDash val="solid"/>
                <a:miter lim="800000"/>
                <a:tailEnd type="triangle"/>
              </a:ln>
              <a:effectLst/>
            </p:spPr>
          </p:cxnSp>
        </p:grpSp>
        <p:sp>
          <p:nvSpPr>
            <p:cNvPr id="28" name="TextBox 27">
              <a:extLst>
                <a:ext uri="{FF2B5EF4-FFF2-40B4-BE49-F238E27FC236}">
                  <a16:creationId xmlns:a16="http://schemas.microsoft.com/office/drawing/2014/main" id="{F405DB9F-83C2-C0BA-9E1B-313E2C0B61C1}"/>
                </a:ext>
              </a:extLst>
            </p:cNvPr>
            <p:cNvSpPr txBox="1"/>
            <p:nvPr/>
          </p:nvSpPr>
          <p:spPr>
            <a:xfrm>
              <a:off x="6436519" y="4867182"/>
              <a:ext cx="138050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rPr>
                <a:t>Documents</a:t>
              </a:r>
            </a:p>
          </p:txBody>
        </p:sp>
      </p:grpSp>
      <p:sp>
        <p:nvSpPr>
          <p:cNvPr id="45" name="TextBox 44">
            <a:extLst>
              <a:ext uri="{FF2B5EF4-FFF2-40B4-BE49-F238E27FC236}">
                <a16:creationId xmlns:a16="http://schemas.microsoft.com/office/drawing/2014/main" id="{627506AA-BF4E-DEF7-04DB-60B1C03787B0}"/>
              </a:ext>
            </a:extLst>
          </p:cNvPr>
          <p:cNvSpPr txBox="1"/>
          <p:nvPr/>
        </p:nvSpPr>
        <p:spPr>
          <a:xfrm>
            <a:off x="8257963" y="5601629"/>
            <a:ext cx="2516466" cy="954107"/>
          </a:xfrm>
          <a:prstGeom prst="rect">
            <a:avLst/>
          </a:prstGeom>
          <a:noFill/>
        </p:spPr>
        <p:txBody>
          <a:bodyPr wrap="square" rtlCol="0">
            <a:spAutoFit/>
          </a:bodyPr>
          <a:lstStyle/>
          <a:p>
            <a:pPr algn="ctr"/>
            <a:r>
              <a:rPr lang="en-US" sz="2800" dirty="0">
                <a:solidFill>
                  <a:srgbClr val="DF2A5D"/>
                </a:solidFill>
                <a:latin typeface="Amazon Ember Medium"/>
              </a:rPr>
              <a:t>How can this be a problem?</a:t>
            </a:r>
          </a:p>
        </p:txBody>
      </p:sp>
      <p:sp>
        <p:nvSpPr>
          <p:cNvPr id="46" name="TextBox 45">
            <a:extLst>
              <a:ext uri="{FF2B5EF4-FFF2-40B4-BE49-F238E27FC236}">
                <a16:creationId xmlns:a16="http://schemas.microsoft.com/office/drawing/2014/main" id="{F5B37FAB-D6EA-C472-B9AC-022AD9CCD582}"/>
              </a:ext>
            </a:extLst>
          </p:cNvPr>
          <p:cNvSpPr txBox="1"/>
          <p:nvPr/>
        </p:nvSpPr>
        <p:spPr>
          <a:xfrm>
            <a:off x="1197735" y="3116687"/>
            <a:ext cx="184731" cy="369332"/>
          </a:xfrm>
          <a:prstGeom prst="rect">
            <a:avLst/>
          </a:prstGeom>
          <a:noFill/>
        </p:spPr>
        <p:txBody>
          <a:bodyPr wrap="none" rtlCol="0">
            <a:spAutoFit/>
          </a:bodyPr>
          <a:lstStyle/>
          <a:p>
            <a:endParaRPr lang="en-US" dirty="0">
              <a:solidFill>
                <a:srgbClr val="232F3E"/>
              </a:solidFill>
              <a:latin typeface="Amazon Ember Light"/>
            </a:endParaRPr>
          </a:p>
        </p:txBody>
      </p:sp>
    </p:spTree>
    <p:extLst>
      <p:ext uri="{BB962C8B-B14F-4D97-AF65-F5344CB8AC3E}">
        <p14:creationId xmlns:p14="http://schemas.microsoft.com/office/powerpoint/2010/main" val="2467322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5</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Grounding a model</a:t>
            </a:r>
          </a:p>
        </p:txBody>
      </p:sp>
    </p:spTree>
    <p:extLst>
      <p:ext uri="{BB962C8B-B14F-4D97-AF65-F5344CB8AC3E}">
        <p14:creationId xmlns:p14="http://schemas.microsoft.com/office/powerpoint/2010/main" val="1291583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6</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‘Grounding’ a model</a:t>
            </a:r>
          </a:p>
        </p:txBody>
      </p:sp>
      <p:sp>
        <p:nvSpPr>
          <p:cNvPr id="4" name="Content Placeholder 3">
            <a:extLst>
              <a:ext uri="{FF2B5EF4-FFF2-40B4-BE49-F238E27FC236}">
                <a16:creationId xmlns:a16="http://schemas.microsoft.com/office/drawing/2014/main" id="{0E5B8E16-5803-9B1F-FD9D-E7B429EE86B2}"/>
              </a:ext>
            </a:extLst>
          </p:cNvPr>
          <p:cNvSpPr>
            <a:spLocks noGrp="1"/>
          </p:cNvSpPr>
          <p:nvPr>
            <p:ph idx="2"/>
          </p:nvPr>
        </p:nvSpPr>
        <p:spPr/>
        <p:txBody>
          <a:bodyPr/>
          <a:lstStyle/>
          <a:p>
            <a:pPr marL="0" indent="0">
              <a:buNone/>
            </a:pPr>
            <a:r>
              <a:rPr lang="en-DE" b="1">
                <a:solidFill>
                  <a:schemeClr val="accent6"/>
                </a:solidFill>
                <a:sym typeface="Wingdings" pitchFamily="2" charset="2"/>
              </a:rPr>
              <a:t>G</a:t>
            </a:r>
            <a:r>
              <a:rPr lang="en-IE" b="1" dirty="0">
                <a:solidFill>
                  <a:schemeClr val="accent6"/>
                </a:solidFill>
                <a:sym typeface="Wingdings" pitchFamily="2" charset="2"/>
              </a:rPr>
              <a:t>rounding</a:t>
            </a:r>
            <a:r>
              <a:rPr lang="en-IE" dirty="0">
                <a:sym typeface="Wingdings" pitchFamily="2" charset="2"/>
              </a:rPr>
              <a:t> encompasses a </a:t>
            </a:r>
            <a:r>
              <a:rPr lang="en-US" dirty="0"/>
              <a:t>s</a:t>
            </a:r>
            <a:r>
              <a:rPr lang="en-DE"/>
              <a:t>eries of techniques to </a:t>
            </a:r>
            <a:r>
              <a:rPr lang="en-US" dirty="0"/>
              <a:t>make</a:t>
            </a:r>
            <a:r>
              <a:rPr lang="en-DE"/>
              <a:t> the LLM’s output consistent with</a:t>
            </a:r>
            <a:r>
              <a:rPr lang="en-IE" dirty="0"/>
              <a:t>:</a:t>
            </a:r>
            <a:endParaRPr lang="en-DE"/>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GB" sz="2800" dirty="0"/>
              <a:t>E</a:t>
            </a:r>
            <a:r>
              <a:rPr lang="en-DE" sz="2800"/>
              <a:t>stablished facts (mitigate hallucinations)</a:t>
            </a:r>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GB" sz="2800" dirty="0"/>
              <a:t>C</a:t>
            </a:r>
            <a:r>
              <a:rPr lang="en-DE" sz="2800"/>
              <a:t>ommon-sense reasoning</a:t>
            </a:r>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GB" sz="2800" dirty="0"/>
              <a:t>R</a:t>
            </a:r>
            <a:r>
              <a:rPr lang="en-DE" sz="2800"/>
              <a:t>eal-world context</a:t>
            </a:r>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DE" sz="2800"/>
              <a:t>User intent</a:t>
            </a:r>
          </a:p>
          <a:p>
            <a:pPr>
              <a:buFont typeface="Wingdings" pitchFamily="2" charset="2"/>
              <a:buChar char="à"/>
            </a:pPr>
            <a:endParaRPr lang="en-DE" sz="2000" b="1"/>
          </a:p>
          <a:p>
            <a:endParaRPr lang="en-US" dirty="0"/>
          </a:p>
        </p:txBody>
      </p:sp>
    </p:spTree>
    <p:extLst>
      <p:ext uri="{BB962C8B-B14F-4D97-AF65-F5344CB8AC3E}">
        <p14:creationId xmlns:p14="http://schemas.microsoft.com/office/powerpoint/2010/main" val="1555340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D48314-075A-5F31-A51B-C711D1F7B60B}"/>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7737A35E-F2DC-6243-7FC3-3303EE78838D}"/>
              </a:ext>
            </a:extLst>
          </p:cNvPr>
          <p:cNvSpPr>
            <a:spLocks noGrp="1"/>
          </p:cNvSpPr>
          <p:nvPr>
            <p:ph type="title" idx="1"/>
          </p:nvPr>
        </p:nvSpPr>
        <p:spPr/>
        <p:txBody>
          <a:bodyPr/>
          <a:lstStyle/>
          <a:p>
            <a:r>
              <a:rPr lang="en-US" dirty="0"/>
              <a:t>Grounding</a:t>
            </a:r>
          </a:p>
        </p:txBody>
      </p:sp>
      <p:sp>
        <p:nvSpPr>
          <p:cNvPr id="4" name="Content Placeholder 3">
            <a:extLst>
              <a:ext uri="{FF2B5EF4-FFF2-40B4-BE49-F238E27FC236}">
                <a16:creationId xmlns:a16="http://schemas.microsoft.com/office/drawing/2014/main" id="{F758B954-FADF-F922-097E-97DA136C725D}"/>
              </a:ext>
            </a:extLst>
          </p:cNvPr>
          <p:cNvSpPr>
            <a:spLocks noGrp="1"/>
          </p:cNvSpPr>
          <p:nvPr>
            <p:ph idx="2"/>
          </p:nvPr>
        </p:nvSpPr>
        <p:spPr/>
        <p:txBody>
          <a:bodyPr/>
          <a:lstStyle/>
          <a:p>
            <a:pPr marL="0" indent="0">
              <a:buNone/>
            </a:pPr>
            <a:r>
              <a:rPr lang="en-DE" b="1">
                <a:solidFill>
                  <a:schemeClr val="accent6"/>
                </a:solidFill>
                <a:sym typeface="Wingdings" pitchFamily="2" charset="2"/>
              </a:rPr>
              <a:t>G</a:t>
            </a:r>
            <a:r>
              <a:rPr lang="en-IE" b="1" dirty="0">
                <a:solidFill>
                  <a:schemeClr val="accent6"/>
                </a:solidFill>
                <a:sym typeface="Wingdings" pitchFamily="2" charset="2"/>
              </a:rPr>
              <a:t>rounding</a:t>
            </a:r>
            <a:r>
              <a:rPr lang="en-IE" dirty="0">
                <a:solidFill>
                  <a:schemeClr val="accent6"/>
                </a:solidFill>
                <a:sym typeface="Wingdings" pitchFamily="2" charset="2"/>
              </a:rPr>
              <a:t> </a:t>
            </a:r>
            <a:r>
              <a:rPr lang="en-IE" dirty="0">
                <a:sym typeface="Wingdings" pitchFamily="2" charset="2"/>
              </a:rPr>
              <a:t>can be achieved via:</a:t>
            </a:r>
            <a:endParaRPr lang="en-DE"/>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IE" sz="2800" dirty="0"/>
              <a:t>Prompt engineering (in-context learning)</a:t>
            </a:r>
            <a:endParaRPr lang="en-DE" sz="2800"/>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IE" sz="2800" dirty="0"/>
              <a:t>Fine tuning</a:t>
            </a:r>
            <a:endParaRPr lang="en-DE" sz="2800"/>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GB" sz="2800" dirty="0"/>
              <a:t>R</a:t>
            </a:r>
            <a:r>
              <a:rPr lang="en-IE" sz="2800" dirty="0"/>
              <a:t>AG (Retrieval Augmented Generation)</a:t>
            </a:r>
            <a:endParaRPr lang="en-DE" sz="2800"/>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IE" sz="2800" dirty="0"/>
              <a:t>Tools (with agents)</a:t>
            </a:r>
          </a:p>
          <a:p>
            <a:pPr marL="344488" lvl="1" indent="-344488" defTabSz="91440">
              <a:buSzPct val="100000"/>
              <a:buBlip>
                <a:blip r:embed="rId3">
                  <a:extLst>
                    <a:ext uri="{96DAC541-7B7A-43D3-8B79-37D633B846F1}">
                      <asvg:svgBlip xmlns:asvg="http://schemas.microsoft.com/office/drawing/2016/SVG/main" r:embed="rId4"/>
                    </a:ext>
                  </a:extLst>
                </a:blip>
              </a:buBlip>
              <a:tabLst>
                <a:tab pos="227013" algn="l"/>
              </a:tabLst>
            </a:pPr>
            <a:r>
              <a:rPr lang="en-IE" sz="2800" dirty="0"/>
              <a:t>…..</a:t>
            </a:r>
            <a:endParaRPr lang="en-DE" sz="2800"/>
          </a:p>
          <a:p>
            <a:pPr>
              <a:buFont typeface="Wingdings" pitchFamily="2" charset="2"/>
              <a:buChar char="à"/>
            </a:pPr>
            <a:endParaRPr lang="en-DE" sz="2000" b="1"/>
          </a:p>
          <a:p>
            <a:endParaRPr lang="en-US" dirty="0"/>
          </a:p>
        </p:txBody>
      </p:sp>
    </p:spTree>
    <p:extLst>
      <p:ext uri="{BB962C8B-B14F-4D97-AF65-F5344CB8AC3E}">
        <p14:creationId xmlns:p14="http://schemas.microsoft.com/office/powerpoint/2010/main" val="420952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4DFFA2-4884-FC05-EBA5-2CD114E98458}"/>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063EFD49-857A-053D-CD34-A06A98C3DA6B}"/>
              </a:ext>
            </a:extLst>
          </p:cNvPr>
          <p:cNvSpPr>
            <a:spLocks noGrp="1"/>
          </p:cNvSpPr>
          <p:nvPr>
            <p:ph type="title" idx="1"/>
          </p:nvPr>
        </p:nvSpPr>
        <p:spPr/>
        <p:txBody>
          <a:bodyPr/>
          <a:lstStyle/>
          <a:p>
            <a:r>
              <a:rPr lang="en-US" dirty="0"/>
              <a:t>Overview of fine-tuning LLMs</a:t>
            </a:r>
          </a:p>
        </p:txBody>
      </p:sp>
      <p:sp>
        <p:nvSpPr>
          <p:cNvPr id="4" name="Content Placeholder 3">
            <a:extLst>
              <a:ext uri="{FF2B5EF4-FFF2-40B4-BE49-F238E27FC236}">
                <a16:creationId xmlns:a16="http://schemas.microsoft.com/office/drawing/2014/main" id="{2CEE832F-DC5B-742B-6448-D36C75907826}"/>
              </a:ext>
            </a:extLst>
          </p:cNvPr>
          <p:cNvSpPr>
            <a:spLocks noGrp="1"/>
          </p:cNvSpPr>
          <p:nvPr>
            <p:ph idx="2"/>
          </p:nvPr>
        </p:nvSpPr>
        <p:spPr/>
        <p:txBody>
          <a:bodyPr/>
          <a:lstStyle/>
          <a:p>
            <a:r>
              <a:rPr lang="en-US" dirty="0"/>
              <a:t>Fine-tuning is a continuation of </a:t>
            </a:r>
            <a:r>
              <a:rPr lang="en-US" b="1" dirty="0">
                <a:solidFill>
                  <a:schemeClr val="accent6"/>
                </a:solidFill>
              </a:rPr>
              <a:t>pre-training</a:t>
            </a:r>
          </a:p>
          <a:p>
            <a:r>
              <a:rPr lang="en-US" dirty="0"/>
              <a:t>Fine-tuning requires supplementing pre-training with very </a:t>
            </a:r>
            <a:r>
              <a:rPr lang="en-US" b="1" dirty="0">
                <a:solidFill>
                  <a:schemeClr val="accent6"/>
                </a:solidFill>
              </a:rPr>
              <a:t>high-quality training data</a:t>
            </a:r>
          </a:p>
          <a:p>
            <a:r>
              <a:rPr lang="en-US" dirty="0"/>
              <a:t>Fine-tuning an LLM is </a:t>
            </a:r>
            <a:r>
              <a:rPr lang="en-US" b="1" dirty="0">
                <a:solidFill>
                  <a:schemeClr val="accent6"/>
                </a:solidFill>
              </a:rPr>
              <a:t>customizing</a:t>
            </a:r>
            <a:r>
              <a:rPr lang="en-US" dirty="0"/>
              <a:t> it to perform specialized tasks or to adapt to specific domains</a:t>
            </a:r>
          </a:p>
          <a:p>
            <a:r>
              <a:rPr lang="en-US" dirty="0"/>
              <a:t>Fine-tuning changes the model weights and </a:t>
            </a:r>
            <a:r>
              <a:rPr lang="en-US" dirty="0">
                <a:sym typeface="Wingdings" pitchFamily="2" charset="2"/>
              </a:rPr>
              <a:t>it</a:t>
            </a:r>
            <a:r>
              <a:rPr lang="en-US" dirty="0"/>
              <a:t> creates a </a:t>
            </a:r>
            <a:r>
              <a:rPr lang="en-US" b="1" dirty="0">
                <a:solidFill>
                  <a:schemeClr val="accent6"/>
                </a:solidFill>
              </a:rPr>
              <a:t>new model</a:t>
            </a:r>
          </a:p>
          <a:p>
            <a:endParaRPr lang="en-US" dirty="0"/>
          </a:p>
        </p:txBody>
      </p:sp>
    </p:spTree>
    <p:extLst>
      <p:ext uri="{BB962C8B-B14F-4D97-AF65-F5344CB8AC3E}">
        <p14:creationId xmlns:p14="http://schemas.microsoft.com/office/powerpoint/2010/main" val="3583613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F9CACD-87E5-7627-52E0-910B05646201}"/>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E38932BE-DE18-5D40-1336-0B6064444F2C}"/>
              </a:ext>
            </a:extLst>
          </p:cNvPr>
          <p:cNvSpPr>
            <a:spLocks noGrp="1"/>
          </p:cNvSpPr>
          <p:nvPr>
            <p:ph type="title" idx="1"/>
          </p:nvPr>
        </p:nvSpPr>
        <p:spPr/>
        <p:txBody>
          <a:bodyPr/>
          <a:lstStyle/>
          <a:p>
            <a:r>
              <a:rPr lang="en-US" dirty="0"/>
              <a:t>Strengths of fine-tuning</a:t>
            </a:r>
          </a:p>
        </p:txBody>
      </p:sp>
      <p:sp>
        <p:nvSpPr>
          <p:cNvPr id="4" name="Content Placeholder 3">
            <a:extLst>
              <a:ext uri="{FF2B5EF4-FFF2-40B4-BE49-F238E27FC236}">
                <a16:creationId xmlns:a16="http://schemas.microsoft.com/office/drawing/2014/main" id="{B469A8FE-AB2C-E079-6FF2-DAD41E1FCA09}"/>
              </a:ext>
            </a:extLst>
          </p:cNvPr>
          <p:cNvSpPr>
            <a:spLocks noGrp="1"/>
          </p:cNvSpPr>
          <p:nvPr>
            <p:ph idx="2"/>
          </p:nvPr>
        </p:nvSpPr>
        <p:spPr/>
        <p:txBody>
          <a:bodyPr/>
          <a:lstStyle/>
          <a:p>
            <a:pPr lvl="0"/>
            <a:r>
              <a:rPr lang="en-US" b="1" dirty="0">
                <a:solidFill>
                  <a:schemeClr val="accent6"/>
                </a:solidFill>
              </a:rPr>
              <a:t>Easy to use </a:t>
            </a:r>
            <a:r>
              <a:rPr lang="en-US" dirty="0"/>
              <a:t>Amazon Bedrock UX </a:t>
            </a:r>
          </a:p>
          <a:p>
            <a:pPr lvl="1"/>
            <a:r>
              <a:rPr lang="en-US" dirty="0"/>
              <a:t>No coding required</a:t>
            </a:r>
          </a:p>
          <a:p>
            <a:pPr lvl="1"/>
            <a:r>
              <a:rPr lang="en-US" dirty="0"/>
              <a:t>Upload CSV files to S3 and press buttons</a:t>
            </a:r>
          </a:p>
          <a:p>
            <a:pPr lvl="1"/>
            <a:r>
              <a:rPr lang="en-US" dirty="0"/>
              <a:t>Storage and inference managed by Amazon Bedrock</a:t>
            </a:r>
          </a:p>
          <a:p>
            <a:pPr lvl="1"/>
            <a:endParaRPr lang="en-US" sz="2000" dirty="0"/>
          </a:p>
          <a:p>
            <a:r>
              <a:rPr lang="en-US" dirty="0"/>
              <a:t>It only requires </a:t>
            </a:r>
            <a:r>
              <a:rPr lang="en-US" b="1" dirty="0">
                <a:solidFill>
                  <a:schemeClr val="accent6"/>
                </a:solidFill>
              </a:rPr>
              <a:t>few high-quality training examples </a:t>
            </a:r>
            <a:r>
              <a:rPr lang="en-US" dirty="0"/>
              <a:t>(~100 up to ~1,000). Fine-tuning dataset does not need to be huge, but it needs to be of very </a:t>
            </a:r>
            <a:r>
              <a:rPr lang="en-US" b="1" dirty="0">
                <a:solidFill>
                  <a:schemeClr val="accent6"/>
                </a:solidFill>
              </a:rPr>
              <a:t>high quality</a:t>
            </a:r>
            <a:r>
              <a:rPr lang="en-US" dirty="0"/>
              <a:t>.</a:t>
            </a:r>
          </a:p>
          <a:p>
            <a:pPr marL="0" indent="0">
              <a:buNone/>
            </a:pPr>
            <a:endParaRPr lang="en-US" sz="2400" dirty="0"/>
          </a:p>
          <a:p>
            <a:pPr lvl="0"/>
            <a:r>
              <a:rPr lang="en-US" dirty="0"/>
              <a:t>Good match for data that changes perhaps ~annually</a:t>
            </a:r>
          </a:p>
          <a:p>
            <a:endParaRPr lang="en-US" dirty="0"/>
          </a:p>
        </p:txBody>
      </p:sp>
      <p:pic>
        <p:nvPicPr>
          <p:cNvPr id="5" name="Graphic 4">
            <a:extLst>
              <a:ext uri="{FF2B5EF4-FFF2-40B4-BE49-F238E27FC236}">
                <a16:creationId xmlns:a16="http://schemas.microsoft.com/office/drawing/2014/main" id="{67F7C12F-F47D-4F9C-AB11-8F3C3BD230CE}"/>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6573" y="1607157"/>
            <a:ext cx="914400" cy="914400"/>
          </a:xfrm>
          <a:prstGeom prst="rect">
            <a:avLst/>
          </a:prstGeom>
        </p:spPr>
      </p:pic>
    </p:spTree>
    <p:extLst>
      <p:ext uri="{BB962C8B-B14F-4D97-AF65-F5344CB8AC3E}">
        <p14:creationId xmlns:p14="http://schemas.microsoft.com/office/powerpoint/2010/main" val="1776085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263618-0E31-A86E-6601-BF19454F57FA}"/>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59BBA572-E0BD-E5AE-105C-39E54064CE7C}"/>
              </a:ext>
            </a:extLst>
          </p:cNvPr>
          <p:cNvSpPr>
            <a:spLocks noGrp="1"/>
          </p:cNvSpPr>
          <p:nvPr>
            <p:ph type="title" idx="1"/>
          </p:nvPr>
        </p:nvSpPr>
        <p:spPr/>
        <p:txBody>
          <a:bodyPr/>
          <a:lstStyle/>
          <a:p>
            <a:r>
              <a:rPr lang="en-US" dirty="0"/>
              <a:t>Weaknesses of fine-tuning (1/2)</a:t>
            </a:r>
          </a:p>
        </p:txBody>
      </p:sp>
      <p:sp>
        <p:nvSpPr>
          <p:cNvPr id="4" name="Content Placeholder 3">
            <a:extLst>
              <a:ext uri="{FF2B5EF4-FFF2-40B4-BE49-F238E27FC236}">
                <a16:creationId xmlns:a16="http://schemas.microsoft.com/office/drawing/2014/main" id="{A350BA02-3E3C-19EC-5978-5E70059F3E87}"/>
              </a:ext>
            </a:extLst>
          </p:cNvPr>
          <p:cNvSpPr>
            <a:spLocks noGrp="1"/>
          </p:cNvSpPr>
          <p:nvPr>
            <p:ph idx="2"/>
          </p:nvPr>
        </p:nvSpPr>
        <p:spPr/>
        <p:txBody>
          <a:bodyPr/>
          <a:lstStyle/>
          <a:p>
            <a:pPr lvl="0"/>
            <a:r>
              <a:rPr lang="en-US" b="1" dirty="0">
                <a:solidFill>
                  <a:schemeClr val="accent6"/>
                </a:solidFill>
              </a:rPr>
              <a:t>Poor fit for fast-changing</a:t>
            </a:r>
            <a:r>
              <a:rPr lang="en-US" dirty="0">
                <a:solidFill>
                  <a:schemeClr val="accent6"/>
                </a:solidFill>
              </a:rPr>
              <a:t> </a:t>
            </a:r>
            <a:r>
              <a:rPr lang="en-US" dirty="0"/>
              <a:t>information on the timescale of ~days, weeks</a:t>
            </a:r>
          </a:p>
          <a:p>
            <a:pPr lvl="1"/>
            <a:r>
              <a:rPr lang="en-US" dirty="0"/>
              <a:t>Example: stock prices</a:t>
            </a:r>
          </a:p>
          <a:p>
            <a:pPr lvl="1"/>
            <a:endParaRPr lang="en-US" sz="2800" dirty="0"/>
          </a:p>
          <a:p>
            <a:pPr lvl="0"/>
            <a:r>
              <a:rPr lang="en-US" dirty="0"/>
              <a:t>Poor fit for improving performance on weaknesses like math</a:t>
            </a:r>
          </a:p>
          <a:p>
            <a:pPr lvl="1"/>
            <a:r>
              <a:rPr lang="en-US" dirty="0"/>
              <a:t>One </a:t>
            </a:r>
            <a:r>
              <a:rPr lang="en-US" b="1" dirty="0">
                <a:solidFill>
                  <a:schemeClr val="accent6"/>
                </a:solidFill>
              </a:rPr>
              <a:t>cannot fix fundamental limitations </a:t>
            </a:r>
            <a:r>
              <a:rPr lang="en-US" dirty="0"/>
              <a:t>of LLMs with fine-tuning</a:t>
            </a:r>
            <a:br>
              <a:rPr lang="en-US" sz="2000" dirty="0"/>
            </a:br>
            <a:endParaRPr lang="en-US" sz="2000" dirty="0"/>
          </a:p>
          <a:p>
            <a:endParaRPr lang="en-US" dirty="0"/>
          </a:p>
        </p:txBody>
      </p:sp>
      <p:pic>
        <p:nvPicPr>
          <p:cNvPr id="5" name="Graphic 4">
            <a:extLst>
              <a:ext uri="{FF2B5EF4-FFF2-40B4-BE49-F238E27FC236}">
                <a16:creationId xmlns:a16="http://schemas.microsoft.com/office/drawing/2014/main" id="{4F3FCD5C-96B8-2FA3-D62B-634598DE2C1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6573" y="1577660"/>
            <a:ext cx="914400" cy="914400"/>
          </a:xfrm>
          <a:prstGeom prst="rect">
            <a:avLst/>
          </a:prstGeom>
        </p:spPr>
      </p:pic>
    </p:spTree>
    <p:extLst>
      <p:ext uri="{BB962C8B-B14F-4D97-AF65-F5344CB8AC3E}">
        <p14:creationId xmlns:p14="http://schemas.microsoft.com/office/powerpoint/2010/main" val="348818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4EF7D-45C1-F040-E7B1-C65F3F967C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5A5E8D-C298-7082-F91A-29761DB641F3}"/>
              </a:ext>
            </a:extLst>
          </p:cNvPr>
          <p:cNvSpPr>
            <a:spLocks noGrp="1"/>
          </p:cNvSpPr>
          <p:nvPr>
            <p:ph type="sldNum" idx="97"/>
          </p:nvPr>
        </p:nvSpPr>
        <p:spPr/>
        <p:txBody>
          <a:bodyPr/>
          <a:lstStyle/>
          <a:p>
            <a:fld id="{86A8BF56-6CB3-514C-9A64-F39D95C9E25B}" type="slidenum">
              <a:rPr lang="en-US" smtClean="0"/>
              <a:t>11</a:t>
            </a:fld>
            <a:endParaRPr lang="en-US"/>
          </a:p>
        </p:txBody>
      </p:sp>
      <p:sp>
        <p:nvSpPr>
          <p:cNvPr id="3" name="Title 2">
            <a:extLst>
              <a:ext uri="{FF2B5EF4-FFF2-40B4-BE49-F238E27FC236}">
                <a16:creationId xmlns:a16="http://schemas.microsoft.com/office/drawing/2014/main" id="{90A34E32-E32C-F6E4-3F28-8C7EC86ED939}"/>
              </a:ext>
            </a:extLst>
          </p:cNvPr>
          <p:cNvSpPr>
            <a:spLocks noGrp="1"/>
          </p:cNvSpPr>
          <p:nvPr>
            <p:ph type="title" idx="1"/>
          </p:nvPr>
        </p:nvSpPr>
        <p:spPr/>
        <p:txBody>
          <a:bodyPr/>
          <a:lstStyle/>
          <a:p>
            <a:r>
              <a:rPr lang="en-US" dirty="0"/>
              <a:t>Weaknesses of fine-tuning (2/2)</a:t>
            </a:r>
          </a:p>
        </p:txBody>
      </p:sp>
      <p:sp>
        <p:nvSpPr>
          <p:cNvPr id="4" name="Content Placeholder 3">
            <a:extLst>
              <a:ext uri="{FF2B5EF4-FFF2-40B4-BE49-F238E27FC236}">
                <a16:creationId xmlns:a16="http://schemas.microsoft.com/office/drawing/2014/main" id="{CEDC607D-95E7-F8A2-A279-61095EE671F7}"/>
              </a:ext>
            </a:extLst>
          </p:cNvPr>
          <p:cNvSpPr>
            <a:spLocks noGrp="1"/>
          </p:cNvSpPr>
          <p:nvPr>
            <p:ph idx="2"/>
          </p:nvPr>
        </p:nvSpPr>
        <p:spPr/>
        <p:txBody>
          <a:bodyPr/>
          <a:lstStyle/>
          <a:p>
            <a:pPr lvl="0"/>
            <a:r>
              <a:rPr lang="en-US" dirty="0"/>
              <a:t>Imposes </a:t>
            </a:r>
            <a:r>
              <a:rPr lang="en-US" b="1" dirty="0">
                <a:solidFill>
                  <a:schemeClr val="accent6"/>
                </a:solidFill>
              </a:rPr>
              <a:t>maintenance</a:t>
            </a:r>
            <a:r>
              <a:rPr lang="en-US" dirty="0"/>
              <a:t> burden on teams</a:t>
            </a:r>
          </a:p>
          <a:p>
            <a:pPr lvl="1"/>
            <a:r>
              <a:rPr lang="en-US" dirty="0"/>
              <a:t>Update fine-tuning training data when outdated or irrelevant</a:t>
            </a:r>
          </a:p>
          <a:p>
            <a:pPr lvl="1"/>
            <a:r>
              <a:rPr lang="en-US" dirty="0"/>
              <a:t>Parent model changes may force you to re-fine-tune on short notice</a:t>
            </a:r>
          </a:p>
          <a:p>
            <a:pPr marL="344488" lvl="1" indent="0">
              <a:buNone/>
            </a:pPr>
            <a:endParaRPr lang="en-US" dirty="0"/>
          </a:p>
          <a:p>
            <a:pPr lvl="0"/>
            <a:r>
              <a:rPr lang="en-US" dirty="0"/>
              <a:t>May </a:t>
            </a:r>
            <a:r>
              <a:rPr lang="en-US" b="1" dirty="0">
                <a:solidFill>
                  <a:schemeClr val="accent6"/>
                </a:solidFill>
              </a:rPr>
              <a:t>impact Responsible AI</a:t>
            </a:r>
            <a:r>
              <a:rPr lang="en-US" dirty="0">
                <a:solidFill>
                  <a:schemeClr val="accent6"/>
                </a:solidFill>
              </a:rPr>
              <a:t> </a:t>
            </a:r>
            <a:r>
              <a:rPr lang="en-US" dirty="0"/>
              <a:t>mitigations</a:t>
            </a:r>
          </a:p>
          <a:p>
            <a:pPr lvl="1"/>
            <a:r>
              <a:rPr lang="en-US" dirty="0"/>
              <a:t>Fine-tuned models might perform worse in terms of safety, privacy than baseline models</a:t>
            </a:r>
          </a:p>
          <a:p>
            <a:pPr lvl="1"/>
            <a:r>
              <a:rPr lang="en-US" dirty="0"/>
              <a:t>You need to re-evaluate performance after fine-tuning and check for model drift</a:t>
            </a:r>
            <a:br>
              <a:rPr lang="en-US" sz="2000" dirty="0"/>
            </a:br>
            <a:endParaRPr lang="en-US" sz="2000" dirty="0"/>
          </a:p>
        </p:txBody>
      </p:sp>
      <p:pic>
        <p:nvPicPr>
          <p:cNvPr id="5" name="Graphic 4">
            <a:extLst>
              <a:ext uri="{FF2B5EF4-FFF2-40B4-BE49-F238E27FC236}">
                <a16:creationId xmlns:a16="http://schemas.microsoft.com/office/drawing/2014/main" id="{454BC799-EE76-2C00-BC0A-E58D20C9A9E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6573" y="1577660"/>
            <a:ext cx="914400" cy="914400"/>
          </a:xfrm>
          <a:prstGeom prst="rect">
            <a:avLst/>
          </a:prstGeom>
        </p:spPr>
      </p:pic>
    </p:spTree>
    <p:extLst>
      <p:ext uri="{BB962C8B-B14F-4D97-AF65-F5344CB8AC3E}">
        <p14:creationId xmlns:p14="http://schemas.microsoft.com/office/powerpoint/2010/main" val="4015567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12</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a:t>Retrieval Augmented Generation (RAG)</a:t>
            </a:r>
          </a:p>
        </p:txBody>
      </p:sp>
    </p:spTree>
    <p:extLst>
      <p:ext uri="{BB962C8B-B14F-4D97-AF65-F5344CB8AC3E}">
        <p14:creationId xmlns:p14="http://schemas.microsoft.com/office/powerpoint/2010/main" val="365984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544C5-A0E9-5E6C-F64F-0BA72A2C7C7B}"/>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E4C2DD86-DFE9-8F94-379F-78C8759DEE34}"/>
              </a:ext>
            </a:extLst>
          </p:cNvPr>
          <p:cNvSpPr>
            <a:spLocks noGrp="1"/>
          </p:cNvSpPr>
          <p:nvPr>
            <p:ph type="title" idx="1"/>
          </p:nvPr>
        </p:nvSpPr>
        <p:spPr/>
        <p:txBody>
          <a:bodyPr/>
          <a:lstStyle/>
          <a:p>
            <a:r>
              <a:rPr lang="en-DE"/>
              <a:t>Retrieval augmented generatio</a:t>
            </a:r>
            <a:r>
              <a:rPr lang="en-US"/>
              <a:t>n: </a:t>
            </a:r>
            <a:r>
              <a:rPr lang="en-US" dirty="0"/>
              <a:t>Overview</a:t>
            </a:r>
          </a:p>
        </p:txBody>
      </p:sp>
      <p:sp>
        <p:nvSpPr>
          <p:cNvPr id="4" name="Content Placeholder 3">
            <a:extLst>
              <a:ext uri="{FF2B5EF4-FFF2-40B4-BE49-F238E27FC236}">
                <a16:creationId xmlns:a16="http://schemas.microsoft.com/office/drawing/2014/main" id="{45CDF743-6559-2753-0FF9-B13F5317697C}"/>
              </a:ext>
            </a:extLst>
          </p:cNvPr>
          <p:cNvSpPr>
            <a:spLocks noGrp="1"/>
          </p:cNvSpPr>
          <p:nvPr>
            <p:ph idx="2"/>
          </p:nvPr>
        </p:nvSpPr>
        <p:spPr/>
        <p:txBody>
          <a:bodyPr/>
          <a:lstStyle/>
          <a:p>
            <a:r>
              <a:rPr lang="en-US" sz="3600" b="1" dirty="0">
                <a:solidFill>
                  <a:schemeClr val="accent6"/>
                </a:solidFill>
                <a:latin typeface="+mj-lt"/>
              </a:rPr>
              <a:t>In-context learning</a:t>
            </a:r>
            <a:r>
              <a:rPr lang="en-US" sz="3600" dirty="0">
                <a:solidFill>
                  <a:schemeClr val="accent6"/>
                </a:solidFill>
                <a:latin typeface="+mj-lt"/>
              </a:rPr>
              <a:t> </a:t>
            </a:r>
            <a:r>
              <a:rPr lang="en-US" sz="3600" dirty="0"/>
              <a:t>technique</a:t>
            </a:r>
          </a:p>
          <a:p>
            <a:pPr lvl="1"/>
            <a:r>
              <a:rPr lang="en-US" sz="3200" dirty="0"/>
              <a:t>Provide knowledge to LLMs beyond that acquired during training</a:t>
            </a:r>
          </a:p>
          <a:p>
            <a:pPr lvl="1"/>
            <a:r>
              <a:rPr lang="en-US" sz="3200" dirty="0"/>
              <a:t>No training or fine-tuning</a:t>
            </a:r>
          </a:p>
          <a:p>
            <a:pPr lvl="1"/>
            <a:endParaRPr lang="en-US" dirty="0"/>
          </a:p>
          <a:p>
            <a:endParaRPr lang="en-US" dirty="0"/>
          </a:p>
        </p:txBody>
      </p:sp>
    </p:spTree>
    <p:extLst>
      <p:ext uri="{BB962C8B-B14F-4D97-AF65-F5344CB8AC3E}">
        <p14:creationId xmlns:p14="http://schemas.microsoft.com/office/powerpoint/2010/main" val="3811434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95D066-3B4B-4572-D871-A53174740096}"/>
              </a:ext>
            </a:extLst>
          </p:cNvPr>
          <p:cNvSpPr>
            <a:spLocks noGrp="1"/>
          </p:cNvSpPr>
          <p:nvPr>
            <p:ph type="sldNum" idx="97"/>
          </p:nvPr>
        </p:nvSpPr>
        <p:spPr/>
        <p:txBody>
          <a:bodyPr/>
          <a:lstStyle/>
          <a:p>
            <a:fld id="{86A8BF56-6CB3-514C-9A64-F39D95C9E25B}" type="slidenum">
              <a:rPr lang="en-US" smtClean="0"/>
              <a:t>14</a:t>
            </a:fld>
            <a:endParaRPr lang="en-US"/>
          </a:p>
        </p:txBody>
      </p:sp>
      <p:sp>
        <p:nvSpPr>
          <p:cNvPr id="3" name="Title 2">
            <a:extLst>
              <a:ext uri="{FF2B5EF4-FFF2-40B4-BE49-F238E27FC236}">
                <a16:creationId xmlns:a16="http://schemas.microsoft.com/office/drawing/2014/main" id="{2077101F-E14C-28EF-D70F-87F7D2108BDB}"/>
              </a:ext>
            </a:extLst>
          </p:cNvPr>
          <p:cNvSpPr>
            <a:spLocks noGrp="1"/>
          </p:cNvSpPr>
          <p:nvPr>
            <p:ph type="title" idx="1"/>
          </p:nvPr>
        </p:nvSpPr>
        <p:spPr/>
        <p:txBody>
          <a:bodyPr/>
          <a:lstStyle/>
          <a:p>
            <a:r>
              <a:rPr lang="en-DE"/>
              <a:t>Retrieval augmented generation</a:t>
            </a:r>
            <a:r>
              <a:rPr lang="en-IE" dirty="0"/>
              <a:t>: Steps</a:t>
            </a:r>
            <a:endParaRPr lang="en-US" dirty="0"/>
          </a:p>
        </p:txBody>
      </p:sp>
      <p:sp>
        <p:nvSpPr>
          <p:cNvPr id="4" name="Content Placeholder 3">
            <a:extLst>
              <a:ext uri="{FF2B5EF4-FFF2-40B4-BE49-F238E27FC236}">
                <a16:creationId xmlns:a16="http://schemas.microsoft.com/office/drawing/2014/main" id="{CE2D7EEF-4A5F-C3AE-E79D-9F16829B1B3B}"/>
              </a:ext>
            </a:extLst>
          </p:cNvPr>
          <p:cNvSpPr>
            <a:spLocks noGrp="1"/>
          </p:cNvSpPr>
          <p:nvPr>
            <p:ph idx="2"/>
          </p:nvPr>
        </p:nvSpPr>
        <p:spPr/>
        <p:txBody>
          <a:bodyPr/>
          <a:lstStyle/>
          <a:p>
            <a:r>
              <a:rPr lang="en-US" dirty="0"/>
              <a:t>Three steps:</a:t>
            </a:r>
          </a:p>
          <a:p>
            <a:pPr marL="801688" lvl="1" indent="-457200">
              <a:buFont typeface="+mj-lt"/>
              <a:buAutoNum type="arabicPeriod"/>
            </a:pPr>
            <a:r>
              <a:rPr lang="en-US" b="1" u="sng" dirty="0">
                <a:solidFill>
                  <a:schemeClr val="accent6"/>
                </a:solidFill>
                <a:latin typeface="+mn-lt"/>
              </a:rPr>
              <a:t>R</a:t>
            </a:r>
            <a:r>
              <a:rPr lang="en-US" b="1" dirty="0">
                <a:solidFill>
                  <a:schemeClr val="accent6"/>
                </a:solidFill>
                <a:latin typeface="+mn-lt"/>
              </a:rPr>
              <a:t>etrieve</a:t>
            </a:r>
            <a:r>
              <a:rPr lang="en-US" dirty="0">
                <a:latin typeface="+mn-lt"/>
              </a:rPr>
              <a:t> data from an external source</a:t>
            </a:r>
          </a:p>
          <a:p>
            <a:pPr marL="801688" lvl="1" indent="-457200">
              <a:buFont typeface="+mj-lt"/>
              <a:buAutoNum type="arabicPeriod"/>
            </a:pPr>
            <a:r>
              <a:rPr lang="en-US" b="1" u="sng" dirty="0">
                <a:solidFill>
                  <a:schemeClr val="accent6"/>
                </a:solidFill>
                <a:latin typeface="+mn-lt"/>
              </a:rPr>
              <a:t>A</a:t>
            </a:r>
            <a:r>
              <a:rPr lang="en-US" b="1" dirty="0">
                <a:solidFill>
                  <a:schemeClr val="accent6"/>
                </a:solidFill>
                <a:latin typeface="+mn-lt"/>
              </a:rPr>
              <a:t>ugment</a:t>
            </a:r>
            <a:r>
              <a:rPr lang="en-US" dirty="0">
                <a:latin typeface="+mn-lt"/>
              </a:rPr>
              <a:t> the context of the prompt with retrieved data</a:t>
            </a:r>
          </a:p>
          <a:p>
            <a:pPr marL="801688" lvl="1" indent="-457200">
              <a:buFont typeface="+mj-lt"/>
              <a:buAutoNum type="arabicPeriod"/>
            </a:pPr>
            <a:r>
              <a:rPr lang="en-US" b="1" u="sng" dirty="0">
                <a:solidFill>
                  <a:schemeClr val="accent6"/>
                </a:solidFill>
                <a:latin typeface="+mn-lt"/>
              </a:rPr>
              <a:t>G</a:t>
            </a:r>
            <a:r>
              <a:rPr lang="en-US" b="1" dirty="0">
                <a:solidFill>
                  <a:schemeClr val="accent6"/>
                </a:solidFill>
                <a:latin typeface="+mn-lt"/>
              </a:rPr>
              <a:t>enerate</a:t>
            </a:r>
            <a:r>
              <a:rPr lang="en-US" dirty="0">
                <a:latin typeface="+mn-lt"/>
              </a:rPr>
              <a:t> response with LLM, based on the prompt and retrieved data</a:t>
            </a:r>
          </a:p>
          <a:p>
            <a:pPr marL="344488" lvl="1" indent="0">
              <a:buNone/>
            </a:pPr>
            <a:endParaRPr lang="en-US" dirty="0"/>
          </a:p>
          <a:p>
            <a:r>
              <a:rPr lang="en-US" dirty="0"/>
              <a:t>The data may come from different sources:</a:t>
            </a:r>
          </a:p>
          <a:p>
            <a:pPr lvl="1"/>
            <a:r>
              <a:rPr lang="en-US" dirty="0"/>
              <a:t>Internal documents</a:t>
            </a:r>
          </a:p>
          <a:p>
            <a:pPr lvl="1"/>
            <a:r>
              <a:rPr lang="en-US" dirty="0"/>
              <a:t>Logs</a:t>
            </a:r>
          </a:p>
          <a:p>
            <a:pPr lvl="1"/>
            <a:r>
              <a:rPr lang="en-US" dirty="0"/>
              <a:t>Company policies…</a:t>
            </a:r>
            <a:endParaRPr lang="en-DE"/>
          </a:p>
          <a:p>
            <a:endParaRPr lang="en-US" dirty="0"/>
          </a:p>
        </p:txBody>
      </p:sp>
    </p:spTree>
    <p:extLst>
      <p:ext uri="{BB962C8B-B14F-4D97-AF65-F5344CB8AC3E}">
        <p14:creationId xmlns:p14="http://schemas.microsoft.com/office/powerpoint/2010/main" val="93745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3B62ED-E129-639C-331A-8C9B56E7CC29}"/>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650D9920-0738-6224-A7D0-EBED8549C703}"/>
              </a:ext>
            </a:extLst>
          </p:cNvPr>
          <p:cNvSpPr>
            <a:spLocks noGrp="1"/>
          </p:cNvSpPr>
          <p:nvPr>
            <p:ph type="title" idx="1"/>
          </p:nvPr>
        </p:nvSpPr>
        <p:spPr/>
        <p:txBody>
          <a:bodyPr/>
          <a:lstStyle/>
          <a:p>
            <a:r>
              <a:rPr lang="en-US" dirty="0"/>
              <a:t>Fine-tuning vs RAG</a:t>
            </a:r>
          </a:p>
        </p:txBody>
      </p:sp>
      <p:sp>
        <p:nvSpPr>
          <p:cNvPr id="4" name="Content Placeholder 3">
            <a:extLst>
              <a:ext uri="{FF2B5EF4-FFF2-40B4-BE49-F238E27FC236}">
                <a16:creationId xmlns:a16="http://schemas.microsoft.com/office/drawing/2014/main" id="{08E24DEB-EED3-00CC-C733-5AB736EAA24F}"/>
              </a:ext>
            </a:extLst>
          </p:cNvPr>
          <p:cNvSpPr>
            <a:spLocks noGrp="1"/>
          </p:cNvSpPr>
          <p:nvPr>
            <p:ph idx="2"/>
          </p:nvPr>
        </p:nvSpPr>
        <p:spPr>
          <a:xfrm>
            <a:off x="365760" y="1165536"/>
            <a:ext cx="11466576" cy="979523"/>
          </a:xfrm>
        </p:spPr>
        <p:txBody>
          <a:bodyPr/>
          <a:lstStyle/>
          <a:p>
            <a:r>
              <a:rPr lang="en-US" sz="2800" dirty="0"/>
              <a:t>While both techniques are suitable for </a:t>
            </a:r>
            <a:r>
              <a:rPr lang="en-US" sz="2800" dirty="0">
                <a:solidFill>
                  <a:schemeClr val="accent6"/>
                </a:solidFill>
                <a:latin typeface="+mj-lt"/>
              </a:rPr>
              <a:t>domain adaptation</a:t>
            </a:r>
            <a:r>
              <a:rPr lang="en-US" sz="2800" dirty="0"/>
              <a:t>, there are some key differences.</a:t>
            </a:r>
          </a:p>
          <a:p>
            <a:endParaRPr lang="en-US" dirty="0"/>
          </a:p>
        </p:txBody>
      </p:sp>
      <p:graphicFrame>
        <p:nvGraphicFramePr>
          <p:cNvPr id="5" name="Table 8">
            <a:extLst>
              <a:ext uri="{FF2B5EF4-FFF2-40B4-BE49-F238E27FC236}">
                <a16:creationId xmlns:a16="http://schemas.microsoft.com/office/drawing/2014/main" id="{65DEA58B-3630-AC98-3C9B-92680701055F}"/>
              </a:ext>
            </a:extLst>
          </p:cNvPr>
          <p:cNvGraphicFramePr>
            <a:graphicFrameLocks noGrp="1"/>
          </p:cNvGraphicFramePr>
          <p:nvPr>
            <p:extLst>
              <p:ext uri="{D42A27DB-BD31-4B8C-83A1-F6EECF244321}">
                <p14:modId xmlns:p14="http://schemas.microsoft.com/office/powerpoint/2010/main" val="3751902738"/>
              </p:ext>
            </p:extLst>
          </p:nvPr>
        </p:nvGraphicFramePr>
        <p:xfrm>
          <a:off x="451530" y="2560329"/>
          <a:ext cx="11321816" cy="3807502"/>
        </p:xfrm>
        <a:graphic>
          <a:graphicData uri="http://schemas.openxmlformats.org/drawingml/2006/table">
            <a:tbl>
              <a:tblPr firstRow="1" firstCol="1" bandRow="1"/>
              <a:tblGrid>
                <a:gridCol w="2908790">
                  <a:extLst>
                    <a:ext uri="{9D8B030D-6E8A-4147-A177-3AD203B41FA5}">
                      <a16:colId xmlns:a16="http://schemas.microsoft.com/office/drawing/2014/main" val="1590664803"/>
                    </a:ext>
                  </a:extLst>
                </a:gridCol>
                <a:gridCol w="4639087">
                  <a:extLst>
                    <a:ext uri="{9D8B030D-6E8A-4147-A177-3AD203B41FA5}">
                      <a16:colId xmlns:a16="http://schemas.microsoft.com/office/drawing/2014/main" val="916910793"/>
                    </a:ext>
                  </a:extLst>
                </a:gridCol>
                <a:gridCol w="3773939">
                  <a:extLst>
                    <a:ext uri="{9D8B030D-6E8A-4147-A177-3AD203B41FA5}">
                      <a16:colId xmlns:a16="http://schemas.microsoft.com/office/drawing/2014/main" val="3130521108"/>
                    </a:ext>
                  </a:extLst>
                </a:gridCol>
              </a:tblGrid>
              <a:tr h="433959">
                <a:tc>
                  <a:txBody>
                    <a:bodyPr/>
                    <a:lstStyle>
                      <a:lvl1pPr marL="0" algn="l" defTabSz="914400" rtl="0" eaLnBrk="1" latinLnBrk="0" hangingPunct="1">
                        <a:defRPr sz="1800" b="1" kern="1200">
                          <a:solidFill>
                            <a:schemeClr val="lt1"/>
                          </a:solidFill>
                          <a:latin typeface="Amazon Ember Light"/>
                        </a:defRPr>
                      </a:lvl1pPr>
                      <a:lvl2pPr marL="457200" algn="l" defTabSz="914400" rtl="0" eaLnBrk="1" latinLnBrk="0" hangingPunct="1">
                        <a:defRPr sz="1800" b="1" kern="1200">
                          <a:solidFill>
                            <a:schemeClr val="lt1"/>
                          </a:solidFill>
                          <a:latin typeface="Amazon Ember Light"/>
                        </a:defRPr>
                      </a:lvl2pPr>
                      <a:lvl3pPr marL="914400" algn="l" defTabSz="914400" rtl="0" eaLnBrk="1" latinLnBrk="0" hangingPunct="1">
                        <a:defRPr sz="1800" b="1" kern="1200">
                          <a:solidFill>
                            <a:schemeClr val="lt1"/>
                          </a:solidFill>
                          <a:latin typeface="Amazon Ember Light"/>
                        </a:defRPr>
                      </a:lvl3pPr>
                      <a:lvl4pPr marL="1371600" algn="l" defTabSz="914400" rtl="0" eaLnBrk="1" latinLnBrk="0" hangingPunct="1">
                        <a:defRPr sz="1800" b="1" kern="1200">
                          <a:solidFill>
                            <a:schemeClr val="lt1"/>
                          </a:solidFill>
                          <a:latin typeface="Amazon Ember Light"/>
                        </a:defRPr>
                      </a:lvl4pPr>
                      <a:lvl5pPr marL="1828800" algn="l" defTabSz="914400" rtl="0" eaLnBrk="1" latinLnBrk="0" hangingPunct="1">
                        <a:defRPr sz="1800" b="1" kern="1200">
                          <a:solidFill>
                            <a:schemeClr val="lt1"/>
                          </a:solidFill>
                          <a:latin typeface="Amazon Ember Light"/>
                        </a:defRPr>
                      </a:lvl5pPr>
                      <a:lvl6pPr marL="2286000" algn="l" defTabSz="914400" rtl="0" eaLnBrk="1" latinLnBrk="0" hangingPunct="1">
                        <a:defRPr sz="1800" b="1" kern="1200">
                          <a:solidFill>
                            <a:schemeClr val="lt1"/>
                          </a:solidFill>
                          <a:latin typeface="Amazon Ember Light"/>
                        </a:defRPr>
                      </a:lvl6pPr>
                      <a:lvl7pPr marL="2743200" algn="l" defTabSz="914400" rtl="0" eaLnBrk="1" latinLnBrk="0" hangingPunct="1">
                        <a:defRPr sz="1800" b="1" kern="1200">
                          <a:solidFill>
                            <a:schemeClr val="lt1"/>
                          </a:solidFill>
                          <a:latin typeface="Amazon Ember Light"/>
                        </a:defRPr>
                      </a:lvl7pPr>
                      <a:lvl8pPr marL="3200400" algn="l" defTabSz="914400" rtl="0" eaLnBrk="1" latinLnBrk="0" hangingPunct="1">
                        <a:defRPr sz="1800" b="1" kern="1200">
                          <a:solidFill>
                            <a:schemeClr val="lt1"/>
                          </a:solidFill>
                          <a:latin typeface="Amazon Ember Light"/>
                        </a:defRPr>
                      </a:lvl8pPr>
                      <a:lvl9pPr marL="3657600" algn="l" defTabSz="914400" rtl="0" eaLnBrk="1" latinLnBrk="0" hangingPunct="1">
                        <a:defRPr sz="1800" b="1" kern="1200">
                          <a:solidFill>
                            <a:schemeClr val="lt1"/>
                          </a:solidFill>
                          <a:latin typeface="Amazon Ember Light"/>
                        </a:defRPr>
                      </a:lvl9pPr>
                    </a:lstStyle>
                    <a:p>
                      <a:endParaRPr lang="en-DE" dirty="0">
                        <a:latin typeface="+mj-lt"/>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F2A5D"/>
                    </a:solidFill>
                  </a:tcPr>
                </a:tc>
                <a:tc>
                  <a:txBody>
                    <a:bodyPr/>
                    <a:lstStyle>
                      <a:lvl1pPr marL="0" algn="l" defTabSz="914400" rtl="0" eaLnBrk="1" latinLnBrk="0" hangingPunct="1">
                        <a:defRPr sz="1800" b="1" kern="1200">
                          <a:solidFill>
                            <a:schemeClr val="lt1"/>
                          </a:solidFill>
                          <a:latin typeface="Amazon Ember Light"/>
                        </a:defRPr>
                      </a:lvl1pPr>
                      <a:lvl2pPr marL="457200" algn="l" defTabSz="914400" rtl="0" eaLnBrk="1" latinLnBrk="0" hangingPunct="1">
                        <a:defRPr sz="1800" b="1" kern="1200">
                          <a:solidFill>
                            <a:schemeClr val="lt1"/>
                          </a:solidFill>
                          <a:latin typeface="Amazon Ember Light"/>
                        </a:defRPr>
                      </a:lvl2pPr>
                      <a:lvl3pPr marL="914400" algn="l" defTabSz="914400" rtl="0" eaLnBrk="1" latinLnBrk="0" hangingPunct="1">
                        <a:defRPr sz="1800" b="1" kern="1200">
                          <a:solidFill>
                            <a:schemeClr val="lt1"/>
                          </a:solidFill>
                          <a:latin typeface="Amazon Ember Light"/>
                        </a:defRPr>
                      </a:lvl3pPr>
                      <a:lvl4pPr marL="1371600" algn="l" defTabSz="914400" rtl="0" eaLnBrk="1" latinLnBrk="0" hangingPunct="1">
                        <a:defRPr sz="1800" b="1" kern="1200">
                          <a:solidFill>
                            <a:schemeClr val="lt1"/>
                          </a:solidFill>
                          <a:latin typeface="Amazon Ember Light"/>
                        </a:defRPr>
                      </a:lvl4pPr>
                      <a:lvl5pPr marL="1828800" algn="l" defTabSz="914400" rtl="0" eaLnBrk="1" latinLnBrk="0" hangingPunct="1">
                        <a:defRPr sz="1800" b="1" kern="1200">
                          <a:solidFill>
                            <a:schemeClr val="lt1"/>
                          </a:solidFill>
                          <a:latin typeface="Amazon Ember Light"/>
                        </a:defRPr>
                      </a:lvl5pPr>
                      <a:lvl6pPr marL="2286000" algn="l" defTabSz="914400" rtl="0" eaLnBrk="1" latinLnBrk="0" hangingPunct="1">
                        <a:defRPr sz="1800" b="1" kern="1200">
                          <a:solidFill>
                            <a:schemeClr val="lt1"/>
                          </a:solidFill>
                          <a:latin typeface="Amazon Ember Light"/>
                        </a:defRPr>
                      </a:lvl6pPr>
                      <a:lvl7pPr marL="2743200" algn="l" defTabSz="914400" rtl="0" eaLnBrk="1" latinLnBrk="0" hangingPunct="1">
                        <a:defRPr sz="1800" b="1" kern="1200">
                          <a:solidFill>
                            <a:schemeClr val="lt1"/>
                          </a:solidFill>
                          <a:latin typeface="Amazon Ember Light"/>
                        </a:defRPr>
                      </a:lvl7pPr>
                      <a:lvl8pPr marL="3200400" algn="l" defTabSz="914400" rtl="0" eaLnBrk="1" latinLnBrk="0" hangingPunct="1">
                        <a:defRPr sz="1800" b="1" kern="1200">
                          <a:solidFill>
                            <a:schemeClr val="lt1"/>
                          </a:solidFill>
                          <a:latin typeface="Amazon Ember Light"/>
                        </a:defRPr>
                      </a:lvl8pPr>
                      <a:lvl9pPr marL="3657600" algn="l" defTabSz="914400" rtl="0" eaLnBrk="1" latinLnBrk="0" hangingPunct="1">
                        <a:defRPr sz="1800" b="1" kern="1200">
                          <a:solidFill>
                            <a:schemeClr val="lt1"/>
                          </a:solidFill>
                          <a:latin typeface="Amazon Ember Light"/>
                        </a:defRPr>
                      </a:lvl9pPr>
                    </a:lstStyle>
                    <a:p>
                      <a:pPr algn="ctr"/>
                      <a:r>
                        <a:rPr lang="en-DE" sz="2000" dirty="0">
                          <a:latin typeface="+mj-lt"/>
                        </a:rPr>
                        <a:t>Fine-tuning</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F2A5D"/>
                    </a:solidFill>
                  </a:tcPr>
                </a:tc>
                <a:tc>
                  <a:txBody>
                    <a:bodyPr/>
                    <a:lstStyle>
                      <a:lvl1pPr marL="0" algn="l" defTabSz="914400" rtl="0" eaLnBrk="1" latinLnBrk="0" hangingPunct="1">
                        <a:defRPr sz="1800" b="1" kern="1200">
                          <a:solidFill>
                            <a:schemeClr val="lt1"/>
                          </a:solidFill>
                          <a:latin typeface="Amazon Ember Light"/>
                        </a:defRPr>
                      </a:lvl1pPr>
                      <a:lvl2pPr marL="457200" algn="l" defTabSz="914400" rtl="0" eaLnBrk="1" latinLnBrk="0" hangingPunct="1">
                        <a:defRPr sz="1800" b="1" kern="1200">
                          <a:solidFill>
                            <a:schemeClr val="lt1"/>
                          </a:solidFill>
                          <a:latin typeface="Amazon Ember Light"/>
                        </a:defRPr>
                      </a:lvl2pPr>
                      <a:lvl3pPr marL="914400" algn="l" defTabSz="914400" rtl="0" eaLnBrk="1" latinLnBrk="0" hangingPunct="1">
                        <a:defRPr sz="1800" b="1" kern="1200">
                          <a:solidFill>
                            <a:schemeClr val="lt1"/>
                          </a:solidFill>
                          <a:latin typeface="Amazon Ember Light"/>
                        </a:defRPr>
                      </a:lvl3pPr>
                      <a:lvl4pPr marL="1371600" algn="l" defTabSz="914400" rtl="0" eaLnBrk="1" latinLnBrk="0" hangingPunct="1">
                        <a:defRPr sz="1800" b="1" kern="1200">
                          <a:solidFill>
                            <a:schemeClr val="lt1"/>
                          </a:solidFill>
                          <a:latin typeface="Amazon Ember Light"/>
                        </a:defRPr>
                      </a:lvl4pPr>
                      <a:lvl5pPr marL="1828800" algn="l" defTabSz="914400" rtl="0" eaLnBrk="1" latinLnBrk="0" hangingPunct="1">
                        <a:defRPr sz="1800" b="1" kern="1200">
                          <a:solidFill>
                            <a:schemeClr val="lt1"/>
                          </a:solidFill>
                          <a:latin typeface="Amazon Ember Light"/>
                        </a:defRPr>
                      </a:lvl5pPr>
                      <a:lvl6pPr marL="2286000" algn="l" defTabSz="914400" rtl="0" eaLnBrk="1" latinLnBrk="0" hangingPunct="1">
                        <a:defRPr sz="1800" b="1" kern="1200">
                          <a:solidFill>
                            <a:schemeClr val="lt1"/>
                          </a:solidFill>
                          <a:latin typeface="Amazon Ember Light"/>
                        </a:defRPr>
                      </a:lvl6pPr>
                      <a:lvl7pPr marL="2743200" algn="l" defTabSz="914400" rtl="0" eaLnBrk="1" latinLnBrk="0" hangingPunct="1">
                        <a:defRPr sz="1800" b="1" kern="1200">
                          <a:solidFill>
                            <a:schemeClr val="lt1"/>
                          </a:solidFill>
                          <a:latin typeface="Amazon Ember Light"/>
                        </a:defRPr>
                      </a:lvl7pPr>
                      <a:lvl8pPr marL="3200400" algn="l" defTabSz="914400" rtl="0" eaLnBrk="1" latinLnBrk="0" hangingPunct="1">
                        <a:defRPr sz="1800" b="1" kern="1200">
                          <a:solidFill>
                            <a:schemeClr val="lt1"/>
                          </a:solidFill>
                          <a:latin typeface="Amazon Ember Light"/>
                        </a:defRPr>
                      </a:lvl8pPr>
                      <a:lvl9pPr marL="3657600" algn="l" defTabSz="914400" rtl="0" eaLnBrk="1" latinLnBrk="0" hangingPunct="1">
                        <a:defRPr sz="1800" b="1" kern="1200">
                          <a:solidFill>
                            <a:schemeClr val="lt1"/>
                          </a:solidFill>
                          <a:latin typeface="Amazon Ember Light"/>
                        </a:defRPr>
                      </a:lvl9pPr>
                    </a:lstStyle>
                    <a:p>
                      <a:pPr algn="ctr"/>
                      <a:r>
                        <a:rPr lang="en-DE" sz="2000" dirty="0">
                          <a:latin typeface="+mj-lt"/>
                        </a:rPr>
                        <a:t>RAG</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F2A5D"/>
                    </a:solidFill>
                  </a:tcPr>
                </a:tc>
                <a:extLst>
                  <a:ext uri="{0D108BD9-81ED-4DB2-BD59-A6C34878D82A}">
                    <a16:rowId xmlns:a16="http://schemas.microsoft.com/office/drawing/2014/main" val="648446548"/>
                  </a:ext>
                </a:extLst>
              </a:tr>
              <a:tr h="749026">
                <a:tc>
                  <a:txBody>
                    <a:bodyPr/>
                    <a:lstStyle>
                      <a:lvl1pPr marL="0" algn="l" defTabSz="914400" rtl="0" eaLnBrk="1" latinLnBrk="0" hangingPunct="1">
                        <a:defRPr sz="1800" b="1" kern="1200">
                          <a:solidFill>
                            <a:schemeClr val="lt1"/>
                          </a:solidFill>
                          <a:latin typeface="Amazon Ember Light"/>
                        </a:defRPr>
                      </a:lvl1pPr>
                      <a:lvl2pPr marL="457200" algn="l" defTabSz="914400" rtl="0" eaLnBrk="1" latinLnBrk="0" hangingPunct="1">
                        <a:defRPr sz="1800" b="1" kern="1200">
                          <a:solidFill>
                            <a:schemeClr val="lt1"/>
                          </a:solidFill>
                          <a:latin typeface="Amazon Ember Light"/>
                        </a:defRPr>
                      </a:lvl2pPr>
                      <a:lvl3pPr marL="914400" algn="l" defTabSz="914400" rtl="0" eaLnBrk="1" latinLnBrk="0" hangingPunct="1">
                        <a:defRPr sz="1800" b="1" kern="1200">
                          <a:solidFill>
                            <a:schemeClr val="lt1"/>
                          </a:solidFill>
                          <a:latin typeface="Amazon Ember Light"/>
                        </a:defRPr>
                      </a:lvl3pPr>
                      <a:lvl4pPr marL="1371600" algn="l" defTabSz="914400" rtl="0" eaLnBrk="1" latinLnBrk="0" hangingPunct="1">
                        <a:defRPr sz="1800" b="1" kern="1200">
                          <a:solidFill>
                            <a:schemeClr val="lt1"/>
                          </a:solidFill>
                          <a:latin typeface="Amazon Ember Light"/>
                        </a:defRPr>
                      </a:lvl4pPr>
                      <a:lvl5pPr marL="1828800" algn="l" defTabSz="914400" rtl="0" eaLnBrk="1" latinLnBrk="0" hangingPunct="1">
                        <a:defRPr sz="1800" b="1" kern="1200">
                          <a:solidFill>
                            <a:schemeClr val="lt1"/>
                          </a:solidFill>
                          <a:latin typeface="Amazon Ember Light"/>
                        </a:defRPr>
                      </a:lvl5pPr>
                      <a:lvl6pPr marL="2286000" algn="l" defTabSz="914400" rtl="0" eaLnBrk="1" latinLnBrk="0" hangingPunct="1">
                        <a:defRPr sz="1800" b="1" kern="1200">
                          <a:solidFill>
                            <a:schemeClr val="lt1"/>
                          </a:solidFill>
                          <a:latin typeface="Amazon Ember Light"/>
                        </a:defRPr>
                      </a:lvl6pPr>
                      <a:lvl7pPr marL="2743200" algn="l" defTabSz="914400" rtl="0" eaLnBrk="1" latinLnBrk="0" hangingPunct="1">
                        <a:defRPr sz="1800" b="1" kern="1200">
                          <a:solidFill>
                            <a:schemeClr val="lt1"/>
                          </a:solidFill>
                          <a:latin typeface="Amazon Ember Light"/>
                        </a:defRPr>
                      </a:lvl7pPr>
                      <a:lvl8pPr marL="3200400" algn="l" defTabSz="914400" rtl="0" eaLnBrk="1" latinLnBrk="0" hangingPunct="1">
                        <a:defRPr sz="1800" b="1" kern="1200">
                          <a:solidFill>
                            <a:schemeClr val="lt1"/>
                          </a:solidFill>
                          <a:latin typeface="Amazon Ember Light"/>
                        </a:defRPr>
                      </a:lvl8pPr>
                      <a:lvl9pPr marL="3657600" algn="l" defTabSz="914400" rtl="0" eaLnBrk="1" latinLnBrk="0" hangingPunct="1">
                        <a:defRPr sz="1800" b="1" kern="1200">
                          <a:solidFill>
                            <a:schemeClr val="lt1"/>
                          </a:solidFill>
                          <a:latin typeface="Amazon Ember Light"/>
                        </a:defRPr>
                      </a:lvl9pPr>
                    </a:lstStyle>
                    <a:p>
                      <a:r>
                        <a:rPr lang="en-US" sz="2000" dirty="0">
                          <a:latin typeface="+mj-lt"/>
                        </a:rPr>
                        <a:t>Rationale</a:t>
                      </a:r>
                      <a:endParaRPr lang="en-DE" sz="2000"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DF2A5D"/>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dirty="0">
                          <a:latin typeface="+mj-lt"/>
                        </a:rPr>
                        <a:t>Create a task-specific LLM</a:t>
                      </a:r>
                      <a:endParaRPr lang="en-DE"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40000"/>
                      </a:srgbClr>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dirty="0">
                          <a:latin typeface="+mj-lt"/>
                        </a:rPr>
                        <a:t>Provide LLM with task-specific context</a:t>
                      </a:r>
                      <a:endParaRPr lang="en-DE" dirty="0">
                        <a:latin typeface="+mj-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40000"/>
                      </a:srgbClr>
                    </a:solidFill>
                  </a:tcPr>
                </a:tc>
                <a:extLst>
                  <a:ext uri="{0D108BD9-81ED-4DB2-BD59-A6C34878D82A}">
                    <a16:rowId xmlns:a16="http://schemas.microsoft.com/office/drawing/2014/main" val="303082514"/>
                  </a:ext>
                </a:extLst>
              </a:tr>
              <a:tr h="903435">
                <a:tc>
                  <a:txBody>
                    <a:bodyPr/>
                    <a:lstStyle>
                      <a:lvl1pPr marL="0" algn="l" defTabSz="914400" rtl="0" eaLnBrk="1" latinLnBrk="0" hangingPunct="1">
                        <a:defRPr sz="1800" b="1" kern="1200">
                          <a:solidFill>
                            <a:schemeClr val="lt1"/>
                          </a:solidFill>
                          <a:latin typeface="Amazon Ember Light"/>
                        </a:defRPr>
                      </a:lvl1pPr>
                      <a:lvl2pPr marL="457200" algn="l" defTabSz="914400" rtl="0" eaLnBrk="1" latinLnBrk="0" hangingPunct="1">
                        <a:defRPr sz="1800" b="1" kern="1200">
                          <a:solidFill>
                            <a:schemeClr val="lt1"/>
                          </a:solidFill>
                          <a:latin typeface="Amazon Ember Light"/>
                        </a:defRPr>
                      </a:lvl2pPr>
                      <a:lvl3pPr marL="914400" algn="l" defTabSz="914400" rtl="0" eaLnBrk="1" latinLnBrk="0" hangingPunct="1">
                        <a:defRPr sz="1800" b="1" kern="1200">
                          <a:solidFill>
                            <a:schemeClr val="lt1"/>
                          </a:solidFill>
                          <a:latin typeface="Amazon Ember Light"/>
                        </a:defRPr>
                      </a:lvl3pPr>
                      <a:lvl4pPr marL="1371600" algn="l" defTabSz="914400" rtl="0" eaLnBrk="1" latinLnBrk="0" hangingPunct="1">
                        <a:defRPr sz="1800" b="1" kern="1200">
                          <a:solidFill>
                            <a:schemeClr val="lt1"/>
                          </a:solidFill>
                          <a:latin typeface="Amazon Ember Light"/>
                        </a:defRPr>
                      </a:lvl4pPr>
                      <a:lvl5pPr marL="1828800" algn="l" defTabSz="914400" rtl="0" eaLnBrk="1" latinLnBrk="0" hangingPunct="1">
                        <a:defRPr sz="1800" b="1" kern="1200">
                          <a:solidFill>
                            <a:schemeClr val="lt1"/>
                          </a:solidFill>
                          <a:latin typeface="Amazon Ember Light"/>
                        </a:defRPr>
                      </a:lvl5pPr>
                      <a:lvl6pPr marL="2286000" algn="l" defTabSz="914400" rtl="0" eaLnBrk="1" latinLnBrk="0" hangingPunct="1">
                        <a:defRPr sz="1800" b="1" kern="1200">
                          <a:solidFill>
                            <a:schemeClr val="lt1"/>
                          </a:solidFill>
                          <a:latin typeface="Amazon Ember Light"/>
                        </a:defRPr>
                      </a:lvl6pPr>
                      <a:lvl7pPr marL="2743200" algn="l" defTabSz="914400" rtl="0" eaLnBrk="1" latinLnBrk="0" hangingPunct="1">
                        <a:defRPr sz="1800" b="1" kern="1200">
                          <a:solidFill>
                            <a:schemeClr val="lt1"/>
                          </a:solidFill>
                          <a:latin typeface="Amazon Ember Light"/>
                        </a:defRPr>
                      </a:lvl7pPr>
                      <a:lvl8pPr marL="3200400" algn="l" defTabSz="914400" rtl="0" eaLnBrk="1" latinLnBrk="0" hangingPunct="1">
                        <a:defRPr sz="1800" b="1" kern="1200">
                          <a:solidFill>
                            <a:schemeClr val="lt1"/>
                          </a:solidFill>
                          <a:latin typeface="Amazon Ember Light"/>
                        </a:defRPr>
                      </a:lvl8pPr>
                      <a:lvl9pPr marL="3657600" algn="l" defTabSz="914400" rtl="0" eaLnBrk="1" latinLnBrk="0" hangingPunct="1">
                        <a:defRPr sz="1800" b="1" kern="1200">
                          <a:solidFill>
                            <a:schemeClr val="lt1"/>
                          </a:solidFill>
                          <a:latin typeface="Amazon Ember Light"/>
                        </a:defRPr>
                      </a:lvl9pPr>
                    </a:lstStyle>
                    <a:p>
                      <a:r>
                        <a:rPr lang="en-US" sz="2000" dirty="0">
                          <a:latin typeface="+mj-lt"/>
                        </a:rPr>
                        <a:t>How to apply</a:t>
                      </a:r>
                      <a:endParaRPr lang="en-DE" sz="2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dirty="0">
                          <a:latin typeface="+mj-lt"/>
                        </a:rPr>
                        <a:t>Adapt the model weights for a task through gradient updates (training)</a:t>
                      </a:r>
                      <a:endParaRPr lang="en-DE" i="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20000"/>
                      </a:srgbClr>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dirty="0">
                          <a:latin typeface="+mj-lt"/>
                        </a:rPr>
                        <a:t>Retrieve relevant data from external sources while prompting</a:t>
                      </a:r>
                      <a:endParaRPr lang="en-DE" i="1"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20000"/>
                      </a:srgbClr>
                    </a:solidFill>
                  </a:tcPr>
                </a:tc>
                <a:extLst>
                  <a:ext uri="{0D108BD9-81ED-4DB2-BD59-A6C34878D82A}">
                    <a16:rowId xmlns:a16="http://schemas.microsoft.com/office/drawing/2014/main" val="1299204104"/>
                  </a:ext>
                </a:extLst>
              </a:tr>
              <a:tr h="632404">
                <a:tc>
                  <a:txBody>
                    <a:bodyPr/>
                    <a:lstStyle>
                      <a:lvl1pPr marL="0" algn="l" defTabSz="914400" rtl="0" eaLnBrk="1" latinLnBrk="0" hangingPunct="1">
                        <a:defRPr sz="1800" b="1" kern="1200">
                          <a:solidFill>
                            <a:schemeClr val="lt1"/>
                          </a:solidFill>
                          <a:latin typeface="Amazon Ember Light"/>
                        </a:defRPr>
                      </a:lvl1pPr>
                      <a:lvl2pPr marL="457200" algn="l" defTabSz="914400" rtl="0" eaLnBrk="1" latinLnBrk="0" hangingPunct="1">
                        <a:defRPr sz="1800" b="1" kern="1200">
                          <a:solidFill>
                            <a:schemeClr val="lt1"/>
                          </a:solidFill>
                          <a:latin typeface="Amazon Ember Light"/>
                        </a:defRPr>
                      </a:lvl2pPr>
                      <a:lvl3pPr marL="914400" algn="l" defTabSz="914400" rtl="0" eaLnBrk="1" latinLnBrk="0" hangingPunct="1">
                        <a:defRPr sz="1800" b="1" kern="1200">
                          <a:solidFill>
                            <a:schemeClr val="lt1"/>
                          </a:solidFill>
                          <a:latin typeface="Amazon Ember Light"/>
                        </a:defRPr>
                      </a:lvl3pPr>
                      <a:lvl4pPr marL="1371600" algn="l" defTabSz="914400" rtl="0" eaLnBrk="1" latinLnBrk="0" hangingPunct="1">
                        <a:defRPr sz="1800" b="1" kern="1200">
                          <a:solidFill>
                            <a:schemeClr val="lt1"/>
                          </a:solidFill>
                          <a:latin typeface="Amazon Ember Light"/>
                        </a:defRPr>
                      </a:lvl4pPr>
                      <a:lvl5pPr marL="1828800" algn="l" defTabSz="914400" rtl="0" eaLnBrk="1" latinLnBrk="0" hangingPunct="1">
                        <a:defRPr sz="1800" b="1" kern="1200">
                          <a:solidFill>
                            <a:schemeClr val="lt1"/>
                          </a:solidFill>
                          <a:latin typeface="Amazon Ember Light"/>
                        </a:defRPr>
                      </a:lvl5pPr>
                      <a:lvl6pPr marL="2286000" algn="l" defTabSz="914400" rtl="0" eaLnBrk="1" latinLnBrk="0" hangingPunct="1">
                        <a:defRPr sz="1800" b="1" kern="1200">
                          <a:solidFill>
                            <a:schemeClr val="lt1"/>
                          </a:solidFill>
                          <a:latin typeface="Amazon Ember Light"/>
                        </a:defRPr>
                      </a:lvl6pPr>
                      <a:lvl7pPr marL="2743200" algn="l" defTabSz="914400" rtl="0" eaLnBrk="1" latinLnBrk="0" hangingPunct="1">
                        <a:defRPr sz="1800" b="1" kern="1200">
                          <a:solidFill>
                            <a:schemeClr val="lt1"/>
                          </a:solidFill>
                          <a:latin typeface="Amazon Ember Light"/>
                        </a:defRPr>
                      </a:lvl7pPr>
                      <a:lvl8pPr marL="3200400" algn="l" defTabSz="914400" rtl="0" eaLnBrk="1" latinLnBrk="0" hangingPunct="1">
                        <a:defRPr sz="1800" b="1" kern="1200">
                          <a:solidFill>
                            <a:schemeClr val="lt1"/>
                          </a:solidFill>
                          <a:latin typeface="Amazon Ember Light"/>
                        </a:defRPr>
                      </a:lvl8pPr>
                      <a:lvl9pPr marL="3657600" algn="l" defTabSz="914400" rtl="0" eaLnBrk="1" latinLnBrk="0" hangingPunct="1">
                        <a:defRPr sz="1800" b="1" kern="1200">
                          <a:solidFill>
                            <a:schemeClr val="lt1"/>
                          </a:solidFill>
                          <a:latin typeface="Amazon Ember Light"/>
                        </a:defRPr>
                      </a:lvl9pPr>
                    </a:lstStyle>
                    <a:p>
                      <a:r>
                        <a:rPr lang="en-US" sz="2000" dirty="0">
                          <a:latin typeface="+mj-lt"/>
                        </a:rPr>
                        <a:t>Unique value</a:t>
                      </a:r>
                      <a:endParaRPr lang="en-DE" sz="200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dirty="0">
                          <a:latin typeface="+mj-lt"/>
                        </a:rPr>
                        <a:t>Want to retain knowledge within the model</a:t>
                      </a:r>
                      <a:endParaRPr lang="en-DE"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40000"/>
                      </a:srgbClr>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b="0" dirty="0">
                          <a:latin typeface="+mj-lt"/>
                        </a:rPr>
                        <a:t>Want to retrieve current or fluctuating data</a:t>
                      </a:r>
                      <a:endParaRPr lang="en-DE" b="0"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40000"/>
                      </a:srgbClr>
                    </a:solidFill>
                  </a:tcPr>
                </a:tc>
                <a:extLst>
                  <a:ext uri="{0D108BD9-81ED-4DB2-BD59-A6C34878D82A}">
                    <a16:rowId xmlns:a16="http://schemas.microsoft.com/office/drawing/2014/main" val="568126510"/>
                  </a:ext>
                </a:extLst>
              </a:tr>
              <a:tr h="1070037">
                <a:tc>
                  <a:txBody>
                    <a:bodyPr/>
                    <a:lstStyle>
                      <a:lvl1pPr marL="0" algn="l" defTabSz="914400" rtl="0" eaLnBrk="1" latinLnBrk="0" hangingPunct="1">
                        <a:defRPr sz="1800" b="1" kern="1200">
                          <a:solidFill>
                            <a:schemeClr val="lt1"/>
                          </a:solidFill>
                          <a:latin typeface="Amazon Ember Light"/>
                        </a:defRPr>
                      </a:lvl1pPr>
                      <a:lvl2pPr marL="457200" algn="l" defTabSz="914400" rtl="0" eaLnBrk="1" latinLnBrk="0" hangingPunct="1">
                        <a:defRPr sz="1800" b="1" kern="1200">
                          <a:solidFill>
                            <a:schemeClr val="lt1"/>
                          </a:solidFill>
                          <a:latin typeface="Amazon Ember Light"/>
                        </a:defRPr>
                      </a:lvl2pPr>
                      <a:lvl3pPr marL="914400" algn="l" defTabSz="914400" rtl="0" eaLnBrk="1" latinLnBrk="0" hangingPunct="1">
                        <a:defRPr sz="1800" b="1" kern="1200">
                          <a:solidFill>
                            <a:schemeClr val="lt1"/>
                          </a:solidFill>
                          <a:latin typeface="Amazon Ember Light"/>
                        </a:defRPr>
                      </a:lvl3pPr>
                      <a:lvl4pPr marL="1371600" algn="l" defTabSz="914400" rtl="0" eaLnBrk="1" latinLnBrk="0" hangingPunct="1">
                        <a:defRPr sz="1800" b="1" kern="1200">
                          <a:solidFill>
                            <a:schemeClr val="lt1"/>
                          </a:solidFill>
                          <a:latin typeface="Amazon Ember Light"/>
                        </a:defRPr>
                      </a:lvl4pPr>
                      <a:lvl5pPr marL="1828800" algn="l" defTabSz="914400" rtl="0" eaLnBrk="1" latinLnBrk="0" hangingPunct="1">
                        <a:defRPr sz="1800" b="1" kern="1200">
                          <a:solidFill>
                            <a:schemeClr val="lt1"/>
                          </a:solidFill>
                          <a:latin typeface="Amazon Ember Light"/>
                        </a:defRPr>
                      </a:lvl5pPr>
                      <a:lvl6pPr marL="2286000" algn="l" defTabSz="914400" rtl="0" eaLnBrk="1" latinLnBrk="0" hangingPunct="1">
                        <a:defRPr sz="1800" b="1" kern="1200">
                          <a:solidFill>
                            <a:schemeClr val="lt1"/>
                          </a:solidFill>
                          <a:latin typeface="Amazon Ember Light"/>
                        </a:defRPr>
                      </a:lvl6pPr>
                      <a:lvl7pPr marL="2743200" algn="l" defTabSz="914400" rtl="0" eaLnBrk="1" latinLnBrk="0" hangingPunct="1">
                        <a:defRPr sz="1800" b="1" kern="1200">
                          <a:solidFill>
                            <a:schemeClr val="lt1"/>
                          </a:solidFill>
                          <a:latin typeface="Amazon Ember Light"/>
                        </a:defRPr>
                      </a:lvl7pPr>
                      <a:lvl8pPr marL="3200400" algn="l" defTabSz="914400" rtl="0" eaLnBrk="1" latinLnBrk="0" hangingPunct="1">
                        <a:defRPr sz="1800" b="1" kern="1200">
                          <a:solidFill>
                            <a:schemeClr val="lt1"/>
                          </a:solidFill>
                          <a:latin typeface="Amazon Ember Light"/>
                        </a:defRPr>
                      </a:lvl8pPr>
                      <a:lvl9pPr marL="3657600" algn="l" defTabSz="914400" rtl="0" eaLnBrk="1" latinLnBrk="0" hangingPunct="1">
                        <a:defRPr sz="1800" b="1" kern="1200">
                          <a:solidFill>
                            <a:schemeClr val="lt1"/>
                          </a:solidFill>
                          <a:latin typeface="Amazon Ember Light"/>
                        </a:defRPr>
                      </a:lvl9pPr>
                    </a:lstStyle>
                    <a:p>
                      <a:r>
                        <a:rPr lang="en-DE" sz="2000" dirty="0">
                          <a:latin typeface="+mj-lt"/>
                        </a:rPr>
                        <a:t>Example</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dirty="0">
                          <a:latin typeface="+mj-lt"/>
                        </a:rPr>
                        <a:t>Fine-tune an LLM on academic content to create a virtual tutor</a:t>
                      </a:r>
                      <a:endParaRPr lang="en-DE"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20000"/>
                      </a:srgbClr>
                    </a:solidFill>
                  </a:tcPr>
                </a:tc>
                <a:tc>
                  <a:txBody>
                    <a:bodyPr/>
                    <a:lstStyle>
                      <a:lvl1pPr marL="0" algn="l" defTabSz="914400" rtl="0" eaLnBrk="1" latinLnBrk="0" hangingPunct="1">
                        <a:defRPr sz="1800" kern="1200">
                          <a:solidFill>
                            <a:schemeClr val="dk1"/>
                          </a:solidFill>
                          <a:latin typeface="Amazon Ember Light"/>
                        </a:defRPr>
                      </a:lvl1pPr>
                      <a:lvl2pPr marL="457200" algn="l" defTabSz="914400" rtl="0" eaLnBrk="1" latinLnBrk="0" hangingPunct="1">
                        <a:defRPr sz="1800" kern="1200">
                          <a:solidFill>
                            <a:schemeClr val="dk1"/>
                          </a:solidFill>
                          <a:latin typeface="Amazon Ember Light"/>
                        </a:defRPr>
                      </a:lvl2pPr>
                      <a:lvl3pPr marL="914400" algn="l" defTabSz="914400" rtl="0" eaLnBrk="1" latinLnBrk="0" hangingPunct="1">
                        <a:defRPr sz="1800" kern="1200">
                          <a:solidFill>
                            <a:schemeClr val="dk1"/>
                          </a:solidFill>
                          <a:latin typeface="Amazon Ember Light"/>
                        </a:defRPr>
                      </a:lvl3pPr>
                      <a:lvl4pPr marL="1371600" algn="l" defTabSz="914400" rtl="0" eaLnBrk="1" latinLnBrk="0" hangingPunct="1">
                        <a:defRPr sz="1800" kern="1200">
                          <a:solidFill>
                            <a:schemeClr val="dk1"/>
                          </a:solidFill>
                          <a:latin typeface="Amazon Ember Light"/>
                        </a:defRPr>
                      </a:lvl4pPr>
                      <a:lvl5pPr marL="1828800" algn="l" defTabSz="914400" rtl="0" eaLnBrk="1" latinLnBrk="0" hangingPunct="1">
                        <a:defRPr sz="1800" kern="1200">
                          <a:solidFill>
                            <a:schemeClr val="dk1"/>
                          </a:solidFill>
                          <a:latin typeface="Amazon Ember Light"/>
                        </a:defRPr>
                      </a:lvl5pPr>
                      <a:lvl6pPr marL="2286000" algn="l" defTabSz="914400" rtl="0" eaLnBrk="1" latinLnBrk="0" hangingPunct="1">
                        <a:defRPr sz="1800" kern="1200">
                          <a:solidFill>
                            <a:schemeClr val="dk1"/>
                          </a:solidFill>
                          <a:latin typeface="Amazon Ember Light"/>
                        </a:defRPr>
                      </a:lvl6pPr>
                      <a:lvl7pPr marL="2743200" algn="l" defTabSz="914400" rtl="0" eaLnBrk="1" latinLnBrk="0" hangingPunct="1">
                        <a:defRPr sz="1800" kern="1200">
                          <a:solidFill>
                            <a:schemeClr val="dk1"/>
                          </a:solidFill>
                          <a:latin typeface="Amazon Ember Light"/>
                        </a:defRPr>
                      </a:lvl7pPr>
                      <a:lvl8pPr marL="3200400" algn="l" defTabSz="914400" rtl="0" eaLnBrk="1" latinLnBrk="0" hangingPunct="1">
                        <a:defRPr sz="1800" kern="1200">
                          <a:solidFill>
                            <a:schemeClr val="dk1"/>
                          </a:solidFill>
                          <a:latin typeface="Amazon Ember Light"/>
                        </a:defRPr>
                      </a:lvl8pPr>
                      <a:lvl9pPr marL="3657600" algn="l" defTabSz="914400" rtl="0" eaLnBrk="1" latinLnBrk="0" hangingPunct="1">
                        <a:defRPr sz="1800" kern="1200">
                          <a:solidFill>
                            <a:schemeClr val="dk1"/>
                          </a:solidFill>
                          <a:latin typeface="Amazon Ember Light"/>
                        </a:defRPr>
                      </a:lvl9pPr>
                    </a:lstStyle>
                    <a:p>
                      <a:r>
                        <a:rPr lang="en-US" dirty="0">
                          <a:latin typeface="+mj-lt"/>
                        </a:rPr>
                        <a:t>Ask LLM ‘Is it a good time to buy stocks of a given company?’</a:t>
                      </a:r>
                      <a:endParaRPr lang="en-DE" dirty="0">
                        <a:latin typeface="+mj-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F2A5D">
                        <a:tint val="20000"/>
                      </a:srgbClr>
                    </a:solidFill>
                  </a:tcPr>
                </a:tc>
                <a:extLst>
                  <a:ext uri="{0D108BD9-81ED-4DB2-BD59-A6C34878D82A}">
                    <a16:rowId xmlns:a16="http://schemas.microsoft.com/office/drawing/2014/main" val="4110426126"/>
                  </a:ext>
                </a:extLst>
              </a:tr>
            </a:tbl>
          </a:graphicData>
        </a:graphic>
      </p:graphicFrame>
    </p:spTree>
    <p:extLst>
      <p:ext uri="{BB962C8B-B14F-4D97-AF65-F5344CB8AC3E}">
        <p14:creationId xmlns:p14="http://schemas.microsoft.com/office/powerpoint/2010/main" val="1001653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4A06E-E4B1-A292-B5AE-137AE68007F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D9F2D3D-F58D-5AED-DB82-2D3B11407459}"/>
              </a:ext>
            </a:extLst>
          </p:cNvPr>
          <p:cNvSpPr>
            <a:spLocks noGrp="1"/>
          </p:cNvSpPr>
          <p:nvPr>
            <p:ph type="sldNum" idx="97"/>
          </p:nvPr>
        </p:nvSpPr>
        <p:spPr/>
        <p:txBody>
          <a:bodyPr/>
          <a:lstStyle/>
          <a:p>
            <a:fld id="{86A8BF56-6CB3-514C-9A64-F39D95C9E25B}" type="slidenum">
              <a:rPr lang="en-US" smtClean="0"/>
              <a:pPr/>
              <a:t>16</a:t>
            </a:fld>
            <a:endParaRPr lang="en-US" dirty="0"/>
          </a:p>
        </p:txBody>
      </p:sp>
      <p:sp>
        <p:nvSpPr>
          <p:cNvPr id="2" name="Title 1">
            <a:extLst>
              <a:ext uri="{FF2B5EF4-FFF2-40B4-BE49-F238E27FC236}">
                <a16:creationId xmlns:a16="http://schemas.microsoft.com/office/drawing/2014/main" id="{85A195F3-AB7C-1117-C55C-4A8E93D11220}"/>
              </a:ext>
            </a:extLst>
          </p:cNvPr>
          <p:cNvSpPr>
            <a:spLocks noGrp="1"/>
          </p:cNvSpPr>
          <p:nvPr>
            <p:ph type="title" idx="1"/>
          </p:nvPr>
        </p:nvSpPr>
        <p:spPr/>
        <p:txBody>
          <a:bodyPr/>
          <a:lstStyle/>
          <a:p>
            <a:r>
              <a:rPr lang="en-US" dirty="0"/>
              <a:t>RAG Workflow</a:t>
            </a:r>
          </a:p>
        </p:txBody>
      </p:sp>
    </p:spTree>
    <p:extLst>
      <p:ext uri="{BB962C8B-B14F-4D97-AF65-F5344CB8AC3E}">
        <p14:creationId xmlns:p14="http://schemas.microsoft.com/office/powerpoint/2010/main" val="773098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0E5A32-D3E9-3B27-3504-EDE89542D00B}"/>
              </a:ext>
            </a:extLst>
          </p:cNvPr>
          <p:cNvSpPr>
            <a:spLocks noGrp="1"/>
          </p:cNvSpPr>
          <p:nvPr>
            <p:ph type="sldNum" idx="97"/>
          </p:nvPr>
        </p:nvSpPr>
        <p:spPr/>
        <p:txBody>
          <a:bodyPr/>
          <a:lstStyle/>
          <a:p>
            <a:fld id="{86A8BF56-6CB3-514C-9A64-F39D95C9E25B}" type="slidenum">
              <a:rPr lang="en-US" smtClean="0"/>
              <a:t>17</a:t>
            </a:fld>
            <a:endParaRPr lang="en-US"/>
          </a:p>
        </p:txBody>
      </p:sp>
      <p:sp>
        <p:nvSpPr>
          <p:cNvPr id="3" name="Title 2">
            <a:extLst>
              <a:ext uri="{FF2B5EF4-FFF2-40B4-BE49-F238E27FC236}">
                <a16:creationId xmlns:a16="http://schemas.microsoft.com/office/drawing/2014/main" id="{D91570B3-152A-3985-E134-0CA234A5232D}"/>
              </a:ext>
            </a:extLst>
          </p:cNvPr>
          <p:cNvSpPr>
            <a:spLocks noGrp="1"/>
          </p:cNvSpPr>
          <p:nvPr>
            <p:ph type="title" idx="1"/>
          </p:nvPr>
        </p:nvSpPr>
        <p:spPr/>
        <p:txBody>
          <a:bodyPr/>
          <a:lstStyle/>
          <a:p>
            <a:r>
              <a:rPr lang="en-US" dirty="0"/>
              <a:t>Document chunking</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2E43089-5C50-D31D-6277-3DC50416F533}"/>
                  </a:ext>
                </a:extLst>
              </p:cNvPr>
              <p:cNvSpPr>
                <a:spLocks noGrp="1"/>
              </p:cNvSpPr>
              <p:nvPr>
                <p:ph idx="2"/>
              </p:nvPr>
            </p:nvSpPr>
            <p:spPr>
              <a:xfrm>
                <a:off x="365760" y="1165536"/>
                <a:ext cx="11466576" cy="2320184"/>
              </a:xfrm>
            </p:spPr>
            <p:txBody>
              <a:bodyPr/>
              <a:lstStyle/>
              <a:p>
                <a:r>
                  <a:rPr lang="en-US" dirty="0">
                    <a:solidFill>
                      <a:schemeClr val="tx1"/>
                    </a:solidFill>
                    <a:latin typeface="+mn-lt"/>
                    <a:ea typeface="Amazon Ember" panose="020B0603020204020204" pitchFamily="34" charset="0"/>
                    <a:cs typeface="Amazon Ember" panose="020B0603020204020204" pitchFamily="34" charset="0"/>
                  </a:rPr>
                  <a:t>Typically, long documents are </a:t>
                </a:r>
                <a:r>
                  <a:rPr lang="en-US" b="1" dirty="0">
                    <a:solidFill>
                      <a:schemeClr val="accent6"/>
                    </a:solidFill>
                    <a:latin typeface="+mj-lt"/>
                    <a:ea typeface="Amazon Ember" panose="020B0603020204020204" pitchFamily="34" charset="0"/>
                    <a:cs typeface="Amazon Ember" panose="020B0603020204020204" pitchFamily="34" charset="0"/>
                  </a:rPr>
                  <a:t>split into chunks </a:t>
                </a:r>
                <a:r>
                  <a:rPr lang="en-US" dirty="0">
                    <a:solidFill>
                      <a:schemeClr val="tx1"/>
                    </a:solidFill>
                    <a:latin typeface="+mn-lt"/>
                    <a:ea typeface="Amazon Ember" panose="020B0603020204020204" pitchFamily="34" charset="0"/>
                    <a:cs typeface="Amazon Ember" panose="020B0603020204020204" pitchFamily="34" charset="0"/>
                  </a:rPr>
                  <a:t>to fit into an LLM’s context window.</a:t>
                </a:r>
              </a:p>
              <a:p>
                <a:r>
                  <a:rPr lang="en-US" dirty="0">
                    <a:solidFill>
                      <a:schemeClr val="tx1"/>
                    </a:solidFill>
                    <a:latin typeface="+mn-lt"/>
                    <a:ea typeface="Amazon Ember" panose="020B0603020204020204" pitchFamily="34" charset="0"/>
                    <a:cs typeface="Amazon Ember" panose="020B0603020204020204" pitchFamily="34" charset="0"/>
                  </a:rPr>
                  <a:t>Vectorized representations of chunks are stored in a </a:t>
                </a:r>
                <a:r>
                  <a:rPr lang="en-US" dirty="0">
                    <a:solidFill>
                      <a:schemeClr val="accent6"/>
                    </a:solidFill>
                    <a:latin typeface="+mj-lt"/>
                    <a:ea typeface="Amazon Ember" panose="020B0603020204020204" pitchFamily="34" charset="0"/>
                    <a:cs typeface="Amazon Ember" panose="020B0603020204020204" pitchFamily="34" charset="0"/>
                  </a:rPr>
                  <a:t>vector database</a:t>
                </a:r>
                <a:r>
                  <a:rPr lang="en-DE">
                    <a:solidFill>
                      <a:schemeClr val="tx1"/>
                    </a:solidFill>
                    <a:latin typeface="+mn-lt"/>
                    <a:ea typeface="Amazon Ember" panose="020B0603020204020204" pitchFamily="34" charset="0"/>
                    <a:cs typeface="Amazon Ember" panose="020B0603020204020204" pitchFamily="34" charset="0"/>
                  </a:rPr>
                  <a:t>.</a:t>
                </a:r>
                <a:endParaRPr lang="en-US" dirty="0">
                  <a:solidFill>
                    <a:schemeClr val="tx1"/>
                  </a:solidFill>
                  <a:latin typeface="+mn-lt"/>
                  <a:ea typeface="Amazon Ember" panose="020B0603020204020204" pitchFamily="34" charset="0"/>
                  <a:cs typeface="Amazon Ember" panose="020B0603020204020204" pitchFamily="34" charset="0"/>
                </a:endParaRPr>
              </a:p>
              <a:p>
                <a:r>
                  <a:rPr lang="en-US" dirty="0">
                    <a:solidFill>
                      <a:schemeClr val="tx1"/>
                    </a:solidFill>
                    <a:latin typeface="+mn-lt"/>
                    <a:ea typeface="Amazon Ember" panose="020B0603020204020204" pitchFamily="34" charset="0"/>
                    <a:cs typeface="Amazon Ember" panose="020B0603020204020204" pitchFamily="34" charset="0"/>
                  </a:rPr>
                  <a:t>Query is converted to vector </a:t>
                </a:r>
                <a14:m>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latin typeface="+mn-lt"/>
                    <a:ea typeface="Amazon Ember" panose="020B0603020204020204" pitchFamily="34" charset="0"/>
                    <a:cs typeface="Amazon Ember" panose="020B0603020204020204" pitchFamily="34" charset="0"/>
                  </a:rPr>
                  <a:t> Find similar chunks from vector DB.</a:t>
                </a:r>
              </a:p>
              <a:p>
                <a:endParaRPr lang="en-US" dirty="0">
                  <a:solidFill>
                    <a:schemeClr val="tx1"/>
                  </a:solidFill>
                  <a:latin typeface="+mn-lt"/>
                  <a:ea typeface="Amazon Ember" panose="020B0603020204020204" pitchFamily="34" charset="0"/>
                  <a:cs typeface="Amazon Ember" panose="020B0603020204020204" pitchFamily="34" charset="0"/>
                </a:endParaRPr>
              </a:p>
              <a:p>
                <a:endParaRPr lang="en-US" dirty="0">
                  <a:solidFill>
                    <a:schemeClr val="tx1"/>
                  </a:solidFill>
                  <a:latin typeface="+mn-lt"/>
                  <a:ea typeface="Amazon Ember" panose="020B0603020204020204" pitchFamily="34" charset="0"/>
                  <a:cs typeface="Amazon Ember" panose="020B0603020204020204" pitchFamily="34" charset="0"/>
                </a:endParaRPr>
              </a:p>
              <a:p>
                <a:endParaRPr lang="en-US" dirty="0"/>
              </a:p>
            </p:txBody>
          </p:sp>
        </mc:Choice>
        <mc:Fallback xmlns="">
          <p:sp>
            <p:nvSpPr>
              <p:cNvPr id="4" name="Content Placeholder 3">
                <a:extLst>
                  <a:ext uri="{FF2B5EF4-FFF2-40B4-BE49-F238E27FC236}">
                    <a16:creationId xmlns:a16="http://schemas.microsoft.com/office/drawing/2014/main" id="{12E43089-5C50-D31D-6277-3DC50416F533}"/>
                  </a:ext>
                </a:extLst>
              </p:cNvPr>
              <p:cNvSpPr>
                <a:spLocks noGrp="1" noRot="1" noChangeAspect="1" noMove="1" noResize="1" noEditPoints="1" noAdjustHandles="1" noChangeArrowheads="1" noChangeShapeType="1" noTextEdit="1"/>
              </p:cNvSpPr>
              <p:nvPr>
                <p:ph idx="2"/>
              </p:nvPr>
            </p:nvSpPr>
            <p:spPr>
              <a:xfrm>
                <a:off x="365760" y="1165536"/>
                <a:ext cx="11466576" cy="2320184"/>
              </a:xfrm>
              <a:blipFill>
                <a:blip r:embed="rId3"/>
                <a:stretch>
                  <a:fillRect l="-1106" t="-3261" b="-2717"/>
                </a:stretch>
              </a:blipFill>
            </p:spPr>
            <p:txBody>
              <a:bodyPr/>
              <a:lstStyle/>
              <a:p>
                <a:r>
                  <a:rPr lang="en-US">
                    <a:noFill/>
                  </a:rPr>
                  <a:t> </a:t>
                </a:r>
              </a:p>
            </p:txBody>
          </p:sp>
        </mc:Fallback>
      </mc:AlternateContent>
      <p:pic>
        <p:nvPicPr>
          <p:cNvPr id="6" name="Picture 5" descr="Diagram that shows a stack of pages being chunked into segments, and then the segmented (chunked) text goes through &quot;Embedding&quot; into a Vector DB.">
            <a:extLst>
              <a:ext uri="{FF2B5EF4-FFF2-40B4-BE49-F238E27FC236}">
                <a16:creationId xmlns:a16="http://schemas.microsoft.com/office/drawing/2014/main" id="{8915D4BD-46DA-F219-7DD6-8109A423EB38}"/>
              </a:ext>
            </a:extLst>
          </p:cNvPr>
          <p:cNvPicPr>
            <a:picLocks noChangeAspect="1"/>
          </p:cNvPicPr>
          <p:nvPr/>
        </p:nvPicPr>
        <p:blipFill>
          <a:blip r:embed="rId4"/>
          <a:srcRect r="46538"/>
          <a:stretch/>
        </p:blipFill>
        <p:spPr>
          <a:xfrm>
            <a:off x="3764269" y="3497398"/>
            <a:ext cx="5311686" cy="2859468"/>
          </a:xfrm>
          <a:prstGeom prst="rect">
            <a:avLst/>
          </a:prstGeom>
        </p:spPr>
      </p:pic>
    </p:spTree>
    <p:extLst>
      <p:ext uri="{BB962C8B-B14F-4D97-AF65-F5344CB8AC3E}">
        <p14:creationId xmlns:p14="http://schemas.microsoft.com/office/powerpoint/2010/main" val="2504011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35BBB9-6CA2-0BF6-758F-F503D0DEF325}"/>
              </a:ext>
            </a:extLst>
          </p:cNvPr>
          <p:cNvSpPr>
            <a:spLocks noGrp="1"/>
          </p:cNvSpPr>
          <p:nvPr>
            <p:ph type="sldNum" idx="97"/>
          </p:nvPr>
        </p:nvSpPr>
        <p:spPr/>
        <p:txBody>
          <a:bodyPr/>
          <a:lstStyle/>
          <a:p>
            <a:fld id="{86A8BF56-6CB3-514C-9A64-F39D95C9E25B}" type="slidenum">
              <a:rPr lang="en-US" smtClean="0"/>
              <a:t>18</a:t>
            </a:fld>
            <a:endParaRPr lang="en-US"/>
          </a:p>
        </p:txBody>
      </p:sp>
      <p:sp>
        <p:nvSpPr>
          <p:cNvPr id="3" name="Title 2">
            <a:extLst>
              <a:ext uri="{FF2B5EF4-FFF2-40B4-BE49-F238E27FC236}">
                <a16:creationId xmlns:a16="http://schemas.microsoft.com/office/drawing/2014/main" id="{CD5BD0A5-D3AA-55AE-FB7A-741AC04C5CBC}"/>
              </a:ext>
            </a:extLst>
          </p:cNvPr>
          <p:cNvSpPr>
            <a:spLocks noGrp="1"/>
          </p:cNvSpPr>
          <p:nvPr>
            <p:ph type="title" idx="1"/>
          </p:nvPr>
        </p:nvSpPr>
        <p:spPr/>
        <p:txBody>
          <a:bodyPr/>
          <a:lstStyle/>
          <a:p>
            <a:r>
              <a:rPr lang="en-US" dirty="0"/>
              <a:t>Tips while chunking</a:t>
            </a:r>
          </a:p>
        </p:txBody>
      </p:sp>
      <p:sp>
        <p:nvSpPr>
          <p:cNvPr id="4" name="Content Placeholder 3">
            <a:extLst>
              <a:ext uri="{FF2B5EF4-FFF2-40B4-BE49-F238E27FC236}">
                <a16:creationId xmlns:a16="http://schemas.microsoft.com/office/drawing/2014/main" id="{FC57CC49-05BE-DF65-7CD2-C0C3572BEB7D}"/>
              </a:ext>
            </a:extLst>
          </p:cNvPr>
          <p:cNvSpPr>
            <a:spLocks noGrp="1"/>
          </p:cNvSpPr>
          <p:nvPr>
            <p:ph idx="2"/>
          </p:nvPr>
        </p:nvSpPr>
        <p:spPr/>
        <p:txBody>
          <a:body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DF2A5D"/>
                </a:solidFill>
                <a:effectLst/>
                <a:uLnTx/>
                <a:uFillTx/>
                <a:latin typeface="Amazon Ember Medium"/>
              </a:rPr>
              <a:t>Overlap</a:t>
            </a: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 Allows for continuity between chunks. </a:t>
            </a: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DF2A5D"/>
                </a:solidFill>
                <a:effectLst/>
                <a:uLnTx/>
                <a:uFillTx/>
                <a:latin typeface="Amazon Ember Medium"/>
              </a:rPr>
              <a:t>Size of Chunks</a:t>
            </a: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 Maximum size of chunks</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Too small: Not enough context in each chunk</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Too large: May exceed context window of the LLM</a:t>
            </a: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DF2A5D"/>
                </a:solidFill>
                <a:effectLst/>
                <a:uLnTx/>
                <a:uFillTx/>
                <a:latin typeface="Amazon Ember Medium"/>
              </a:rPr>
              <a:t>Separators</a:t>
            </a: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 Enables chunking based on multiple separators</a:t>
            </a: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DF2A5D"/>
                </a:solidFill>
                <a:effectLst/>
                <a:uLnTx/>
                <a:uFillTx/>
                <a:latin typeface="Amazon Ember Medium"/>
              </a:rPr>
              <a:t>Some Text Splitters offered by </a:t>
            </a:r>
            <a:r>
              <a:rPr kumimoji="0" lang="en-US" sz="2800" b="0" i="0" u="none" strike="noStrike" kern="1200" cap="none" spc="0" normalizeH="0" baseline="0" noProof="0" dirty="0" err="1">
                <a:ln>
                  <a:noFill/>
                </a:ln>
                <a:solidFill>
                  <a:srgbClr val="DF2A5D"/>
                </a:solidFill>
                <a:effectLst/>
                <a:uLnTx/>
                <a:uFillTx/>
                <a:latin typeface="Amazon Ember Medium"/>
              </a:rPr>
              <a:t>LangChain</a:t>
            </a:r>
            <a:r>
              <a:rPr kumimoji="0" lang="en-US" sz="2800" b="0" i="0" u="none" strike="noStrike" kern="1200" cap="none" spc="0" normalizeH="0" baseline="0" noProof="0" dirty="0">
                <a:ln>
                  <a:noFill/>
                </a:ln>
                <a:solidFill>
                  <a:srgbClr val="232F3E"/>
                </a:solidFill>
                <a:effectLst/>
                <a:uLnTx/>
                <a:uFillTx/>
                <a:latin typeface="Amazon Ember Medium"/>
              </a:rPr>
              <a:t>:</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err="1">
                <a:ln>
                  <a:noFill/>
                </a:ln>
                <a:solidFill>
                  <a:srgbClr val="7C5AED"/>
                </a:solidFill>
                <a:effectLst/>
                <a:uLnTx/>
                <a:uFillTx/>
                <a:latin typeface="Amazon Ember Medium"/>
              </a:rPr>
              <a:t>CharacterTextSplitter</a:t>
            </a:r>
            <a:r>
              <a:rPr kumimoji="0" lang="en-US" sz="2400" b="0" i="0" u="none" strike="noStrike" kern="1200" cap="none" spc="0" normalizeH="0" baseline="0" noProof="0" dirty="0">
                <a:ln>
                  <a:noFill/>
                </a:ln>
                <a:solidFill>
                  <a:srgbClr val="232F3E"/>
                </a:solidFill>
                <a:effectLst/>
                <a:uLnTx/>
                <a:uFillTx/>
                <a:latin typeface="Amazon Ember Light"/>
              </a:rPr>
              <a:t>: Split based on characters</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err="1">
                <a:ln>
                  <a:noFill/>
                </a:ln>
                <a:solidFill>
                  <a:srgbClr val="7C5AED"/>
                </a:solidFill>
                <a:effectLst/>
                <a:uLnTx/>
                <a:uFillTx/>
                <a:latin typeface="Amazon Ember Medium"/>
              </a:rPr>
              <a:t>MarkdownHeaderTextSplitter</a:t>
            </a:r>
            <a:r>
              <a:rPr kumimoji="0" lang="en-US" sz="2400" b="0" i="0" u="none" strike="noStrike" kern="1200" cap="none" spc="0" normalizeH="0" baseline="0" noProof="0" dirty="0">
                <a:ln>
                  <a:noFill/>
                </a:ln>
                <a:solidFill>
                  <a:srgbClr val="232F3E"/>
                </a:solidFill>
                <a:effectLst/>
                <a:uLnTx/>
                <a:uFillTx/>
                <a:latin typeface="Amazon Ember Light"/>
              </a:rPr>
              <a:t>: Split based on specific set of headers</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err="1">
                <a:ln>
                  <a:noFill/>
                </a:ln>
                <a:solidFill>
                  <a:srgbClr val="7C5AED"/>
                </a:solidFill>
                <a:effectLst/>
                <a:uLnTx/>
                <a:uFillTx/>
                <a:latin typeface="Amazon Ember Medium"/>
              </a:rPr>
              <a:t>RecursiveCharacterTextSplitter</a:t>
            </a:r>
            <a:r>
              <a:rPr kumimoji="0" lang="en-US" sz="2400" b="0" i="0" u="none" strike="noStrike" kern="1200" cap="none" spc="0" normalizeH="0" baseline="0" noProof="0" dirty="0">
                <a:ln>
                  <a:noFill/>
                </a:ln>
                <a:solidFill>
                  <a:srgbClr val="232F3E"/>
                </a:solidFill>
                <a:effectLst/>
                <a:uLnTx/>
                <a:uFillTx/>
                <a:latin typeface="Amazon Ember Light"/>
              </a:rPr>
              <a:t>: Split based on sequence of separators</a:t>
            </a: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3004789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A5BDA4-0DF1-1D39-F03E-8E9797F17DC3}"/>
              </a:ext>
            </a:extLst>
          </p:cNvPr>
          <p:cNvSpPr>
            <a:spLocks noGrp="1"/>
          </p:cNvSpPr>
          <p:nvPr>
            <p:ph type="sldNum" idx="97"/>
          </p:nvPr>
        </p:nvSpPr>
        <p:spPr/>
        <p:txBody>
          <a:bodyPr/>
          <a:lstStyle/>
          <a:p>
            <a:fld id="{86A8BF56-6CB3-514C-9A64-F39D95C9E25B}" type="slidenum">
              <a:rPr lang="en-US" smtClean="0"/>
              <a:t>19</a:t>
            </a:fld>
            <a:endParaRPr lang="en-US"/>
          </a:p>
        </p:txBody>
      </p:sp>
      <p:sp>
        <p:nvSpPr>
          <p:cNvPr id="3" name="Title 2">
            <a:extLst>
              <a:ext uri="{FF2B5EF4-FFF2-40B4-BE49-F238E27FC236}">
                <a16:creationId xmlns:a16="http://schemas.microsoft.com/office/drawing/2014/main" id="{240A857D-6910-AB0D-3F37-3F038B345789}"/>
              </a:ext>
            </a:extLst>
          </p:cNvPr>
          <p:cNvSpPr>
            <a:spLocks noGrp="1"/>
          </p:cNvSpPr>
          <p:nvPr>
            <p:ph type="title" idx="1"/>
          </p:nvPr>
        </p:nvSpPr>
        <p:spPr/>
        <p:txBody>
          <a:bodyPr/>
          <a:lstStyle/>
          <a:p>
            <a:r>
              <a:rPr lang="en-US" dirty="0"/>
              <a:t>Vector Database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4D9CE18-2758-EF7F-BDA3-23FF65809D3C}"/>
                  </a:ext>
                </a:extLst>
              </p:cNvPr>
              <p:cNvSpPr>
                <a:spLocks noGrp="1"/>
              </p:cNvSpPr>
              <p:nvPr>
                <p:ph idx="2"/>
              </p:nvPr>
            </p:nvSpPr>
            <p:spPr>
              <a:xfrm>
                <a:off x="365760" y="1165536"/>
                <a:ext cx="11466576" cy="2773947"/>
              </a:xfrm>
            </p:spPr>
            <p:txBody>
              <a:bodyPr/>
              <a:lstStyle/>
              <a:p>
                <a:r>
                  <a:rPr lang="en-US" dirty="0"/>
                  <a:t>Retrieval requires fast fetching of relevant content</a:t>
                </a:r>
              </a:p>
              <a:p>
                <a:r>
                  <a:rPr lang="en-US" dirty="0"/>
                  <a:t>Store vectorized representations of all chunks in a database</a:t>
                </a:r>
              </a:p>
              <a:p>
                <a:pPr lvl="1"/>
                <a:r>
                  <a:rPr lang="en-US" dirty="0">
                    <a:solidFill>
                      <a:schemeClr val="accent6"/>
                    </a:solidFill>
                    <a:latin typeface="+mj-lt"/>
                  </a:rPr>
                  <a:t>Vector Database</a:t>
                </a:r>
              </a:p>
              <a:p>
                <a:r>
                  <a:rPr lang="en-US" dirty="0"/>
                  <a:t>Convert query to vector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Find similar chunks from vector database</a:t>
                </a:r>
              </a:p>
              <a:p>
                <a:pPr lvl="1"/>
                <a:r>
                  <a:rPr lang="en-US" dirty="0"/>
                  <a:t>Similarity search of embeddings</a:t>
                </a:r>
              </a:p>
              <a:p>
                <a:endParaRPr lang="en-US" dirty="0"/>
              </a:p>
              <a:p>
                <a:endParaRPr lang="en-US" dirty="0"/>
              </a:p>
            </p:txBody>
          </p:sp>
        </mc:Choice>
        <mc:Fallback xmlns="">
          <p:sp>
            <p:nvSpPr>
              <p:cNvPr id="4" name="Content Placeholder 3">
                <a:extLst>
                  <a:ext uri="{FF2B5EF4-FFF2-40B4-BE49-F238E27FC236}">
                    <a16:creationId xmlns:a16="http://schemas.microsoft.com/office/drawing/2014/main" id="{14D9CE18-2758-EF7F-BDA3-23FF65809D3C}"/>
                  </a:ext>
                </a:extLst>
              </p:cNvPr>
              <p:cNvSpPr>
                <a:spLocks noGrp="1" noRot="1" noChangeAspect="1" noMove="1" noResize="1" noEditPoints="1" noAdjustHandles="1" noChangeArrowheads="1" noChangeShapeType="1" noTextEdit="1"/>
              </p:cNvSpPr>
              <p:nvPr>
                <p:ph idx="2"/>
              </p:nvPr>
            </p:nvSpPr>
            <p:spPr>
              <a:xfrm>
                <a:off x="365760" y="1165536"/>
                <a:ext cx="11466576" cy="2773947"/>
              </a:xfrm>
              <a:blipFill>
                <a:blip r:embed="rId3"/>
                <a:stretch>
                  <a:fillRect l="-1106" t="-2727" b="-5455"/>
                </a:stretch>
              </a:blipFill>
            </p:spPr>
            <p:txBody>
              <a:bodyPr/>
              <a:lstStyle/>
              <a:p>
                <a:r>
                  <a:rPr lang="en-US">
                    <a:noFill/>
                  </a:rPr>
                  <a:t> </a:t>
                </a:r>
              </a:p>
            </p:txBody>
          </p:sp>
        </mc:Fallback>
      </mc:AlternateContent>
      <p:pic>
        <p:nvPicPr>
          <p:cNvPr id="5" name="Picture 4" descr="Diagram that shows a stack of pages being chunked into segments">
            <a:extLst>
              <a:ext uri="{FF2B5EF4-FFF2-40B4-BE49-F238E27FC236}">
                <a16:creationId xmlns:a16="http://schemas.microsoft.com/office/drawing/2014/main" id="{20B54BC4-0D6B-75A7-BB87-B081D16D4414}"/>
              </a:ext>
            </a:extLst>
          </p:cNvPr>
          <p:cNvPicPr>
            <a:picLocks noChangeAspect="1"/>
          </p:cNvPicPr>
          <p:nvPr/>
        </p:nvPicPr>
        <p:blipFill>
          <a:blip r:embed="rId4"/>
          <a:stretch>
            <a:fillRect/>
          </a:stretch>
        </p:blipFill>
        <p:spPr>
          <a:xfrm>
            <a:off x="880233" y="4161879"/>
            <a:ext cx="5417180" cy="2696121"/>
          </a:xfrm>
          <a:prstGeom prst="rect">
            <a:avLst/>
          </a:prstGeom>
        </p:spPr>
      </p:pic>
      <p:grpSp>
        <p:nvGrpSpPr>
          <p:cNvPr id="6" name="Group 5" descr="Diagram that represents how all chunked documents for the input are passed through an embedding model to input them in a Vector Database">
            <a:extLst>
              <a:ext uri="{FF2B5EF4-FFF2-40B4-BE49-F238E27FC236}">
                <a16:creationId xmlns:a16="http://schemas.microsoft.com/office/drawing/2014/main" id="{5F961410-AF04-E993-14D8-B1D95F1A9EAC}"/>
              </a:ext>
            </a:extLst>
          </p:cNvPr>
          <p:cNvGrpSpPr/>
          <p:nvPr/>
        </p:nvGrpSpPr>
        <p:grpSpPr>
          <a:xfrm>
            <a:off x="6444013" y="4387178"/>
            <a:ext cx="5388323" cy="2224181"/>
            <a:chOff x="6977488" y="4143742"/>
            <a:chExt cx="5388323" cy="2224181"/>
          </a:xfrm>
        </p:grpSpPr>
        <p:sp>
          <p:nvSpPr>
            <p:cNvPr id="7" name="Preparation 6">
              <a:extLst>
                <a:ext uri="{FF2B5EF4-FFF2-40B4-BE49-F238E27FC236}">
                  <a16:creationId xmlns:a16="http://schemas.microsoft.com/office/drawing/2014/main" id="{F3CBA8DE-97A5-2681-348A-66253E66C8AE}"/>
                </a:ext>
              </a:extLst>
            </p:cNvPr>
            <p:cNvSpPr/>
            <p:nvPr/>
          </p:nvSpPr>
          <p:spPr>
            <a:xfrm>
              <a:off x="8085563" y="4571783"/>
              <a:ext cx="1642534" cy="1225384"/>
            </a:xfrm>
            <a:prstGeom prst="flowChartPreparation">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2400" b="1" i="0" u="none" strike="noStrike" kern="1200" cap="none" spc="0" normalizeH="0" baseline="0" noProof="0">
                <a:ln>
                  <a:noFill/>
                </a:ln>
                <a:solidFill>
                  <a:srgbClr val="232F3E"/>
                </a:solidFill>
                <a:effectLst/>
                <a:uLnTx/>
                <a:uFillTx/>
                <a:latin typeface="Amazon Ember Light"/>
                <a:ea typeface="+mn-ea"/>
                <a:cs typeface="+mn-cs"/>
              </a:endParaRPr>
            </a:p>
          </p:txBody>
        </p:sp>
        <p:sp>
          <p:nvSpPr>
            <p:cNvPr id="8" name="TextBox 7">
              <a:extLst>
                <a:ext uri="{FF2B5EF4-FFF2-40B4-BE49-F238E27FC236}">
                  <a16:creationId xmlns:a16="http://schemas.microsoft.com/office/drawing/2014/main" id="{0F81125E-B587-CC46-50A3-7C11CD26FDBC}"/>
                </a:ext>
              </a:extLst>
            </p:cNvPr>
            <p:cNvSpPr txBox="1"/>
            <p:nvPr/>
          </p:nvSpPr>
          <p:spPr>
            <a:xfrm>
              <a:off x="8085563" y="4871112"/>
              <a:ext cx="1642534"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2F3E"/>
                  </a:solidFill>
                  <a:effectLst/>
                  <a:uLnTx/>
                  <a:uFillTx/>
                  <a:latin typeface="Amazon Ember Medium"/>
                  <a:ea typeface="+mn-ea"/>
                  <a:cs typeface="+mn-cs"/>
                </a:rPr>
                <a:t>Embedding model</a:t>
              </a:r>
            </a:p>
          </p:txBody>
        </p:sp>
        <p:pic>
          <p:nvPicPr>
            <p:cNvPr id="9" name="Graphic 8" descr="Database with solid fill">
              <a:extLst>
                <a:ext uri="{FF2B5EF4-FFF2-40B4-BE49-F238E27FC236}">
                  <a16:creationId xmlns:a16="http://schemas.microsoft.com/office/drawing/2014/main" id="{DAE16A7B-1F8D-2F0D-FB26-7CC43F985D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75276" y="4496220"/>
              <a:ext cx="1396113" cy="1396113"/>
            </a:xfrm>
            <a:prstGeom prst="rect">
              <a:avLst/>
            </a:prstGeom>
          </p:spPr>
        </p:pic>
        <p:cxnSp>
          <p:nvCxnSpPr>
            <p:cNvPr id="10" name="Straight Arrow Connector 9">
              <a:extLst>
                <a:ext uri="{FF2B5EF4-FFF2-40B4-BE49-F238E27FC236}">
                  <a16:creationId xmlns:a16="http://schemas.microsoft.com/office/drawing/2014/main" id="{B27D3F07-52C4-BC93-4AFD-51A08C18BA10}"/>
                </a:ext>
              </a:extLst>
            </p:cNvPr>
            <p:cNvCxnSpPr>
              <a:cxnSpLocks/>
            </p:cNvCxnSpPr>
            <p:nvPr/>
          </p:nvCxnSpPr>
          <p:spPr>
            <a:xfrm>
              <a:off x="6990983" y="4328422"/>
              <a:ext cx="1034329" cy="6284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2F3B06F-EAF6-6332-142A-A3C2D9A36224}"/>
                </a:ext>
              </a:extLst>
            </p:cNvPr>
            <p:cNvSpPr txBox="1"/>
            <p:nvPr/>
          </p:nvSpPr>
          <p:spPr>
            <a:xfrm>
              <a:off x="8580852" y="4143742"/>
              <a:ext cx="378495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232F3E"/>
                  </a:solidFill>
                  <a:effectLst/>
                  <a:uLnTx/>
                  <a:uFillTx/>
                  <a:latin typeface="Amazon Ember Light"/>
                  <a:ea typeface="+mn-ea"/>
                  <a:cs typeface="+mn-cs"/>
                </a:rPr>
                <a:t>Vector DB</a:t>
              </a:r>
            </a:p>
          </p:txBody>
        </p:sp>
        <p:cxnSp>
          <p:nvCxnSpPr>
            <p:cNvPr id="12" name="Straight Arrow Connector 11">
              <a:extLst>
                <a:ext uri="{FF2B5EF4-FFF2-40B4-BE49-F238E27FC236}">
                  <a16:creationId xmlns:a16="http://schemas.microsoft.com/office/drawing/2014/main" id="{DA9F8302-9E18-B2E6-282A-283329261D03}"/>
                </a:ext>
              </a:extLst>
            </p:cNvPr>
            <p:cNvCxnSpPr>
              <a:cxnSpLocks/>
            </p:cNvCxnSpPr>
            <p:nvPr/>
          </p:nvCxnSpPr>
          <p:spPr>
            <a:xfrm>
              <a:off x="6990982" y="4922887"/>
              <a:ext cx="942181" cy="2687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37BED2A-A4CC-C363-5A2D-5F58B126D70A}"/>
                </a:ext>
              </a:extLst>
            </p:cNvPr>
            <p:cNvCxnSpPr>
              <a:cxnSpLocks/>
            </p:cNvCxnSpPr>
            <p:nvPr/>
          </p:nvCxnSpPr>
          <p:spPr>
            <a:xfrm flipV="1">
              <a:off x="6977488" y="5418844"/>
              <a:ext cx="1047824" cy="2138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569C5F5-BF80-CE5B-8215-5951E643B3EA}"/>
                </a:ext>
              </a:extLst>
            </p:cNvPr>
            <p:cNvCxnSpPr>
              <a:cxnSpLocks/>
            </p:cNvCxnSpPr>
            <p:nvPr/>
          </p:nvCxnSpPr>
          <p:spPr>
            <a:xfrm flipV="1">
              <a:off x="6990983" y="5642177"/>
              <a:ext cx="1081085" cy="7257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8597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A3386A-3C2B-6E2E-A422-4FA5D17DDF53}"/>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B262355B-01FD-F197-1291-C2B735FB7570}"/>
              </a:ext>
            </a:extLst>
          </p:cNvPr>
          <p:cNvSpPr>
            <a:spLocks noGrp="1"/>
          </p:cNvSpPr>
          <p:nvPr>
            <p:ph type="title" idx="1"/>
          </p:nvPr>
        </p:nvSpPr>
        <p:spPr/>
        <p:txBody>
          <a:bodyPr/>
          <a:lstStyle/>
          <a:p>
            <a:r>
              <a:rPr lang="en-US" dirty="0"/>
              <a:t>Increasing LLM recall</a:t>
            </a:r>
          </a:p>
        </p:txBody>
      </p:sp>
      <p:sp>
        <p:nvSpPr>
          <p:cNvPr id="4" name="Content Placeholder 3">
            <a:extLst>
              <a:ext uri="{FF2B5EF4-FFF2-40B4-BE49-F238E27FC236}">
                <a16:creationId xmlns:a16="http://schemas.microsoft.com/office/drawing/2014/main" id="{63C8DB96-28BD-96FA-085C-38CE402BD7CD}"/>
              </a:ext>
            </a:extLst>
          </p:cNvPr>
          <p:cNvSpPr>
            <a:spLocks noGrp="1"/>
          </p:cNvSpPr>
          <p:nvPr>
            <p:ph idx="2"/>
          </p:nvPr>
        </p:nvSpPr>
        <p:spPr/>
        <p:txBody>
          <a:bodyPr/>
          <a:lstStyle/>
          <a:p>
            <a:r>
              <a:rPr lang="en-US" dirty="0"/>
              <a:t>Ability of the LLM to find appropriate information from all the context shared</a:t>
            </a:r>
          </a:p>
          <a:p>
            <a:endParaRPr lang="en-US" dirty="0"/>
          </a:p>
          <a:p>
            <a:endParaRPr lang="en-US" dirty="0"/>
          </a:p>
          <a:p>
            <a:endParaRPr lang="en-US" dirty="0"/>
          </a:p>
          <a:p>
            <a:endParaRPr lang="en-US" dirty="0"/>
          </a:p>
          <a:p>
            <a:pPr marL="344488" lvl="1" indent="0">
              <a:buNone/>
            </a:pPr>
            <a:endParaRPr lang="en-US" dirty="0"/>
          </a:p>
          <a:p>
            <a:r>
              <a:rPr lang="en-US" dirty="0">
                <a:solidFill>
                  <a:schemeClr val="accent6"/>
                </a:solidFill>
                <a:latin typeface="+mj-lt"/>
              </a:rPr>
              <a:t>Solution</a:t>
            </a:r>
            <a:r>
              <a:rPr lang="en-US" dirty="0"/>
              <a:t>: Increase the number of retrieved documents</a:t>
            </a:r>
          </a:p>
          <a:p>
            <a:pPr lvl="1"/>
            <a:r>
              <a:rPr lang="en-US" dirty="0"/>
              <a:t>Are all documents equally important?</a:t>
            </a:r>
          </a:p>
          <a:p>
            <a:endParaRPr lang="en-US" dirty="0"/>
          </a:p>
        </p:txBody>
      </p:sp>
      <p:pic>
        <p:nvPicPr>
          <p:cNvPr id="7" name="Graphic 6" descr="Magnifying glass with solid fill">
            <a:extLst>
              <a:ext uri="{FF2B5EF4-FFF2-40B4-BE49-F238E27FC236}">
                <a16:creationId xmlns:a16="http://schemas.microsoft.com/office/drawing/2014/main" id="{1FDD9FFB-AFF1-4AE6-CCF4-1D2BE12633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6265" y="2119277"/>
            <a:ext cx="2487672" cy="2487672"/>
          </a:xfrm>
          <a:prstGeom prst="rect">
            <a:avLst/>
          </a:prstGeom>
        </p:spPr>
      </p:pic>
    </p:spTree>
    <p:extLst>
      <p:ext uri="{BB962C8B-B14F-4D97-AF65-F5344CB8AC3E}">
        <p14:creationId xmlns:p14="http://schemas.microsoft.com/office/powerpoint/2010/main" val="1039253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A236BC-E08A-2D26-5358-03BBE8AFFFCB}"/>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9511CCAE-ED2F-8461-5971-BF93A72588FB}"/>
              </a:ext>
            </a:extLst>
          </p:cNvPr>
          <p:cNvSpPr>
            <a:spLocks noGrp="1"/>
          </p:cNvSpPr>
          <p:nvPr>
            <p:ph type="title" idx="1"/>
          </p:nvPr>
        </p:nvSpPr>
        <p:spPr/>
        <p:txBody>
          <a:bodyPr/>
          <a:lstStyle/>
          <a:p>
            <a:r>
              <a:rPr lang="en-US" dirty="0" err="1"/>
              <a:t>Rerankers</a:t>
            </a:r>
            <a:endParaRPr lang="en-US" dirty="0"/>
          </a:p>
        </p:txBody>
      </p:sp>
      <p:sp>
        <p:nvSpPr>
          <p:cNvPr id="4" name="Content Placeholder 3">
            <a:extLst>
              <a:ext uri="{FF2B5EF4-FFF2-40B4-BE49-F238E27FC236}">
                <a16:creationId xmlns:a16="http://schemas.microsoft.com/office/drawing/2014/main" id="{179987DA-0B4E-05CC-689C-87BCE607BF63}"/>
              </a:ext>
            </a:extLst>
          </p:cNvPr>
          <p:cNvSpPr>
            <a:spLocks noGrp="1"/>
          </p:cNvSpPr>
          <p:nvPr>
            <p:ph idx="2"/>
          </p:nvPr>
        </p:nvSpPr>
        <p:spPr/>
        <p:txBody>
          <a:bodyPr/>
          <a:lstStyle/>
          <a:p>
            <a:r>
              <a:rPr lang="en-US" dirty="0"/>
              <a:t>Specialized models that compute </a:t>
            </a:r>
            <a:r>
              <a:rPr lang="en-US" dirty="0">
                <a:solidFill>
                  <a:schemeClr val="accent6"/>
                </a:solidFill>
                <a:latin typeface="+mj-lt"/>
              </a:rPr>
              <a:t>similarity score </a:t>
            </a:r>
            <a:r>
              <a:rPr lang="en-US" dirty="0"/>
              <a:t>between documents and query</a:t>
            </a:r>
          </a:p>
          <a:p>
            <a:pPr lvl="1"/>
            <a:r>
              <a:rPr lang="en-US" dirty="0"/>
              <a:t>Much more </a:t>
            </a:r>
            <a:r>
              <a:rPr lang="en-US" dirty="0">
                <a:solidFill>
                  <a:schemeClr val="accent6"/>
                </a:solidFill>
                <a:latin typeface="+mj-lt"/>
              </a:rPr>
              <a:t>accurate</a:t>
            </a:r>
            <a:r>
              <a:rPr lang="en-US" dirty="0"/>
              <a:t> than embedding models</a:t>
            </a:r>
          </a:p>
          <a:p>
            <a:pPr lvl="1"/>
            <a:r>
              <a:rPr lang="en-US" dirty="0"/>
              <a:t>But much </a:t>
            </a:r>
            <a:r>
              <a:rPr lang="en-US" dirty="0">
                <a:solidFill>
                  <a:schemeClr val="accent6"/>
                </a:solidFill>
                <a:latin typeface="+mj-lt"/>
              </a:rPr>
              <a:t>slower</a:t>
            </a:r>
          </a:p>
          <a:p>
            <a:pPr lvl="1"/>
            <a:endParaRPr lang="en-US" dirty="0"/>
          </a:p>
          <a:p>
            <a:r>
              <a:rPr lang="en-US" dirty="0"/>
              <a:t>Two-stage retrieval</a:t>
            </a:r>
          </a:p>
          <a:p>
            <a:pPr lvl="1"/>
            <a:r>
              <a:rPr lang="en-US" dirty="0"/>
              <a:t>Retrieve relevant documents using embeddings</a:t>
            </a:r>
          </a:p>
          <a:p>
            <a:pPr lvl="1"/>
            <a:r>
              <a:rPr lang="en-US" dirty="0"/>
              <a:t>Measure relevance using </a:t>
            </a:r>
            <a:r>
              <a:rPr lang="en-US" dirty="0" err="1"/>
              <a:t>rerankers</a:t>
            </a:r>
            <a:endParaRPr lang="en-US" dirty="0"/>
          </a:p>
          <a:p>
            <a:endParaRPr lang="en-US" dirty="0"/>
          </a:p>
        </p:txBody>
      </p:sp>
      <p:pic>
        <p:nvPicPr>
          <p:cNvPr id="6" name="Graphic 5" descr="Bar graph with upward trend with solid fill">
            <a:extLst>
              <a:ext uri="{FF2B5EF4-FFF2-40B4-BE49-F238E27FC236}">
                <a16:creationId xmlns:a16="http://schemas.microsoft.com/office/drawing/2014/main" id="{FB478A8E-5544-3E3F-047F-CD32EAF733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6366" y="1961146"/>
            <a:ext cx="3883335" cy="3883335"/>
          </a:xfrm>
          <a:prstGeom prst="rect">
            <a:avLst/>
          </a:prstGeom>
        </p:spPr>
      </p:pic>
    </p:spTree>
    <p:extLst>
      <p:ext uri="{BB962C8B-B14F-4D97-AF65-F5344CB8AC3E}">
        <p14:creationId xmlns:p14="http://schemas.microsoft.com/office/powerpoint/2010/main" val="1120512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5AA74B-D7B3-D8FF-79ED-7D6AF6A1E460}"/>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E6F43F8D-DE7B-9882-2D56-702C7D4D9C7D}"/>
              </a:ext>
            </a:extLst>
          </p:cNvPr>
          <p:cNvSpPr>
            <a:spLocks noGrp="1"/>
          </p:cNvSpPr>
          <p:nvPr>
            <p:ph type="title" idx="1"/>
          </p:nvPr>
        </p:nvSpPr>
        <p:spPr/>
        <p:txBody>
          <a:bodyPr/>
          <a:lstStyle/>
          <a:p>
            <a:r>
              <a:rPr lang="en-US" dirty="0"/>
              <a:t>RAG architecture (1/5)</a:t>
            </a:r>
          </a:p>
        </p:txBody>
      </p:sp>
      <p:pic>
        <p:nvPicPr>
          <p:cNvPr id="5" name="person" descr="Icon representing the user of the RAG system">
            <a:extLst>
              <a:ext uri="{FF2B5EF4-FFF2-40B4-BE49-F238E27FC236}">
                <a16:creationId xmlns:a16="http://schemas.microsoft.com/office/drawing/2014/main" id="{7F904215-4704-0F29-ED26-44A8AA3AEAB1}"/>
              </a:ext>
              <a:ext uri="{C183D7F6-B498-43B3-948B-1728B52AA6E4}">
                <adec:decorative xmlns:adec="http://schemas.microsoft.com/office/drawing/2017/decorative" val="0"/>
              </a:ext>
            </a:extLst>
          </p:cNvPr>
          <p:cNvPicPr>
            <a:picLocks noChangeAspect="1"/>
          </p:cNvPicPr>
          <p:nvPr/>
        </p:nvPicPr>
        <p:blipFill>
          <a:blip r:embed="rId3"/>
          <a:srcRect/>
          <a:stretch/>
        </p:blipFill>
        <p:spPr>
          <a:xfrm>
            <a:off x="10114238" y="5438578"/>
            <a:ext cx="1277027" cy="1283413"/>
          </a:xfrm>
          <a:prstGeom prst="rect">
            <a:avLst/>
          </a:prstGeom>
        </p:spPr>
      </p:pic>
      <p:grpSp>
        <p:nvGrpSpPr>
          <p:cNvPr id="6" name="Group 5" descr="Query: Query from the user.">
            <a:extLst>
              <a:ext uri="{FF2B5EF4-FFF2-40B4-BE49-F238E27FC236}">
                <a16:creationId xmlns:a16="http://schemas.microsoft.com/office/drawing/2014/main" id="{B0920A1A-A6DB-491B-157A-1684F6847136}"/>
              </a:ext>
            </a:extLst>
          </p:cNvPr>
          <p:cNvGrpSpPr/>
          <p:nvPr/>
        </p:nvGrpSpPr>
        <p:grpSpPr>
          <a:xfrm>
            <a:off x="300646" y="1597291"/>
            <a:ext cx="2126751" cy="1846318"/>
            <a:chOff x="300646" y="1597291"/>
            <a:chExt cx="2126751" cy="1846318"/>
          </a:xfrm>
        </p:grpSpPr>
        <p:sp>
          <p:nvSpPr>
            <p:cNvPr id="7" name="Rounded Rectangle 6" descr="This box appears above &quot;Query&quot; in the diagram.">
              <a:extLst>
                <a:ext uri="{FF2B5EF4-FFF2-40B4-BE49-F238E27FC236}">
                  <a16:creationId xmlns:a16="http://schemas.microsoft.com/office/drawing/2014/main" id="{51BB937F-F610-33B4-046E-EA07E75B741B}"/>
                </a:ext>
              </a:extLst>
            </p:cNvPr>
            <p:cNvSpPr/>
            <p:nvPr/>
          </p:nvSpPr>
          <p:spPr>
            <a:xfrm>
              <a:off x="30064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Query for retrieval</a:t>
              </a:r>
            </a:p>
          </p:txBody>
        </p:sp>
        <p:sp>
          <p:nvSpPr>
            <p:cNvPr id="8" name="Rounded Rectangle 7">
              <a:extLst>
                <a:ext uri="{FF2B5EF4-FFF2-40B4-BE49-F238E27FC236}">
                  <a16:creationId xmlns:a16="http://schemas.microsoft.com/office/drawing/2014/main" id="{79D65BB2-C482-42C1-B7E0-3B16AC1862A0}"/>
                </a:ext>
              </a:extLst>
            </p:cNvPr>
            <p:cNvSpPr/>
            <p:nvPr/>
          </p:nvSpPr>
          <p:spPr>
            <a:xfrm>
              <a:off x="613460" y="2786381"/>
              <a:ext cx="1501119" cy="657228"/>
            </a:xfrm>
            <a:prstGeom prst="roundRect">
              <a:avLst/>
            </a:prstGeom>
            <a:solidFill>
              <a:srgbClr val="7C5AED"/>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Query</a:t>
              </a:r>
            </a:p>
          </p:txBody>
        </p:sp>
      </p:grpSp>
      <p:sp>
        <p:nvSpPr>
          <p:cNvPr id="9" name="Rounded Rectangular Callout 8">
            <a:extLst>
              <a:ext uri="{FF2B5EF4-FFF2-40B4-BE49-F238E27FC236}">
                <a16:creationId xmlns:a16="http://schemas.microsoft.com/office/drawing/2014/main" id="{39E9FE84-CA5E-4E1F-C465-0C3E88F15608}"/>
              </a:ext>
            </a:extLst>
          </p:cNvPr>
          <p:cNvSpPr/>
          <p:nvPr/>
        </p:nvSpPr>
        <p:spPr>
          <a:xfrm>
            <a:off x="7731357" y="5405283"/>
            <a:ext cx="2126751" cy="1061238"/>
          </a:xfrm>
          <a:prstGeom prst="wedgeRoundRectCallout">
            <a:avLst>
              <a:gd name="adj1" fmla="val 72237"/>
              <a:gd name="adj2" fmla="val 22499"/>
              <a:gd name="adj3" fmla="val 16667"/>
            </a:avLst>
          </a:prstGeom>
          <a:noFill/>
          <a:ln w="57150" cap="flat" cmpd="sng" algn="ctr">
            <a:solidFill>
              <a:srgbClr val="33006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What is the company’s return policy?</a:t>
            </a:r>
            <a:endParaRPr kumimoji="0" lang="en-DE" sz="2000" b="1"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10" name="Rounded Rectangle 9">
            <a:extLst>
              <a:ext uri="{FF2B5EF4-FFF2-40B4-BE49-F238E27FC236}">
                <a16:creationId xmlns:a16="http://schemas.microsoft.com/office/drawing/2014/main" id="{D2928D96-1ADD-C693-C19D-019C70D34E14}"/>
              </a:ext>
            </a:extLst>
          </p:cNvPr>
          <p:cNvSpPr/>
          <p:nvPr/>
        </p:nvSpPr>
        <p:spPr>
          <a:xfrm>
            <a:off x="358295" y="4232022"/>
            <a:ext cx="2011448" cy="1035191"/>
          </a:xfrm>
          <a:prstGeom prst="roundRect">
            <a:avLst/>
          </a:prstGeom>
          <a:noFill/>
          <a:ln w="53975" cap="flat" cmpd="sng" algn="ctr">
            <a:solidFill>
              <a:srgbClr val="7C5A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Amazon’s return policy in USA</a:t>
            </a:r>
          </a:p>
        </p:txBody>
      </p:sp>
      <p:cxnSp>
        <p:nvCxnSpPr>
          <p:cNvPr id="11" name="Elbow Connector 10">
            <a:extLst>
              <a:ext uri="{FF2B5EF4-FFF2-40B4-BE49-F238E27FC236}">
                <a16:creationId xmlns:a16="http://schemas.microsoft.com/office/drawing/2014/main" id="{4A41175D-53E3-1E9A-5B28-87326F02A87F}"/>
              </a:ext>
            </a:extLst>
          </p:cNvPr>
          <p:cNvCxnSpPr>
            <a:stCxn id="9" idx="1"/>
            <a:endCxn id="10" idx="2"/>
          </p:cNvCxnSpPr>
          <p:nvPr/>
        </p:nvCxnSpPr>
        <p:spPr>
          <a:xfrm rot="10800000">
            <a:off x="1364019" y="5267214"/>
            <a:ext cx="6367338" cy="668689"/>
          </a:xfrm>
          <a:prstGeom prst="bentConnector2">
            <a:avLst/>
          </a:prstGeom>
          <a:noFill/>
          <a:ln w="63500" cap="flat" cmpd="sng" algn="ctr">
            <a:solidFill>
              <a:srgbClr val="DF2A5D"/>
            </a:solidFill>
            <a:prstDash val="solid"/>
            <a:miter lim="800000"/>
            <a:tailEnd type="triangle"/>
          </a:ln>
          <a:effectLst/>
        </p:spPr>
      </p:cxnSp>
      <p:sp>
        <p:nvSpPr>
          <p:cNvPr id="12" name="TextBox 11">
            <a:extLst>
              <a:ext uri="{FF2B5EF4-FFF2-40B4-BE49-F238E27FC236}">
                <a16:creationId xmlns:a16="http://schemas.microsoft.com/office/drawing/2014/main" id="{26CA2D92-E9F5-4320-455D-942F4BB5F812}"/>
              </a:ext>
            </a:extLst>
          </p:cNvPr>
          <p:cNvSpPr txBox="1"/>
          <p:nvPr/>
        </p:nvSpPr>
        <p:spPr>
          <a:xfrm>
            <a:off x="3040695" y="6099382"/>
            <a:ext cx="3765774" cy="400110"/>
          </a:xfrm>
          <a:prstGeom prst="rect">
            <a:avLst/>
          </a:prstGeom>
          <a:noFill/>
          <a:ln w="28575">
            <a:noFill/>
          </a:ln>
        </p:spPr>
        <p:txBody>
          <a:bodyPr wrap="non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Generate a query for retrieval</a:t>
            </a:r>
          </a:p>
        </p:txBody>
      </p:sp>
      <p:cxnSp>
        <p:nvCxnSpPr>
          <p:cNvPr id="13" name="Elbow Connector 12">
            <a:extLst>
              <a:ext uri="{FF2B5EF4-FFF2-40B4-BE49-F238E27FC236}">
                <a16:creationId xmlns:a16="http://schemas.microsoft.com/office/drawing/2014/main" id="{324DAF84-7526-48FF-966E-D398CFA90F04}"/>
              </a:ext>
            </a:extLst>
          </p:cNvPr>
          <p:cNvCxnSpPr>
            <a:cxnSpLocks/>
            <a:stCxn id="10" idx="0"/>
            <a:endCxn id="8" idx="2"/>
          </p:cNvCxnSpPr>
          <p:nvPr/>
        </p:nvCxnSpPr>
        <p:spPr>
          <a:xfrm rot="5400000" flipH="1" flipV="1">
            <a:off x="969813" y="3837816"/>
            <a:ext cx="788413" cy="1"/>
          </a:xfrm>
          <a:prstGeom prst="bentConnector3">
            <a:avLst>
              <a:gd name="adj1" fmla="val 50000"/>
            </a:avLst>
          </a:prstGeom>
          <a:noFill/>
          <a:ln w="63500" cap="flat" cmpd="sng" algn="ctr">
            <a:solidFill>
              <a:srgbClr val="DF2A5D"/>
            </a:solidFill>
            <a:prstDash val="solid"/>
            <a:miter lim="800000"/>
            <a:tailEnd type="triangle"/>
          </a:ln>
          <a:effectLst/>
        </p:spPr>
      </p:cxnSp>
      <p:sp>
        <p:nvSpPr>
          <p:cNvPr id="14" name="TextBox 13">
            <a:extLst>
              <a:ext uri="{FF2B5EF4-FFF2-40B4-BE49-F238E27FC236}">
                <a16:creationId xmlns:a16="http://schemas.microsoft.com/office/drawing/2014/main" id="{4E4213FC-2B5D-98FA-96ED-9974871ECF30}"/>
              </a:ext>
            </a:extLst>
          </p:cNvPr>
          <p:cNvSpPr txBox="1"/>
          <p:nvPr/>
        </p:nvSpPr>
        <p:spPr>
          <a:xfrm>
            <a:off x="8211646" y="6466521"/>
            <a:ext cx="1324777" cy="400110"/>
          </a:xfrm>
          <a:prstGeom prst="rect">
            <a:avLst/>
          </a:prstGeom>
          <a:noFill/>
          <a:ln w="28575">
            <a:noFill/>
          </a:ln>
        </p:spPr>
        <p:txBody>
          <a:bodyPr wrap="squar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Prompt</a:t>
            </a:r>
          </a:p>
        </p:txBody>
      </p:sp>
      <p:sp>
        <p:nvSpPr>
          <p:cNvPr id="15" name="Content Placeholder 3">
            <a:extLst>
              <a:ext uri="{FF2B5EF4-FFF2-40B4-BE49-F238E27FC236}">
                <a16:creationId xmlns:a16="http://schemas.microsoft.com/office/drawing/2014/main" id="{4DD0F19E-C556-6F40-4DF3-121ADD033628}"/>
              </a:ext>
            </a:extLst>
          </p:cNvPr>
          <p:cNvSpPr txBox="1">
            <a:spLocks/>
          </p:cNvSpPr>
          <p:nvPr/>
        </p:nvSpPr>
        <p:spPr>
          <a:xfrm>
            <a:off x="4362993" y="1673526"/>
            <a:ext cx="7213655" cy="2911538"/>
          </a:xfrm>
          <a:prstGeom prst="rect">
            <a:avLst/>
          </a:prstGeom>
        </p:spPr>
        <p:txBody>
          <a:bodyPr vert="horz" lIns="91440" tIns="45720" rIns="91440" bIns="45720" rtlCol="0">
            <a:noAutofit/>
          </a:bodyPr>
          <a:lstStyle>
            <a:lvl1pPr marL="344488" marR="0" indent="-344488" algn="l" defTabSz="91440" rtl="0" eaLnBrk="1" fontAlgn="auto" latinLnBrk="0" hangingPunct="1">
              <a:lnSpc>
                <a:spcPct val="100000"/>
              </a:lnSpc>
              <a:spcBef>
                <a:spcPts val="0"/>
              </a:spcBef>
              <a:spcAft>
                <a:spcPts val="600"/>
              </a:spcAft>
              <a:buClr>
                <a:srgbClr val="1D212E"/>
              </a:buClr>
              <a:buSzPct val="100000"/>
              <a:buFontTx/>
              <a:buBlip>
                <a:blip r:embed="rId4">
                  <a:extLst>
                    <a:ext uri="{96DAC541-7B7A-43D3-8B79-37D633B846F1}">
                      <asvg:svgBlip xmlns:asvg="http://schemas.microsoft.com/office/drawing/2016/SVG/main" r:embed="rId5"/>
                    </a:ext>
                  </a:extLst>
                </a:blip>
              </a:buBlip>
              <a:tabLst>
                <a:tab pos="227013" algn="l"/>
              </a:tabLst>
              <a:defRPr sz="2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marR="0"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sz="24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marR="0" indent="-225425"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tab pos="91440" algn="l"/>
              </a:tabLst>
              <a:defRPr sz="20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marR="0" indent="-231775" algn="l" defTabSz="914400" rtl="0" eaLnBrk="1" fontAlgn="auto" latinLnBrk="0" hangingPunct="1">
              <a:lnSpc>
                <a:spcPct val="100000"/>
              </a:lnSpc>
              <a:spcBef>
                <a:spcPts val="0"/>
              </a:spcBef>
              <a:spcAft>
                <a:spcPts val="400"/>
              </a:spcAft>
              <a:buClr>
                <a:srgbClr val="1D212E"/>
              </a:buClr>
              <a:buSzTx/>
              <a:buFont typeface="Amazon Ember Light" panose="020B0403020204020204" pitchFamily="34" charset="0"/>
              <a:buChar char="»"/>
              <a:tabLst>
                <a:tab pos="91440" algn="l"/>
              </a:tabLst>
              <a:defRPr sz="1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 rtl="0" eaLnBrk="1" latinLnBrk="0" hangingPunct="1">
              <a:lnSpc>
                <a:spcPct val="90000"/>
              </a:lnSpc>
              <a:spcBef>
                <a:spcPts val="500"/>
              </a:spcBef>
              <a:buClr>
                <a:srgbClr val="1D212E"/>
              </a:buClr>
              <a:buFont typeface="System Font Regular"/>
              <a:buNone/>
              <a:tabLst>
                <a:tab pos="91440" algn="l"/>
              </a:tabLst>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4">
                  <a:extLst>
                    <a:ext uri="{96DAC541-7B7A-43D3-8B79-37D633B846F1}">
                      <asvg:svgBlip xmlns:asvg="http://schemas.microsoft.com/office/drawing/2016/SVG/main" r:embed="rId5"/>
                    </a:ext>
                  </a:extLst>
                </a:blip>
              </a:buBlip>
              <a:tabLst>
                <a:tab pos="227013" algn="l"/>
              </a:tabLst>
              <a:defRPr/>
            </a:pPr>
            <a:r>
              <a:rPr kumimoji="0" lang="en-US" sz="2800" b="0" i="0" u="none" strike="noStrike" kern="1200" cap="none" spc="0" normalizeH="0" baseline="0" noProof="0">
                <a:ln>
                  <a:noFill/>
                </a:ln>
                <a:solidFill>
                  <a:srgbClr val="232F3E"/>
                </a:solidFill>
                <a:effectLst/>
                <a:uLnTx/>
                <a:uFillTx/>
                <a:latin typeface="Amazon Ember Light" panose="020B0403020204020204" pitchFamily="34" charset="0"/>
              </a:rPr>
              <a:t>Query is generated for retrieval</a:t>
            </a: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4">
                  <a:extLst>
                    <a:ext uri="{96DAC541-7B7A-43D3-8B79-37D633B846F1}">
                      <asvg:svgBlip xmlns:asvg="http://schemas.microsoft.com/office/drawing/2016/SVG/main" r:embed="rId5"/>
                    </a:ext>
                  </a:extLst>
                </a:blip>
              </a:buBlip>
              <a:tabLst>
                <a:tab pos="227013" algn="l"/>
              </a:tabLst>
              <a:defRPr/>
            </a:pPr>
            <a:r>
              <a:rPr kumimoji="0" lang="en-US" sz="2800" b="0" i="0" u="none" strike="noStrike" kern="1200" cap="none" spc="0" normalizeH="0" baseline="0" noProof="0">
                <a:ln>
                  <a:noFill/>
                </a:ln>
                <a:solidFill>
                  <a:srgbClr val="232F3E"/>
                </a:solidFill>
                <a:effectLst/>
                <a:uLnTx/>
                <a:uFillTx/>
                <a:latin typeface="Amazon Ember Light" panose="020B0403020204020204" pitchFamily="34" charset="0"/>
              </a:rPr>
              <a:t>Prompts can be too verbose </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a:ln>
                  <a:noFill/>
                </a:ln>
                <a:solidFill>
                  <a:srgbClr val="232F3E"/>
                </a:solidFill>
                <a:effectLst/>
                <a:uLnTx/>
                <a:uFillTx/>
                <a:latin typeface="Amazon Ember Light" panose="020B0403020204020204" pitchFamily="34" charset="0"/>
              </a:rPr>
              <a:t>Setting LLM’s role</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a:ln>
                  <a:noFill/>
                </a:ln>
                <a:solidFill>
                  <a:srgbClr val="232F3E"/>
                </a:solidFill>
                <a:effectLst/>
                <a:uLnTx/>
                <a:uFillTx/>
                <a:latin typeface="Amazon Ember Light" panose="020B0403020204020204" pitchFamily="34" charset="0"/>
              </a:rPr>
              <a:t>Output instructions</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a:ln>
                  <a:noFill/>
                </a:ln>
                <a:solidFill>
                  <a:srgbClr val="232F3E"/>
                </a:solidFill>
                <a:effectLst/>
                <a:uLnTx/>
                <a:uFillTx/>
                <a:latin typeface="Amazon Ember Light" panose="020B0403020204020204" pitchFamily="34" charset="0"/>
              </a:rPr>
              <a:t>Irrelevant details</a:t>
            </a:r>
          </a:p>
          <a:p>
            <a:pPr marL="344488"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endPar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endParaRPr>
          </a:p>
        </p:txBody>
      </p:sp>
    </p:spTree>
    <p:extLst>
      <p:ext uri="{BB962C8B-B14F-4D97-AF65-F5344CB8AC3E}">
        <p14:creationId xmlns:p14="http://schemas.microsoft.com/office/powerpoint/2010/main" val="524331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F2D82B-03B5-032A-E9AB-F4550F996E55}"/>
              </a:ext>
            </a:extLst>
          </p:cNvPr>
          <p:cNvSpPr>
            <a:spLocks noGrp="1"/>
          </p:cNvSpPr>
          <p:nvPr>
            <p:ph type="sldNum" idx="97"/>
          </p:nvPr>
        </p:nvSpPr>
        <p:spPr/>
        <p:txBody>
          <a:bodyPr/>
          <a:lstStyle/>
          <a:p>
            <a:fld id="{86A8BF56-6CB3-514C-9A64-F39D95C9E25B}" type="slidenum">
              <a:rPr lang="en-US" smtClean="0"/>
              <a:t>23</a:t>
            </a:fld>
            <a:endParaRPr lang="en-US"/>
          </a:p>
        </p:txBody>
      </p:sp>
      <p:sp>
        <p:nvSpPr>
          <p:cNvPr id="3" name="Title 2">
            <a:extLst>
              <a:ext uri="{FF2B5EF4-FFF2-40B4-BE49-F238E27FC236}">
                <a16:creationId xmlns:a16="http://schemas.microsoft.com/office/drawing/2014/main" id="{FFAB60D1-9C1A-EF14-8F19-8E3BE2E4E883}"/>
              </a:ext>
            </a:extLst>
          </p:cNvPr>
          <p:cNvSpPr>
            <a:spLocks noGrp="1"/>
          </p:cNvSpPr>
          <p:nvPr>
            <p:ph type="title" idx="1"/>
          </p:nvPr>
        </p:nvSpPr>
        <p:spPr/>
        <p:txBody>
          <a:bodyPr/>
          <a:lstStyle/>
          <a:p>
            <a:r>
              <a:rPr lang="en-US" dirty="0"/>
              <a:t>RAG architecture (2/5)</a:t>
            </a:r>
          </a:p>
        </p:txBody>
      </p:sp>
      <p:pic>
        <p:nvPicPr>
          <p:cNvPr id="19" name="person" descr="Icon representing the user of the RAG system">
            <a:extLst>
              <a:ext uri="{FF2B5EF4-FFF2-40B4-BE49-F238E27FC236}">
                <a16:creationId xmlns:a16="http://schemas.microsoft.com/office/drawing/2014/main" id="{230EA271-0EEE-E39C-FF92-FFF2BFBEA8EC}"/>
              </a:ext>
              <a:ext uri="{C183D7F6-B498-43B3-948B-1728B52AA6E4}">
                <adec:decorative xmlns:adec="http://schemas.microsoft.com/office/drawing/2017/decorative" val="0"/>
              </a:ext>
            </a:extLst>
          </p:cNvPr>
          <p:cNvPicPr>
            <a:picLocks noChangeAspect="1"/>
          </p:cNvPicPr>
          <p:nvPr/>
        </p:nvPicPr>
        <p:blipFill>
          <a:blip r:embed="rId3"/>
          <a:srcRect/>
          <a:stretch/>
        </p:blipFill>
        <p:spPr>
          <a:xfrm>
            <a:off x="10114238" y="5438578"/>
            <a:ext cx="1277027" cy="1283413"/>
          </a:xfrm>
          <a:prstGeom prst="rect">
            <a:avLst/>
          </a:prstGeom>
        </p:spPr>
      </p:pic>
      <p:grpSp>
        <p:nvGrpSpPr>
          <p:cNvPr id="20" name="Group 19" descr="Query: Query from the user.">
            <a:extLst>
              <a:ext uri="{FF2B5EF4-FFF2-40B4-BE49-F238E27FC236}">
                <a16:creationId xmlns:a16="http://schemas.microsoft.com/office/drawing/2014/main" id="{DE8D5576-8AE4-2C26-EA73-108D8EFA7062}"/>
              </a:ext>
            </a:extLst>
          </p:cNvPr>
          <p:cNvGrpSpPr/>
          <p:nvPr/>
        </p:nvGrpSpPr>
        <p:grpSpPr>
          <a:xfrm>
            <a:off x="300646" y="1597291"/>
            <a:ext cx="2126751" cy="1846318"/>
            <a:chOff x="300646" y="1597291"/>
            <a:chExt cx="2126751" cy="1846318"/>
          </a:xfrm>
        </p:grpSpPr>
        <p:sp>
          <p:nvSpPr>
            <p:cNvPr id="21" name="Rounded Rectangle 20" descr="This box appears above &quot;Query&quot; in the diagram.">
              <a:extLst>
                <a:ext uri="{FF2B5EF4-FFF2-40B4-BE49-F238E27FC236}">
                  <a16:creationId xmlns:a16="http://schemas.microsoft.com/office/drawing/2014/main" id="{463FF79A-06CB-CE80-433B-2EBD830D5941}"/>
                </a:ext>
              </a:extLst>
            </p:cNvPr>
            <p:cNvSpPr/>
            <p:nvPr/>
          </p:nvSpPr>
          <p:spPr>
            <a:xfrm>
              <a:off x="30064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Query for retrieval</a:t>
              </a:r>
            </a:p>
          </p:txBody>
        </p:sp>
        <p:sp>
          <p:nvSpPr>
            <p:cNvPr id="22" name="Rounded Rectangle 21">
              <a:extLst>
                <a:ext uri="{FF2B5EF4-FFF2-40B4-BE49-F238E27FC236}">
                  <a16:creationId xmlns:a16="http://schemas.microsoft.com/office/drawing/2014/main" id="{5B99E016-3386-5ACD-B996-80D6B36AA69B}"/>
                </a:ext>
              </a:extLst>
            </p:cNvPr>
            <p:cNvSpPr/>
            <p:nvPr/>
          </p:nvSpPr>
          <p:spPr>
            <a:xfrm>
              <a:off x="613460" y="2786381"/>
              <a:ext cx="1501119" cy="657228"/>
            </a:xfrm>
            <a:prstGeom prst="roundRect">
              <a:avLst/>
            </a:prstGeom>
            <a:solidFill>
              <a:srgbClr val="7C5AED"/>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Query</a:t>
              </a:r>
            </a:p>
          </p:txBody>
        </p:sp>
      </p:grpSp>
      <p:grpSp>
        <p:nvGrpSpPr>
          <p:cNvPr id="23" name="Group 22" descr="Embedding model: Convert query to embedding">
            <a:extLst>
              <a:ext uri="{FF2B5EF4-FFF2-40B4-BE49-F238E27FC236}">
                <a16:creationId xmlns:a16="http://schemas.microsoft.com/office/drawing/2014/main" id="{83BA5BF2-8AFD-21EA-E7BB-76C5FD1BB636}"/>
              </a:ext>
            </a:extLst>
          </p:cNvPr>
          <p:cNvGrpSpPr/>
          <p:nvPr/>
        </p:nvGrpSpPr>
        <p:grpSpPr>
          <a:xfrm>
            <a:off x="2548366" y="1597291"/>
            <a:ext cx="2126751" cy="1936762"/>
            <a:chOff x="2548366" y="1597291"/>
            <a:chExt cx="2126751" cy="1936762"/>
          </a:xfrm>
        </p:grpSpPr>
        <p:sp>
          <p:nvSpPr>
            <p:cNvPr id="24" name="Rounded Rectangle 23" descr="This box appears above &quot;Embedding Model&quot; in the diagram.">
              <a:extLst>
                <a:ext uri="{FF2B5EF4-FFF2-40B4-BE49-F238E27FC236}">
                  <a16:creationId xmlns:a16="http://schemas.microsoft.com/office/drawing/2014/main" id="{6F30D551-6543-6B3E-01FA-D827C3001468}"/>
                </a:ext>
              </a:extLst>
            </p:cNvPr>
            <p:cNvSpPr/>
            <p:nvPr/>
          </p:nvSpPr>
          <p:spPr>
            <a:xfrm>
              <a:off x="254836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Convert query to embedding</a:t>
              </a:r>
            </a:p>
          </p:txBody>
        </p:sp>
        <p:sp>
          <p:nvSpPr>
            <p:cNvPr id="25" name="Rounded Rectangle 24">
              <a:extLst>
                <a:ext uri="{FF2B5EF4-FFF2-40B4-BE49-F238E27FC236}">
                  <a16:creationId xmlns:a16="http://schemas.microsoft.com/office/drawing/2014/main" id="{202A7B43-1661-9479-6B1F-CAB67C3AF472}"/>
                </a:ext>
              </a:extLst>
            </p:cNvPr>
            <p:cNvSpPr/>
            <p:nvPr/>
          </p:nvSpPr>
          <p:spPr>
            <a:xfrm>
              <a:off x="2626996" y="2695026"/>
              <a:ext cx="1969490" cy="839027"/>
            </a:xfrm>
            <a:prstGeom prst="roundRect">
              <a:avLst/>
            </a:prstGeom>
            <a:solidFill>
              <a:srgbClr val="9F1D7B"/>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Embedding model</a:t>
              </a:r>
            </a:p>
          </p:txBody>
        </p:sp>
      </p:grpSp>
      <p:sp>
        <p:nvSpPr>
          <p:cNvPr id="26" name="Rounded Rectangular Callout 25">
            <a:extLst>
              <a:ext uri="{FF2B5EF4-FFF2-40B4-BE49-F238E27FC236}">
                <a16:creationId xmlns:a16="http://schemas.microsoft.com/office/drawing/2014/main" id="{77E39B40-E75B-0D60-CFB5-B5F03C5E7449}"/>
              </a:ext>
            </a:extLst>
          </p:cNvPr>
          <p:cNvSpPr/>
          <p:nvPr/>
        </p:nvSpPr>
        <p:spPr>
          <a:xfrm>
            <a:off x="7731357" y="5405283"/>
            <a:ext cx="2126751" cy="1061238"/>
          </a:xfrm>
          <a:prstGeom prst="wedgeRoundRectCallout">
            <a:avLst>
              <a:gd name="adj1" fmla="val 72237"/>
              <a:gd name="adj2" fmla="val 22499"/>
              <a:gd name="adj3" fmla="val 16667"/>
            </a:avLst>
          </a:prstGeom>
          <a:noFill/>
          <a:ln w="57150" cap="flat" cmpd="sng" algn="ctr">
            <a:solidFill>
              <a:srgbClr val="33006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What is the company’s return policy?</a:t>
            </a:r>
            <a:endParaRPr kumimoji="0" lang="en-DE" sz="2000" b="1"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27" name="Rounded Rectangle 26">
            <a:extLst>
              <a:ext uri="{FF2B5EF4-FFF2-40B4-BE49-F238E27FC236}">
                <a16:creationId xmlns:a16="http://schemas.microsoft.com/office/drawing/2014/main" id="{3E0E60CC-3BAF-81C9-B4F3-60625ECF69FC}"/>
              </a:ext>
            </a:extLst>
          </p:cNvPr>
          <p:cNvSpPr/>
          <p:nvPr/>
        </p:nvSpPr>
        <p:spPr>
          <a:xfrm>
            <a:off x="358295" y="4232022"/>
            <a:ext cx="2011448" cy="1035191"/>
          </a:xfrm>
          <a:prstGeom prst="roundRect">
            <a:avLst/>
          </a:prstGeom>
          <a:noFill/>
          <a:ln w="53975" cap="flat" cmpd="sng" algn="ctr">
            <a:solidFill>
              <a:srgbClr val="7C5A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Amazon’s return policy in USA</a:t>
            </a:r>
          </a:p>
        </p:txBody>
      </p:sp>
      <p:cxnSp>
        <p:nvCxnSpPr>
          <p:cNvPr id="28" name="Elbow Connector 27">
            <a:extLst>
              <a:ext uri="{FF2B5EF4-FFF2-40B4-BE49-F238E27FC236}">
                <a16:creationId xmlns:a16="http://schemas.microsoft.com/office/drawing/2014/main" id="{B6E69EF5-1E68-ABE8-7C4D-E5C2BF669A16}"/>
              </a:ext>
            </a:extLst>
          </p:cNvPr>
          <p:cNvCxnSpPr>
            <a:stCxn id="26" idx="1"/>
            <a:endCxn id="27" idx="2"/>
          </p:cNvCxnSpPr>
          <p:nvPr/>
        </p:nvCxnSpPr>
        <p:spPr>
          <a:xfrm rot="10800000">
            <a:off x="1364019" y="5267214"/>
            <a:ext cx="6367338" cy="668689"/>
          </a:xfrm>
          <a:prstGeom prst="bentConnector2">
            <a:avLst/>
          </a:prstGeom>
          <a:noFill/>
          <a:ln w="63500" cap="flat" cmpd="sng" algn="ctr">
            <a:solidFill>
              <a:srgbClr val="DF2A5D"/>
            </a:solidFill>
            <a:prstDash val="solid"/>
            <a:miter lim="800000"/>
            <a:tailEnd type="triangle"/>
          </a:ln>
          <a:effectLst/>
        </p:spPr>
      </p:cxnSp>
      <p:sp>
        <p:nvSpPr>
          <p:cNvPr id="29" name="TextBox 28">
            <a:extLst>
              <a:ext uri="{FF2B5EF4-FFF2-40B4-BE49-F238E27FC236}">
                <a16:creationId xmlns:a16="http://schemas.microsoft.com/office/drawing/2014/main" id="{55D0E470-9482-1E4C-41EE-3470A768848E}"/>
              </a:ext>
            </a:extLst>
          </p:cNvPr>
          <p:cNvSpPr txBox="1"/>
          <p:nvPr/>
        </p:nvSpPr>
        <p:spPr>
          <a:xfrm>
            <a:off x="3040695" y="6099382"/>
            <a:ext cx="3765774" cy="400110"/>
          </a:xfrm>
          <a:prstGeom prst="rect">
            <a:avLst/>
          </a:prstGeom>
          <a:noFill/>
          <a:ln w="28575">
            <a:noFill/>
          </a:ln>
        </p:spPr>
        <p:txBody>
          <a:bodyPr wrap="non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Generate a query for retrieval</a:t>
            </a:r>
          </a:p>
        </p:txBody>
      </p:sp>
      <p:cxnSp>
        <p:nvCxnSpPr>
          <p:cNvPr id="30" name="Elbow Connector 29">
            <a:extLst>
              <a:ext uri="{FF2B5EF4-FFF2-40B4-BE49-F238E27FC236}">
                <a16:creationId xmlns:a16="http://schemas.microsoft.com/office/drawing/2014/main" id="{AA7E09AD-C088-4B67-047E-CA88146C710C}"/>
              </a:ext>
            </a:extLst>
          </p:cNvPr>
          <p:cNvCxnSpPr>
            <a:cxnSpLocks/>
            <a:stCxn id="27" idx="0"/>
            <a:endCxn id="22" idx="2"/>
          </p:cNvCxnSpPr>
          <p:nvPr/>
        </p:nvCxnSpPr>
        <p:spPr>
          <a:xfrm rot="5400000" flipH="1" flipV="1">
            <a:off x="969813" y="3837816"/>
            <a:ext cx="788413" cy="1"/>
          </a:xfrm>
          <a:prstGeom prst="bentConnector3">
            <a:avLst>
              <a:gd name="adj1" fmla="val 50000"/>
            </a:avLst>
          </a:prstGeom>
          <a:noFill/>
          <a:ln w="63500" cap="flat" cmpd="sng" algn="ctr">
            <a:solidFill>
              <a:srgbClr val="DF2A5D"/>
            </a:solidFill>
            <a:prstDash val="solid"/>
            <a:miter lim="800000"/>
            <a:tailEnd type="triangle"/>
          </a:ln>
          <a:effectLst/>
        </p:spPr>
      </p:cxnSp>
      <p:cxnSp>
        <p:nvCxnSpPr>
          <p:cNvPr id="31" name="Straight Arrow Connector 30">
            <a:extLst>
              <a:ext uri="{FF2B5EF4-FFF2-40B4-BE49-F238E27FC236}">
                <a16:creationId xmlns:a16="http://schemas.microsoft.com/office/drawing/2014/main" id="{7BF37903-48F2-29C5-4FB5-327EB55396E2}"/>
              </a:ext>
            </a:extLst>
          </p:cNvPr>
          <p:cNvCxnSpPr>
            <a:stCxn id="22" idx="3"/>
            <a:endCxn id="25" idx="1"/>
          </p:cNvCxnSpPr>
          <p:nvPr/>
        </p:nvCxnSpPr>
        <p:spPr>
          <a:xfrm flipV="1">
            <a:off x="2114579" y="3114540"/>
            <a:ext cx="512417" cy="455"/>
          </a:xfrm>
          <a:prstGeom prst="straightConnector1">
            <a:avLst/>
          </a:prstGeom>
          <a:noFill/>
          <a:ln w="63500" cap="flat" cmpd="sng" algn="ctr">
            <a:solidFill>
              <a:srgbClr val="DF2A5D"/>
            </a:solidFill>
            <a:prstDash val="solid"/>
            <a:miter lim="800000"/>
            <a:tailEnd type="triangle"/>
          </a:ln>
          <a:effectLst/>
        </p:spPr>
      </p:cxnSp>
      <p:sp>
        <p:nvSpPr>
          <p:cNvPr id="32" name="Content Placeholder 3">
            <a:extLst>
              <a:ext uri="{FF2B5EF4-FFF2-40B4-BE49-F238E27FC236}">
                <a16:creationId xmlns:a16="http://schemas.microsoft.com/office/drawing/2014/main" id="{9BE09E83-B844-04E2-BFA9-FE39C3A09055}"/>
              </a:ext>
            </a:extLst>
          </p:cNvPr>
          <p:cNvSpPr txBox="1">
            <a:spLocks/>
          </p:cNvSpPr>
          <p:nvPr/>
        </p:nvSpPr>
        <p:spPr>
          <a:xfrm>
            <a:off x="7071588" y="1530415"/>
            <a:ext cx="4929669" cy="2911538"/>
          </a:xfrm>
          <a:prstGeom prst="rect">
            <a:avLst/>
          </a:prstGeom>
        </p:spPr>
        <p:txBody>
          <a:bodyPr vert="horz" lIns="91440" tIns="45720" rIns="91440" bIns="45720" rtlCol="0">
            <a:noAutofit/>
          </a:bodyPr>
          <a:lstStyle>
            <a:lvl1pPr marL="344488" marR="0" indent="-344488" algn="l" defTabSz="91440" rtl="0" eaLnBrk="1" fontAlgn="auto" latinLnBrk="0" hangingPunct="1">
              <a:lnSpc>
                <a:spcPct val="100000"/>
              </a:lnSpc>
              <a:spcBef>
                <a:spcPts val="0"/>
              </a:spcBef>
              <a:spcAft>
                <a:spcPts val="600"/>
              </a:spcAft>
              <a:buClr>
                <a:srgbClr val="1D212E"/>
              </a:buClr>
              <a:buSzPct val="100000"/>
              <a:buFontTx/>
              <a:buBlip>
                <a:blip r:embed="rId4">
                  <a:extLst>
                    <a:ext uri="{96DAC541-7B7A-43D3-8B79-37D633B846F1}">
                      <asvg:svgBlip xmlns:asvg="http://schemas.microsoft.com/office/drawing/2016/SVG/main" r:embed="rId5"/>
                    </a:ext>
                  </a:extLst>
                </a:blip>
              </a:buBlip>
              <a:tabLst>
                <a:tab pos="227013" algn="l"/>
              </a:tabLst>
              <a:defRPr sz="2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marR="0"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sz="24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marR="0" indent="-225425"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tab pos="91440" algn="l"/>
              </a:tabLst>
              <a:defRPr sz="20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marR="0" indent="-231775" algn="l" defTabSz="914400" rtl="0" eaLnBrk="1" fontAlgn="auto" latinLnBrk="0" hangingPunct="1">
              <a:lnSpc>
                <a:spcPct val="100000"/>
              </a:lnSpc>
              <a:spcBef>
                <a:spcPts val="0"/>
              </a:spcBef>
              <a:spcAft>
                <a:spcPts val="400"/>
              </a:spcAft>
              <a:buClr>
                <a:srgbClr val="1D212E"/>
              </a:buClr>
              <a:buSzTx/>
              <a:buFont typeface="Amazon Ember Light" panose="020B0403020204020204" pitchFamily="34" charset="0"/>
              <a:buChar char="»"/>
              <a:tabLst>
                <a:tab pos="91440" algn="l"/>
              </a:tabLst>
              <a:defRPr sz="1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 rtl="0" eaLnBrk="1" latinLnBrk="0" hangingPunct="1">
              <a:lnSpc>
                <a:spcPct val="90000"/>
              </a:lnSpc>
              <a:spcBef>
                <a:spcPts val="500"/>
              </a:spcBef>
              <a:buClr>
                <a:srgbClr val="1D212E"/>
              </a:buClr>
              <a:buFont typeface="System Font Regular"/>
              <a:buNone/>
              <a:tabLst>
                <a:tab pos="91440" algn="l"/>
              </a:tabLst>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4">
                  <a:extLst>
                    <a:ext uri="{96DAC541-7B7A-43D3-8B79-37D633B846F1}">
                      <asvg:svgBlip xmlns:asvg="http://schemas.microsoft.com/office/drawing/2016/SVG/main" r:embed="rId5"/>
                    </a:ext>
                  </a:extLst>
                </a:blip>
              </a:buBlip>
              <a:tabLst>
                <a:tab pos="227013" algn="l"/>
              </a:tabLst>
              <a:defRPr/>
            </a:pPr>
            <a:r>
              <a:rPr kumimoji="0" lang="en-US" sz="2800" b="0" i="0" u="none" strike="noStrike" kern="1200" cap="none" spc="0" normalizeH="0" baseline="0" noProof="0">
                <a:ln>
                  <a:noFill/>
                </a:ln>
                <a:solidFill>
                  <a:srgbClr val="232F3E"/>
                </a:solidFill>
                <a:effectLst/>
                <a:uLnTx/>
                <a:uFillTx/>
                <a:latin typeface="Amazon Ember Light" panose="020B0403020204020204" pitchFamily="34" charset="0"/>
              </a:rPr>
              <a:t>Common embedding model</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a:ln>
                  <a:noFill/>
                </a:ln>
                <a:solidFill>
                  <a:srgbClr val="232F3E"/>
                </a:solidFill>
                <a:effectLst/>
                <a:uLnTx/>
                <a:uFillTx/>
                <a:latin typeface="Amazon Ember Light" panose="020B0403020204020204" pitchFamily="34" charset="0"/>
              </a:rPr>
              <a:t>Vector database</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a:ln>
                  <a:noFill/>
                </a:ln>
                <a:solidFill>
                  <a:srgbClr val="232F3E"/>
                </a:solidFill>
                <a:effectLst/>
                <a:uLnTx/>
                <a:uFillTx/>
                <a:latin typeface="Amazon Ember Light" panose="020B0403020204020204" pitchFamily="34" charset="0"/>
              </a:rPr>
              <a:t>Query</a:t>
            </a:r>
          </a:p>
          <a:p>
            <a:pPr marL="344488"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endPar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endParaRPr>
          </a:p>
        </p:txBody>
      </p:sp>
    </p:spTree>
    <p:extLst>
      <p:ext uri="{BB962C8B-B14F-4D97-AF65-F5344CB8AC3E}">
        <p14:creationId xmlns:p14="http://schemas.microsoft.com/office/powerpoint/2010/main" val="3360450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F963D2-B31D-7F52-A967-BA9EF4CACCDE}"/>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7C4439F4-9977-C1B1-D3FD-A6ACA6EFFF0E}"/>
              </a:ext>
            </a:extLst>
          </p:cNvPr>
          <p:cNvSpPr>
            <a:spLocks noGrp="1"/>
          </p:cNvSpPr>
          <p:nvPr>
            <p:ph type="title" idx="1"/>
          </p:nvPr>
        </p:nvSpPr>
        <p:spPr/>
        <p:txBody>
          <a:bodyPr/>
          <a:lstStyle/>
          <a:p>
            <a:r>
              <a:rPr lang="en-US" dirty="0"/>
              <a:t>RAG architecture (3/5)</a:t>
            </a:r>
          </a:p>
        </p:txBody>
      </p:sp>
      <p:pic>
        <p:nvPicPr>
          <p:cNvPr id="25" name="person" descr="Icon representing the user of the RAG system">
            <a:extLst>
              <a:ext uri="{FF2B5EF4-FFF2-40B4-BE49-F238E27FC236}">
                <a16:creationId xmlns:a16="http://schemas.microsoft.com/office/drawing/2014/main" id="{FDA98D85-47D9-FCE0-2DAE-7656B2FFCE43}"/>
              </a:ext>
              <a:ext uri="{C183D7F6-B498-43B3-948B-1728B52AA6E4}">
                <adec:decorative xmlns:adec="http://schemas.microsoft.com/office/drawing/2017/decorative" val="0"/>
              </a:ext>
            </a:extLst>
          </p:cNvPr>
          <p:cNvPicPr>
            <a:picLocks noChangeAspect="1"/>
          </p:cNvPicPr>
          <p:nvPr/>
        </p:nvPicPr>
        <p:blipFill>
          <a:blip r:embed="rId3"/>
          <a:srcRect/>
          <a:stretch/>
        </p:blipFill>
        <p:spPr>
          <a:xfrm>
            <a:off x="10114238" y="5438578"/>
            <a:ext cx="1277027" cy="1283413"/>
          </a:xfrm>
          <a:prstGeom prst="rect">
            <a:avLst/>
          </a:prstGeom>
        </p:spPr>
      </p:pic>
      <p:grpSp>
        <p:nvGrpSpPr>
          <p:cNvPr id="26" name="Group 25" descr="Query: Query from the user.">
            <a:extLst>
              <a:ext uri="{FF2B5EF4-FFF2-40B4-BE49-F238E27FC236}">
                <a16:creationId xmlns:a16="http://schemas.microsoft.com/office/drawing/2014/main" id="{F3C9B350-B28E-8616-F651-213A809D677D}"/>
              </a:ext>
            </a:extLst>
          </p:cNvPr>
          <p:cNvGrpSpPr/>
          <p:nvPr/>
        </p:nvGrpSpPr>
        <p:grpSpPr>
          <a:xfrm>
            <a:off x="300646" y="1597291"/>
            <a:ext cx="2126751" cy="1846318"/>
            <a:chOff x="300646" y="1597291"/>
            <a:chExt cx="2126751" cy="1846318"/>
          </a:xfrm>
        </p:grpSpPr>
        <p:sp>
          <p:nvSpPr>
            <p:cNvPr id="27" name="Rounded Rectangle 26" descr="This box appears above &quot;Query&quot; in the diagram.">
              <a:extLst>
                <a:ext uri="{FF2B5EF4-FFF2-40B4-BE49-F238E27FC236}">
                  <a16:creationId xmlns:a16="http://schemas.microsoft.com/office/drawing/2014/main" id="{F2D075AA-8AB7-27BB-9FE2-807C18A58719}"/>
                </a:ext>
              </a:extLst>
            </p:cNvPr>
            <p:cNvSpPr/>
            <p:nvPr/>
          </p:nvSpPr>
          <p:spPr>
            <a:xfrm>
              <a:off x="30064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Query for retrieval</a:t>
              </a:r>
            </a:p>
          </p:txBody>
        </p:sp>
        <p:sp>
          <p:nvSpPr>
            <p:cNvPr id="28" name="Rounded Rectangle 27">
              <a:extLst>
                <a:ext uri="{FF2B5EF4-FFF2-40B4-BE49-F238E27FC236}">
                  <a16:creationId xmlns:a16="http://schemas.microsoft.com/office/drawing/2014/main" id="{97269059-066F-5E5F-693E-A29580E29C97}"/>
                </a:ext>
              </a:extLst>
            </p:cNvPr>
            <p:cNvSpPr/>
            <p:nvPr/>
          </p:nvSpPr>
          <p:spPr>
            <a:xfrm>
              <a:off x="613460" y="2786381"/>
              <a:ext cx="1501119" cy="657228"/>
            </a:xfrm>
            <a:prstGeom prst="roundRect">
              <a:avLst/>
            </a:prstGeom>
            <a:solidFill>
              <a:srgbClr val="7C5AED"/>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Query</a:t>
              </a:r>
            </a:p>
          </p:txBody>
        </p:sp>
      </p:grpSp>
      <p:grpSp>
        <p:nvGrpSpPr>
          <p:cNvPr id="29" name="Group 28" descr="Embedding model: Convert query to embedding">
            <a:extLst>
              <a:ext uri="{FF2B5EF4-FFF2-40B4-BE49-F238E27FC236}">
                <a16:creationId xmlns:a16="http://schemas.microsoft.com/office/drawing/2014/main" id="{ED59D6C9-8C15-AAAD-A98B-69DCFE19EAF6}"/>
              </a:ext>
            </a:extLst>
          </p:cNvPr>
          <p:cNvGrpSpPr/>
          <p:nvPr/>
        </p:nvGrpSpPr>
        <p:grpSpPr>
          <a:xfrm>
            <a:off x="2548366" y="1597291"/>
            <a:ext cx="2126751" cy="1936762"/>
            <a:chOff x="2548366" y="1597291"/>
            <a:chExt cx="2126751" cy="1936762"/>
          </a:xfrm>
        </p:grpSpPr>
        <p:sp>
          <p:nvSpPr>
            <p:cNvPr id="30" name="Rounded Rectangle 29" descr="This box appears above &quot;Embedding Model&quot; in the diagram.">
              <a:extLst>
                <a:ext uri="{FF2B5EF4-FFF2-40B4-BE49-F238E27FC236}">
                  <a16:creationId xmlns:a16="http://schemas.microsoft.com/office/drawing/2014/main" id="{126ED631-B11E-6962-76A9-13D38EC09476}"/>
                </a:ext>
              </a:extLst>
            </p:cNvPr>
            <p:cNvSpPr/>
            <p:nvPr/>
          </p:nvSpPr>
          <p:spPr>
            <a:xfrm>
              <a:off x="254836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Convert query to embedding</a:t>
              </a:r>
            </a:p>
          </p:txBody>
        </p:sp>
        <p:sp>
          <p:nvSpPr>
            <p:cNvPr id="31" name="Rounded Rectangle 30">
              <a:extLst>
                <a:ext uri="{FF2B5EF4-FFF2-40B4-BE49-F238E27FC236}">
                  <a16:creationId xmlns:a16="http://schemas.microsoft.com/office/drawing/2014/main" id="{82B214C6-67E9-2103-0CAC-516BEB0A6107}"/>
                </a:ext>
              </a:extLst>
            </p:cNvPr>
            <p:cNvSpPr/>
            <p:nvPr/>
          </p:nvSpPr>
          <p:spPr>
            <a:xfrm>
              <a:off x="2626996" y="2695026"/>
              <a:ext cx="1969490" cy="839027"/>
            </a:xfrm>
            <a:prstGeom prst="roundRect">
              <a:avLst/>
            </a:prstGeom>
            <a:solidFill>
              <a:srgbClr val="9F1D7B"/>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Embedding model</a:t>
              </a:r>
            </a:p>
          </p:txBody>
        </p:sp>
      </p:grpSp>
      <p:grpSp>
        <p:nvGrpSpPr>
          <p:cNvPr id="32" name="Group 31" descr="Depiction of a vector database containing documents such as the Return policy: 15 days after purchase...: Retrieve relevant info from a vector database.">
            <a:extLst>
              <a:ext uri="{FF2B5EF4-FFF2-40B4-BE49-F238E27FC236}">
                <a16:creationId xmlns:a16="http://schemas.microsoft.com/office/drawing/2014/main" id="{8A2FE7CD-DC88-AABE-B85C-2BEFE321A34A}"/>
              </a:ext>
            </a:extLst>
          </p:cNvPr>
          <p:cNvGrpSpPr/>
          <p:nvPr/>
        </p:nvGrpSpPr>
        <p:grpSpPr>
          <a:xfrm>
            <a:off x="4663032" y="1597291"/>
            <a:ext cx="2765942" cy="4027480"/>
            <a:chOff x="4663032" y="1597291"/>
            <a:chExt cx="2765942" cy="4027480"/>
          </a:xfrm>
        </p:grpSpPr>
        <p:sp>
          <p:nvSpPr>
            <p:cNvPr id="33" name="Rounded Rectangle 32" descr="This box appears above Vector Database in the diagram.">
              <a:extLst>
                <a:ext uri="{FF2B5EF4-FFF2-40B4-BE49-F238E27FC236}">
                  <a16:creationId xmlns:a16="http://schemas.microsoft.com/office/drawing/2014/main" id="{588BDD63-A3EC-F56F-4D47-44A30E758445}"/>
                </a:ext>
              </a:extLst>
            </p:cNvPr>
            <p:cNvSpPr/>
            <p:nvPr/>
          </p:nvSpPr>
          <p:spPr>
            <a:xfrm>
              <a:off x="4859151"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Retrieve relevant info from a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vector database</a:t>
              </a:r>
            </a:p>
          </p:txBody>
        </p:sp>
        <p:pic>
          <p:nvPicPr>
            <p:cNvPr id="34" name="Graphic 33" descr="Icon representing a Vector Database">
              <a:extLst>
                <a:ext uri="{FF2B5EF4-FFF2-40B4-BE49-F238E27FC236}">
                  <a16:creationId xmlns:a16="http://schemas.microsoft.com/office/drawing/2014/main" id="{6B36989B-0AB1-CC23-97FB-20A4F77101E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42605" y="2622313"/>
              <a:ext cx="1396113" cy="1396113"/>
            </a:xfrm>
            <a:prstGeom prst="rect">
              <a:avLst/>
            </a:prstGeom>
          </p:spPr>
        </p:pic>
        <p:pic>
          <p:nvPicPr>
            <p:cNvPr id="35" name="Graphic 34" descr="Icon representing a Document for the RAG system">
              <a:extLst>
                <a:ext uri="{FF2B5EF4-FFF2-40B4-BE49-F238E27FC236}">
                  <a16:creationId xmlns:a16="http://schemas.microsoft.com/office/drawing/2014/main" id="{B581D171-32B2-F595-B838-C48EA46E9E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16533" y="3939323"/>
              <a:ext cx="1008857" cy="1008857"/>
            </a:xfrm>
            <a:prstGeom prst="rect">
              <a:avLst/>
            </a:prstGeom>
          </p:spPr>
        </p:pic>
        <p:sp>
          <p:nvSpPr>
            <p:cNvPr id="36" name="TextBox 35">
              <a:extLst>
                <a:ext uri="{FF2B5EF4-FFF2-40B4-BE49-F238E27FC236}">
                  <a16:creationId xmlns:a16="http://schemas.microsoft.com/office/drawing/2014/main" id="{F169FDA5-2DFF-779A-82F1-F82C00D61608}"/>
                </a:ext>
              </a:extLst>
            </p:cNvPr>
            <p:cNvSpPr txBox="1"/>
            <p:nvPr/>
          </p:nvSpPr>
          <p:spPr>
            <a:xfrm>
              <a:off x="4663032" y="4916885"/>
              <a:ext cx="2765942" cy="707886"/>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1" u="none" strike="noStrike" kern="0" cap="none" spc="0" normalizeH="0" baseline="0" noProof="0" dirty="0">
                  <a:ln>
                    <a:noFill/>
                  </a:ln>
                  <a:solidFill>
                    <a:srgbClr val="232F3E"/>
                  </a:solidFill>
                  <a:effectLst/>
                  <a:uLnTx/>
                  <a:uFillTx/>
                  <a:latin typeface="Amazon Ember Light"/>
                </a:rPr>
                <a:t>“Return policy: 15 days after purchase…”</a:t>
              </a:r>
            </a:p>
          </p:txBody>
        </p:sp>
      </p:grpSp>
      <p:sp>
        <p:nvSpPr>
          <p:cNvPr id="37" name="Rounded Rectangular Callout 36">
            <a:extLst>
              <a:ext uri="{FF2B5EF4-FFF2-40B4-BE49-F238E27FC236}">
                <a16:creationId xmlns:a16="http://schemas.microsoft.com/office/drawing/2014/main" id="{AB1E6133-A9BE-1B21-702F-3E2093802824}"/>
              </a:ext>
            </a:extLst>
          </p:cNvPr>
          <p:cNvSpPr/>
          <p:nvPr/>
        </p:nvSpPr>
        <p:spPr>
          <a:xfrm>
            <a:off x="7731357" y="5405283"/>
            <a:ext cx="2126751" cy="1061238"/>
          </a:xfrm>
          <a:prstGeom prst="wedgeRoundRectCallout">
            <a:avLst>
              <a:gd name="adj1" fmla="val 72237"/>
              <a:gd name="adj2" fmla="val 22499"/>
              <a:gd name="adj3" fmla="val 16667"/>
            </a:avLst>
          </a:prstGeom>
          <a:noFill/>
          <a:ln w="57150" cap="flat" cmpd="sng" algn="ctr">
            <a:solidFill>
              <a:srgbClr val="33006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What is the company’s return policy?</a:t>
            </a:r>
            <a:endParaRPr kumimoji="0" lang="en-DE" sz="2000" b="1"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38" name="Rounded Rectangle 37">
            <a:extLst>
              <a:ext uri="{FF2B5EF4-FFF2-40B4-BE49-F238E27FC236}">
                <a16:creationId xmlns:a16="http://schemas.microsoft.com/office/drawing/2014/main" id="{58A333DF-D596-6B5E-969F-98547E990C3B}"/>
              </a:ext>
            </a:extLst>
          </p:cNvPr>
          <p:cNvSpPr/>
          <p:nvPr/>
        </p:nvSpPr>
        <p:spPr>
          <a:xfrm>
            <a:off x="358295" y="4232022"/>
            <a:ext cx="2011448" cy="1035191"/>
          </a:xfrm>
          <a:prstGeom prst="roundRect">
            <a:avLst/>
          </a:prstGeom>
          <a:noFill/>
          <a:ln w="53975" cap="flat" cmpd="sng" algn="ctr">
            <a:solidFill>
              <a:srgbClr val="7C5A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Amazon’s return policy in USA</a:t>
            </a:r>
          </a:p>
        </p:txBody>
      </p:sp>
      <p:cxnSp>
        <p:nvCxnSpPr>
          <p:cNvPr id="39" name="Elbow Connector 38">
            <a:extLst>
              <a:ext uri="{FF2B5EF4-FFF2-40B4-BE49-F238E27FC236}">
                <a16:creationId xmlns:a16="http://schemas.microsoft.com/office/drawing/2014/main" id="{3B856894-CC4E-E1FD-423F-8A96703047AF}"/>
              </a:ext>
            </a:extLst>
          </p:cNvPr>
          <p:cNvCxnSpPr>
            <a:stCxn id="37" idx="1"/>
            <a:endCxn id="38" idx="2"/>
          </p:cNvCxnSpPr>
          <p:nvPr/>
        </p:nvCxnSpPr>
        <p:spPr>
          <a:xfrm rot="10800000">
            <a:off x="1364019" y="5267214"/>
            <a:ext cx="6367338" cy="668689"/>
          </a:xfrm>
          <a:prstGeom prst="bentConnector2">
            <a:avLst/>
          </a:prstGeom>
          <a:noFill/>
          <a:ln w="63500" cap="flat" cmpd="sng" algn="ctr">
            <a:solidFill>
              <a:srgbClr val="DF2A5D"/>
            </a:solidFill>
            <a:prstDash val="solid"/>
            <a:miter lim="800000"/>
            <a:tailEnd type="triangle"/>
          </a:ln>
          <a:effectLst/>
        </p:spPr>
      </p:cxnSp>
      <p:sp>
        <p:nvSpPr>
          <p:cNvPr id="40" name="TextBox 39">
            <a:extLst>
              <a:ext uri="{FF2B5EF4-FFF2-40B4-BE49-F238E27FC236}">
                <a16:creationId xmlns:a16="http://schemas.microsoft.com/office/drawing/2014/main" id="{CA6BCD78-7109-C8F7-CDBF-2739801BB870}"/>
              </a:ext>
            </a:extLst>
          </p:cNvPr>
          <p:cNvSpPr txBox="1"/>
          <p:nvPr/>
        </p:nvSpPr>
        <p:spPr>
          <a:xfrm>
            <a:off x="3040695" y="6099382"/>
            <a:ext cx="3765774" cy="400110"/>
          </a:xfrm>
          <a:prstGeom prst="rect">
            <a:avLst/>
          </a:prstGeom>
          <a:noFill/>
          <a:ln w="28575">
            <a:noFill/>
          </a:ln>
        </p:spPr>
        <p:txBody>
          <a:bodyPr wrap="non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Generate a query for retrieval</a:t>
            </a:r>
          </a:p>
        </p:txBody>
      </p:sp>
      <p:cxnSp>
        <p:nvCxnSpPr>
          <p:cNvPr id="41" name="Elbow Connector 40">
            <a:extLst>
              <a:ext uri="{FF2B5EF4-FFF2-40B4-BE49-F238E27FC236}">
                <a16:creationId xmlns:a16="http://schemas.microsoft.com/office/drawing/2014/main" id="{448AA24F-4ACA-264D-1BD9-AE714C30D4F0}"/>
              </a:ext>
            </a:extLst>
          </p:cNvPr>
          <p:cNvCxnSpPr>
            <a:cxnSpLocks/>
            <a:stCxn id="38" idx="0"/>
            <a:endCxn id="28" idx="2"/>
          </p:cNvCxnSpPr>
          <p:nvPr/>
        </p:nvCxnSpPr>
        <p:spPr>
          <a:xfrm rot="5400000" flipH="1" flipV="1">
            <a:off x="969813" y="3837816"/>
            <a:ext cx="788413" cy="1"/>
          </a:xfrm>
          <a:prstGeom prst="bentConnector3">
            <a:avLst>
              <a:gd name="adj1" fmla="val 50000"/>
            </a:avLst>
          </a:prstGeom>
          <a:noFill/>
          <a:ln w="63500" cap="flat" cmpd="sng" algn="ctr">
            <a:solidFill>
              <a:srgbClr val="DF2A5D"/>
            </a:solidFill>
            <a:prstDash val="solid"/>
            <a:miter lim="800000"/>
            <a:tailEnd type="triangle"/>
          </a:ln>
          <a:effectLst/>
        </p:spPr>
      </p:cxnSp>
      <p:cxnSp>
        <p:nvCxnSpPr>
          <p:cNvPr id="42" name="Straight Arrow Connector 41">
            <a:extLst>
              <a:ext uri="{FF2B5EF4-FFF2-40B4-BE49-F238E27FC236}">
                <a16:creationId xmlns:a16="http://schemas.microsoft.com/office/drawing/2014/main" id="{5735F9FF-A593-424C-0874-216D7D026FEC}"/>
              </a:ext>
            </a:extLst>
          </p:cNvPr>
          <p:cNvCxnSpPr>
            <a:stCxn id="28" idx="3"/>
            <a:endCxn id="31" idx="1"/>
          </p:cNvCxnSpPr>
          <p:nvPr/>
        </p:nvCxnSpPr>
        <p:spPr>
          <a:xfrm flipV="1">
            <a:off x="2114579" y="3114540"/>
            <a:ext cx="512417" cy="455"/>
          </a:xfrm>
          <a:prstGeom prst="straightConnector1">
            <a:avLst/>
          </a:prstGeom>
          <a:noFill/>
          <a:ln w="63500" cap="flat" cmpd="sng" algn="ctr">
            <a:solidFill>
              <a:srgbClr val="DF2A5D"/>
            </a:solidFill>
            <a:prstDash val="solid"/>
            <a:miter lim="800000"/>
            <a:tailEnd type="triangle"/>
          </a:ln>
          <a:effectLst/>
        </p:spPr>
      </p:cxnSp>
      <p:cxnSp>
        <p:nvCxnSpPr>
          <p:cNvPr id="43" name="Straight Arrow Connector 42">
            <a:extLst>
              <a:ext uri="{FF2B5EF4-FFF2-40B4-BE49-F238E27FC236}">
                <a16:creationId xmlns:a16="http://schemas.microsoft.com/office/drawing/2014/main" id="{2A49D374-ECC6-0A3D-3263-FC55D4D920C5}"/>
              </a:ext>
            </a:extLst>
          </p:cNvPr>
          <p:cNvCxnSpPr>
            <a:cxnSpLocks/>
            <a:stCxn id="31" idx="3"/>
          </p:cNvCxnSpPr>
          <p:nvPr/>
        </p:nvCxnSpPr>
        <p:spPr>
          <a:xfrm>
            <a:off x="4596486" y="3114540"/>
            <a:ext cx="922949" cy="0"/>
          </a:xfrm>
          <a:prstGeom prst="straightConnector1">
            <a:avLst/>
          </a:prstGeom>
          <a:noFill/>
          <a:ln w="63500" cap="flat" cmpd="sng" algn="ctr">
            <a:solidFill>
              <a:srgbClr val="DF2A5D"/>
            </a:solidFill>
            <a:prstDash val="solid"/>
            <a:miter lim="800000"/>
            <a:tailEnd type="triangle"/>
          </a:ln>
          <a:effectLst/>
        </p:spPr>
      </p:cxnSp>
      <p:sp>
        <p:nvSpPr>
          <p:cNvPr id="44" name="TextBox 43">
            <a:extLst>
              <a:ext uri="{FF2B5EF4-FFF2-40B4-BE49-F238E27FC236}">
                <a16:creationId xmlns:a16="http://schemas.microsoft.com/office/drawing/2014/main" id="{9079A5D1-4AC8-CD23-CB34-D0EAC2280D10}"/>
              </a:ext>
            </a:extLst>
          </p:cNvPr>
          <p:cNvSpPr txBox="1"/>
          <p:nvPr/>
        </p:nvSpPr>
        <p:spPr>
          <a:xfrm>
            <a:off x="8211646" y="6466521"/>
            <a:ext cx="1324777" cy="400110"/>
          </a:xfrm>
          <a:prstGeom prst="rect">
            <a:avLst/>
          </a:prstGeom>
          <a:noFill/>
          <a:ln w="28575">
            <a:noFill/>
          </a:ln>
        </p:spPr>
        <p:txBody>
          <a:bodyPr wrap="squar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Prompt</a:t>
            </a:r>
          </a:p>
        </p:txBody>
      </p:sp>
    </p:spTree>
    <p:extLst>
      <p:ext uri="{BB962C8B-B14F-4D97-AF65-F5344CB8AC3E}">
        <p14:creationId xmlns:p14="http://schemas.microsoft.com/office/powerpoint/2010/main" val="3343297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7C9D45-EA55-A781-8BA1-D4AB9AE32B27}"/>
              </a:ext>
            </a:extLst>
          </p:cNvPr>
          <p:cNvSpPr>
            <a:spLocks noGrp="1"/>
          </p:cNvSpPr>
          <p:nvPr>
            <p:ph type="sldNum" idx="97"/>
          </p:nvPr>
        </p:nvSpPr>
        <p:spPr/>
        <p:txBody>
          <a:bodyPr/>
          <a:lstStyle/>
          <a:p>
            <a:fld id="{86A8BF56-6CB3-514C-9A64-F39D95C9E25B}" type="slidenum">
              <a:rPr lang="en-US" smtClean="0"/>
              <a:t>25</a:t>
            </a:fld>
            <a:endParaRPr lang="en-US"/>
          </a:p>
        </p:txBody>
      </p:sp>
      <p:sp>
        <p:nvSpPr>
          <p:cNvPr id="3" name="Title 2">
            <a:extLst>
              <a:ext uri="{FF2B5EF4-FFF2-40B4-BE49-F238E27FC236}">
                <a16:creationId xmlns:a16="http://schemas.microsoft.com/office/drawing/2014/main" id="{97B16D90-9957-9E66-28DE-D747B36A4F3B}"/>
              </a:ext>
            </a:extLst>
          </p:cNvPr>
          <p:cNvSpPr>
            <a:spLocks noGrp="1"/>
          </p:cNvSpPr>
          <p:nvPr>
            <p:ph type="title" idx="1"/>
          </p:nvPr>
        </p:nvSpPr>
        <p:spPr/>
        <p:txBody>
          <a:bodyPr/>
          <a:lstStyle/>
          <a:p>
            <a:r>
              <a:rPr lang="en-US" dirty="0"/>
              <a:t>RAG architecture (4/5)</a:t>
            </a:r>
          </a:p>
        </p:txBody>
      </p:sp>
      <p:pic>
        <p:nvPicPr>
          <p:cNvPr id="5" name="person" descr="Icon representing the user of the RAG system">
            <a:extLst>
              <a:ext uri="{FF2B5EF4-FFF2-40B4-BE49-F238E27FC236}">
                <a16:creationId xmlns:a16="http://schemas.microsoft.com/office/drawing/2014/main" id="{BEC2ECA2-37F2-169D-7CBA-9C9AC705CE45}"/>
              </a:ext>
              <a:ext uri="{C183D7F6-B498-43B3-948B-1728B52AA6E4}">
                <adec:decorative xmlns:adec="http://schemas.microsoft.com/office/drawing/2017/decorative" val="0"/>
              </a:ext>
            </a:extLst>
          </p:cNvPr>
          <p:cNvPicPr>
            <a:picLocks noChangeAspect="1"/>
          </p:cNvPicPr>
          <p:nvPr/>
        </p:nvPicPr>
        <p:blipFill>
          <a:blip r:embed="rId3"/>
          <a:srcRect/>
          <a:stretch/>
        </p:blipFill>
        <p:spPr>
          <a:xfrm>
            <a:off x="10114238" y="5438578"/>
            <a:ext cx="1277027" cy="1283413"/>
          </a:xfrm>
          <a:prstGeom prst="rect">
            <a:avLst/>
          </a:prstGeom>
        </p:spPr>
      </p:pic>
      <p:grpSp>
        <p:nvGrpSpPr>
          <p:cNvPr id="6" name="Group 5" descr="Query: Query from the user.">
            <a:extLst>
              <a:ext uri="{FF2B5EF4-FFF2-40B4-BE49-F238E27FC236}">
                <a16:creationId xmlns:a16="http://schemas.microsoft.com/office/drawing/2014/main" id="{6CD98EC0-C99B-1B3D-96BE-43744005576C}"/>
              </a:ext>
            </a:extLst>
          </p:cNvPr>
          <p:cNvGrpSpPr/>
          <p:nvPr/>
        </p:nvGrpSpPr>
        <p:grpSpPr>
          <a:xfrm>
            <a:off x="300646" y="1597291"/>
            <a:ext cx="2126751" cy="1846318"/>
            <a:chOff x="300646" y="1597291"/>
            <a:chExt cx="2126751" cy="1846318"/>
          </a:xfrm>
        </p:grpSpPr>
        <p:sp>
          <p:nvSpPr>
            <p:cNvPr id="7" name="Rounded Rectangle 6" descr="This box appears above &quot;Query&quot; in the diagram.">
              <a:extLst>
                <a:ext uri="{FF2B5EF4-FFF2-40B4-BE49-F238E27FC236}">
                  <a16:creationId xmlns:a16="http://schemas.microsoft.com/office/drawing/2014/main" id="{3D58CB58-EE1F-DCBE-6674-017ECEE11557}"/>
                </a:ext>
              </a:extLst>
            </p:cNvPr>
            <p:cNvSpPr/>
            <p:nvPr/>
          </p:nvSpPr>
          <p:spPr>
            <a:xfrm>
              <a:off x="30064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Query for retrieval</a:t>
              </a:r>
            </a:p>
          </p:txBody>
        </p:sp>
        <p:sp>
          <p:nvSpPr>
            <p:cNvPr id="8" name="Rounded Rectangle 7">
              <a:extLst>
                <a:ext uri="{FF2B5EF4-FFF2-40B4-BE49-F238E27FC236}">
                  <a16:creationId xmlns:a16="http://schemas.microsoft.com/office/drawing/2014/main" id="{83AA3FBC-EBB7-070B-C766-F9593DCFBCBB}"/>
                </a:ext>
              </a:extLst>
            </p:cNvPr>
            <p:cNvSpPr/>
            <p:nvPr/>
          </p:nvSpPr>
          <p:spPr>
            <a:xfrm>
              <a:off x="613460" y="2786381"/>
              <a:ext cx="1501119" cy="657228"/>
            </a:xfrm>
            <a:prstGeom prst="roundRect">
              <a:avLst/>
            </a:prstGeom>
            <a:solidFill>
              <a:srgbClr val="7C5AED"/>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Query</a:t>
              </a:r>
            </a:p>
          </p:txBody>
        </p:sp>
      </p:grpSp>
      <p:grpSp>
        <p:nvGrpSpPr>
          <p:cNvPr id="9" name="Group 8" descr="Embedding model: Convert query to embedding">
            <a:extLst>
              <a:ext uri="{FF2B5EF4-FFF2-40B4-BE49-F238E27FC236}">
                <a16:creationId xmlns:a16="http://schemas.microsoft.com/office/drawing/2014/main" id="{1190D569-7534-359E-14B9-A86ED48CF2D2}"/>
              </a:ext>
            </a:extLst>
          </p:cNvPr>
          <p:cNvGrpSpPr/>
          <p:nvPr/>
        </p:nvGrpSpPr>
        <p:grpSpPr>
          <a:xfrm>
            <a:off x="2548366" y="1597291"/>
            <a:ext cx="2126751" cy="1936762"/>
            <a:chOff x="2548366" y="1597291"/>
            <a:chExt cx="2126751" cy="1936762"/>
          </a:xfrm>
        </p:grpSpPr>
        <p:sp>
          <p:nvSpPr>
            <p:cNvPr id="10" name="Rounded Rectangle 9" descr="This box appears above &quot;Embedding Model&quot; in the diagram.">
              <a:extLst>
                <a:ext uri="{FF2B5EF4-FFF2-40B4-BE49-F238E27FC236}">
                  <a16:creationId xmlns:a16="http://schemas.microsoft.com/office/drawing/2014/main" id="{E0E19E7C-B808-DDEA-388C-061B9C255A5C}"/>
                </a:ext>
              </a:extLst>
            </p:cNvPr>
            <p:cNvSpPr/>
            <p:nvPr/>
          </p:nvSpPr>
          <p:spPr>
            <a:xfrm>
              <a:off x="254836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Convert query to embedding</a:t>
              </a:r>
            </a:p>
          </p:txBody>
        </p:sp>
        <p:sp>
          <p:nvSpPr>
            <p:cNvPr id="11" name="Rounded Rectangle 10">
              <a:extLst>
                <a:ext uri="{FF2B5EF4-FFF2-40B4-BE49-F238E27FC236}">
                  <a16:creationId xmlns:a16="http://schemas.microsoft.com/office/drawing/2014/main" id="{80319C1D-2DC2-D619-39C5-F86F04152385}"/>
                </a:ext>
              </a:extLst>
            </p:cNvPr>
            <p:cNvSpPr/>
            <p:nvPr/>
          </p:nvSpPr>
          <p:spPr>
            <a:xfrm>
              <a:off x="2626996" y="2695026"/>
              <a:ext cx="1969490" cy="839027"/>
            </a:xfrm>
            <a:prstGeom prst="roundRect">
              <a:avLst/>
            </a:prstGeom>
            <a:solidFill>
              <a:srgbClr val="9F1D7B"/>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Embedding model</a:t>
              </a:r>
            </a:p>
          </p:txBody>
        </p:sp>
      </p:grpSp>
      <p:grpSp>
        <p:nvGrpSpPr>
          <p:cNvPr id="12" name="Group 11" descr="Depiction of a vector database containing documents such as the Return policy: 15 days after purchase...: Retrieve relevant info from a vector database.">
            <a:extLst>
              <a:ext uri="{FF2B5EF4-FFF2-40B4-BE49-F238E27FC236}">
                <a16:creationId xmlns:a16="http://schemas.microsoft.com/office/drawing/2014/main" id="{2080261D-6685-6D97-31AA-5C54139EBE88}"/>
              </a:ext>
            </a:extLst>
          </p:cNvPr>
          <p:cNvGrpSpPr/>
          <p:nvPr/>
        </p:nvGrpSpPr>
        <p:grpSpPr>
          <a:xfrm>
            <a:off x="4663032" y="1597291"/>
            <a:ext cx="2765942" cy="4027480"/>
            <a:chOff x="4663032" y="1597291"/>
            <a:chExt cx="2765942" cy="4027480"/>
          </a:xfrm>
        </p:grpSpPr>
        <p:sp>
          <p:nvSpPr>
            <p:cNvPr id="13" name="Rounded Rectangle 12" descr="This box appears above Vector Database in the diagram.">
              <a:extLst>
                <a:ext uri="{FF2B5EF4-FFF2-40B4-BE49-F238E27FC236}">
                  <a16:creationId xmlns:a16="http://schemas.microsoft.com/office/drawing/2014/main" id="{DA7D018F-8EF2-3202-A64D-89D7ECA6C3AB}"/>
                </a:ext>
              </a:extLst>
            </p:cNvPr>
            <p:cNvSpPr/>
            <p:nvPr/>
          </p:nvSpPr>
          <p:spPr>
            <a:xfrm>
              <a:off x="4859151"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Retrieve relevant info from a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vector database</a:t>
              </a:r>
            </a:p>
          </p:txBody>
        </p:sp>
        <p:pic>
          <p:nvPicPr>
            <p:cNvPr id="14" name="Graphic 13" descr="Icon representing a Vector Database">
              <a:extLst>
                <a:ext uri="{FF2B5EF4-FFF2-40B4-BE49-F238E27FC236}">
                  <a16:creationId xmlns:a16="http://schemas.microsoft.com/office/drawing/2014/main" id="{79B3466C-E1C9-01D7-6603-161140E94C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42605" y="2622313"/>
              <a:ext cx="1396113" cy="1396113"/>
            </a:xfrm>
            <a:prstGeom prst="rect">
              <a:avLst/>
            </a:prstGeom>
          </p:spPr>
        </p:pic>
        <p:pic>
          <p:nvPicPr>
            <p:cNvPr id="15" name="Graphic 14" descr="Icon representing a Document for the RAG system">
              <a:extLst>
                <a:ext uri="{FF2B5EF4-FFF2-40B4-BE49-F238E27FC236}">
                  <a16:creationId xmlns:a16="http://schemas.microsoft.com/office/drawing/2014/main" id="{523C8659-DDD3-DB42-F838-0CD82FD956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16533" y="3939323"/>
              <a:ext cx="1008857" cy="1008857"/>
            </a:xfrm>
            <a:prstGeom prst="rect">
              <a:avLst/>
            </a:prstGeom>
          </p:spPr>
        </p:pic>
        <p:sp>
          <p:nvSpPr>
            <p:cNvPr id="16" name="TextBox 15">
              <a:extLst>
                <a:ext uri="{FF2B5EF4-FFF2-40B4-BE49-F238E27FC236}">
                  <a16:creationId xmlns:a16="http://schemas.microsoft.com/office/drawing/2014/main" id="{299902E5-8605-F041-76D2-1F9806D0EC46}"/>
                </a:ext>
              </a:extLst>
            </p:cNvPr>
            <p:cNvSpPr txBox="1"/>
            <p:nvPr/>
          </p:nvSpPr>
          <p:spPr>
            <a:xfrm>
              <a:off x="4663032" y="4916885"/>
              <a:ext cx="2765942" cy="707886"/>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1" u="none" strike="noStrike" kern="0" cap="none" spc="0" normalizeH="0" baseline="0" noProof="0" dirty="0">
                  <a:ln>
                    <a:noFill/>
                  </a:ln>
                  <a:solidFill>
                    <a:srgbClr val="232F3E"/>
                  </a:solidFill>
                  <a:effectLst/>
                  <a:uLnTx/>
                  <a:uFillTx/>
                  <a:latin typeface="Amazon Ember Light"/>
                </a:rPr>
                <a:t>“Return policy: 15 days after purchase…”</a:t>
              </a:r>
            </a:p>
          </p:txBody>
        </p:sp>
      </p:grpSp>
      <p:grpSp>
        <p:nvGrpSpPr>
          <p:cNvPr id="17" name="Group 16" descr="Query + Context: Augment prompt with retrieved results.">
            <a:extLst>
              <a:ext uri="{FF2B5EF4-FFF2-40B4-BE49-F238E27FC236}">
                <a16:creationId xmlns:a16="http://schemas.microsoft.com/office/drawing/2014/main" id="{EBD25DA3-A0A3-684F-F79E-377A24C09FF9}"/>
              </a:ext>
            </a:extLst>
          </p:cNvPr>
          <p:cNvGrpSpPr/>
          <p:nvPr/>
        </p:nvGrpSpPr>
        <p:grpSpPr>
          <a:xfrm>
            <a:off x="7197787" y="1597291"/>
            <a:ext cx="2126751" cy="2771607"/>
            <a:chOff x="7197787" y="1597291"/>
            <a:chExt cx="2126751" cy="2771607"/>
          </a:xfrm>
        </p:grpSpPr>
        <p:grpSp>
          <p:nvGrpSpPr>
            <p:cNvPr id="18" name="Group 17" descr="Query + Context: Augment prompt with retrieved results.">
              <a:extLst>
                <a:ext uri="{FF2B5EF4-FFF2-40B4-BE49-F238E27FC236}">
                  <a16:creationId xmlns:a16="http://schemas.microsoft.com/office/drawing/2014/main" id="{886DB97E-3C52-D456-4164-265C8E90CE26}"/>
                </a:ext>
              </a:extLst>
            </p:cNvPr>
            <p:cNvGrpSpPr/>
            <p:nvPr/>
          </p:nvGrpSpPr>
          <p:grpSpPr>
            <a:xfrm>
              <a:off x="7197787" y="1597291"/>
              <a:ext cx="2126751" cy="1923494"/>
              <a:chOff x="7197787" y="1597291"/>
              <a:chExt cx="2126751" cy="1923494"/>
            </a:xfrm>
          </p:grpSpPr>
          <p:sp>
            <p:nvSpPr>
              <p:cNvPr id="20" name="Rounded Rectangle 19" descr="This box appears above Query &amp; Context in the original diagram.">
                <a:extLst>
                  <a:ext uri="{FF2B5EF4-FFF2-40B4-BE49-F238E27FC236}">
                    <a16:creationId xmlns:a16="http://schemas.microsoft.com/office/drawing/2014/main" id="{516C749E-79BB-9B39-5494-EDDC26CB1854}"/>
                  </a:ext>
                </a:extLst>
              </p:cNvPr>
              <p:cNvSpPr/>
              <p:nvPr/>
            </p:nvSpPr>
            <p:spPr>
              <a:xfrm>
                <a:off x="7197787"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Augment prompt with retrieved results</a:t>
                </a:r>
              </a:p>
            </p:txBody>
          </p:sp>
          <p:pic>
            <p:nvPicPr>
              <p:cNvPr id="21" name="Graphic 20" descr="Document with solid fill">
                <a:extLst>
                  <a:ext uri="{FF2B5EF4-FFF2-40B4-BE49-F238E27FC236}">
                    <a16:creationId xmlns:a16="http://schemas.microsoft.com/office/drawing/2014/main" id="{356E947F-5DE2-9198-62EF-0D1F7DBA549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13131" y="2585486"/>
                <a:ext cx="935299" cy="935299"/>
              </a:xfrm>
              <a:prstGeom prst="rect">
                <a:avLst/>
              </a:prstGeom>
            </p:spPr>
          </p:pic>
        </p:grpSp>
        <p:sp>
          <p:nvSpPr>
            <p:cNvPr id="19" name="Rounded Rectangle 18">
              <a:extLst>
                <a:ext uri="{FF2B5EF4-FFF2-40B4-BE49-F238E27FC236}">
                  <a16:creationId xmlns:a16="http://schemas.microsoft.com/office/drawing/2014/main" id="{22339EE9-0D76-F782-7BF1-FA8820283280}"/>
                </a:ext>
              </a:extLst>
            </p:cNvPr>
            <p:cNvSpPr/>
            <p:nvPr/>
          </p:nvSpPr>
          <p:spPr>
            <a:xfrm>
              <a:off x="7523757" y="3520531"/>
              <a:ext cx="1652956" cy="848367"/>
            </a:xfrm>
            <a:prstGeom prst="roundRect">
              <a:avLst/>
            </a:prstGeom>
            <a:solidFill>
              <a:srgbClr val="330066"/>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mazon Ember Light"/>
                  <a:ea typeface="+mn-ea"/>
                  <a:cs typeface="+mn-cs"/>
                </a:rPr>
                <a:t>Prompt</a:t>
              </a:r>
              <a:r>
                <a:rPr kumimoji="0" lang="en-DE" sz="2400" b="1" i="0" u="none" strike="noStrike" kern="0" cap="none" spc="0" normalizeH="0" baseline="0" noProof="0">
                  <a:ln>
                    <a:noFill/>
                  </a:ln>
                  <a:solidFill>
                    <a:srgbClr val="FFFFFF"/>
                  </a:solidFill>
                  <a:effectLst/>
                  <a:uLnTx/>
                  <a:uFillTx/>
                  <a:latin typeface="Amazon Ember Light"/>
                  <a:ea typeface="+mn-ea"/>
                  <a:cs typeface="+mn-cs"/>
                </a:rPr>
                <a:t> </a:t>
              </a:r>
              <a:r>
                <a:rPr kumimoji="0" lang="en-DE" sz="2400" b="1" i="0" u="none" strike="noStrike" kern="0" cap="none" spc="0" normalizeH="0" baseline="0" noProof="0" dirty="0">
                  <a:ln>
                    <a:noFill/>
                  </a:ln>
                  <a:solidFill>
                    <a:srgbClr val="FFFFFF"/>
                  </a:solidFill>
                  <a:effectLst/>
                  <a:uLnTx/>
                  <a:uFillTx/>
                  <a:latin typeface="Amazon Ember Light"/>
                  <a:ea typeface="+mn-ea"/>
                  <a:cs typeface="+mn-cs"/>
                </a:rPr>
                <a:t>+ Context</a:t>
              </a:r>
            </a:p>
          </p:txBody>
        </p:sp>
      </p:grpSp>
      <p:sp>
        <p:nvSpPr>
          <p:cNvPr id="22" name="Rounded Rectangular Callout 21">
            <a:extLst>
              <a:ext uri="{FF2B5EF4-FFF2-40B4-BE49-F238E27FC236}">
                <a16:creationId xmlns:a16="http://schemas.microsoft.com/office/drawing/2014/main" id="{AB902930-68A7-111B-08B8-7E17EB760B84}"/>
              </a:ext>
            </a:extLst>
          </p:cNvPr>
          <p:cNvSpPr/>
          <p:nvPr/>
        </p:nvSpPr>
        <p:spPr>
          <a:xfrm>
            <a:off x="7731357" y="5405283"/>
            <a:ext cx="2126751" cy="1061238"/>
          </a:xfrm>
          <a:prstGeom prst="wedgeRoundRectCallout">
            <a:avLst>
              <a:gd name="adj1" fmla="val 72237"/>
              <a:gd name="adj2" fmla="val 22499"/>
              <a:gd name="adj3" fmla="val 16667"/>
            </a:avLst>
          </a:prstGeom>
          <a:noFill/>
          <a:ln w="57150" cap="flat" cmpd="sng" algn="ctr">
            <a:solidFill>
              <a:srgbClr val="33006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What is the company’s return policy?</a:t>
            </a:r>
            <a:endParaRPr kumimoji="0" lang="en-DE" sz="2000" b="1"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23" name="Rounded Rectangle 22">
            <a:extLst>
              <a:ext uri="{FF2B5EF4-FFF2-40B4-BE49-F238E27FC236}">
                <a16:creationId xmlns:a16="http://schemas.microsoft.com/office/drawing/2014/main" id="{CCCC69A4-A2F1-DC9A-6411-B099893B7094}"/>
              </a:ext>
            </a:extLst>
          </p:cNvPr>
          <p:cNvSpPr/>
          <p:nvPr/>
        </p:nvSpPr>
        <p:spPr>
          <a:xfrm>
            <a:off x="358295" y="4232022"/>
            <a:ext cx="2011448" cy="1035191"/>
          </a:xfrm>
          <a:prstGeom prst="roundRect">
            <a:avLst/>
          </a:prstGeom>
          <a:noFill/>
          <a:ln w="53975" cap="flat" cmpd="sng" algn="ctr">
            <a:solidFill>
              <a:srgbClr val="7C5A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Amazon’s return policy in USA</a:t>
            </a:r>
          </a:p>
        </p:txBody>
      </p:sp>
      <p:cxnSp>
        <p:nvCxnSpPr>
          <p:cNvPr id="24" name="Elbow Connector 23">
            <a:extLst>
              <a:ext uri="{FF2B5EF4-FFF2-40B4-BE49-F238E27FC236}">
                <a16:creationId xmlns:a16="http://schemas.microsoft.com/office/drawing/2014/main" id="{838A42E5-3244-8B76-5ECD-94670F59BAB1}"/>
              </a:ext>
            </a:extLst>
          </p:cNvPr>
          <p:cNvCxnSpPr>
            <a:stCxn id="22" idx="1"/>
            <a:endCxn id="23" idx="2"/>
          </p:cNvCxnSpPr>
          <p:nvPr/>
        </p:nvCxnSpPr>
        <p:spPr>
          <a:xfrm rot="10800000">
            <a:off x="1364019" y="5267214"/>
            <a:ext cx="6367338" cy="668689"/>
          </a:xfrm>
          <a:prstGeom prst="bentConnector2">
            <a:avLst/>
          </a:prstGeom>
          <a:noFill/>
          <a:ln w="63500" cap="flat" cmpd="sng" algn="ctr">
            <a:solidFill>
              <a:srgbClr val="DF2A5D"/>
            </a:solidFill>
            <a:prstDash val="solid"/>
            <a:miter lim="800000"/>
            <a:tailEnd type="triangle"/>
          </a:ln>
          <a:effectLst/>
        </p:spPr>
      </p:cxnSp>
      <p:sp>
        <p:nvSpPr>
          <p:cNvPr id="25" name="TextBox 24">
            <a:extLst>
              <a:ext uri="{FF2B5EF4-FFF2-40B4-BE49-F238E27FC236}">
                <a16:creationId xmlns:a16="http://schemas.microsoft.com/office/drawing/2014/main" id="{A1EC2C40-8FE4-A559-C96F-4CDAB1041459}"/>
              </a:ext>
            </a:extLst>
          </p:cNvPr>
          <p:cNvSpPr txBox="1"/>
          <p:nvPr/>
        </p:nvSpPr>
        <p:spPr>
          <a:xfrm>
            <a:off x="3040695" y="6099382"/>
            <a:ext cx="3765774" cy="400110"/>
          </a:xfrm>
          <a:prstGeom prst="rect">
            <a:avLst/>
          </a:prstGeom>
          <a:noFill/>
          <a:ln w="28575">
            <a:noFill/>
          </a:ln>
        </p:spPr>
        <p:txBody>
          <a:bodyPr wrap="non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Generate a query for retrieval</a:t>
            </a:r>
          </a:p>
        </p:txBody>
      </p:sp>
      <p:cxnSp>
        <p:nvCxnSpPr>
          <p:cNvPr id="26" name="Elbow Connector 25">
            <a:extLst>
              <a:ext uri="{FF2B5EF4-FFF2-40B4-BE49-F238E27FC236}">
                <a16:creationId xmlns:a16="http://schemas.microsoft.com/office/drawing/2014/main" id="{37257F14-D034-B114-2CDF-898E1BDC436A}"/>
              </a:ext>
            </a:extLst>
          </p:cNvPr>
          <p:cNvCxnSpPr>
            <a:cxnSpLocks/>
            <a:stCxn id="23" idx="0"/>
            <a:endCxn id="8" idx="2"/>
          </p:cNvCxnSpPr>
          <p:nvPr/>
        </p:nvCxnSpPr>
        <p:spPr>
          <a:xfrm rot="5400000" flipH="1" flipV="1">
            <a:off x="969813" y="3837816"/>
            <a:ext cx="788413" cy="1"/>
          </a:xfrm>
          <a:prstGeom prst="bentConnector3">
            <a:avLst>
              <a:gd name="adj1" fmla="val 50000"/>
            </a:avLst>
          </a:prstGeom>
          <a:noFill/>
          <a:ln w="63500" cap="flat" cmpd="sng" algn="ctr">
            <a:solidFill>
              <a:srgbClr val="DF2A5D"/>
            </a:solidFill>
            <a:prstDash val="solid"/>
            <a:miter lim="800000"/>
            <a:tailEnd type="triangle"/>
          </a:ln>
          <a:effectLst/>
        </p:spPr>
      </p:cxnSp>
      <p:cxnSp>
        <p:nvCxnSpPr>
          <p:cNvPr id="27" name="Straight Arrow Connector 26">
            <a:extLst>
              <a:ext uri="{FF2B5EF4-FFF2-40B4-BE49-F238E27FC236}">
                <a16:creationId xmlns:a16="http://schemas.microsoft.com/office/drawing/2014/main" id="{DE0B52F9-4ACD-CB63-CCF1-D2A9E756E4BD}"/>
              </a:ext>
            </a:extLst>
          </p:cNvPr>
          <p:cNvCxnSpPr>
            <a:stCxn id="8" idx="3"/>
            <a:endCxn id="11" idx="1"/>
          </p:cNvCxnSpPr>
          <p:nvPr/>
        </p:nvCxnSpPr>
        <p:spPr>
          <a:xfrm flipV="1">
            <a:off x="2114579" y="3114540"/>
            <a:ext cx="512417" cy="455"/>
          </a:xfrm>
          <a:prstGeom prst="straightConnector1">
            <a:avLst/>
          </a:prstGeom>
          <a:noFill/>
          <a:ln w="63500" cap="flat" cmpd="sng" algn="ctr">
            <a:solidFill>
              <a:srgbClr val="DF2A5D"/>
            </a:solidFill>
            <a:prstDash val="solid"/>
            <a:miter lim="800000"/>
            <a:tailEnd type="triangle"/>
          </a:ln>
          <a:effectLst/>
        </p:spPr>
      </p:cxnSp>
      <p:cxnSp>
        <p:nvCxnSpPr>
          <p:cNvPr id="28" name="Straight Arrow Connector 27">
            <a:extLst>
              <a:ext uri="{FF2B5EF4-FFF2-40B4-BE49-F238E27FC236}">
                <a16:creationId xmlns:a16="http://schemas.microsoft.com/office/drawing/2014/main" id="{0F792CE3-5B6E-C6F7-9ED4-A0B81357A2DC}"/>
              </a:ext>
            </a:extLst>
          </p:cNvPr>
          <p:cNvCxnSpPr>
            <a:cxnSpLocks/>
            <a:stCxn id="11" idx="3"/>
          </p:cNvCxnSpPr>
          <p:nvPr/>
        </p:nvCxnSpPr>
        <p:spPr>
          <a:xfrm>
            <a:off x="4596486" y="3114540"/>
            <a:ext cx="922949" cy="0"/>
          </a:xfrm>
          <a:prstGeom prst="straightConnector1">
            <a:avLst/>
          </a:prstGeom>
          <a:noFill/>
          <a:ln w="63500" cap="flat" cmpd="sng" algn="ctr">
            <a:solidFill>
              <a:srgbClr val="DF2A5D"/>
            </a:solidFill>
            <a:prstDash val="solid"/>
            <a:miter lim="800000"/>
            <a:tailEnd type="triangle"/>
          </a:ln>
          <a:effectLst/>
        </p:spPr>
      </p:cxnSp>
      <p:cxnSp>
        <p:nvCxnSpPr>
          <p:cNvPr id="29" name="Straight Arrow Connector 28">
            <a:extLst>
              <a:ext uri="{FF2B5EF4-FFF2-40B4-BE49-F238E27FC236}">
                <a16:creationId xmlns:a16="http://schemas.microsoft.com/office/drawing/2014/main" id="{F71999CB-B6FF-B5DE-D945-82293A87B73F}"/>
              </a:ext>
            </a:extLst>
          </p:cNvPr>
          <p:cNvCxnSpPr>
            <a:cxnSpLocks/>
          </p:cNvCxnSpPr>
          <p:nvPr/>
        </p:nvCxnSpPr>
        <p:spPr>
          <a:xfrm>
            <a:off x="6426926" y="3114539"/>
            <a:ext cx="1386205" cy="0"/>
          </a:xfrm>
          <a:prstGeom prst="straightConnector1">
            <a:avLst/>
          </a:prstGeom>
          <a:noFill/>
          <a:ln w="63500" cap="flat" cmpd="sng" algn="ctr">
            <a:solidFill>
              <a:srgbClr val="DF2A5D"/>
            </a:solidFill>
            <a:prstDash val="solid"/>
            <a:miter lim="800000"/>
            <a:tailEnd type="triangle"/>
          </a:ln>
          <a:effectLst/>
        </p:spPr>
      </p:cxnSp>
      <p:cxnSp>
        <p:nvCxnSpPr>
          <p:cNvPr id="30" name="Straight Arrow Connector 29">
            <a:extLst>
              <a:ext uri="{FF2B5EF4-FFF2-40B4-BE49-F238E27FC236}">
                <a16:creationId xmlns:a16="http://schemas.microsoft.com/office/drawing/2014/main" id="{DE94DE2E-6381-A644-8E42-16CA61E7F0A4}"/>
              </a:ext>
            </a:extLst>
          </p:cNvPr>
          <p:cNvCxnSpPr>
            <a:cxnSpLocks/>
            <a:stCxn id="22" idx="0"/>
            <a:endCxn id="19" idx="2"/>
          </p:cNvCxnSpPr>
          <p:nvPr/>
        </p:nvCxnSpPr>
        <p:spPr>
          <a:xfrm flipH="1" flipV="1">
            <a:off x="8350235" y="4368898"/>
            <a:ext cx="444498" cy="1036385"/>
          </a:xfrm>
          <a:prstGeom prst="straightConnector1">
            <a:avLst/>
          </a:prstGeom>
          <a:noFill/>
          <a:ln w="63500" cap="flat" cmpd="sng" algn="ctr">
            <a:solidFill>
              <a:srgbClr val="DF2A5D"/>
            </a:solidFill>
            <a:prstDash val="solid"/>
            <a:miter lim="800000"/>
            <a:tailEnd type="triangle"/>
          </a:ln>
          <a:effectLst/>
        </p:spPr>
      </p:cxnSp>
      <p:sp>
        <p:nvSpPr>
          <p:cNvPr id="31" name="TextBox 30">
            <a:extLst>
              <a:ext uri="{FF2B5EF4-FFF2-40B4-BE49-F238E27FC236}">
                <a16:creationId xmlns:a16="http://schemas.microsoft.com/office/drawing/2014/main" id="{B081198F-9DBB-60F2-7475-2C0C137A2637}"/>
              </a:ext>
            </a:extLst>
          </p:cNvPr>
          <p:cNvSpPr txBox="1"/>
          <p:nvPr/>
        </p:nvSpPr>
        <p:spPr>
          <a:xfrm>
            <a:off x="8211646" y="6466521"/>
            <a:ext cx="1324777" cy="400110"/>
          </a:xfrm>
          <a:prstGeom prst="rect">
            <a:avLst/>
          </a:prstGeom>
          <a:noFill/>
          <a:ln w="28575">
            <a:noFill/>
          </a:ln>
        </p:spPr>
        <p:txBody>
          <a:bodyPr wrap="squar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Prompt</a:t>
            </a:r>
          </a:p>
        </p:txBody>
      </p:sp>
    </p:spTree>
    <p:extLst>
      <p:ext uri="{BB962C8B-B14F-4D97-AF65-F5344CB8AC3E}">
        <p14:creationId xmlns:p14="http://schemas.microsoft.com/office/powerpoint/2010/main" val="301202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9D0E96-1D66-3331-7EC3-2B37718740F4}"/>
              </a:ext>
            </a:extLst>
          </p:cNvPr>
          <p:cNvSpPr>
            <a:spLocks noGrp="1"/>
          </p:cNvSpPr>
          <p:nvPr>
            <p:ph type="sldNum" idx="97"/>
          </p:nvPr>
        </p:nvSpPr>
        <p:spPr/>
        <p:txBody>
          <a:bodyPr/>
          <a:lstStyle/>
          <a:p>
            <a:fld id="{86A8BF56-6CB3-514C-9A64-F39D95C9E25B}" type="slidenum">
              <a:rPr lang="en-US" smtClean="0"/>
              <a:t>26</a:t>
            </a:fld>
            <a:endParaRPr lang="en-US"/>
          </a:p>
        </p:txBody>
      </p:sp>
      <p:sp>
        <p:nvSpPr>
          <p:cNvPr id="3" name="Title 2">
            <a:extLst>
              <a:ext uri="{FF2B5EF4-FFF2-40B4-BE49-F238E27FC236}">
                <a16:creationId xmlns:a16="http://schemas.microsoft.com/office/drawing/2014/main" id="{FC71A8F3-EDCC-3DA1-784B-4F66F9996B7A}"/>
              </a:ext>
            </a:extLst>
          </p:cNvPr>
          <p:cNvSpPr>
            <a:spLocks noGrp="1"/>
          </p:cNvSpPr>
          <p:nvPr>
            <p:ph type="title" idx="1"/>
          </p:nvPr>
        </p:nvSpPr>
        <p:spPr/>
        <p:txBody>
          <a:bodyPr/>
          <a:lstStyle/>
          <a:p>
            <a:r>
              <a:rPr lang="en-US" dirty="0"/>
              <a:t>RAG architecture (5/5)</a:t>
            </a:r>
          </a:p>
        </p:txBody>
      </p:sp>
      <p:pic>
        <p:nvPicPr>
          <p:cNvPr id="5" name="person" descr="Icon representing the user of the RAG system">
            <a:extLst>
              <a:ext uri="{FF2B5EF4-FFF2-40B4-BE49-F238E27FC236}">
                <a16:creationId xmlns:a16="http://schemas.microsoft.com/office/drawing/2014/main" id="{FEAF2F66-42D2-B7B5-139C-7DE8F85289F3}"/>
              </a:ext>
              <a:ext uri="{C183D7F6-B498-43B3-948B-1728B52AA6E4}">
                <adec:decorative xmlns:adec="http://schemas.microsoft.com/office/drawing/2017/decorative" val="0"/>
              </a:ext>
            </a:extLst>
          </p:cNvPr>
          <p:cNvPicPr>
            <a:picLocks noChangeAspect="1"/>
          </p:cNvPicPr>
          <p:nvPr/>
        </p:nvPicPr>
        <p:blipFill>
          <a:blip r:embed="rId3"/>
          <a:srcRect/>
          <a:stretch/>
        </p:blipFill>
        <p:spPr>
          <a:xfrm>
            <a:off x="10114238" y="5438578"/>
            <a:ext cx="1277027" cy="1283413"/>
          </a:xfrm>
          <a:prstGeom prst="rect">
            <a:avLst/>
          </a:prstGeom>
        </p:spPr>
      </p:pic>
      <p:grpSp>
        <p:nvGrpSpPr>
          <p:cNvPr id="6" name="Group 5" descr="Query: Query from the user.">
            <a:extLst>
              <a:ext uri="{FF2B5EF4-FFF2-40B4-BE49-F238E27FC236}">
                <a16:creationId xmlns:a16="http://schemas.microsoft.com/office/drawing/2014/main" id="{E9A16840-DE82-B23A-C425-E54C44EF6416}"/>
              </a:ext>
            </a:extLst>
          </p:cNvPr>
          <p:cNvGrpSpPr/>
          <p:nvPr/>
        </p:nvGrpSpPr>
        <p:grpSpPr>
          <a:xfrm>
            <a:off x="300646" y="1597291"/>
            <a:ext cx="2126751" cy="1846318"/>
            <a:chOff x="300646" y="1597291"/>
            <a:chExt cx="2126751" cy="1846318"/>
          </a:xfrm>
        </p:grpSpPr>
        <p:sp>
          <p:nvSpPr>
            <p:cNvPr id="7" name="Rounded Rectangle 6" descr="This box appears above &quot;Query&quot; in the diagram.">
              <a:extLst>
                <a:ext uri="{FF2B5EF4-FFF2-40B4-BE49-F238E27FC236}">
                  <a16:creationId xmlns:a16="http://schemas.microsoft.com/office/drawing/2014/main" id="{D631B60A-E661-A816-41EE-C075DBF6C16E}"/>
                </a:ext>
              </a:extLst>
            </p:cNvPr>
            <p:cNvSpPr/>
            <p:nvPr/>
          </p:nvSpPr>
          <p:spPr>
            <a:xfrm>
              <a:off x="30064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Query for retrieval</a:t>
              </a:r>
            </a:p>
          </p:txBody>
        </p:sp>
        <p:sp>
          <p:nvSpPr>
            <p:cNvPr id="8" name="Rounded Rectangle 7">
              <a:extLst>
                <a:ext uri="{FF2B5EF4-FFF2-40B4-BE49-F238E27FC236}">
                  <a16:creationId xmlns:a16="http://schemas.microsoft.com/office/drawing/2014/main" id="{B41C8283-8408-865B-4C02-18D27837D851}"/>
                </a:ext>
              </a:extLst>
            </p:cNvPr>
            <p:cNvSpPr/>
            <p:nvPr/>
          </p:nvSpPr>
          <p:spPr>
            <a:xfrm>
              <a:off x="613460" y="2786381"/>
              <a:ext cx="1501119" cy="657228"/>
            </a:xfrm>
            <a:prstGeom prst="roundRect">
              <a:avLst/>
            </a:prstGeom>
            <a:solidFill>
              <a:srgbClr val="7C5AED"/>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Query</a:t>
              </a:r>
            </a:p>
          </p:txBody>
        </p:sp>
      </p:grpSp>
      <p:grpSp>
        <p:nvGrpSpPr>
          <p:cNvPr id="9" name="Group 8" descr="Embedding model: Convert query to embedding">
            <a:extLst>
              <a:ext uri="{FF2B5EF4-FFF2-40B4-BE49-F238E27FC236}">
                <a16:creationId xmlns:a16="http://schemas.microsoft.com/office/drawing/2014/main" id="{14AAABA8-7027-3E5E-D59D-D23A18481BE2}"/>
              </a:ext>
            </a:extLst>
          </p:cNvPr>
          <p:cNvGrpSpPr/>
          <p:nvPr/>
        </p:nvGrpSpPr>
        <p:grpSpPr>
          <a:xfrm>
            <a:off x="2548366" y="1597291"/>
            <a:ext cx="2126751" cy="1936762"/>
            <a:chOff x="2548366" y="1597291"/>
            <a:chExt cx="2126751" cy="1936762"/>
          </a:xfrm>
        </p:grpSpPr>
        <p:sp>
          <p:nvSpPr>
            <p:cNvPr id="10" name="Rounded Rectangle 9" descr="This box appears above &quot;Embedding Model&quot; in the diagram.">
              <a:extLst>
                <a:ext uri="{FF2B5EF4-FFF2-40B4-BE49-F238E27FC236}">
                  <a16:creationId xmlns:a16="http://schemas.microsoft.com/office/drawing/2014/main" id="{40F7A73F-F3CE-6AD9-2647-558DD729C8A9}"/>
                </a:ext>
              </a:extLst>
            </p:cNvPr>
            <p:cNvSpPr/>
            <p:nvPr/>
          </p:nvSpPr>
          <p:spPr>
            <a:xfrm>
              <a:off x="2548366"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Convert query to embedding</a:t>
              </a:r>
            </a:p>
          </p:txBody>
        </p:sp>
        <p:sp>
          <p:nvSpPr>
            <p:cNvPr id="11" name="Rounded Rectangle 10">
              <a:extLst>
                <a:ext uri="{FF2B5EF4-FFF2-40B4-BE49-F238E27FC236}">
                  <a16:creationId xmlns:a16="http://schemas.microsoft.com/office/drawing/2014/main" id="{E326CAA4-EB76-8645-ACF3-B98EC1D8B3EF}"/>
                </a:ext>
              </a:extLst>
            </p:cNvPr>
            <p:cNvSpPr/>
            <p:nvPr/>
          </p:nvSpPr>
          <p:spPr>
            <a:xfrm>
              <a:off x="2626996" y="2695026"/>
              <a:ext cx="1969490" cy="839027"/>
            </a:xfrm>
            <a:prstGeom prst="roundRect">
              <a:avLst/>
            </a:prstGeom>
            <a:solidFill>
              <a:srgbClr val="9F1D7B"/>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400" b="0" i="0" u="none" strike="noStrike" kern="0" cap="none" spc="0" normalizeH="0" baseline="0" noProof="0" dirty="0">
                  <a:ln>
                    <a:noFill/>
                  </a:ln>
                  <a:solidFill>
                    <a:srgbClr val="FFFFFF"/>
                  </a:solidFill>
                  <a:effectLst/>
                  <a:uLnTx/>
                  <a:uFillTx/>
                  <a:latin typeface="+mj-lt"/>
                  <a:ea typeface="+mn-ea"/>
                  <a:cs typeface="+mn-cs"/>
                </a:rPr>
                <a:t>Embedding model</a:t>
              </a:r>
            </a:p>
          </p:txBody>
        </p:sp>
      </p:grpSp>
      <p:grpSp>
        <p:nvGrpSpPr>
          <p:cNvPr id="12" name="Group 11" descr="Depiction of a vector database containing documents such as the Return policy: 15 days after purchase...: Retrieve relevant info from a vector database.">
            <a:extLst>
              <a:ext uri="{FF2B5EF4-FFF2-40B4-BE49-F238E27FC236}">
                <a16:creationId xmlns:a16="http://schemas.microsoft.com/office/drawing/2014/main" id="{6AEC4840-B45D-1C2B-86E1-FBA71F20814B}"/>
              </a:ext>
            </a:extLst>
          </p:cNvPr>
          <p:cNvGrpSpPr/>
          <p:nvPr/>
        </p:nvGrpSpPr>
        <p:grpSpPr>
          <a:xfrm>
            <a:off x="4663032" y="1597291"/>
            <a:ext cx="2765942" cy="4027480"/>
            <a:chOff x="4663032" y="1597291"/>
            <a:chExt cx="2765942" cy="4027480"/>
          </a:xfrm>
        </p:grpSpPr>
        <p:sp>
          <p:nvSpPr>
            <p:cNvPr id="13" name="Rounded Rectangle 12" descr="This box appears above Vector Database in the diagram.">
              <a:extLst>
                <a:ext uri="{FF2B5EF4-FFF2-40B4-BE49-F238E27FC236}">
                  <a16:creationId xmlns:a16="http://schemas.microsoft.com/office/drawing/2014/main" id="{C4F37393-E1E1-1E06-1D8C-7B14197D5191}"/>
                </a:ext>
              </a:extLst>
            </p:cNvPr>
            <p:cNvSpPr/>
            <p:nvPr/>
          </p:nvSpPr>
          <p:spPr>
            <a:xfrm>
              <a:off x="4859151"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Retrieve relevant info from a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vector database</a:t>
              </a:r>
            </a:p>
          </p:txBody>
        </p:sp>
        <p:pic>
          <p:nvPicPr>
            <p:cNvPr id="14" name="Graphic 13" descr="Icon representing a Vector Database">
              <a:extLst>
                <a:ext uri="{FF2B5EF4-FFF2-40B4-BE49-F238E27FC236}">
                  <a16:creationId xmlns:a16="http://schemas.microsoft.com/office/drawing/2014/main" id="{5C2E52FE-FA3E-15AD-B026-A6C9C55E69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42605" y="2622313"/>
              <a:ext cx="1396113" cy="1396113"/>
            </a:xfrm>
            <a:prstGeom prst="rect">
              <a:avLst/>
            </a:prstGeom>
          </p:spPr>
        </p:pic>
        <p:pic>
          <p:nvPicPr>
            <p:cNvPr id="15" name="Graphic 14" descr="Icon representing a Document for the RAG system">
              <a:extLst>
                <a:ext uri="{FF2B5EF4-FFF2-40B4-BE49-F238E27FC236}">
                  <a16:creationId xmlns:a16="http://schemas.microsoft.com/office/drawing/2014/main" id="{8968B4E1-CE0A-5B13-83C8-5AB4102791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16533" y="3939323"/>
              <a:ext cx="1008857" cy="1008857"/>
            </a:xfrm>
            <a:prstGeom prst="rect">
              <a:avLst/>
            </a:prstGeom>
          </p:spPr>
        </p:pic>
        <p:sp>
          <p:nvSpPr>
            <p:cNvPr id="16" name="TextBox 15">
              <a:extLst>
                <a:ext uri="{FF2B5EF4-FFF2-40B4-BE49-F238E27FC236}">
                  <a16:creationId xmlns:a16="http://schemas.microsoft.com/office/drawing/2014/main" id="{2603A5A7-012C-5297-A6AB-84211D670F07}"/>
                </a:ext>
              </a:extLst>
            </p:cNvPr>
            <p:cNvSpPr txBox="1"/>
            <p:nvPr/>
          </p:nvSpPr>
          <p:spPr>
            <a:xfrm>
              <a:off x="4663032" y="4916885"/>
              <a:ext cx="2765942" cy="707886"/>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1" u="none" strike="noStrike" kern="0" cap="none" spc="0" normalizeH="0" baseline="0" noProof="0" dirty="0">
                  <a:ln>
                    <a:noFill/>
                  </a:ln>
                  <a:solidFill>
                    <a:srgbClr val="232F3E"/>
                  </a:solidFill>
                  <a:effectLst/>
                  <a:uLnTx/>
                  <a:uFillTx/>
                  <a:latin typeface="Amazon Ember Light"/>
                </a:rPr>
                <a:t>“Return policy: 15 days after purchase…”</a:t>
              </a:r>
            </a:p>
          </p:txBody>
        </p:sp>
      </p:grpSp>
      <p:grpSp>
        <p:nvGrpSpPr>
          <p:cNvPr id="17" name="Group 16" descr="Query + Context: Augment prompt with retrieved results.">
            <a:extLst>
              <a:ext uri="{FF2B5EF4-FFF2-40B4-BE49-F238E27FC236}">
                <a16:creationId xmlns:a16="http://schemas.microsoft.com/office/drawing/2014/main" id="{C8D3E51E-FC87-6D58-CD6A-85928C3B27DB}"/>
              </a:ext>
            </a:extLst>
          </p:cNvPr>
          <p:cNvGrpSpPr/>
          <p:nvPr/>
        </p:nvGrpSpPr>
        <p:grpSpPr>
          <a:xfrm>
            <a:off x="7197787" y="1597291"/>
            <a:ext cx="2126751" cy="2771607"/>
            <a:chOff x="7197787" y="1597291"/>
            <a:chExt cx="2126751" cy="2771607"/>
          </a:xfrm>
        </p:grpSpPr>
        <p:grpSp>
          <p:nvGrpSpPr>
            <p:cNvPr id="18" name="Group 17" descr="Query + Context: Augment prompt with retrieved results.">
              <a:extLst>
                <a:ext uri="{FF2B5EF4-FFF2-40B4-BE49-F238E27FC236}">
                  <a16:creationId xmlns:a16="http://schemas.microsoft.com/office/drawing/2014/main" id="{B2C3EBBB-E4D2-010B-6C57-5CE5B46D81CD}"/>
                </a:ext>
              </a:extLst>
            </p:cNvPr>
            <p:cNvGrpSpPr/>
            <p:nvPr/>
          </p:nvGrpSpPr>
          <p:grpSpPr>
            <a:xfrm>
              <a:off x="7197787" y="1597291"/>
              <a:ext cx="2126751" cy="1923494"/>
              <a:chOff x="7197787" y="1597291"/>
              <a:chExt cx="2126751" cy="1923494"/>
            </a:xfrm>
          </p:grpSpPr>
          <p:sp>
            <p:nvSpPr>
              <p:cNvPr id="20" name="Rounded Rectangle 19" descr="This box appears above Query &amp; Context in the original diagram.">
                <a:extLst>
                  <a:ext uri="{FF2B5EF4-FFF2-40B4-BE49-F238E27FC236}">
                    <a16:creationId xmlns:a16="http://schemas.microsoft.com/office/drawing/2014/main" id="{B971A205-C0CA-E7BF-D57C-4A950A27B1D5}"/>
                  </a:ext>
                </a:extLst>
              </p:cNvPr>
              <p:cNvSpPr/>
              <p:nvPr/>
            </p:nvSpPr>
            <p:spPr>
              <a:xfrm>
                <a:off x="7197787"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Augment prompt with retrieved results</a:t>
                </a:r>
              </a:p>
            </p:txBody>
          </p:sp>
          <p:pic>
            <p:nvPicPr>
              <p:cNvPr id="21" name="Graphic 20" descr="Document with solid fill">
                <a:extLst>
                  <a:ext uri="{FF2B5EF4-FFF2-40B4-BE49-F238E27FC236}">
                    <a16:creationId xmlns:a16="http://schemas.microsoft.com/office/drawing/2014/main" id="{9185E0A0-6C5D-D4FE-ADCB-1897E909B2A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13131" y="2585486"/>
                <a:ext cx="935299" cy="935299"/>
              </a:xfrm>
              <a:prstGeom prst="rect">
                <a:avLst/>
              </a:prstGeom>
            </p:spPr>
          </p:pic>
        </p:grpSp>
        <p:sp>
          <p:nvSpPr>
            <p:cNvPr id="19" name="Rounded Rectangle 18">
              <a:extLst>
                <a:ext uri="{FF2B5EF4-FFF2-40B4-BE49-F238E27FC236}">
                  <a16:creationId xmlns:a16="http://schemas.microsoft.com/office/drawing/2014/main" id="{D9FC7A35-E845-5FD3-1156-356A84AEDBA5}"/>
                </a:ext>
              </a:extLst>
            </p:cNvPr>
            <p:cNvSpPr/>
            <p:nvPr/>
          </p:nvSpPr>
          <p:spPr>
            <a:xfrm>
              <a:off x="7523757" y="3520531"/>
              <a:ext cx="1652956" cy="848367"/>
            </a:xfrm>
            <a:prstGeom prst="roundRect">
              <a:avLst/>
            </a:prstGeom>
            <a:solidFill>
              <a:srgbClr val="330066"/>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mazon Ember Light"/>
                  <a:ea typeface="+mn-ea"/>
                  <a:cs typeface="+mn-cs"/>
                </a:rPr>
                <a:t>Prompt</a:t>
              </a:r>
              <a:r>
                <a:rPr kumimoji="0" lang="en-DE" sz="2400" b="1" i="0" u="none" strike="noStrike" kern="0" cap="none" spc="0" normalizeH="0" baseline="0" noProof="0">
                  <a:ln>
                    <a:noFill/>
                  </a:ln>
                  <a:solidFill>
                    <a:srgbClr val="FFFFFF"/>
                  </a:solidFill>
                  <a:effectLst/>
                  <a:uLnTx/>
                  <a:uFillTx/>
                  <a:latin typeface="Amazon Ember Light"/>
                  <a:ea typeface="+mn-ea"/>
                  <a:cs typeface="+mn-cs"/>
                </a:rPr>
                <a:t> </a:t>
              </a:r>
              <a:r>
                <a:rPr kumimoji="0" lang="en-DE" sz="2400" b="1" i="0" u="none" strike="noStrike" kern="0" cap="none" spc="0" normalizeH="0" baseline="0" noProof="0" dirty="0">
                  <a:ln>
                    <a:noFill/>
                  </a:ln>
                  <a:solidFill>
                    <a:srgbClr val="FFFFFF"/>
                  </a:solidFill>
                  <a:effectLst/>
                  <a:uLnTx/>
                  <a:uFillTx/>
                  <a:latin typeface="Amazon Ember Light"/>
                  <a:ea typeface="+mn-ea"/>
                  <a:cs typeface="+mn-cs"/>
                </a:rPr>
                <a:t>+ Context</a:t>
              </a:r>
            </a:p>
          </p:txBody>
        </p:sp>
      </p:grpSp>
      <p:sp>
        <p:nvSpPr>
          <p:cNvPr id="22" name="Rounded Rectangle 21" descr="This box appears above the LLM in the original diagram.">
            <a:extLst>
              <a:ext uri="{FF2B5EF4-FFF2-40B4-BE49-F238E27FC236}">
                <a16:creationId xmlns:a16="http://schemas.microsoft.com/office/drawing/2014/main" id="{942455E6-EFDF-B632-DEC3-D4FEF5327B8F}"/>
              </a:ext>
            </a:extLst>
          </p:cNvPr>
          <p:cNvSpPr/>
          <p:nvPr/>
        </p:nvSpPr>
        <p:spPr>
          <a:xfrm>
            <a:off x="9536423" y="1597291"/>
            <a:ext cx="2126751" cy="907036"/>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Generate response with the LLM</a:t>
            </a:r>
          </a:p>
        </p:txBody>
      </p:sp>
      <p:sp>
        <p:nvSpPr>
          <p:cNvPr id="23" name="Rounded Rectangular Callout 22">
            <a:extLst>
              <a:ext uri="{FF2B5EF4-FFF2-40B4-BE49-F238E27FC236}">
                <a16:creationId xmlns:a16="http://schemas.microsoft.com/office/drawing/2014/main" id="{8A7F6D26-B42E-5342-87E1-B1C6684814E2}"/>
              </a:ext>
            </a:extLst>
          </p:cNvPr>
          <p:cNvSpPr/>
          <p:nvPr/>
        </p:nvSpPr>
        <p:spPr>
          <a:xfrm>
            <a:off x="7731357" y="5405283"/>
            <a:ext cx="2126751" cy="1061238"/>
          </a:xfrm>
          <a:prstGeom prst="wedgeRoundRectCallout">
            <a:avLst>
              <a:gd name="adj1" fmla="val 72237"/>
              <a:gd name="adj2" fmla="val 22499"/>
              <a:gd name="adj3" fmla="val 16667"/>
            </a:avLst>
          </a:prstGeom>
          <a:noFill/>
          <a:ln w="57150" cap="flat" cmpd="sng" algn="ctr">
            <a:solidFill>
              <a:srgbClr val="33006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What is the company’s return policy?</a:t>
            </a:r>
            <a:endParaRPr kumimoji="0" lang="en-DE" sz="2000" b="1"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24" name="Rounded Rectangle 23">
            <a:extLst>
              <a:ext uri="{FF2B5EF4-FFF2-40B4-BE49-F238E27FC236}">
                <a16:creationId xmlns:a16="http://schemas.microsoft.com/office/drawing/2014/main" id="{26F34B5F-E094-A33E-FCA8-8C78392FE46B}"/>
              </a:ext>
            </a:extLst>
          </p:cNvPr>
          <p:cNvSpPr/>
          <p:nvPr/>
        </p:nvSpPr>
        <p:spPr>
          <a:xfrm>
            <a:off x="358295" y="4232022"/>
            <a:ext cx="2011448" cy="1035191"/>
          </a:xfrm>
          <a:prstGeom prst="roundRect">
            <a:avLst/>
          </a:prstGeom>
          <a:noFill/>
          <a:ln w="53975" cap="flat" cmpd="sng" algn="ctr">
            <a:solidFill>
              <a:srgbClr val="7C5A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32F3E"/>
                </a:solidFill>
                <a:effectLst/>
                <a:uLnTx/>
                <a:uFillTx/>
                <a:latin typeface="Amazon Ember Light"/>
                <a:ea typeface="+mn-ea"/>
                <a:cs typeface="+mn-cs"/>
              </a:rPr>
              <a:t>Amazon’s return policy in USA</a:t>
            </a:r>
          </a:p>
        </p:txBody>
      </p:sp>
      <p:cxnSp>
        <p:nvCxnSpPr>
          <p:cNvPr id="25" name="Elbow Connector 24">
            <a:extLst>
              <a:ext uri="{FF2B5EF4-FFF2-40B4-BE49-F238E27FC236}">
                <a16:creationId xmlns:a16="http://schemas.microsoft.com/office/drawing/2014/main" id="{8A0113ED-C03B-8623-3F54-56BFE2232D24}"/>
              </a:ext>
            </a:extLst>
          </p:cNvPr>
          <p:cNvCxnSpPr>
            <a:stCxn id="23" idx="1"/>
            <a:endCxn id="24" idx="2"/>
          </p:cNvCxnSpPr>
          <p:nvPr/>
        </p:nvCxnSpPr>
        <p:spPr>
          <a:xfrm rot="10800000">
            <a:off x="1364019" y="5267214"/>
            <a:ext cx="6367338" cy="668689"/>
          </a:xfrm>
          <a:prstGeom prst="bentConnector2">
            <a:avLst/>
          </a:prstGeom>
          <a:noFill/>
          <a:ln w="63500" cap="flat" cmpd="sng" algn="ctr">
            <a:solidFill>
              <a:srgbClr val="DF2A5D"/>
            </a:solidFill>
            <a:prstDash val="solid"/>
            <a:miter lim="800000"/>
            <a:tailEnd type="triangle"/>
          </a:ln>
          <a:effectLst/>
        </p:spPr>
      </p:cxnSp>
      <p:sp>
        <p:nvSpPr>
          <p:cNvPr id="26" name="TextBox 25">
            <a:extLst>
              <a:ext uri="{FF2B5EF4-FFF2-40B4-BE49-F238E27FC236}">
                <a16:creationId xmlns:a16="http://schemas.microsoft.com/office/drawing/2014/main" id="{C53E6260-C108-0D0E-AE67-F349DA19C87B}"/>
              </a:ext>
            </a:extLst>
          </p:cNvPr>
          <p:cNvSpPr txBox="1"/>
          <p:nvPr/>
        </p:nvSpPr>
        <p:spPr>
          <a:xfrm>
            <a:off x="3040695" y="6099382"/>
            <a:ext cx="3765774" cy="400110"/>
          </a:xfrm>
          <a:prstGeom prst="rect">
            <a:avLst/>
          </a:prstGeom>
          <a:noFill/>
          <a:ln w="28575">
            <a:noFill/>
          </a:ln>
        </p:spPr>
        <p:txBody>
          <a:bodyPr wrap="non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Generate a query for retrieval</a:t>
            </a:r>
          </a:p>
        </p:txBody>
      </p:sp>
      <p:cxnSp>
        <p:nvCxnSpPr>
          <p:cNvPr id="27" name="Elbow Connector 26">
            <a:extLst>
              <a:ext uri="{FF2B5EF4-FFF2-40B4-BE49-F238E27FC236}">
                <a16:creationId xmlns:a16="http://schemas.microsoft.com/office/drawing/2014/main" id="{AF4354F2-1960-0F36-45CC-4FF1D62B61E7}"/>
              </a:ext>
            </a:extLst>
          </p:cNvPr>
          <p:cNvCxnSpPr>
            <a:cxnSpLocks/>
            <a:stCxn id="24" idx="0"/>
            <a:endCxn id="8" idx="2"/>
          </p:cNvCxnSpPr>
          <p:nvPr/>
        </p:nvCxnSpPr>
        <p:spPr>
          <a:xfrm rot="5400000" flipH="1" flipV="1">
            <a:off x="969813" y="3837816"/>
            <a:ext cx="788413" cy="1"/>
          </a:xfrm>
          <a:prstGeom prst="bentConnector3">
            <a:avLst>
              <a:gd name="adj1" fmla="val 50000"/>
            </a:avLst>
          </a:prstGeom>
          <a:noFill/>
          <a:ln w="63500" cap="flat" cmpd="sng" algn="ctr">
            <a:solidFill>
              <a:srgbClr val="DF2A5D"/>
            </a:solidFill>
            <a:prstDash val="solid"/>
            <a:miter lim="800000"/>
            <a:tailEnd type="triangle"/>
          </a:ln>
          <a:effectLst/>
        </p:spPr>
      </p:cxnSp>
      <p:cxnSp>
        <p:nvCxnSpPr>
          <p:cNvPr id="28" name="Straight Arrow Connector 27">
            <a:extLst>
              <a:ext uri="{FF2B5EF4-FFF2-40B4-BE49-F238E27FC236}">
                <a16:creationId xmlns:a16="http://schemas.microsoft.com/office/drawing/2014/main" id="{48261673-E0C3-EC9F-E035-3F0F6BC603D2}"/>
              </a:ext>
            </a:extLst>
          </p:cNvPr>
          <p:cNvCxnSpPr>
            <a:stCxn id="8" idx="3"/>
            <a:endCxn id="11" idx="1"/>
          </p:cNvCxnSpPr>
          <p:nvPr/>
        </p:nvCxnSpPr>
        <p:spPr>
          <a:xfrm flipV="1">
            <a:off x="2114579" y="3114540"/>
            <a:ext cx="512417" cy="455"/>
          </a:xfrm>
          <a:prstGeom prst="straightConnector1">
            <a:avLst/>
          </a:prstGeom>
          <a:noFill/>
          <a:ln w="63500" cap="flat" cmpd="sng" algn="ctr">
            <a:solidFill>
              <a:srgbClr val="DF2A5D"/>
            </a:solidFill>
            <a:prstDash val="solid"/>
            <a:miter lim="800000"/>
            <a:tailEnd type="triangle"/>
          </a:ln>
          <a:effectLst/>
        </p:spPr>
      </p:cxnSp>
      <p:cxnSp>
        <p:nvCxnSpPr>
          <p:cNvPr id="29" name="Straight Arrow Connector 28">
            <a:extLst>
              <a:ext uri="{FF2B5EF4-FFF2-40B4-BE49-F238E27FC236}">
                <a16:creationId xmlns:a16="http://schemas.microsoft.com/office/drawing/2014/main" id="{074DE236-9535-A63A-19DA-A73049230D29}"/>
              </a:ext>
            </a:extLst>
          </p:cNvPr>
          <p:cNvCxnSpPr>
            <a:cxnSpLocks/>
            <a:stCxn id="11" idx="3"/>
          </p:cNvCxnSpPr>
          <p:nvPr/>
        </p:nvCxnSpPr>
        <p:spPr>
          <a:xfrm>
            <a:off x="4596486" y="3114540"/>
            <a:ext cx="922949" cy="0"/>
          </a:xfrm>
          <a:prstGeom prst="straightConnector1">
            <a:avLst/>
          </a:prstGeom>
          <a:noFill/>
          <a:ln w="63500" cap="flat" cmpd="sng" algn="ctr">
            <a:solidFill>
              <a:srgbClr val="DF2A5D"/>
            </a:solidFill>
            <a:prstDash val="solid"/>
            <a:miter lim="800000"/>
            <a:tailEnd type="triangle"/>
          </a:ln>
          <a:effectLst/>
        </p:spPr>
      </p:cxnSp>
      <p:cxnSp>
        <p:nvCxnSpPr>
          <p:cNvPr id="30" name="Straight Arrow Connector 29">
            <a:extLst>
              <a:ext uri="{FF2B5EF4-FFF2-40B4-BE49-F238E27FC236}">
                <a16:creationId xmlns:a16="http://schemas.microsoft.com/office/drawing/2014/main" id="{F53C22F8-5F9E-E9BB-A69D-4DAF5B899AD1}"/>
              </a:ext>
            </a:extLst>
          </p:cNvPr>
          <p:cNvCxnSpPr>
            <a:cxnSpLocks/>
          </p:cNvCxnSpPr>
          <p:nvPr/>
        </p:nvCxnSpPr>
        <p:spPr>
          <a:xfrm>
            <a:off x="6426926" y="3114539"/>
            <a:ext cx="1386205" cy="0"/>
          </a:xfrm>
          <a:prstGeom prst="straightConnector1">
            <a:avLst/>
          </a:prstGeom>
          <a:noFill/>
          <a:ln w="63500" cap="flat" cmpd="sng" algn="ctr">
            <a:solidFill>
              <a:srgbClr val="DF2A5D"/>
            </a:solidFill>
            <a:prstDash val="solid"/>
            <a:miter lim="800000"/>
            <a:tailEnd type="triangle"/>
          </a:ln>
          <a:effectLst/>
        </p:spPr>
      </p:cxnSp>
      <p:cxnSp>
        <p:nvCxnSpPr>
          <p:cNvPr id="31" name="Straight Arrow Connector 30">
            <a:extLst>
              <a:ext uri="{FF2B5EF4-FFF2-40B4-BE49-F238E27FC236}">
                <a16:creationId xmlns:a16="http://schemas.microsoft.com/office/drawing/2014/main" id="{DFD7EDE8-ABD9-D296-4D70-8CA907B4CC5C}"/>
              </a:ext>
            </a:extLst>
          </p:cNvPr>
          <p:cNvCxnSpPr>
            <a:cxnSpLocks/>
            <a:stCxn id="21" idx="3"/>
          </p:cNvCxnSpPr>
          <p:nvPr/>
        </p:nvCxnSpPr>
        <p:spPr>
          <a:xfrm>
            <a:off x="8748430" y="3053136"/>
            <a:ext cx="1328991" cy="5063"/>
          </a:xfrm>
          <a:prstGeom prst="straightConnector1">
            <a:avLst/>
          </a:prstGeom>
          <a:noFill/>
          <a:ln w="63500" cap="flat" cmpd="sng" algn="ctr">
            <a:solidFill>
              <a:srgbClr val="DF2A5D"/>
            </a:solidFill>
            <a:prstDash val="solid"/>
            <a:miter lim="800000"/>
            <a:tailEnd type="triangle"/>
          </a:ln>
          <a:effectLst/>
        </p:spPr>
      </p:cxnSp>
      <p:cxnSp>
        <p:nvCxnSpPr>
          <p:cNvPr id="32" name="Straight Arrow Connector 31">
            <a:extLst>
              <a:ext uri="{FF2B5EF4-FFF2-40B4-BE49-F238E27FC236}">
                <a16:creationId xmlns:a16="http://schemas.microsoft.com/office/drawing/2014/main" id="{B4C09C76-71D6-63D9-5234-D9CAF466A0FE}"/>
              </a:ext>
            </a:extLst>
          </p:cNvPr>
          <p:cNvCxnSpPr>
            <a:cxnSpLocks/>
            <a:stCxn id="23" idx="0"/>
            <a:endCxn id="19" idx="2"/>
          </p:cNvCxnSpPr>
          <p:nvPr/>
        </p:nvCxnSpPr>
        <p:spPr>
          <a:xfrm flipH="1" flipV="1">
            <a:off x="8350235" y="4368898"/>
            <a:ext cx="444498" cy="1036385"/>
          </a:xfrm>
          <a:prstGeom prst="straightConnector1">
            <a:avLst/>
          </a:prstGeom>
          <a:noFill/>
          <a:ln w="63500" cap="flat" cmpd="sng" algn="ctr">
            <a:solidFill>
              <a:srgbClr val="DF2A5D"/>
            </a:solidFill>
            <a:prstDash val="solid"/>
            <a:miter lim="800000"/>
            <a:tailEnd type="triangle"/>
          </a:ln>
          <a:effectLst/>
        </p:spPr>
      </p:cxnSp>
      <p:cxnSp>
        <p:nvCxnSpPr>
          <p:cNvPr id="34" name="Straight Arrow Connector 33">
            <a:extLst>
              <a:ext uri="{FF2B5EF4-FFF2-40B4-BE49-F238E27FC236}">
                <a16:creationId xmlns:a16="http://schemas.microsoft.com/office/drawing/2014/main" id="{2B5FEB22-9398-EFCF-56E8-F26128978EE8}"/>
              </a:ext>
            </a:extLst>
          </p:cNvPr>
          <p:cNvCxnSpPr>
            <a:cxnSpLocks/>
            <a:endCxn id="5" idx="0"/>
          </p:cNvCxnSpPr>
          <p:nvPr/>
        </p:nvCxnSpPr>
        <p:spPr>
          <a:xfrm>
            <a:off x="10605566" y="3639355"/>
            <a:ext cx="147186" cy="1799223"/>
          </a:xfrm>
          <a:prstGeom prst="straightConnector1">
            <a:avLst/>
          </a:prstGeom>
          <a:noFill/>
          <a:ln w="63500" cap="flat" cmpd="sng" algn="ctr">
            <a:solidFill>
              <a:srgbClr val="DF2A5D"/>
            </a:solidFill>
            <a:prstDash val="solid"/>
            <a:miter lim="800000"/>
            <a:tailEnd type="triangle"/>
          </a:ln>
          <a:effectLst/>
        </p:spPr>
      </p:cxnSp>
      <p:sp>
        <p:nvSpPr>
          <p:cNvPr id="35" name="TextBox 34">
            <a:extLst>
              <a:ext uri="{FF2B5EF4-FFF2-40B4-BE49-F238E27FC236}">
                <a16:creationId xmlns:a16="http://schemas.microsoft.com/office/drawing/2014/main" id="{8953A428-A0C6-C990-7264-64EA4B3358DC}"/>
              </a:ext>
            </a:extLst>
          </p:cNvPr>
          <p:cNvSpPr txBox="1"/>
          <p:nvPr/>
        </p:nvSpPr>
        <p:spPr>
          <a:xfrm>
            <a:off x="10799190" y="4338911"/>
            <a:ext cx="1324777" cy="400110"/>
          </a:xfrm>
          <a:prstGeom prst="rect">
            <a:avLst/>
          </a:prstGeom>
          <a:noFill/>
          <a:ln w="28575">
            <a:noFill/>
          </a:ln>
        </p:spPr>
        <p:txBody>
          <a:bodyPr wrap="squar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Response</a:t>
            </a:r>
          </a:p>
        </p:txBody>
      </p:sp>
      <p:sp>
        <p:nvSpPr>
          <p:cNvPr id="36" name="TextBox 35">
            <a:extLst>
              <a:ext uri="{FF2B5EF4-FFF2-40B4-BE49-F238E27FC236}">
                <a16:creationId xmlns:a16="http://schemas.microsoft.com/office/drawing/2014/main" id="{C1119254-F081-AD1B-EC8F-458659531F41}"/>
              </a:ext>
            </a:extLst>
          </p:cNvPr>
          <p:cNvSpPr txBox="1"/>
          <p:nvPr/>
        </p:nvSpPr>
        <p:spPr>
          <a:xfrm>
            <a:off x="8211646" y="6466521"/>
            <a:ext cx="1324777" cy="400110"/>
          </a:xfrm>
          <a:prstGeom prst="rect">
            <a:avLst/>
          </a:prstGeom>
          <a:noFill/>
          <a:ln w="28575">
            <a:noFill/>
          </a:ln>
        </p:spPr>
        <p:txBody>
          <a:bodyPr wrap="square" rtlCol="0">
            <a:spAutoFit/>
          </a:bodyPr>
          <a:lstStyle/>
          <a:p>
            <a:r>
              <a:rPr lang="en-US" sz="2000" b="1" dirty="0">
                <a:solidFill>
                  <a:srgbClr val="232F3E"/>
                </a:solidFill>
                <a:latin typeface="Amazon Ember" panose="020B0603020204020204" pitchFamily="34" charset="0"/>
                <a:ea typeface="Amazon Ember" panose="020B0603020204020204" pitchFamily="34" charset="0"/>
                <a:cs typeface="Amazon Ember" panose="020B0603020204020204" pitchFamily="34" charset="0"/>
              </a:rPr>
              <a:t>Prompt</a:t>
            </a:r>
          </a:p>
        </p:txBody>
      </p:sp>
      <p:pic>
        <p:nvPicPr>
          <p:cNvPr id="4" name="Picture 7">
            <a:extLst>
              <a:ext uri="{FF2B5EF4-FFF2-40B4-BE49-F238E27FC236}">
                <a16:creationId xmlns:a16="http://schemas.microsoft.com/office/drawing/2014/main" id="{6E6AC675-FEE0-B761-E6A6-3FECCF774882}"/>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t="-1046" b="1275"/>
          <a:stretch/>
        </p:blipFill>
        <p:spPr>
          <a:xfrm>
            <a:off x="10035230" y="2548463"/>
            <a:ext cx="1129135" cy="11265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41520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A0BE91-DA71-87B0-7D1C-A9074673E99C}"/>
              </a:ext>
            </a:extLst>
          </p:cNvPr>
          <p:cNvSpPr>
            <a:spLocks noGrp="1"/>
          </p:cNvSpPr>
          <p:nvPr>
            <p:ph type="sldNum" idx="97"/>
          </p:nvPr>
        </p:nvSpPr>
        <p:spPr/>
        <p:txBody>
          <a:bodyPr/>
          <a:lstStyle/>
          <a:p>
            <a:fld id="{86A8BF56-6CB3-514C-9A64-F39D95C9E25B}" type="slidenum">
              <a:rPr lang="en-US" smtClean="0"/>
              <a:t>27</a:t>
            </a:fld>
            <a:endParaRPr lang="en-US"/>
          </a:p>
        </p:txBody>
      </p:sp>
      <p:sp>
        <p:nvSpPr>
          <p:cNvPr id="3" name="Title 2">
            <a:extLst>
              <a:ext uri="{FF2B5EF4-FFF2-40B4-BE49-F238E27FC236}">
                <a16:creationId xmlns:a16="http://schemas.microsoft.com/office/drawing/2014/main" id="{D49E156B-15BC-4702-8611-A3FD3A63B3AE}"/>
              </a:ext>
            </a:extLst>
          </p:cNvPr>
          <p:cNvSpPr>
            <a:spLocks noGrp="1"/>
          </p:cNvSpPr>
          <p:nvPr>
            <p:ph type="title" idx="1"/>
          </p:nvPr>
        </p:nvSpPr>
        <p:spPr/>
        <p:txBody>
          <a:bodyPr/>
          <a:lstStyle/>
          <a:p>
            <a:r>
              <a:rPr lang="en-US" dirty="0"/>
              <a:t>Multimodal Embeddings</a:t>
            </a:r>
          </a:p>
        </p:txBody>
      </p:sp>
    </p:spTree>
    <p:extLst>
      <p:ext uri="{BB962C8B-B14F-4D97-AF65-F5344CB8AC3E}">
        <p14:creationId xmlns:p14="http://schemas.microsoft.com/office/powerpoint/2010/main" val="1576850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76487C-2536-1649-2884-12114E7EA79D}"/>
              </a:ext>
            </a:extLst>
          </p:cNvPr>
          <p:cNvSpPr>
            <a:spLocks noGrp="1"/>
          </p:cNvSpPr>
          <p:nvPr>
            <p:ph type="sldNum" idx="97"/>
          </p:nvPr>
        </p:nvSpPr>
        <p:spPr/>
        <p:txBody>
          <a:bodyPr/>
          <a:lstStyle/>
          <a:p>
            <a:fld id="{86A8BF56-6CB3-514C-9A64-F39D95C9E25B}" type="slidenum">
              <a:rPr lang="en-US" smtClean="0"/>
              <a:t>28</a:t>
            </a:fld>
            <a:endParaRPr lang="en-US"/>
          </a:p>
        </p:txBody>
      </p:sp>
      <p:sp>
        <p:nvSpPr>
          <p:cNvPr id="3" name="Title 2">
            <a:extLst>
              <a:ext uri="{FF2B5EF4-FFF2-40B4-BE49-F238E27FC236}">
                <a16:creationId xmlns:a16="http://schemas.microsoft.com/office/drawing/2014/main" id="{CE03E01E-5771-F1CE-E0E9-8E33E9D57C81}"/>
              </a:ext>
            </a:extLst>
          </p:cNvPr>
          <p:cNvSpPr>
            <a:spLocks noGrp="1"/>
          </p:cNvSpPr>
          <p:nvPr>
            <p:ph type="title" idx="1"/>
          </p:nvPr>
        </p:nvSpPr>
        <p:spPr/>
        <p:txBody>
          <a:bodyPr>
            <a:normAutofit fontScale="90000"/>
          </a:bodyPr>
          <a:lstStyle/>
          <a:p>
            <a:r>
              <a:rPr lang="en-US" dirty="0"/>
              <a:t>Challenges with multimodal models: Representation</a:t>
            </a:r>
          </a:p>
        </p:txBody>
      </p:sp>
      <p:sp>
        <p:nvSpPr>
          <p:cNvPr id="4" name="Content Placeholder 3">
            <a:extLst>
              <a:ext uri="{FF2B5EF4-FFF2-40B4-BE49-F238E27FC236}">
                <a16:creationId xmlns:a16="http://schemas.microsoft.com/office/drawing/2014/main" id="{2971E813-BD5D-19A4-DDEF-717A2C19189B}"/>
              </a:ext>
            </a:extLst>
          </p:cNvPr>
          <p:cNvSpPr>
            <a:spLocks noGrp="1"/>
          </p:cNvSpPr>
          <p:nvPr>
            <p:ph idx="2"/>
          </p:nvPr>
        </p:nvSpPr>
        <p:spPr/>
        <p:txBody>
          <a:bodyPr/>
          <a:lstStyle/>
          <a:p>
            <a:r>
              <a:rPr lang="en-US" dirty="0"/>
              <a:t>Learning how to </a:t>
            </a:r>
            <a:r>
              <a:rPr lang="en-US" dirty="0">
                <a:solidFill>
                  <a:schemeClr val="accent6"/>
                </a:solidFill>
                <a:latin typeface="+mj-lt"/>
              </a:rPr>
              <a:t>represent multiple modalities efficiently</a:t>
            </a:r>
          </a:p>
          <a:p>
            <a:pPr lvl="1"/>
            <a:r>
              <a:rPr lang="en-US" dirty="0"/>
              <a:t>Exploit complementary information from modalities</a:t>
            </a:r>
          </a:p>
          <a:p>
            <a:pPr lvl="1"/>
            <a:r>
              <a:rPr lang="en-US" dirty="0"/>
              <a:t>Avoid redundancy from modalities</a:t>
            </a:r>
          </a:p>
          <a:p>
            <a:r>
              <a:rPr lang="en-US" dirty="0">
                <a:solidFill>
                  <a:schemeClr val="accent6"/>
                </a:solidFill>
                <a:latin typeface="+mj-lt"/>
              </a:rPr>
              <a:t>Combine the data </a:t>
            </a:r>
            <a:r>
              <a:rPr lang="en-US" dirty="0"/>
              <a:t>from heterogeneous sources</a:t>
            </a:r>
          </a:p>
          <a:p>
            <a:pPr lvl="1"/>
            <a:r>
              <a:rPr lang="en-US" dirty="0"/>
              <a:t>Language is symbolic</a:t>
            </a:r>
          </a:p>
          <a:p>
            <a:pPr lvl="1"/>
            <a:r>
              <a:rPr lang="en-US" dirty="0"/>
              <a:t>Images are numeric matrices</a:t>
            </a:r>
          </a:p>
          <a:p>
            <a:pPr lvl="1"/>
            <a:r>
              <a:rPr lang="en-US" dirty="0"/>
              <a:t>Audio and video are represented as signals</a:t>
            </a:r>
          </a:p>
          <a:p>
            <a:r>
              <a:rPr lang="en-US" dirty="0"/>
              <a:t>Some modalities will require you to </a:t>
            </a:r>
            <a:r>
              <a:rPr lang="en-US" dirty="0">
                <a:solidFill>
                  <a:schemeClr val="accent6"/>
                </a:solidFill>
                <a:latin typeface="+mj-lt"/>
              </a:rPr>
              <a:t>handle noise or missing data</a:t>
            </a:r>
          </a:p>
          <a:p>
            <a:pPr lvl="1"/>
            <a:endParaRPr lang="en-US" dirty="0"/>
          </a:p>
          <a:p>
            <a:endParaRPr lang="en-US" dirty="0"/>
          </a:p>
        </p:txBody>
      </p:sp>
    </p:spTree>
    <p:extLst>
      <p:ext uri="{BB962C8B-B14F-4D97-AF65-F5344CB8AC3E}">
        <p14:creationId xmlns:p14="http://schemas.microsoft.com/office/powerpoint/2010/main" val="3334250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FFD7E-06AD-361B-BFA1-593F23265524}"/>
              </a:ext>
            </a:extLst>
          </p:cNvPr>
          <p:cNvSpPr>
            <a:spLocks noGrp="1"/>
          </p:cNvSpPr>
          <p:nvPr>
            <p:ph type="sldNum" idx="97"/>
          </p:nvPr>
        </p:nvSpPr>
        <p:spPr/>
        <p:txBody>
          <a:bodyPr/>
          <a:lstStyle/>
          <a:p>
            <a:fld id="{86A8BF56-6CB3-514C-9A64-F39D95C9E25B}" type="slidenum">
              <a:rPr lang="en-US" smtClean="0"/>
              <a:t>29</a:t>
            </a:fld>
            <a:endParaRPr lang="en-US"/>
          </a:p>
        </p:txBody>
      </p:sp>
      <p:sp>
        <p:nvSpPr>
          <p:cNvPr id="3" name="Title 2">
            <a:extLst>
              <a:ext uri="{FF2B5EF4-FFF2-40B4-BE49-F238E27FC236}">
                <a16:creationId xmlns:a16="http://schemas.microsoft.com/office/drawing/2014/main" id="{6902A87C-6F21-4F44-CE3A-1B5B63460CE1}"/>
              </a:ext>
            </a:extLst>
          </p:cNvPr>
          <p:cNvSpPr>
            <a:spLocks noGrp="1"/>
          </p:cNvSpPr>
          <p:nvPr>
            <p:ph type="title" idx="1"/>
          </p:nvPr>
        </p:nvSpPr>
        <p:spPr/>
        <p:txBody>
          <a:bodyPr>
            <a:normAutofit/>
          </a:bodyPr>
          <a:lstStyle/>
          <a:p>
            <a:r>
              <a:rPr lang="en-US" dirty="0"/>
              <a:t>Challenges with multimodal models: Alignment</a:t>
            </a:r>
          </a:p>
        </p:txBody>
      </p:sp>
      <p:sp>
        <p:nvSpPr>
          <p:cNvPr id="4" name="Content Placeholder 3">
            <a:extLst>
              <a:ext uri="{FF2B5EF4-FFF2-40B4-BE49-F238E27FC236}">
                <a16:creationId xmlns:a16="http://schemas.microsoft.com/office/drawing/2014/main" id="{53A8AF84-D10A-1460-C95A-4F96BFD5FAB8}"/>
              </a:ext>
            </a:extLst>
          </p:cNvPr>
          <p:cNvSpPr>
            <a:spLocks noGrp="1"/>
          </p:cNvSpPr>
          <p:nvPr>
            <p:ph idx="2"/>
          </p:nvPr>
        </p:nvSpPr>
        <p:spPr/>
        <p:txBody>
          <a:bodyPr/>
          <a:lstStyle/>
          <a:p>
            <a:r>
              <a:rPr lang="en-US" sz="3200" dirty="0"/>
              <a:t>Alignment is about </a:t>
            </a:r>
            <a:r>
              <a:rPr lang="en-US" sz="3200" dirty="0">
                <a:solidFill>
                  <a:schemeClr val="accent6"/>
                </a:solidFill>
                <a:latin typeface="+mj-lt"/>
              </a:rPr>
              <a:t>integrating information from different modalities</a:t>
            </a:r>
            <a:endParaRPr lang="en-US" sz="3200" dirty="0">
              <a:solidFill>
                <a:schemeClr val="accent6"/>
              </a:solidFill>
            </a:endParaRPr>
          </a:p>
          <a:p>
            <a:pPr lvl="1"/>
            <a:r>
              <a:rPr lang="en-US" sz="2800" dirty="0"/>
              <a:t>Identifies direct relations between elements, across multiple modalities</a:t>
            </a:r>
          </a:p>
          <a:p>
            <a:pPr lvl="1"/>
            <a:r>
              <a:rPr lang="en-US" sz="2800" dirty="0"/>
              <a:t>Example: Aligns the elements of an image and its caption</a:t>
            </a:r>
          </a:p>
          <a:p>
            <a:endParaRPr lang="en-US" dirty="0"/>
          </a:p>
        </p:txBody>
      </p:sp>
    </p:spTree>
    <p:extLst>
      <p:ext uri="{BB962C8B-B14F-4D97-AF65-F5344CB8AC3E}">
        <p14:creationId xmlns:p14="http://schemas.microsoft.com/office/powerpoint/2010/main" val="905664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502219-9CF6-DCD2-334B-0D9118D5C01B}"/>
              </a:ext>
            </a:extLst>
          </p:cNvPr>
          <p:cNvSpPr>
            <a:spLocks noGrp="1"/>
          </p:cNvSpPr>
          <p:nvPr>
            <p:ph type="sldNum" idx="97"/>
          </p:nvPr>
        </p:nvSpPr>
        <p:spPr/>
        <p:txBody>
          <a:bodyPr/>
          <a:lstStyle/>
          <a:p>
            <a:fld id="{86A8BF56-6CB3-514C-9A64-F39D95C9E25B}" type="slidenum">
              <a:rPr lang="en-US" smtClean="0"/>
              <a:t>30</a:t>
            </a:fld>
            <a:endParaRPr lang="en-US"/>
          </a:p>
        </p:txBody>
      </p:sp>
      <p:sp>
        <p:nvSpPr>
          <p:cNvPr id="3" name="Title 2">
            <a:extLst>
              <a:ext uri="{FF2B5EF4-FFF2-40B4-BE49-F238E27FC236}">
                <a16:creationId xmlns:a16="http://schemas.microsoft.com/office/drawing/2014/main" id="{FEFE9709-B7F9-0969-34F3-4DFC9C310A08}"/>
              </a:ext>
            </a:extLst>
          </p:cNvPr>
          <p:cNvSpPr>
            <a:spLocks noGrp="1"/>
          </p:cNvSpPr>
          <p:nvPr>
            <p:ph type="title" idx="1"/>
          </p:nvPr>
        </p:nvSpPr>
        <p:spPr/>
        <p:txBody>
          <a:bodyPr>
            <a:normAutofit/>
          </a:bodyPr>
          <a:lstStyle/>
          <a:p>
            <a:r>
              <a:rPr lang="en-US" dirty="0"/>
              <a:t>Challenges with multimodal models: Translating</a:t>
            </a:r>
          </a:p>
        </p:txBody>
      </p:sp>
      <p:sp>
        <p:nvSpPr>
          <p:cNvPr id="4" name="Content Placeholder 3">
            <a:extLst>
              <a:ext uri="{FF2B5EF4-FFF2-40B4-BE49-F238E27FC236}">
                <a16:creationId xmlns:a16="http://schemas.microsoft.com/office/drawing/2014/main" id="{62A8B4B8-A5A1-1E43-6323-C25E8D58E7D7}"/>
              </a:ext>
            </a:extLst>
          </p:cNvPr>
          <p:cNvSpPr>
            <a:spLocks noGrp="1"/>
          </p:cNvSpPr>
          <p:nvPr>
            <p:ph idx="2"/>
          </p:nvPr>
        </p:nvSpPr>
        <p:spPr/>
        <p:txBody>
          <a:bodyPr/>
          <a:lstStyle/>
          <a:p>
            <a:pPr>
              <a:spcAft>
                <a:spcPts val="1800"/>
              </a:spcAft>
            </a:pPr>
            <a:r>
              <a:rPr lang="en-US" dirty="0">
                <a:solidFill>
                  <a:schemeClr val="accent6"/>
                </a:solidFill>
                <a:latin typeface="+mj-lt"/>
              </a:rPr>
              <a:t>Mapping</a:t>
            </a:r>
            <a:r>
              <a:rPr lang="en-US" dirty="0"/>
              <a:t> one modality to another</a:t>
            </a:r>
          </a:p>
          <a:p>
            <a:pPr>
              <a:spcAft>
                <a:spcPts val="1800"/>
              </a:spcAft>
            </a:pPr>
            <a:r>
              <a:rPr lang="en-US" dirty="0"/>
              <a:t>What if data is </a:t>
            </a:r>
            <a:r>
              <a:rPr lang="en-US" dirty="0">
                <a:solidFill>
                  <a:schemeClr val="accent6"/>
                </a:solidFill>
                <a:latin typeface="+mj-lt"/>
              </a:rPr>
              <a:t>heterogenous</a:t>
            </a:r>
            <a:r>
              <a:rPr lang="en-US" dirty="0"/>
              <a:t>?</a:t>
            </a:r>
          </a:p>
          <a:p>
            <a:pPr lvl="1">
              <a:spcAft>
                <a:spcPts val="1800"/>
              </a:spcAft>
            </a:pPr>
            <a:r>
              <a:rPr lang="en-US" dirty="0"/>
              <a:t>Image-to-text</a:t>
            </a:r>
          </a:p>
          <a:p>
            <a:pPr lvl="1">
              <a:spcAft>
                <a:spcPts val="1800"/>
              </a:spcAft>
            </a:pPr>
            <a:r>
              <a:rPr lang="en-US" dirty="0"/>
              <a:t>Text-to-image</a:t>
            </a:r>
          </a:p>
          <a:p>
            <a:pPr>
              <a:spcAft>
                <a:spcPts val="1800"/>
              </a:spcAft>
            </a:pPr>
            <a:r>
              <a:rPr lang="en-US" dirty="0"/>
              <a:t>Relationship between them could be </a:t>
            </a:r>
            <a:r>
              <a:rPr lang="en-US" dirty="0">
                <a:solidFill>
                  <a:schemeClr val="accent6"/>
                </a:solidFill>
                <a:latin typeface="+mj-lt"/>
              </a:rPr>
              <a:t>subjective or open-ended</a:t>
            </a:r>
          </a:p>
          <a:p>
            <a:pPr lvl="1">
              <a:spcAft>
                <a:spcPts val="1800"/>
              </a:spcAft>
            </a:pPr>
            <a:r>
              <a:rPr lang="en-US" dirty="0"/>
              <a:t>There can be several accurate descriptions or interpretations of a painting</a:t>
            </a:r>
          </a:p>
          <a:p>
            <a:endParaRPr lang="en-US" dirty="0"/>
          </a:p>
        </p:txBody>
      </p:sp>
    </p:spTree>
    <p:extLst>
      <p:ext uri="{BB962C8B-B14F-4D97-AF65-F5344CB8AC3E}">
        <p14:creationId xmlns:p14="http://schemas.microsoft.com/office/powerpoint/2010/main" val="3828256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988AE9-DD45-2E39-941A-EDC25037B915}"/>
              </a:ext>
            </a:extLst>
          </p:cNvPr>
          <p:cNvSpPr>
            <a:spLocks noGrp="1"/>
          </p:cNvSpPr>
          <p:nvPr>
            <p:ph type="sldNum" idx="97"/>
          </p:nvPr>
        </p:nvSpPr>
        <p:spPr/>
        <p:txBody>
          <a:bodyPr/>
          <a:lstStyle/>
          <a:p>
            <a:fld id="{86A8BF56-6CB3-514C-9A64-F39D95C9E25B}" type="slidenum">
              <a:rPr lang="en-US" smtClean="0"/>
              <a:t>31</a:t>
            </a:fld>
            <a:endParaRPr lang="en-US"/>
          </a:p>
        </p:txBody>
      </p:sp>
      <p:sp>
        <p:nvSpPr>
          <p:cNvPr id="3" name="Title 2">
            <a:extLst>
              <a:ext uri="{FF2B5EF4-FFF2-40B4-BE49-F238E27FC236}">
                <a16:creationId xmlns:a16="http://schemas.microsoft.com/office/drawing/2014/main" id="{92276D95-93B1-6F8C-CC6D-9F68F208D2B4}"/>
              </a:ext>
            </a:extLst>
          </p:cNvPr>
          <p:cNvSpPr>
            <a:spLocks noGrp="1"/>
          </p:cNvSpPr>
          <p:nvPr>
            <p:ph type="title" idx="1"/>
          </p:nvPr>
        </p:nvSpPr>
        <p:spPr/>
        <p:txBody>
          <a:bodyPr/>
          <a:lstStyle/>
          <a:p>
            <a:r>
              <a:rPr lang="en-US" dirty="0"/>
              <a:t>How to address this challenge?</a:t>
            </a:r>
          </a:p>
        </p:txBody>
      </p:sp>
      <p:sp>
        <p:nvSpPr>
          <p:cNvPr id="4" name="Content Placeholder 3">
            <a:extLst>
              <a:ext uri="{FF2B5EF4-FFF2-40B4-BE49-F238E27FC236}">
                <a16:creationId xmlns:a16="http://schemas.microsoft.com/office/drawing/2014/main" id="{93C89517-64B4-9707-46BC-C7D62DE9240B}"/>
              </a:ext>
            </a:extLst>
          </p:cNvPr>
          <p:cNvSpPr>
            <a:spLocks noGrp="1"/>
          </p:cNvSpPr>
          <p:nvPr>
            <p:ph idx="2"/>
          </p:nvPr>
        </p:nvSpPr>
        <p:spPr/>
        <p:txBody>
          <a:bodyPr/>
          <a:lstStyle/>
          <a:p>
            <a:r>
              <a:rPr lang="en-US" dirty="0"/>
              <a:t>The model should know that an image, and its corresponding description (caption) is about the same underlying concept</a:t>
            </a:r>
          </a:p>
          <a:p>
            <a:pPr lvl="1"/>
            <a:r>
              <a:rPr lang="en-US" dirty="0"/>
              <a:t>Ex. “digital camera”</a:t>
            </a:r>
          </a:p>
          <a:p>
            <a:pPr marL="344488" lvl="1" indent="0">
              <a:buNone/>
            </a:pPr>
            <a:endParaRPr lang="en-US" dirty="0"/>
          </a:p>
          <a:p>
            <a:r>
              <a:rPr lang="en-US" dirty="0"/>
              <a:t>How does the model encode this information while integrating both modalities?</a:t>
            </a:r>
          </a:p>
          <a:p>
            <a:pPr marL="0" indent="0">
              <a:buNone/>
            </a:pPr>
            <a:endParaRPr lang="en-US" dirty="0"/>
          </a:p>
          <a:p>
            <a:pPr marL="0" indent="0" algn="ctr">
              <a:buNone/>
            </a:pPr>
            <a:r>
              <a:rPr lang="en-US" dirty="0">
                <a:solidFill>
                  <a:schemeClr val="accent6"/>
                </a:solidFill>
                <a:latin typeface="+mj-lt"/>
              </a:rPr>
              <a:t>Multimodal embeddings</a:t>
            </a:r>
          </a:p>
          <a:p>
            <a:endParaRPr lang="en-US" dirty="0"/>
          </a:p>
        </p:txBody>
      </p:sp>
    </p:spTree>
    <p:extLst>
      <p:ext uri="{BB962C8B-B14F-4D97-AF65-F5344CB8AC3E}">
        <p14:creationId xmlns:p14="http://schemas.microsoft.com/office/powerpoint/2010/main" val="2321254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62AD73-2085-E3F3-88DB-2EE4B6504CD5}"/>
              </a:ext>
            </a:extLst>
          </p:cNvPr>
          <p:cNvSpPr>
            <a:spLocks noGrp="1"/>
          </p:cNvSpPr>
          <p:nvPr>
            <p:ph type="sldNum" idx="97"/>
          </p:nvPr>
        </p:nvSpPr>
        <p:spPr/>
        <p:txBody>
          <a:bodyPr/>
          <a:lstStyle/>
          <a:p>
            <a:fld id="{86A8BF56-6CB3-514C-9A64-F39D95C9E25B}" type="slidenum">
              <a:rPr lang="en-US" smtClean="0"/>
              <a:t>32</a:t>
            </a:fld>
            <a:endParaRPr lang="en-US"/>
          </a:p>
        </p:txBody>
      </p:sp>
      <p:sp>
        <p:nvSpPr>
          <p:cNvPr id="3" name="Title 2">
            <a:extLst>
              <a:ext uri="{FF2B5EF4-FFF2-40B4-BE49-F238E27FC236}">
                <a16:creationId xmlns:a16="http://schemas.microsoft.com/office/drawing/2014/main" id="{C84CBC78-055B-7412-76E4-A974741785E6}"/>
              </a:ext>
            </a:extLst>
          </p:cNvPr>
          <p:cNvSpPr>
            <a:spLocks noGrp="1"/>
          </p:cNvSpPr>
          <p:nvPr>
            <p:ph type="title" idx="1"/>
          </p:nvPr>
        </p:nvSpPr>
        <p:spPr/>
        <p:txBody>
          <a:bodyPr/>
          <a:lstStyle/>
          <a:p>
            <a:r>
              <a:rPr lang="en-US" dirty="0"/>
              <a:t>Multimodal embeddings: Representation</a:t>
            </a:r>
          </a:p>
        </p:txBody>
      </p:sp>
      <p:sp>
        <p:nvSpPr>
          <p:cNvPr id="4" name="Content Placeholder 3">
            <a:extLst>
              <a:ext uri="{FF2B5EF4-FFF2-40B4-BE49-F238E27FC236}">
                <a16:creationId xmlns:a16="http://schemas.microsoft.com/office/drawing/2014/main" id="{07E12560-1013-A9D7-54E6-7358C2A783A8}"/>
              </a:ext>
            </a:extLst>
          </p:cNvPr>
          <p:cNvSpPr>
            <a:spLocks noGrp="1"/>
          </p:cNvSpPr>
          <p:nvPr>
            <p:ph idx="2"/>
          </p:nvPr>
        </p:nvSpPr>
        <p:spPr>
          <a:xfrm>
            <a:off x="365760" y="1165536"/>
            <a:ext cx="11466576" cy="649514"/>
          </a:xfrm>
        </p:spPr>
        <p:txBody>
          <a:bodyPr/>
          <a:lstStyle/>
          <a:p>
            <a:r>
              <a:rPr lang="en-US" dirty="0"/>
              <a:t>Represent multiple modalities using same embedding model</a:t>
            </a:r>
          </a:p>
          <a:p>
            <a:endParaRPr lang="en-US" dirty="0"/>
          </a:p>
        </p:txBody>
      </p:sp>
      <p:sp>
        <p:nvSpPr>
          <p:cNvPr id="6" name="Rectangle 5">
            <a:extLst>
              <a:ext uri="{FF2B5EF4-FFF2-40B4-BE49-F238E27FC236}">
                <a16:creationId xmlns:a16="http://schemas.microsoft.com/office/drawing/2014/main" id="{3E345F44-6ED9-B308-7BE4-69808D098BC5}"/>
              </a:ext>
            </a:extLst>
          </p:cNvPr>
          <p:cNvSpPr/>
          <p:nvPr/>
        </p:nvSpPr>
        <p:spPr>
          <a:xfrm>
            <a:off x="5517743" y="2955901"/>
            <a:ext cx="2125204" cy="946197"/>
          </a:xfrm>
          <a:prstGeom prst="rect">
            <a:avLst/>
          </a:prstGeom>
          <a:solidFill>
            <a:srgbClr val="F28A00"/>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mazon Ember Medium"/>
                <a:ea typeface="+mn-ea"/>
                <a:cs typeface="+mn-cs"/>
              </a:rPr>
              <a:t>Embedding Model</a:t>
            </a:r>
          </a:p>
        </p:txBody>
      </p:sp>
      <p:grpSp>
        <p:nvGrpSpPr>
          <p:cNvPr id="7" name="Group 6">
            <a:extLst>
              <a:ext uri="{FF2B5EF4-FFF2-40B4-BE49-F238E27FC236}">
                <a16:creationId xmlns:a16="http://schemas.microsoft.com/office/drawing/2014/main" id="{F6DEF145-A802-27F1-8F4B-9101F51F7A69}"/>
              </a:ext>
            </a:extLst>
          </p:cNvPr>
          <p:cNvGrpSpPr/>
          <p:nvPr/>
        </p:nvGrpSpPr>
        <p:grpSpPr>
          <a:xfrm>
            <a:off x="9127705" y="2667679"/>
            <a:ext cx="473055" cy="1719618"/>
            <a:chOff x="9837290" y="2569191"/>
            <a:chExt cx="473055" cy="1719618"/>
          </a:xfrm>
        </p:grpSpPr>
        <p:sp>
          <p:nvSpPr>
            <p:cNvPr id="8" name="Rectangle 7">
              <a:extLst>
                <a:ext uri="{FF2B5EF4-FFF2-40B4-BE49-F238E27FC236}">
                  <a16:creationId xmlns:a16="http://schemas.microsoft.com/office/drawing/2014/main" id="{C3038A05-7354-C09F-B747-BE30F11D8F88}"/>
                </a:ext>
              </a:extLst>
            </p:cNvPr>
            <p:cNvSpPr/>
            <p:nvPr/>
          </p:nvSpPr>
          <p:spPr>
            <a:xfrm>
              <a:off x="9939648" y="2668378"/>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8EF7D">
                    <a:lumMod val="60000"/>
                    <a:lumOff val="40000"/>
                  </a:srgbClr>
                </a:solidFill>
                <a:effectLst/>
                <a:uLnTx/>
                <a:uFillTx/>
                <a:latin typeface="Amazon Ember Light"/>
                <a:ea typeface="+mn-ea"/>
                <a:cs typeface="+mn-cs"/>
              </a:endParaRPr>
            </a:p>
          </p:txBody>
        </p:sp>
        <p:sp>
          <p:nvSpPr>
            <p:cNvPr id="9" name="Rectangle 8">
              <a:extLst>
                <a:ext uri="{FF2B5EF4-FFF2-40B4-BE49-F238E27FC236}">
                  <a16:creationId xmlns:a16="http://schemas.microsoft.com/office/drawing/2014/main" id="{46E33F79-B053-013D-C9F9-1E537AC10B63}"/>
                </a:ext>
              </a:extLst>
            </p:cNvPr>
            <p:cNvSpPr/>
            <p:nvPr/>
          </p:nvSpPr>
          <p:spPr>
            <a:xfrm>
              <a:off x="9939648" y="2990952"/>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10" name="Rectangle 9">
              <a:extLst>
                <a:ext uri="{FF2B5EF4-FFF2-40B4-BE49-F238E27FC236}">
                  <a16:creationId xmlns:a16="http://schemas.microsoft.com/office/drawing/2014/main" id="{C1E8D7FB-EA9E-01A0-96A0-18AF87A18DC8}"/>
                </a:ext>
              </a:extLst>
            </p:cNvPr>
            <p:cNvSpPr/>
            <p:nvPr/>
          </p:nvSpPr>
          <p:spPr>
            <a:xfrm>
              <a:off x="9939648" y="3313234"/>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11" name="Rectangle 10">
              <a:extLst>
                <a:ext uri="{FF2B5EF4-FFF2-40B4-BE49-F238E27FC236}">
                  <a16:creationId xmlns:a16="http://schemas.microsoft.com/office/drawing/2014/main" id="{7C7E72DD-DFC2-37BA-9BD1-1CF164B81144}"/>
                </a:ext>
              </a:extLst>
            </p:cNvPr>
            <p:cNvSpPr/>
            <p:nvPr/>
          </p:nvSpPr>
          <p:spPr>
            <a:xfrm>
              <a:off x="9939648" y="3635516"/>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12" name="Rectangle 11">
              <a:extLst>
                <a:ext uri="{FF2B5EF4-FFF2-40B4-BE49-F238E27FC236}">
                  <a16:creationId xmlns:a16="http://schemas.microsoft.com/office/drawing/2014/main" id="{B1DC6904-59CD-3881-B8F1-49A872AC16A6}"/>
                </a:ext>
              </a:extLst>
            </p:cNvPr>
            <p:cNvSpPr/>
            <p:nvPr/>
          </p:nvSpPr>
          <p:spPr>
            <a:xfrm>
              <a:off x="9939648" y="3957798"/>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13" name="Left Bracket 12">
              <a:extLst>
                <a:ext uri="{FF2B5EF4-FFF2-40B4-BE49-F238E27FC236}">
                  <a16:creationId xmlns:a16="http://schemas.microsoft.com/office/drawing/2014/main" id="{F9DF8FCF-9E2D-DDCE-63A1-737E18EB36D0}"/>
                </a:ext>
              </a:extLst>
            </p:cNvPr>
            <p:cNvSpPr/>
            <p:nvPr/>
          </p:nvSpPr>
          <p:spPr>
            <a:xfrm>
              <a:off x="9837290" y="2569191"/>
              <a:ext cx="150125" cy="1719618"/>
            </a:xfrm>
            <a:prstGeom prst="leftBracket">
              <a:avLst/>
            </a:prstGeom>
            <a:noFill/>
            <a:ln w="63500" cap="flat" cmpd="sng" algn="ctr">
              <a:solidFill>
                <a:srgbClr val="232F3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14" name="Left Bracket 13">
              <a:extLst>
                <a:ext uri="{FF2B5EF4-FFF2-40B4-BE49-F238E27FC236}">
                  <a16:creationId xmlns:a16="http://schemas.microsoft.com/office/drawing/2014/main" id="{E1CD5D2C-14CA-ACAB-38F1-217702EC7457}"/>
                </a:ext>
              </a:extLst>
            </p:cNvPr>
            <p:cNvSpPr/>
            <p:nvPr/>
          </p:nvSpPr>
          <p:spPr>
            <a:xfrm rot="10800000">
              <a:off x="10160220" y="2569191"/>
              <a:ext cx="150125" cy="1719618"/>
            </a:xfrm>
            <a:prstGeom prst="leftBracket">
              <a:avLst/>
            </a:prstGeom>
            <a:noFill/>
            <a:ln w="63500" cap="flat" cmpd="sng" algn="ctr">
              <a:solidFill>
                <a:srgbClr val="232F3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grpSp>
      <p:cxnSp>
        <p:nvCxnSpPr>
          <p:cNvPr id="15" name="Straight Arrow Connector 14">
            <a:extLst>
              <a:ext uri="{FF2B5EF4-FFF2-40B4-BE49-F238E27FC236}">
                <a16:creationId xmlns:a16="http://schemas.microsoft.com/office/drawing/2014/main" id="{32704100-E8AB-38AF-EB85-7E3205C8CCE3}"/>
              </a:ext>
            </a:extLst>
          </p:cNvPr>
          <p:cNvCxnSpPr>
            <a:cxnSpLocks/>
            <a:endCxn id="6" idx="1"/>
          </p:cNvCxnSpPr>
          <p:nvPr/>
        </p:nvCxnSpPr>
        <p:spPr>
          <a:xfrm flipV="1">
            <a:off x="4032985" y="3429000"/>
            <a:ext cx="1484758" cy="1"/>
          </a:xfrm>
          <a:prstGeom prst="straightConnector1">
            <a:avLst/>
          </a:prstGeom>
          <a:noFill/>
          <a:ln w="63500" cap="flat" cmpd="sng" algn="ctr">
            <a:solidFill>
              <a:srgbClr val="C00000"/>
            </a:solidFill>
            <a:prstDash val="solid"/>
            <a:miter lim="800000"/>
            <a:tailEnd type="triangle"/>
          </a:ln>
          <a:effectLst/>
        </p:spPr>
      </p:cxnSp>
      <p:cxnSp>
        <p:nvCxnSpPr>
          <p:cNvPr id="16" name="Straight Arrow Connector 15">
            <a:extLst>
              <a:ext uri="{FF2B5EF4-FFF2-40B4-BE49-F238E27FC236}">
                <a16:creationId xmlns:a16="http://schemas.microsoft.com/office/drawing/2014/main" id="{EC93CBE0-5025-E9F5-1016-09EA4C67987B}"/>
              </a:ext>
            </a:extLst>
          </p:cNvPr>
          <p:cNvCxnSpPr>
            <a:cxnSpLocks/>
            <a:stCxn id="6" idx="3"/>
          </p:cNvCxnSpPr>
          <p:nvPr/>
        </p:nvCxnSpPr>
        <p:spPr>
          <a:xfrm flipV="1">
            <a:off x="7642947" y="3428999"/>
            <a:ext cx="1415993" cy="1"/>
          </a:xfrm>
          <a:prstGeom prst="straightConnector1">
            <a:avLst/>
          </a:prstGeom>
          <a:noFill/>
          <a:ln w="63500" cap="flat" cmpd="sng" algn="ctr">
            <a:solidFill>
              <a:srgbClr val="C00000"/>
            </a:solidFill>
            <a:prstDash val="solid"/>
            <a:miter lim="800000"/>
            <a:tailEnd type="triangle"/>
          </a:ln>
          <a:effectLst/>
        </p:spPr>
      </p:cxnSp>
      <p:sp>
        <p:nvSpPr>
          <p:cNvPr id="17" name="TextBox 16">
            <a:extLst>
              <a:ext uri="{FF2B5EF4-FFF2-40B4-BE49-F238E27FC236}">
                <a16:creationId xmlns:a16="http://schemas.microsoft.com/office/drawing/2014/main" id="{8F72A8BD-1259-6042-E852-B1C048292066}"/>
              </a:ext>
            </a:extLst>
          </p:cNvPr>
          <p:cNvSpPr txBox="1"/>
          <p:nvPr/>
        </p:nvSpPr>
        <p:spPr>
          <a:xfrm>
            <a:off x="1399298" y="5180963"/>
            <a:ext cx="2720013" cy="646331"/>
          </a:xfrm>
          <a:prstGeom prst="rect">
            <a:avLst/>
          </a:prstGeom>
          <a:solidFill>
            <a:srgbClr val="7C5AED">
              <a:lumMod val="20000"/>
              <a:lumOff val="80000"/>
            </a:srgbClr>
          </a:solidFill>
          <a:effectLst>
            <a:outerShdw blurRad="50800" dist="38100" dir="2700000" algn="tl" rotWithShape="0">
              <a:prstClr val="black">
                <a:alpha val="40000"/>
              </a:prstClr>
            </a:out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Light"/>
              </a:rPr>
              <a:t>Summarize the following documents…</a:t>
            </a:r>
          </a:p>
        </p:txBody>
      </p:sp>
      <p:sp>
        <p:nvSpPr>
          <p:cNvPr id="18" name="Rectangle 17">
            <a:extLst>
              <a:ext uri="{FF2B5EF4-FFF2-40B4-BE49-F238E27FC236}">
                <a16:creationId xmlns:a16="http://schemas.microsoft.com/office/drawing/2014/main" id="{53264E21-08EB-A6FB-257F-E917F6A568DC}"/>
              </a:ext>
            </a:extLst>
          </p:cNvPr>
          <p:cNvSpPr/>
          <p:nvPr/>
        </p:nvSpPr>
        <p:spPr>
          <a:xfrm>
            <a:off x="5514408" y="5049087"/>
            <a:ext cx="2125204" cy="946197"/>
          </a:xfrm>
          <a:prstGeom prst="rect">
            <a:avLst/>
          </a:prstGeom>
          <a:solidFill>
            <a:srgbClr val="F28A00"/>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mazon Ember Medium"/>
                <a:ea typeface="+mn-ea"/>
                <a:cs typeface="+mn-cs"/>
              </a:rPr>
              <a:t>Embedding Model</a:t>
            </a:r>
          </a:p>
        </p:txBody>
      </p:sp>
      <p:grpSp>
        <p:nvGrpSpPr>
          <p:cNvPr id="19" name="Group 18">
            <a:extLst>
              <a:ext uri="{FF2B5EF4-FFF2-40B4-BE49-F238E27FC236}">
                <a16:creationId xmlns:a16="http://schemas.microsoft.com/office/drawing/2014/main" id="{A04A8B06-FFB1-91E3-D8E7-22BFF141EFA1}"/>
              </a:ext>
            </a:extLst>
          </p:cNvPr>
          <p:cNvGrpSpPr/>
          <p:nvPr/>
        </p:nvGrpSpPr>
        <p:grpSpPr>
          <a:xfrm>
            <a:off x="9119151" y="4770028"/>
            <a:ext cx="473055" cy="1719618"/>
            <a:chOff x="9837290" y="2569191"/>
            <a:chExt cx="473055" cy="1719618"/>
          </a:xfrm>
        </p:grpSpPr>
        <p:sp>
          <p:nvSpPr>
            <p:cNvPr id="20" name="Rectangle 19">
              <a:extLst>
                <a:ext uri="{FF2B5EF4-FFF2-40B4-BE49-F238E27FC236}">
                  <a16:creationId xmlns:a16="http://schemas.microsoft.com/office/drawing/2014/main" id="{2A47FDCC-4874-5DFA-5185-E8282E7DAD9F}"/>
                </a:ext>
              </a:extLst>
            </p:cNvPr>
            <p:cNvSpPr/>
            <p:nvPr/>
          </p:nvSpPr>
          <p:spPr>
            <a:xfrm>
              <a:off x="9939648" y="2668378"/>
              <a:ext cx="267268" cy="252483"/>
            </a:xfrm>
            <a:prstGeom prst="rect">
              <a:avLst/>
            </a:prstGeom>
            <a:solidFill>
              <a:srgbClr val="7C5AED">
                <a:lumMod val="40000"/>
                <a:lumOff val="6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a:ea typeface="+mn-ea"/>
                <a:cs typeface="+mn-cs"/>
              </a:endParaRPr>
            </a:p>
          </p:txBody>
        </p:sp>
        <p:sp>
          <p:nvSpPr>
            <p:cNvPr id="21" name="Rectangle 20">
              <a:extLst>
                <a:ext uri="{FF2B5EF4-FFF2-40B4-BE49-F238E27FC236}">
                  <a16:creationId xmlns:a16="http://schemas.microsoft.com/office/drawing/2014/main" id="{819CF32A-9525-2691-4E8B-F7AB7F7D88AA}"/>
                </a:ext>
              </a:extLst>
            </p:cNvPr>
            <p:cNvSpPr/>
            <p:nvPr/>
          </p:nvSpPr>
          <p:spPr>
            <a:xfrm>
              <a:off x="9939648" y="2990952"/>
              <a:ext cx="267268" cy="252483"/>
            </a:xfrm>
            <a:prstGeom prst="rect">
              <a:avLst/>
            </a:prstGeom>
            <a:solidFill>
              <a:srgbClr val="7C5AED">
                <a:lumMod val="40000"/>
                <a:lumOff val="6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a:ea typeface="+mn-ea"/>
                <a:cs typeface="+mn-cs"/>
              </a:endParaRPr>
            </a:p>
          </p:txBody>
        </p:sp>
        <p:sp>
          <p:nvSpPr>
            <p:cNvPr id="22" name="Rectangle 21">
              <a:extLst>
                <a:ext uri="{FF2B5EF4-FFF2-40B4-BE49-F238E27FC236}">
                  <a16:creationId xmlns:a16="http://schemas.microsoft.com/office/drawing/2014/main" id="{5D50F438-0FE3-A32E-B184-641B1988F531}"/>
                </a:ext>
              </a:extLst>
            </p:cNvPr>
            <p:cNvSpPr/>
            <p:nvPr/>
          </p:nvSpPr>
          <p:spPr>
            <a:xfrm>
              <a:off x="9939648" y="3313234"/>
              <a:ext cx="267268" cy="252483"/>
            </a:xfrm>
            <a:prstGeom prst="rect">
              <a:avLst/>
            </a:prstGeom>
            <a:solidFill>
              <a:srgbClr val="7C5AED">
                <a:lumMod val="40000"/>
                <a:lumOff val="6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a:ea typeface="+mn-ea"/>
                <a:cs typeface="+mn-cs"/>
              </a:endParaRPr>
            </a:p>
          </p:txBody>
        </p:sp>
        <p:sp>
          <p:nvSpPr>
            <p:cNvPr id="23" name="Rectangle 22">
              <a:extLst>
                <a:ext uri="{FF2B5EF4-FFF2-40B4-BE49-F238E27FC236}">
                  <a16:creationId xmlns:a16="http://schemas.microsoft.com/office/drawing/2014/main" id="{A54BA4D2-4E7C-B75C-AF08-52166C881948}"/>
                </a:ext>
              </a:extLst>
            </p:cNvPr>
            <p:cNvSpPr/>
            <p:nvPr/>
          </p:nvSpPr>
          <p:spPr>
            <a:xfrm>
              <a:off x="9939648" y="3635516"/>
              <a:ext cx="267268" cy="252483"/>
            </a:xfrm>
            <a:prstGeom prst="rect">
              <a:avLst/>
            </a:prstGeom>
            <a:solidFill>
              <a:srgbClr val="7C5AED">
                <a:lumMod val="40000"/>
                <a:lumOff val="6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a:ea typeface="+mn-ea"/>
                <a:cs typeface="+mn-cs"/>
              </a:endParaRPr>
            </a:p>
          </p:txBody>
        </p:sp>
        <p:sp>
          <p:nvSpPr>
            <p:cNvPr id="24" name="Rectangle 23">
              <a:extLst>
                <a:ext uri="{FF2B5EF4-FFF2-40B4-BE49-F238E27FC236}">
                  <a16:creationId xmlns:a16="http://schemas.microsoft.com/office/drawing/2014/main" id="{DD3C8B25-53F9-95EF-7FDA-CE6AF728870F}"/>
                </a:ext>
              </a:extLst>
            </p:cNvPr>
            <p:cNvSpPr/>
            <p:nvPr/>
          </p:nvSpPr>
          <p:spPr>
            <a:xfrm>
              <a:off x="9939648" y="3957798"/>
              <a:ext cx="267268" cy="252483"/>
            </a:xfrm>
            <a:prstGeom prst="rect">
              <a:avLst/>
            </a:prstGeom>
            <a:solidFill>
              <a:srgbClr val="7C5AED">
                <a:lumMod val="40000"/>
                <a:lumOff val="6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a:ea typeface="+mn-ea"/>
                <a:cs typeface="+mn-cs"/>
              </a:endParaRPr>
            </a:p>
          </p:txBody>
        </p:sp>
        <p:sp>
          <p:nvSpPr>
            <p:cNvPr id="25" name="Left Bracket 24">
              <a:extLst>
                <a:ext uri="{FF2B5EF4-FFF2-40B4-BE49-F238E27FC236}">
                  <a16:creationId xmlns:a16="http://schemas.microsoft.com/office/drawing/2014/main" id="{8E39AA4E-DB75-1E7B-59CE-8EF7516804BF}"/>
                </a:ext>
              </a:extLst>
            </p:cNvPr>
            <p:cNvSpPr/>
            <p:nvPr/>
          </p:nvSpPr>
          <p:spPr>
            <a:xfrm>
              <a:off x="9837290" y="2569191"/>
              <a:ext cx="150125" cy="1719618"/>
            </a:xfrm>
            <a:prstGeom prst="leftBracket">
              <a:avLst/>
            </a:prstGeom>
            <a:noFill/>
            <a:ln w="63500" cap="flat" cmpd="sng" algn="ctr">
              <a:solidFill>
                <a:srgbClr val="232F3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26" name="Left Bracket 25">
              <a:extLst>
                <a:ext uri="{FF2B5EF4-FFF2-40B4-BE49-F238E27FC236}">
                  <a16:creationId xmlns:a16="http://schemas.microsoft.com/office/drawing/2014/main" id="{FB5A9A72-A6A5-788A-5099-68F2EE587676}"/>
                </a:ext>
              </a:extLst>
            </p:cNvPr>
            <p:cNvSpPr/>
            <p:nvPr/>
          </p:nvSpPr>
          <p:spPr>
            <a:xfrm rot="10800000">
              <a:off x="10160220" y="2569191"/>
              <a:ext cx="150125" cy="1719618"/>
            </a:xfrm>
            <a:prstGeom prst="leftBracket">
              <a:avLst/>
            </a:prstGeom>
            <a:noFill/>
            <a:ln w="63500" cap="flat" cmpd="sng" algn="ctr">
              <a:solidFill>
                <a:srgbClr val="232F3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grpSp>
      <p:cxnSp>
        <p:nvCxnSpPr>
          <p:cNvPr id="27" name="Straight Arrow Connector 26">
            <a:extLst>
              <a:ext uri="{FF2B5EF4-FFF2-40B4-BE49-F238E27FC236}">
                <a16:creationId xmlns:a16="http://schemas.microsoft.com/office/drawing/2014/main" id="{BDD3DC74-81A7-B197-EB24-C7F574B1B78B}"/>
              </a:ext>
            </a:extLst>
          </p:cNvPr>
          <p:cNvCxnSpPr>
            <a:cxnSpLocks/>
            <a:stCxn id="17" idx="3"/>
            <a:endCxn id="18" idx="1"/>
          </p:cNvCxnSpPr>
          <p:nvPr/>
        </p:nvCxnSpPr>
        <p:spPr>
          <a:xfrm>
            <a:off x="4119311" y="5504129"/>
            <a:ext cx="1395097" cy="18057"/>
          </a:xfrm>
          <a:prstGeom prst="straightConnector1">
            <a:avLst/>
          </a:prstGeom>
          <a:noFill/>
          <a:ln w="63500" cap="flat" cmpd="sng" algn="ctr">
            <a:solidFill>
              <a:srgbClr val="C00000"/>
            </a:solidFill>
            <a:prstDash val="solid"/>
            <a:miter lim="800000"/>
            <a:tailEnd type="triangle"/>
          </a:ln>
          <a:effectLst/>
        </p:spPr>
      </p:cxnSp>
      <p:cxnSp>
        <p:nvCxnSpPr>
          <p:cNvPr id="28" name="Straight Arrow Connector 27">
            <a:extLst>
              <a:ext uri="{FF2B5EF4-FFF2-40B4-BE49-F238E27FC236}">
                <a16:creationId xmlns:a16="http://schemas.microsoft.com/office/drawing/2014/main" id="{7FA6BAED-1E2B-C586-C088-955DC811FA1E}"/>
              </a:ext>
            </a:extLst>
          </p:cNvPr>
          <p:cNvCxnSpPr>
            <a:cxnSpLocks/>
            <a:stCxn id="18" idx="3"/>
          </p:cNvCxnSpPr>
          <p:nvPr/>
        </p:nvCxnSpPr>
        <p:spPr>
          <a:xfrm flipV="1">
            <a:off x="7639612" y="5522185"/>
            <a:ext cx="1415993" cy="1"/>
          </a:xfrm>
          <a:prstGeom prst="straightConnector1">
            <a:avLst/>
          </a:prstGeom>
          <a:noFill/>
          <a:ln w="63500" cap="flat" cmpd="sng" algn="ctr">
            <a:solidFill>
              <a:srgbClr val="C00000"/>
            </a:solidFill>
            <a:prstDash val="solid"/>
            <a:miter lim="800000"/>
            <a:tailEnd type="triangle"/>
          </a:ln>
          <a:effectLst/>
        </p:spPr>
      </p:cxnSp>
      <p:pic>
        <p:nvPicPr>
          <p:cNvPr id="30" name="Graphic 29" descr="Airplane with solid fill">
            <a:extLst>
              <a:ext uri="{FF2B5EF4-FFF2-40B4-BE49-F238E27FC236}">
                <a16:creationId xmlns:a16="http://schemas.microsoft.com/office/drawing/2014/main" id="{2CCEE16C-21B3-CF5D-F4B0-2F813F124C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6462" y="2349120"/>
            <a:ext cx="2125204" cy="2125204"/>
          </a:xfrm>
          <a:prstGeom prst="rect">
            <a:avLst/>
          </a:prstGeom>
        </p:spPr>
      </p:pic>
    </p:spTree>
    <p:extLst>
      <p:ext uri="{BB962C8B-B14F-4D97-AF65-F5344CB8AC3E}">
        <p14:creationId xmlns:p14="http://schemas.microsoft.com/office/powerpoint/2010/main" val="2519273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2553E2-7F8B-26A3-426B-92C249484372}"/>
              </a:ext>
            </a:extLst>
          </p:cNvPr>
          <p:cNvSpPr>
            <a:spLocks noGrp="1"/>
          </p:cNvSpPr>
          <p:nvPr>
            <p:ph type="sldNum" idx="97"/>
          </p:nvPr>
        </p:nvSpPr>
        <p:spPr/>
        <p:txBody>
          <a:bodyPr/>
          <a:lstStyle/>
          <a:p>
            <a:fld id="{86A8BF56-6CB3-514C-9A64-F39D95C9E25B}" type="slidenum">
              <a:rPr lang="en-US" smtClean="0"/>
              <a:t>33</a:t>
            </a:fld>
            <a:endParaRPr lang="en-US"/>
          </a:p>
        </p:txBody>
      </p:sp>
      <p:sp>
        <p:nvSpPr>
          <p:cNvPr id="3" name="Title 2">
            <a:extLst>
              <a:ext uri="{FF2B5EF4-FFF2-40B4-BE49-F238E27FC236}">
                <a16:creationId xmlns:a16="http://schemas.microsoft.com/office/drawing/2014/main" id="{F27EF182-7E5D-8334-0332-5636AABF3476}"/>
              </a:ext>
            </a:extLst>
          </p:cNvPr>
          <p:cNvSpPr>
            <a:spLocks noGrp="1"/>
          </p:cNvSpPr>
          <p:nvPr>
            <p:ph type="title" idx="1"/>
          </p:nvPr>
        </p:nvSpPr>
        <p:spPr/>
        <p:txBody>
          <a:bodyPr/>
          <a:lstStyle/>
          <a:p>
            <a:r>
              <a:rPr lang="en-US" dirty="0"/>
              <a:t>Multimodal embeddings: Alignment</a:t>
            </a:r>
          </a:p>
        </p:txBody>
      </p:sp>
      <p:sp>
        <p:nvSpPr>
          <p:cNvPr id="4" name="Content Placeholder 3">
            <a:extLst>
              <a:ext uri="{FF2B5EF4-FFF2-40B4-BE49-F238E27FC236}">
                <a16:creationId xmlns:a16="http://schemas.microsoft.com/office/drawing/2014/main" id="{E5CC1206-568A-F739-8B0D-7EA3EC280C13}"/>
              </a:ext>
            </a:extLst>
          </p:cNvPr>
          <p:cNvSpPr>
            <a:spLocks noGrp="1"/>
          </p:cNvSpPr>
          <p:nvPr>
            <p:ph idx="2"/>
          </p:nvPr>
        </p:nvSpPr>
        <p:spPr>
          <a:xfrm>
            <a:off x="365760" y="1165536"/>
            <a:ext cx="5730240" cy="5262696"/>
          </a:xfrm>
        </p:spPr>
        <p:txBody>
          <a:bodyPr/>
          <a:lstStyle/>
          <a:p>
            <a:pPr>
              <a:spcAft>
                <a:spcPts val="1200"/>
              </a:spcAft>
            </a:pPr>
            <a:r>
              <a:rPr lang="en-US" dirty="0"/>
              <a:t>Joint embedding space of a multimodal model that understands both text and images</a:t>
            </a:r>
          </a:p>
          <a:p>
            <a:pPr>
              <a:spcAft>
                <a:spcPts val="1200"/>
              </a:spcAft>
            </a:pPr>
            <a:r>
              <a:rPr lang="en-US" dirty="0"/>
              <a:t>Objects that are similar are closer together and dissimilar objects are farther apart</a:t>
            </a:r>
          </a:p>
          <a:p>
            <a:pPr>
              <a:spcAft>
                <a:spcPts val="1200"/>
              </a:spcAft>
            </a:pPr>
            <a:r>
              <a:rPr lang="en-US" dirty="0"/>
              <a:t>The model preserves semantic similarity within and across modalities</a:t>
            </a:r>
          </a:p>
          <a:p>
            <a:endParaRPr lang="en-US" dirty="0"/>
          </a:p>
        </p:txBody>
      </p:sp>
      <p:graphicFrame>
        <p:nvGraphicFramePr>
          <p:cNvPr id="5" name="Chart 4">
            <a:extLst>
              <a:ext uri="{FF2B5EF4-FFF2-40B4-BE49-F238E27FC236}">
                <a16:creationId xmlns:a16="http://schemas.microsoft.com/office/drawing/2014/main" id="{4DFCDF4A-CE29-85AE-FC69-A2717077B796}"/>
              </a:ext>
            </a:extLst>
          </p:cNvPr>
          <p:cNvGraphicFramePr/>
          <p:nvPr>
            <p:extLst>
              <p:ext uri="{D42A27DB-BD31-4B8C-83A1-F6EECF244321}">
                <p14:modId xmlns:p14="http://schemas.microsoft.com/office/powerpoint/2010/main" val="3657565201"/>
              </p:ext>
            </p:extLst>
          </p:nvPr>
        </p:nvGraphicFramePr>
        <p:xfrm>
          <a:off x="6826356" y="1581293"/>
          <a:ext cx="4999884" cy="3333256"/>
        </p:xfrm>
        <a:graphic>
          <a:graphicData uri="http://schemas.openxmlformats.org/drawingml/2006/chart">
            <c:chart xmlns:c="http://schemas.openxmlformats.org/drawingml/2006/chart" xmlns:r="http://schemas.openxmlformats.org/officeDocument/2006/relationships" r:id="rId3"/>
          </a:graphicData>
        </a:graphic>
      </p:graphicFrame>
      <p:pic>
        <p:nvPicPr>
          <p:cNvPr id="8" name="Graphic 7" descr="Cat with solid fill">
            <a:extLst>
              <a:ext uri="{FF2B5EF4-FFF2-40B4-BE49-F238E27FC236}">
                <a16:creationId xmlns:a16="http://schemas.microsoft.com/office/drawing/2014/main" id="{707CF3FD-36C0-EE29-F2B3-DD50702C59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77972" y="2895600"/>
            <a:ext cx="548268" cy="548268"/>
          </a:xfrm>
          <a:prstGeom prst="rect">
            <a:avLst/>
          </a:prstGeom>
        </p:spPr>
      </p:pic>
      <p:sp>
        <p:nvSpPr>
          <p:cNvPr id="9" name="TextBox 8">
            <a:extLst>
              <a:ext uri="{FF2B5EF4-FFF2-40B4-BE49-F238E27FC236}">
                <a16:creationId xmlns:a16="http://schemas.microsoft.com/office/drawing/2014/main" id="{437F7E6D-90B1-DA44-8264-9C3AAB2ABCFE}"/>
              </a:ext>
            </a:extLst>
          </p:cNvPr>
          <p:cNvSpPr txBox="1"/>
          <p:nvPr/>
        </p:nvSpPr>
        <p:spPr>
          <a:xfrm>
            <a:off x="11195824" y="5093238"/>
            <a:ext cx="493533" cy="369332"/>
          </a:xfrm>
          <a:prstGeom prst="rect">
            <a:avLst/>
          </a:prstGeom>
          <a:noFill/>
        </p:spPr>
        <p:txBody>
          <a:bodyPr wrap="none" rtlCol="0">
            <a:spAutoFit/>
          </a:bodyPr>
          <a:lstStyle/>
          <a:p>
            <a:r>
              <a:rPr lang="en-US" dirty="0"/>
              <a:t>Cat</a:t>
            </a:r>
          </a:p>
        </p:txBody>
      </p:sp>
      <p:cxnSp>
        <p:nvCxnSpPr>
          <p:cNvPr id="13" name="Straight Arrow Connector 12">
            <a:extLst>
              <a:ext uri="{FF2B5EF4-FFF2-40B4-BE49-F238E27FC236}">
                <a16:creationId xmlns:a16="http://schemas.microsoft.com/office/drawing/2014/main" id="{042A38A6-07D4-C994-1058-3767F02B4539}"/>
              </a:ext>
            </a:extLst>
          </p:cNvPr>
          <p:cNvCxnSpPr>
            <a:cxnSpLocks/>
            <a:endCxn id="9" idx="0"/>
          </p:cNvCxnSpPr>
          <p:nvPr/>
        </p:nvCxnSpPr>
        <p:spPr>
          <a:xfrm>
            <a:off x="11195824" y="3962400"/>
            <a:ext cx="246767" cy="1130838"/>
          </a:xfrm>
          <a:prstGeom prst="straightConnector1">
            <a:avLst/>
          </a:prstGeom>
          <a:ln w="317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58B4E84-3484-DF0A-D2FC-B6FB16864239}"/>
              </a:ext>
            </a:extLst>
          </p:cNvPr>
          <p:cNvCxnSpPr>
            <a:cxnSpLocks/>
            <a:endCxn id="8" idx="2"/>
          </p:cNvCxnSpPr>
          <p:nvPr/>
        </p:nvCxnSpPr>
        <p:spPr>
          <a:xfrm flipV="1">
            <a:off x="11442590" y="3443868"/>
            <a:ext cx="109516" cy="270205"/>
          </a:xfrm>
          <a:prstGeom prst="straightConnector1">
            <a:avLst/>
          </a:prstGeom>
          <a:ln w="317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6549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BFC907-55DD-981B-FB98-6906695FA0FB}"/>
              </a:ext>
            </a:extLst>
          </p:cNvPr>
          <p:cNvSpPr>
            <a:spLocks noGrp="1"/>
          </p:cNvSpPr>
          <p:nvPr>
            <p:ph type="sldNum" idx="97"/>
          </p:nvPr>
        </p:nvSpPr>
        <p:spPr/>
        <p:txBody>
          <a:bodyPr/>
          <a:lstStyle/>
          <a:p>
            <a:fld id="{86A8BF56-6CB3-514C-9A64-F39D95C9E25B}" type="slidenum">
              <a:rPr lang="en-US" smtClean="0"/>
              <a:t>34</a:t>
            </a:fld>
            <a:endParaRPr lang="en-US"/>
          </a:p>
        </p:txBody>
      </p:sp>
      <p:sp>
        <p:nvSpPr>
          <p:cNvPr id="3" name="Title 2">
            <a:extLst>
              <a:ext uri="{FF2B5EF4-FFF2-40B4-BE49-F238E27FC236}">
                <a16:creationId xmlns:a16="http://schemas.microsoft.com/office/drawing/2014/main" id="{899F6A58-1AA4-A869-9D16-83871710AEBE}"/>
              </a:ext>
            </a:extLst>
          </p:cNvPr>
          <p:cNvSpPr>
            <a:spLocks noGrp="1"/>
          </p:cNvSpPr>
          <p:nvPr>
            <p:ph type="title" idx="1"/>
          </p:nvPr>
        </p:nvSpPr>
        <p:spPr/>
        <p:txBody>
          <a:bodyPr/>
          <a:lstStyle/>
          <a:p>
            <a:r>
              <a:rPr lang="en-US" dirty="0"/>
              <a:t>Multimodal Embeddings: Translation</a:t>
            </a:r>
          </a:p>
        </p:txBody>
      </p:sp>
      <p:sp>
        <p:nvSpPr>
          <p:cNvPr id="4" name="Content Placeholder 3">
            <a:extLst>
              <a:ext uri="{FF2B5EF4-FFF2-40B4-BE49-F238E27FC236}">
                <a16:creationId xmlns:a16="http://schemas.microsoft.com/office/drawing/2014/main" id="{E839EE24-1C5E-0D44-3EBA-E66D1D279802}"/>
              </a:ext>
            </a:extLst>
          </p:cNvPr>
          <p:cNvSpPr>
            <a:spLocks noGrp="1"/>
          </p:cNvSpPr>
          <p:nvPr>
            <p:ph idx="2"/>
          </p:nvPr>
        </p:nvSpPr>
        <p:spPr>
          <a:xfrm>
            <a:off x="365760" y="1165536"/>
            <a:ext cx="11466576" cy="1068900"/>
          </a:xfrm>
        </p:spPr>
        <p:txBody>
          <a:bodyPr/>
          <a:lstStyle/>
          <a:p>
            <a:r>
              <a:rPr lang="en-US" dirty="0"/>
              <a:t>Map content in one modality to another</a:t>
            </a:r>
          </a:p>
          <a:p>
            <a:pPr lvl="1"/>
            <a:r>
              <a:rPr lang="en-US" dirty="0"/>
              <a:t>Cross-modality translation</a:t>
            </a:r>
          </a:p>
          <a:p>
            <a:endParaRPr lang="en-US" dirty="0"/>
          </a:p>
        </p:txBody>
      </p:sp>
      <p:grpSp>
        <p:nvGrpSpPr>
          <p:cNvPr id="22" name="Group 21">
            <a:extLst>
              <a:ext uri="{FF2B5EF4-FFF2-40B4-BE49-F238E27FC236}">
                <a16:creationId xmlns:a16="http://schemas.microsoft.com/office/drawing/2014/main" id="{B9B05C72-6668-0508-16C1-AA961710737B}"/>
              </a:ext>
            </a:extLst>
          </p:cNvPr>
          <p:cNvGrpSpPr/>
          <p:nvPr/>
        </p:nvGrpSpPr>
        <p:grpSpPr>
          <a:xfrm>
            <a:off x="5622945" y="3612055"/>
            <a:ext cx="473055" cy="1719618"/>
            <a:chOff x="9837290" y="2569191"/>
            <a:chExt cx="473055" cy="1719618"/>
          </a:xfrm>
        </p:grpSpPr>
        <p:sp>
          <p:nvSpPr>
            <p:cNvPr id="23" name="Rectangle 22">
              <a:extLst>
                <a:ext uri="{FF2B5EF4-FFF2-40B4-BE49-F238E27FC236}">
                  <a16:creationId xmlns:a16="http://schemas.microsoft.com/office/drawing/2014/main" id="{4A0112E7-8F50-DCB1-C6B5-984DFB5AF397}"/>
                </a:ext>
              </a:extLst>
            </p:cNvPr>
            <p:cNvSpPr/>
            <p:nvPr/>
          </p:nvSpPr>
          <p:spPr>
            <a:xfrm>
              <a:off x="9939648" y="2668378"/>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8EF7D">
                    <a:lumMod val="60000"/>
                    <a:lumOff val="40000"/>
                  </a:srgbClr>
                </a:solidFill>
                <a:effectLst/>
                <a:uLnTx/>
                <a:uFillTx/>
                <a:latin typeface="Amazon Ember Light"/>
                <a:ea typeface="+mn-ea"/>
                <a:cs typeface="+mn-cs"/>
              </a:endParaRPr>
            </a:p>
          </p:txBody>
        </p:sp>
        <p:sp>
          <p:nvSpPr>
            <p:cNvPr id="24" name="Rectangle 23">
              <a:extLst>
                <a:ext uri="{FF2B5EF4-FFF2-40B4-BE49-F238E27FC236}">
                  <a16:creationId xmlns:a16="http://schemas.microsoft.com/office/drawing/2014/main" id="{C73DF9DF-83E9-40E9-9765-1B38F8B1EFC7}"/>
                </a:ext>
              </a:extLst>
            </p:cNvPr>
            <p:cNvSpPr/>
            <p:nvPr/>
          </p:nvSpPr>
          <p:spPr>
            <a:xfrm>
              <a:off x="9939648" y="2990952"/>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25" name="Rectangle 24">
              <a:extLst>
                <a:ext uri="{FF2B5EF4-FFF2-40B4-BE49-F238E27FC236}">
                  <a16:creationId xmlns:a16="http://schemas.microsoft.com/office/drawing/2014/main" id="{458890D6-1A4A-CF0A-FC94-7E3BF5A997A8}"/>
                </a:ext>
              </a:extLst>
            </p:cNvPr>
            <p:cNvSpPr/>
            <p:nvPr/>
          </p:nvSpPr>
          <p:spPr>
            <a:xfrm>
              <a:off x="9939648" y="3313234"/>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26" name="Rectangle 25">
              <a:extLst>
                <a:ext uri="{FF2B5EF4-FFF2-40B4-BE49-F238E27FC236}">
                  <a16:creationId xmlns:a16="http://schemas.microsoft.com/office/drawing/2014/main" id="{C352FA12-586B-4590-DD2B-A076B8D7DC4C}"/>
                </a:ext>
              </a:extLst>
            </p:cNvPr>
            <p:cNvSpPr/>
            <p:nvPr/>
          </p:nvSpPr>
          <p:spPr>
            <a:xfrm>
              <a:off x="9939648" y="3635516"/>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27" name="Rectangle 26">
              <a:extLst>
                <a:ext uri="{FF2B5EF4-FFF2-40B4-BE49-F238E27FC236}">
                  <a16:creationId xmlns:a16="http://schemas.microsoft.com/office/drawing/2014/main" id="{7426C3C4-F29A-4064-16D7-5A0204A67AF0}"/>
                </a:ext>
              </a:extLst>
            </p:cNvPr>
            <p:cNvSpPr/>
            <p:nvPr/>
          </p:nvSpPr>
          <p:spPr>
            <a:xfrm>
              <a:off x="9939648" y="3957798"/>
              <a:ext cx="267268" cy="252483"/>
            </a:xfrm>
            <a:prstGeom prst="rect">
              <a:avLst/>
            </a:prstGeom>
            <a:solidFill>
              <a:srgbClr val="DF2A5D">
                <a:lumMod val="60000"/>
                <a:lumOff val="40000"/>
              </a:srgbClr>
            </a:solidFill>
            <a:ln w="12700" cap="flat" cmpd="sng" algn="ctr">
              <a:solidFill>
                <a:srgbClr val="7CE8F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8EF7D">
                    <a:lumMod val="60000"/>
                    <a:lumOff val="40000"/>
                  </a:srgbClr>
                </a:solidFill>
                <a:effectLst/>
                <a:uLnTx/>
                <a:uFillTx/>
                <a:latin typeface="Amazon Ember Light"/>
                <a:ea typeface="+mn-ea"/>
                <a:cs typeface="+mn-cs"/>
              </a:endParaRPr>
            </a:p>
          </p:txBody>
        </p:sp>
        <p:sp>
          <p:nvSpPr>
            <p:cNvPr id="28" name="Left Bracket 27">
              <a:extLst>
                <a:ext uri="{FF2B5EF4-FFF2-40B4-BE49-F238E27FC236}">
                  <a16:creationId xmlns:a16="http://schemas.microsoft.com/office/drawing/2014/main" id="{1C0619E9-B6D0-0E40-70E3-2EC053DC3FA3}"/>
                </a:ext>
              </a:extLst>
            </p:cNvPr>
            <p:cNvSpPr/>
            <p:nvPr/>
          </p:nvSpPr>
          <p:spPr>
            <a:xfrm>
              <a:off x="9837290" y="2569191"/>
              <a:ext cx="150125" cy="1719618"/>
            </a:xfrm>
            <a:prstGeom prst="leftBracket">
              <a:avLst/>
            </a:prstGeom>
            <a:noFill/>
            <a:ln w="63500" cap="flat" cmpd="sng" algn="ctr">
              <a:solidFill>
                <a:srgbClr val="232F3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29" name="Left Bracket 28">
              <a:extLst>
                <a:ext uri="{FF2B5EF4-FFF2-40B4-BE49-F238E27FC236}">
                  <a16:creationId xmlns:a16="http://schemas.microsoft.com/office/drawing/2014/main" id="{03DD9BBB-08F2-3304-BC5B-42D400629427}"/>
                </a:ext>
              </a:extLst>
            </p:cNvPr>
            <p:cNvSpPr/>
            <p:nvPr/>
          </p:nvSpPr>
          <p:spPr>
            <a:xfrm rot="10800000">
              <a:off x="10160220" y="2569191"/>
              <a:ext cx="150125" cy="1719618"/>
            </a:xfrm>
            <a:prstGeom prst="leftBracket">
              <a:avLst/>
            </a:prstGeom>
            <a:noFill/>
            <a:ln w="63500" cap="flat" cmpd="sng" algn="ctr">
              <a:solidFill>
                <a:srgbClr val="232F3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grpSp>
      <p:cxnSp>
        <p:nvCxnSpPr>
          <p:cNvPr id="30" name="Straight Arrow Connector 29">
            <a:extLst>
              <a:ext uri="{FF2B5EF4-FFF2-40B4-BE49-F238E27FC236}">
                <a16:creationId xmlns:a16="http://schemas.microsoft.com/office/drawing/2014/main" id="{A4BAF432-1E50-4B81-1E27-3C2CD58C1E1F}"/>
              </a:ext>
            </a:extLst>
          </p:cNvPr>
          <p:cNvCxnSpPr>
            <a:cxnSpLocks/>
          </p:cNvCxnSpPr>
          <p:nvPr/>
        </p:nvCxnSpPr>
        <p:spPr>
          <a:xfrm flipV="1">
            <a:off x="4137116" y="4361468"/>
            <a:ext cx="1484758" cy="1"/>
          </a:xfrm>
          <a:prstGeom prst="straightConnector1">
            <a:avLst/>
          </a:prstGeom>
          <a:noFill/>
          <a:ln w="63500" cap="flat" cmpd="sng" algn="ctr">
            <a:solidFill>
              <a:srgbClr val="C00000"/>
            </a:solidFill>
            <a:prstDash val="solid"/>
            <a:miter lim="800000"/>
            <a:tailEnd type="triangle"/>
          </a:ln>
          <a:effectLst/>
        </p:spPr>
      </p:cxnSp>
      <p:sp>
        <p:nvSpPr>
          <p:cNvPr id="31" name="TextBox 30">
            <a:extLst>
              <a:ext uri="{FF2B5EF4-FFF2-40B4-BE49-F238E27FC236}">
                <a16:creationId xmlns:a16="http://schemas.microsoft.com/office/drawing/2014/main" id="{3316D569-2A24-1FA5-F119-2EBCD3F143B4}"/>
              </a:ext>
            </a:extLst>
          </p:cNvPr>
          <p:cNvSpPr txBox="1"/>
          <p:nvPr/>
        </p:nvSpPr>
        <p:spPr>
          <a:xfrm>
            <a:off x="7660386" y="4163432"/>
            <a:ext cx="2720013" cy="646331"/>
          </a:xfrm>
          <a:prstGeom prst="rect">
            <a:avLst/>
          </a:prstGeom>
          <a:solidFill>
            <a:srgbClr val="7C5AED">
              <a:lumMod val="20000"/>
              <a:lumOff val="80000"/>
            </a:srgbClr>
          </a:solidFill>
          <a:effectLst>
            <a:outerShdw blurRad="50800" dist="38100" dir="2700000" algn="tl" rotWithShape="0">
              <a:prstClr val="black">
                <a:alpha val="40000"/>
              </a:prstClr>
            </a:out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Light"/>
              </a:rPr>
              <a:t>Icon of a passenger airplane</a:t>
            </a:r>
          </a:p>
        </p:txBody>
      </p:sp>
      <p:cxnSp>
        <p:nvCxnSpPr>
          <p:cNvPr id="32" name="Straight Arrow Connector 31">
            <a:extLst>
              <a:ext uri="{FF2B5EF4-FFF2-40B4-BE49-F238E27FC236}">
                <a16:creationId xmlns:a16="http://schemas.microsoft.com/office/drawing/2014/main" id="{DA7758C2-CD8E-5403-27BA-8E91E34217BF}"/>
              </a:ext>
            </a:extLst>
          </p:cNvPr>
          <p:cNvCxnSpPr>
            <a:cxnSpLocks/>
          </p:cNvCxnSpPr>
          <p:nvPr/>
        </p:nvCxnSpPr>
        <p:spPr>
          <a:xfrm>
            <a:off x="6096000" y="4346735"/>
            <a:ext cx="1564386" cy="14734"/>
          </a:xfrm>
          <a:prstGeom prst="straightConnector1">
            <a:avLst/>
          </a:prstGeom>
          <a:noFill/>
          <a:ln w="63500" cap="flat" cmpd="sng" algn="ctr">
            <a:solidFill>
              <a:srgbClr val="C00000"/>
            </a:solidFill>
            <a:prstDash val="solid"/>
            <a:miter lim="800000"/>
            <a:tailEnd type="triangle"/>
          </a:ln>
          <a:effectLst/>
        </p:spPr>
      </p:cxnSp>
      <p:cxnSp>
        <p:nvCxnSpPr>
          <p:cNvPr id="33" name="Straight Arrow Connector 32">
            <a:extLst>
              <a:ext uri="{FF2B5EF4-FFF2-40B4-BE49-F238E27FC236}">
                <a16:creationId xmlns:a16="http://schemas.microsoft.com/office/drawing/2014/main" id="{6C65DBBC-5C34-3770-AFAF-DF1EE9A54100}"/>
              </a:ext>
            </a:extLst>
          </p:cNvPr>
          <p:cNvCxnSpPr>
            <a:cxnSpLocks/>
          </p:cNvCxnSpPr>
          <p:nvPr/>
        </p:nvCxnSpPr>
        <p:spPr>
          <a:xfrm flipH="1">
            <a:off x="4137116" y="4571046"/>
            <a:ext cx="1484758" cy="1"/>
          </a:xfrm>
          <a:prstGeom prst="straightConnector1">
            <a:avLst/>
          </a:prstGeom>
          <a:noFill/>
          <a:ln w="63500" cap="flat" cmpd="sng" algn="ctr">
            <a:solidFill>
              <a:srgbClr val="C00000"/>
            </a:solidFill>
            <a:prstDash val="solid"/>
            <a:miter lim="800000"/>
            <a:tailEnd type="triangle"/>
          </a:ln>
          <a:effectLst/>
        </p:spPr>
      </p:cxnSp>
      <p:cxnSp>
        <p:nvCxnSpPr>
          <p:cNvPr id="34" name="Straight Arrow Connector 33">
            <a:extLst>
              <a:ext uri="{FF2B5EF4-FFF2-40B4-BE49-F238E27FC236}">
                <a16:creationId xmlns:a16="http://schemas.microsoft.com/office/drawing/2014/main" id="{7FB912C5-C126-8F40-7F75-86715A65EC82}"/>
              </a:ext>
            </a:extLst>
          </p:cNvPr>
          <p:cNvCxnSpPr>
            <a:cxnSpLocks/>
          </p:cNvCxnSpPr>
          <p:nvPr/>
        </p:nvCxnSpPr>
        <p:spPr>
          <a:xfrm flipH="1" flipV="1">
            <a:off x="6096000" y="4556313"/>
            <a:ext cx="1564386" cy="14734"/>
          </a:xfrm>
          <a:prstGeom prst="straightConnector1">
            <a:avLst/>
          </a:prstGeom>
          <a:noFill/>
          <a:ln w="63500" cap="flat" cmpd="sng" algn="ctr">
            <a:solidFill>
              <a:srgbClr val="C00000"/>
            </a:solidFill>
            <a:prstDash val="solid"/>
            <a:miter lim="800000"/>
            <a:tailEnd type="triangle"/>
          </a:ln>
          <a:effectLst/>
        </p:spPr>
      </p:cxnSp>
      <p:sp>
        <p:nvSpPr>
          <p:cNvPr id="35" name="TextBox 34">
            <a:extLst>
              <a:ext uri="{FF2B5EF4-FFF2-40B4-BE49-F238E27FC236}">
                <a16:creationId xmlns:a16="http://schemas.microsoft.com/office/drawing/2014/main" id="{1306E0E5-CDB6-0D91-3D24-E344D083793F}"/>
              </a:ext>
            </a:extLst>
          </p:cNvPr>
          <p:cNvSpPr txBox="1"/>
          <p:nvPr/>
        </p:nvSpPr>
        <p:spPr>
          <a:xfrm>
            <a:off x="4703631" y="5430860"/>
            <a:ext cx="2784737" cy="369332"/>
          </a:xfrm>
          <a:prstGeom prst="rect">
            <a:avLst/>
          </a:prstGeom>
          <a:noFill/>
        </p:spPr>
        <p:txBody>
          <a:bodyPr wrap="none" rtlCol="0">
            <a:spAutoFit/>
          </a:bodyPr>
          <a:lstStyle/>
          <a:p>
            <a:r>
              <a:rPr lang="en-US" dirty="0">
                <a:solidFill>
                  <a:srgbClr val="232F3E"/>
                </a:solidFill>
                <a:latin typeface="Amazon Ember Medium"/>
              </a:rPr>
              <a:t>Multimodal Embeddings</a:t>
            </a:r>
          </a:p>
        </p:txBody>
      </p:sp>
      <p:pic>
        <p:nvPicPr>
          <p:cNvPr id="36" name="Graphic 35" descr="Airplane with solid fill">
            <a:extLst>
              <a:ext uri="{FF2B5EF4-FFF2-40B4-BE49-F238E27FC236}">
                <a16:creationId xmlns:a16="http://schemas.microsoft.com/office/drawing/2014/main" id="{4BBA57BE-3B3E-63E8-51B2-4DB127AF45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08483" y="3305656"/>
            <a:ext cx="2125204" cy="2125204"/>
          </a:xfrm>
          <a:prstGeom prst="rect">
            <a:avLst/>
          </a:prstGeom>
        </p:spPr>
      </p:pic>
    </p:spTree>
    <p:extLst>
      <p:ext uri="{BB962C8B-B14F-4D97-AF65-F5344CB8AC3E}">
        <p14:creationId xmlns:p14="http://schemas.microsoft.com/office/powerpoint/2010/main" val="1334144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A3595-F5AB-9DF2-E23C-D4FD4BE439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2667BE-A8F0-B953-6DB1-7379A791EDF1}"/>
              </a:ext>
            </a:extLst>
          </p:cNvPr>
          <p:cNvSpPr>
            <a:spLocks noGrp="1"/>
          </p:cNvSpPr>
          <p:nvPr>
            <p:ph type="sldNum" idx="97"/>
          </p:nvPr>
        </p:nvSpPr>
        <p:spPr/>
        <p:txBody>
          <a:bodyPr/>
          <a:lstStyle/>
          <a:p>
            <a:fld id="{86A8BF56-6CB3-514C-9A64-F39D95C9E25B}" type="slidenum">
              <a:rPr lang="en-US" smtClean="0"/>
              <a:t>35</a:t>
            </a:fld>
            <a:endParaRPr lang="en-US"/>
          </a:p>
        </p:txBody>
      </p:sp>
      <p:sp>
        <p:nvSpPr>
          <p:cNvPr id="3" name="Title 2">
            <a:extLst>
              <a:ext uri="{FF2B5EF4-FFF2-40B4-BE49-F238E27FC236}">
                <a16:creationId xmlns:a16="http://schemas.microsoft.com/office/drawing/2014/main" id="{F0BC81BE-23A1-EEC5-98EA-243A0A3B59EE}"/>
              </a:ext>
            </a:extLst>
          </p:cNvPr>
          <p:cNvSpPr>
            <a:spLocks noGrp="1"/>
          </p:cNvSpPr>
          <p:nvPr>
            <p:ph type="title" idx="1"/>
          </p:nvPr>
        </p:nvSpPr>
        <p:spPr/>
        <p:txBody>
          <a:bodyPr/>
          <a:lstStyle/>
          <a:p>
            <a:r>
              <a:rPr lang="en-US" dirty="0"/>
              <a:t>Multimodal RAG</a:t>
            </a:r>
          </a:p>
        </p:txBody>
      </p:sp>
    </p:spTree>
    <p:extLst>
      <p:ext uri="{BB962C8B-B14F-4D97-AF65-F5344CB8AC3E}">
        <p14:creationId xmlns:p14="http://schemas.microsoft.com/office/powerpoint/2010/main" val="1345805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B444B-3DE1-EAD5-8834-E70725379DD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8827A0-E2F4-1E77-149A-169A9BB8F490}"/>
              </a:ext>
            </a:extLst>
          </p:cNvPr>
          <p:cNvSpPr>
            <a:spLocks noGrp="1"/>
          </p:cNvSpPr>
          <p:nvPr>
            <p:ph type="sldNum" idx="97"/>
          </p:nvPr>
        </p:nvSpPr>
        <p:spPr/>
        <p:txBody>
          <a:bodyPr/>
          <a:lstStyle/>
          <a:p>
            <a:fld id="{86A8BF56-6CB3-514C-9A64-F39D95C9E25B}" type="slidenum">
              <a:rPr lang="en-US" smtClean="0"/>
              <a:t>36</a:t>
            </a:fld>
            <a:endParaRPr lang="en-US"/>
          </a:p>
        </p:txBody>
      </p:sp>
      <p:sp>
        <p:nvSpPr>
          <p:cNvPr id="3" name="Title 2">
            <a:extLst>
              <a:ext uri="{FF2B5EF4-FFF2-40B4-BE49-F238E27FC236}">
                <a16:creationId xmlns:a16="http://schemas.microsoft.com/office/drawing/2014/main" id="{AB3D844D-4375-17F0-5A69-169A703A99B3}"/>
              </a:ext>
            </a:extLst>
          </p:cNvPr>
          <p:cNvSpPr>
            <a:spLocks noGrp="1"/>
          </p:cNvSpPr>
          <p:nvPr>
            <p:ph type="title" idx="1"/>
          </p:nvPr>
        </p:nvSpPr>
        <p:spPr/>
        <p:txBody>
          <a:bodyPr/>
          <a:lstStyle/>
          <a:p>
            <a:r>
              <a:rPr lang="en-US" dirty="0"/>
              <a:t>How do we perform cross-modal retrieval?</a:t>
            </a:r>
          </a:p>
        </p:txBody>
      </p:sp>
      <p:sp>
        <p:nvSpPr>
          <p:cNvPr id="4" name="Content Placeholder 3">
            <a:extLst>
              <a:ext uri="{FF2B5EF4-FFF2-40B4-BE49-F238E27FC236}">
                <a16:creationId xmlns:a16="http://schemas.microsoft.com/office/drawing/2014/main" id="{078815BD-AD4F-91FD-1A3A-FFA060062938}"/>
              </a:ext>
            </a:extLst>
          </p:cNvPr>
          <p:cNvSpPr>
            <a:spLocks noGrp="1"/>
          </p:cNvSpPr>
          <p:nvPr>
            <p:ph idx="2"/>
          </p:nvPr>
        </p:nvSpPr>
        <p:spPr/>
        <p:txBody>
          <a:body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3200" b="0" i="0" u="none" strike="noStrike" kern="1200" cap="none" spc="0" normalizeH="0" baseline="0" noProof="0" dirty="0">
                <a:ln>
                  <a:noFill/>
                </a:ln>
                <a:solidFill>
                  <a:srgbClr val="232F3E"/>
                </a:solidFill>
                <a:effectLst/>
                <a:uLnTx/>
                <a:uFillTx/>
                <a:latin typeface="Amazon Ember Light" panose="020B0403020204020204" pitchFamily="34" charset="0"/>
              </a:rPr>
              <a:t>Create text descriptions of all other modalities and perform lexical search</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800" b="0" i="0" u="none" strike="noStrike" kern="1200" cap="none" spc="0" normalizeH="0" baseline="0" noProof="0" dirty="0">
                <a:ln>
                  <a:noFill/>
                </a:ln>
                <a:solidFill>
                  <a:srgbClr val="7C5AED"/>
                </a:solidFill>
                <a:effectLst/>
                <a:uLnTx/>
                <a:uFillTx/>
                <a:latin typeface="Amazon Ember Medium"/>
              </a:rPr>
              <a:t>What if similar content doesn’t contain similar words/phrases?</a:t>
            </a: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endParaRPr lang="en-US" sz="2800" dirty="0">
              <a:solidFill>
                <a:srgbClr val="7C5AED"/>
              </a:solidFill>
              <a:latin typeface="Amazon Ember Medium"/>
            </a:endParaRPr>
          </a:p>
          <a:p>
            <a:pPr marL="398463" indent="-282575" defTabSz="114300">
              <a:spcBef>
                <a:spcPts val="0"/>
              </a:spcBef>
              <a:buClr>
                <a:srgbClr val="1D212E"/>
              </a:buClr>
              <a:buFont typeface="Amazon Ember Light" panose="020B0403020204020204" pitchFamily="34" charset="0"/>
              <a:buChar char="»"/>
              <a:defRPr/>
            </a:pPr>
            <a:r>
              <a:rPr kumimoji="0" lang="en-US" sz="3200" b="0" i="0" u="none" strike="noStrike" kern="1200" cap="none" spc="0" normalizeH="0" baseline="0" noProof="0" dirty="0">
                <a:ln>
                  <a:noFill/>
                </a:ln>
                <a:solidFill>
                  <a:schemeClr val="accent6"/>
                </a:solidFill>
                <a:effectLst/>
                <a:uLnTx/>
                <a:uFillTx/>
                <a:latin typeface="Amazon Ember Medium"/>
              </a:rPr>
              <a:t>Solution: </a:t>
            </a:r>
            <a:r>
              <a:rPr lang="en-US" sz="3200" dirty="0"/>
              <a:t>Multimodal embeddings extend to all modalities</a:t>
            </a:r>
          </a:p>
          <a:p>
            <a:pPr marL="398463" indent="-282575" defTabSz="114300">
              <a:spcBef>
                <a:spcPts val="0"/>
              </a:spcBef>
              <a:buClr>
                <a:srgbClr val="1D212E"/>
              </a:buClr>
              <a:buFont typeface="Amazon Ember Light" panose="020B0403020204020204" pitchFamily="34" charset="0"/>
              <a:buChar char="»"/>
              <a:defRPr/>
            </a:pPr>
            <a:endParaRPr kumimoji="0" lang="en-US" sz="3200" b="0" i="0" u="none" strike="noStrike" kern="1200" cap="none" spc="0" normalizeH="0" baseline="0" noProof="0" dirty="0">
              <a:ln>
                <a:noFill/>
              </a:ln>
              <a:solidFill>
                <a:srgbClr val="7C5AED"/>
              </a:solidFill>
              <a:effectLst/>
              <a:uLnTx/>
              <a:uFillTx/>
              <a:latin typeface="Amazon Ember Medium"/>
            </a:endParaRPr>
          </a:p>
          <a:p>
            <a:pPr marL="627063" marR="0" lvl="1"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endPar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3403777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hart 12">
            <a:extLst>
              <a:ext uri="{FF2B5EF4-FFF2-40B4-BE49-F238E27FC236}">
                <a16:creationId xmlns:a16="http://schemas.microsoft.com/office/drawing/2014/main" id="{17F126DF-79E0-1E37-B46E-A93FC4C51CED}"/>
              </a:ext>
            </a:extLst>
          </p:cNvPr>
          <p:cNvGraphicFramePr/>
          <p:nvPr>
            <p:extLst>
              <p:ext uri="{D42A27DB-BD31-4B8C-83A1-F6EECF244321}">
                <p14:modId xmlns:p14="http://schemas.microsoft.com/office/powerpoint/2010/main" val="3563268326"/>
              </p:ext>
            </p:extLst>
          </p:nvPr>
        </p:nvGraphicFramePr>
        <p:xfrm>
          <a:off x="6283664" y="1547293"/>
          <a:ext cx="4999884" cy="3333256"/>
        </p:xfrm>
        <a:graphic>
          <a:graphicData uri="http://schemas.openxmlformats.org/drawingml/2006/chart">
            <c:chart xmlns:c="http://schemas.openxmlformats.org/drawingml/2006/chart" xmlns:r="http://schemas.openxmlformats.org/officeDocument/2006/relationships" r:id="rId3"/>
          </a:graphicData>
        </a:graphic>
      </p:graphicFrame>
      <p:sp>
        <p:nvSpPr>
          <p:cNvPr id="2" name="Slide Number Placeholder 1">
            <a:extLst>
              <a:ext uri="{FF2B5EF4-FFF2-40B4-BE49-F238E27FC236}">
                <a16:creationId xmlns:a16="http://schemas.microsoft.com/office/drawing/2014/main" id="{109A4975-15A8-927C-E379-05D6223484E2}"/>
              </a:ext>
            </a:extLst>
          </p:cNvPr>
          <p:cNvSpPr>
            <a:spLocks noGrp="1"/>
          </p:cNvSpPr>
          <p:nvPr>
            <p:ph type="sldNum" idx="97"/>
          </p:nvPr>
        </p:nvSpPr>
        <p:spPr/>
        <p:txBody>
          <a:bodyPr/>
          <a:lstStyle/>
          <a:p>
            <a:fld id="{86A8BF56-6CB3-514C-9A64-F39D95C9E25B}" type="slidenum">
              <a:rPr lang="en-US" smtClean="0"/>
              <a:t>37</a:t>
            </a:fld>
            <a:endParaRPr lang="en-US"/>
          </a:p>
        </p:txBody>
      </p:sp>
      <p:sp>
        <p:nvSpPr>
          <p:cNvPr id="3" name="Title 2">
            <a:extLst>
              <a:ext uri="{FF2B5EF4-FFF2-40B4-BE49-F238E27FC236}">
                <a16:creationId xmlns:a16="http://schemas.microsoft.com/office/drawing/2014/main" id="{5CAE5706-F802-95E1-9AD7-D209EA152543}"/>
              </a:ext>
            </a:extLst>
          </p:cNvPr>
          <p:cNvSpPr>
            <a:spLocks noGrp="1"/>
          </p:cNvSpPr>
          <p:nvPr>
            <p:ph type="title" idx="1"/>
          </p:nvPr>
        </p:nvSpPr>
        <p:spPr/>
        <p:txBody>
          <a:bodyPr/>
          <a:lstStyle/>
          <a:p>
            <a:r>
              <a:rPr lang="en-US" dirty="0"/>
              <a:t>Multimodal search and retrieval</a:t>
            </a:r>
          </a:p>
        </p:txBody>
      </p:sp>
      <p:grpSp>
        <p:nvGrpSpPr>
          <p:cNvPr id="8" name="Group 7">
            <a:extLst>
              <a:ext uri="{FF2B5EF4-FFF2-40B4-BE49-F238E27FC236}">
                <a16:creationId xmlns:a16="http://schemas.microsoft.com/office/drawing/2014/main" id="{79976EE4-3152-D2F3-7FFB-FC519883762F}"/>
              </a:ext>
            </a:extLst>
          </p:cNvPr>
          <p:cNvGrpSpPr/>
          <p:nvPr/>
        </p:nvGrpSpPr>
        <p:grpSpPr>
          <a:xfrm>
            <a:off x="6380727" y="3135734"/>
            <a:ext cx="4628687" cy="3040832"/>
            <a:chOff x="4250017" y="3355715"/>
            <a:chExt cx="4628687" cy="3040832"/>
          </a:xfrm>
        </p:grpSpPr>
        <p:sp>
          <p:nvSpPr>
            <p:cNvPr id="9" name="Rectangle 8">
              <a:extLst>
                <a:ext uri="{FF2B5EF4-FFF2-40B4-BE49-F238E27FC236}">
                  <a16:creationId xmlns:a16="http://schemas.microsoft.com/office/drawing/2014/main" id="{50BDB77E-5E10-2AD4-9639-F64133478FE7}"/>
                </a:ext>
              </a:extLst>
            </p:cNvPr>
            <p:cNvSpPr/>
            <p:nvPr/>
          </p:nvSpPr>
          <p:spPr>
            <a:xfrm>
              <a:off x="4250017" y="5792697"/>
              <a:ext cx="2182483" cy="603850"/>
            </a:xfrm>
            <a:prstGeom prst="rect">
              <a:avLst/>
            </a:prstGeom>
            <a:solidFill>
              <a:srgbClr val="330066">
                <a:lumMod val="40000"/>
                <a:lumOff val="6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“Animals.”</a:t>
              </a:r>
            </a:p>
          </p:txBody>
        </p:sp>
        <p:sp>
          <p:nvSpPr>
            <p:cNvPr id="10" name="TextBox 9">
              <a:extLst>
                <a:ext uri="{FF2B5EF4-FFF2-40B4-BE49-F238E27FC236}">
                  <a16:creationId xmlns:a16="http://schemas.microsoft.com/office/drawing/2014/main" id="{AFD5E9FF-8175-E9BE-CEB0-4C289B7A6102}"/>
                </a:ext>
              </a:extLst>
            </p:cNvPr>
            <p:cNvSpPr txBox="1"/>
            <p:nvPr/>
          </p:nvSpPr>
          <p:spPr>
            <a:xfrm>
              <a:off x="4891456" y="5374214"/>
              <a:ext cx="899605"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Query</a:t>
              </a:r>
            </a:p>
          </p:txBody>
        </p:sp>
        <p:cxnSp>
          <p:nvCxnSpPr>
            <p:cNvPr id="11" name="Straight Arrow Connector 10">
              <a:extLst>
                <a:ext uri="{FF2B5EF4-FFF2-40B4-BE49-F238E27FC236}">
                  <a16:creationId xmlns:a16="http://schemas.microsoft.com/office/drawing/2014/main" id="{1BDF6549-F5B2-5E8B-429F-B281009E1A5F}"/>
                </a:ext>
              </a:extLst>
            </p:cNvPr>
            <p:cNvCxnSpPr>
              <a:cxnSpLocks/>
              <a:stCxn id="9" idx="3"/>
            </p:cNvCxnSpPr>
            <p:nvPr/>
          </p:nvCxnSpPr>
          <p:spPr>
            <a:xfrm flipV="1">
              <a:off x="6432500" y="4643299"/>
              <a:ext cx="1287034" cy="1451323"/>
            </a:xfrm>
            <a:prstGeom prst="straightConnector1">
              <a:avLst/>
            </a:prstGeom>
            <a:noFill/>
            <a:ln w="63500" cap="flat" cmpd="sng" algn="ctr">
              <a:solidFill>
                <a:srgbClr val="DF2A5D"/>
              </a:solidFill>
              <a:prstDash val="solid"/>
              <a:miter lim="800000"/>
              <a:tailEnd type="triangle"/>
            </a:ln>
            <a:effectLst/>
          </p:spPr>
        </p:cxnSp>
        <p:sp>
          <p:nvSpPr>
            <p:cNvPr id="12" name="Oval 11">
              <a:extLst>
                <a:ext uri="{FF2B5EF4-FFF2-40B4-BE49-F238E27FC236}">
                  <a16:creationId xmlns:a16="http://schemas.microsoft.com/office/drawing/2014/main" id="{C94BB989-A2D1-87D8-A40D-34838C2C1DC3}"/>
                </a:ext>
              </a:extLst>
            </p:cNvPr>
            <p:cNvSpPr/>
            <p:nvPr/>
          </p:nvSpPr>
          <p:spPr>
            <a:xfrm>
              <a:off x="7471764" y="3355715"/>
              <a:ext cx="1406940" cy="1422557"/>
            </a:xfrm>
            <a:prstGeom prst="ellipse">
              <a:avLst/>
            </a:prstGeom>
            <a:solidFill>
              <a:srgbClr val="DF2A5D">
                <a:alpha val="49000"/>
              </a:srgbClr>
            </a:solidFill>
            <a:ln w="3810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a:ea typeface="+mn-ea"/>
                <a:cs typeface="+mn-cs"/>
              </a:endParaRPr>
            </a:p>
          </p:txBody>
        </p:sp>
      </p:grpSp>
      <p:pic>
        <p:nvPicPr>
          <p:cNvPr id="14" name="Graphic 13" descr="Cat with solid fill">
            <a:extLst>
              <a:ext uri="{FF2B5EF4-FFF2-40B4-BE49-F238E27FC236}">
                <a16:creationId xmlns:a16="http://schemas.microsoft.com/office/drawing/2014/main" id="{A2D598B3-3607-BDDF-03F9-D77CF4F455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35280" y="2861600"/>
            <a:ext cx="548268" cy="548268"/>
          </a:xfrm>
          <a:prstGeom prst="rect">
            <a:avLst/>
          </a:prstGeom>
        </p:spPr>
      </p:pic>
      <p:sp>
        <p:nvSpPr>
          <p:cNvPr id="15" name="TextBox 14">
            <a:extLst>
              <a:ext uri="{FF2B5EF4-FFF2-40B4-BE49-F238E27FC236}">
                <a16:creationId xmlns:a16="http://schemas.microsoft.com/office/drawing/2014/main" id="{307FF450-B546-5759-F3D8-A3A00767A32E}"/>
              </a:ext>
            </a:extLst>
          </p:cNvPr>
          <p:cNvSpPr txBox="1"/>
          <p:nvPr/>
        </p:nvSpPr>
        <p:spPr>
          <a:xfrm>
            <a:off x="10653132" y="5059238"/>
            <a:ext cx="493533" cy="369332"/>
          </a:xfrm>
          <a:prstGeom prst="rect">
            <a:avLst/>
          </a:prstGeom>
          <a:noFill/>
        </p:spPr>
        <p:txBody>
          <a:bodyPr wrap="none" rtlCol="0">
            <a:spAutoFit/>
          </a:bodyPr>
          <a:lstStyle/>
          <a:p>
            <a:r>
              <a:rPr lang="en-US" dirty="0"/>
              <a:t>Cat</a:t>
            </a:r>
          </a:p>
        </p:txBody>
      </p:sp>
      <p:cxnSp>
        <p:nvCxnSpPr>
          <p:cNvPr id="16" name="Straight Arrow Connector 15">
            <a:extLst>
              <a:ext uri="{FF2B5EF4-FFF2-40B4-BE49-F238E27FC236}">
                <a16:creationId xmlns:a16="http://schemas.microsoft.com/office/drawing/2014/main" id="{B7254266-A245-3EAC-9369-C077DB0D5FB3}"/>
              </a:ext>
            </a:extLst>
          </p:cNvPr>
          <p:cNvCxnSpPr>
            <a:cxnSpLocks/>
            <a:endCxn id="15" idx="0"/>
          </p:cNvCxnSpPr>
          <p:nvPr/>
        </p:nvCxnSpPr>
        <p:spPr>
          <a:xfrm>
            <a:off x="10653132" y="3928400"/>
            <a:ext cx="246767" cy="1130838"/>
          </a:xfrm>
          <a:prstGeom prst="straightConnector1">
            <a:avLst/>
          </a:prstGeom>
          <a:ln w="317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AC3A55C-1F0F-A2B3-6285-1A0B1B74CACB}"/>
              </a:ext>
            </a:extLst>
          </p:cNvPr>
          <p:cNvCxnSpPr>
            <a:cxnSpLocks/>
            <a:endCxn id="14" idx="2"/>
          </p:cNvCxnSpPr>
          <p:nvPr/>
        </p:nvCxnSpPr>
        <p:spPr>
          <a:xfrm flipV="1">
            <a:off x="10899898" y="3409868"/>
            <a:ext cx="109516" cy="270205"/>
          </a:xfrm>
          <a:prstGeom prst="straightConnector1">
            <a:avLst/>
          </a:prstGeom>
          <a:ln w="317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1" name="Content Placeholder 3">
            <a:extLst>
              <a:ext uri="{FF2B5EF4-FFF2-40B4-BE49-F238E27FC236}">
                <a16:creationId xmlns:a16="http://schemas.microsoft.com/office/drawing/2014/main" id="{6169EF90-83B6-E6FD-ADE4-DE4DC92AD9E7}"/>
              </a:ext>
            </a:extLst>
          </p:cNvPr>
          <p:cNvSpPr>
            <a:spLocks noGrp="1"/>
          </p:cNvSpPr>
          <p:nvPr>
            <p:ph idx="2"/>
          </p:nvPr>
        </p:nvSpPr>
        <p:spPr>
          <a:xfrm>
            <a:off x="365760" y="1165536"/>
            <a:ext cx="5373528" cy="5262696"/>
          </a:xfrm>
        </p:spPr>
        <p:txBody>
          <a:bodyPr/>
          <a:lstStyle/>
          <a:p>
            <a:r>
              <a:rPr lang="en-US" dirty="0"/>
              <a:t>Retrieve embeddings close to the query word/phrase.</a:t>
            </a:r>
          </a:p>
          <a:p>
            <a:pPr lvl="1"/>
            <a:r>
              <a:rPr lang="en-US" dirty="0"/>
              <a:t>Search and retrieve across all modalities</a:t>
            </a:r>
          </a:p>
        </p:txBody>
      </p:sp>
    </p:spTree>
    <p:extLst>
      <p:ext uri="{BB962C8B-B14F-4D97-AF65-F5344CB8AC3E}">
        <p14:creationId xmlns:p14="http://schemas.microsoft.com/office/powerpoint/2010/main" val="2604417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D2DFF-4B4C-5052-E10C-43CB33268DE6}"/>
              </a:ext>
            </a:extLst>
          </p:cNvPr>
          <p:cNvSpPr>
            <a:spLocks noGrp="1"/>
          </p:cNvSpPr>
          <p:nvPr>
            <p:ph type="sldNum" idx="97"/>
          </p:nvPr>
        </p:nvSpPr>
        <p:spPr/>
        <p:txBody>
          <a:bodyPr/>
          <a:lstStyle/>
          <a:p>
            <a:fld id="{86A8BF56-6CB3-514C-9A64-F39D95C9E25B}" type="slidenum">
              <a:rPr lang="en-US" smtClean="0"/>
              <a:t>38</a:t>
            </a:fld>
            <a:endParaRPr lang="en-US"/>
          </a:p>
        </p:txBody>
      </p:sp>
      <p:sp>
        <p:nvSpPr>
          <p:cNvPr id="3" name="Title 2">
            <a:extLst>
              <a:ext uri="{FF2B5EF4-FFF2-40B4-BE49-F238E27FC236}">
                <a16:creationId xmlns:a16="http://schemas.microsoft.com/office/drawing/2014/main" id="{5C9C93E7-D972-F876-DF6D-2DE7207A7EAF}"/>
              </a:ext>
            </a:extLst>
          </p:cNvPr>
          <p:cNvSpPr>
            <a:spLocks noGrp="1"/>
          </p:cNvSpPr>
          <p:nvPr>
            <p:ph type="title" idx="1"/>
          </p:nvPr>
        </p:nvSpPr>
        <p:spPr/>
        <p:txBody>
          <a:bodyPr/>
          <a:lstStyle/>
          <a:p>
            <a:r>
              <a:rPr lang="en-US" dirty="0"/>
              <a:t>Multimodal RAG workflow</a:t>
            </a:r>
          </a:p>
        </p:txBody>
      </p:sp>
      <p:sp>
        <p:nvSpPr>
          <p:cNvPr id="4" name="Content Placeholder 3">
            <a:extLst>
              <a:ext uri="{FF2B5EF4-FFF2-40B4-BE49-F238E27FC236}">
                <a16:creationId xmlns:a16="http://schemas.microsoft.com/office/drawing/2014/main" id="{2710D7CF-4EBB-BB6F-8AD8-291554E602BF}"/>
              </a:ext>
            </a:extLst>
          </p:cNvPr>
          <p:cNvSpPr>
            <a:spLocks noGrp="1"/>
          </p:cNvSpPr>
          <p:nvPr>
            <p:ph idx="2"/>
          </p:nvPr>
        </p:nvSpPr>
        <p:spPr>
          <a:xfrm>
            <a:off x="365760" y="4961642"/>
            <a:ext cx="11466576" cy="1466589"/>
          </a:xfrm>
        </p:spPr>
        <p:txBody>
          <a:bodyPr/>
          <a:lstStyle/>
          <a:p>
            <a:r>
              <a:rPr lang="en-US" dirty="0"/>
              <a:t>Use the same embedding model for the vector database and embedding the query</a:t>
            </a:r>
          </a:p>
          <a:p>
            <a:r>
              <a:rPr lang="en-US" dirty="0"/>
              <a:t>Images can be used for retrieval, prompting </a:t>
            </a:r>
            <a:r>
              <a:rPr lang="en-US"/>
              <a:t>and both</a:t>
            </a:r>
            <a:endParaRPr lang="en-US" dirty="0"/>
          </a:p>
        </p:txBody>
      </p:sp>
      <p:sp>
        <p:nvSpPr>
          <p:cNvPr id="24" name="Rounded Rectangle 23">
            <a:extLst>
              <a:ext uri="{FF2B5EF4-FFF2-40B4-BE49-F238E27FC236}">
                <a16:creationId xmlns:a16="http://schemas.microsoft.com/office/drawing/2014/main" id="{B19A138B-942E-98C9-979E-F292FFA9747F}"/>
              </a:ext>
            </a:extLst>
          </p:cNvPr>
          <p:cNvSpPr/>
          <p:nvPr/>
        </p:nvSpPr>
        <p:spPr>
          <a:xfrm>
            <a:off x="513511" y="2769940"/>
            <a:ext cx="1487909" cy="602927"/>
          </a:xfrm>
          <a:prstGeom prst="roundRect">
            <a:avLst/>
          </a:prstGeom>
          <a:solidFill>
            <a:schemeClr val="accent5"/>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Amazon Ember Medium"/>
                <a:ea typeface="+mn-ea"/>
                <a:cs typeface="+mn-cs"/>
              </a:rPr>
              <a:t>Query</a:t>
            </a:r>
          </a:p>
        </p:txBody>
      </p:sp>
      <p:cxnSp>
        <p:nvCxnSpPr>
          <p:cNvPr id="25" name="Straight Arrow Connector 24">
            <a:extLst>
              <a:ext uri="{FF2B5EF4-FFF2-40B4-BE49-F238E27FC236}">
                <a16:creationId xmlns:a16="http://schemas.microsoft.com/office/drawing/2014/main" id="{80A3EC8A-3FD2-415C-A105-2AF8D105BDAF}"/>
              </a:ext>
            </a:extLst>
          </p:cNvPr>
          <p:cNvCxnSpPr>
            <a:cxnSpLocks/>
            <a:stCxn id="26" idx="3"/>
          </p:cNvCxnSpPr>
          <p:nvPr/>
        </p:nvCxnSpPr>
        <p:spPr>
          <a:xfrm flipV="1">
            <a:off x="6721676" y="4067436"/>
            <a:ext cx="687409" cy="504908"/>
          </a:xfrm>
          <a:prstGeom prst="straightConnector1">
            <a:avLst/>
          </a:prstGeom>
          <a:noFill/>
          <a:ln w="63500" cap="flat" cmpd="sng" algn="ctr">
            <a:solidFill>
              <a:srgbClr val="DF2A5D"/>
            </a:solidFill>
            <a:prstDash val="solid"/>
            <a:miter lim="800000"/>
            <a:tailEnd type="triangle"/>
          </a:ln>
          <a:effectLst/>
        </p:spPr>
      </p:cxnSp>
      <p:sp>
        <p:nvSpPr>
          <p:cNvPr id="26" name="Rounded Rectangle 25">
            <a:extLst>
              <a:ext uri="{FF2B5EF4-FFF2-40B4-BE49-F238E27FC236}">
                <a16:creationId xmlns:a16="http://schemas.microsoft.com/office/drawing/2014/main" id="{DFD26026-2054-4E47-BC39-CE11562639DF}"/>
              </a:ext>
            </a:extLst>
          </p:cNvPr>
          <p:cNvSpPr/>
          <p:nvPr/>
        </p:nvSpPr>
        <p:spPr>
          <a:xfrm>
            <a:off x="5233767" y="4270880"/>
            <a:ext cx="1487909" cy="602927"/>
          </a:xfrm>
          <a:prstGeom prst="roundRect">
            <a:avLst/>
          </a:prstGeom>
          <a:solidFill>
            <a:schemeClr val="accent5"/>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Amazon Ember Medium"/>
                <a:ea typeface="+mn-ea"/>
                <a:cs typeface="+mn-cs"/>
              </a:rPr>
              <a:t>Prompt</a:t>
            </a:r>
          </a:p>
        </p:txBody>
      </p:sp>
      <p:sp>
        <p:nvSpPr>
          <p:cNvPr id="27" name="Rounded Rectangle 26">
            <a:extLst>
              <a:ext uri="{FF2B5EF4-FFF2-40B4-BE49-F238E27FC236}">
                <a16:creationId xmlns:a16="http://schemas.microsoft.com/office/drawing/2014/main" id="{D2481017-ECBD-0E20-3AA2-AF597261293C}"/>
              </a:ext>
            </a:extLst>
          </p:cNvPr>
          <p:cNvSpPr/>
          <p:nvPr/>
        </p:nvSpPr>
        <p:spPr>
          <a:xfrm>
            <a:off x="2684311" y="2670488"/>
            <a:ext cx="1704555" cy="801832"/>
          </a:xfrm>
          <a:prstGeom prst="roundRect">
            <a:avLst/>
          </a:prstGeom>
          <a:solidFill>
            <a:schemeClr val="accent3">
              <a:lumMod val="50000"/>
            </a:scheme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Amazon Ember Medium"/>
                <a:ea typeface="+mn-ea"/>
                <a:cs typeface="+mn-cs"/>
              </a:rPr>
              <a:t>Embedding model</a:t>
            </a:r>
          </a:p>
        </p:txBody>
      </p:sp>
      <p:cxnSp>
        <p:nvCxnSpPr>
          <p:cNvPr id="30" name="Straight Arrow Connector 29">
            <a:extLst>
              <a:ext uri="{FF2B5EF4-FFF2-40B4-BE49-F238E27FC236}">
                <a16:creationId xmlns:a16="http://schemas.microsoft.com/office/drawing/2014/main" id="{5DD80D37-944D-ED61-FA14-5A45B3B440EC}"/>
              </a:ext>
            </a:extLst>
          </p:cNvPr>
          <p:cNvCxnSpPr>
            <a:cxnSpLocks/>
          </p:cNvCxnSpPr>
          <p:nvPr/>
        </p:nvCxnSpPr>
        <p:spPr>
          <a:xfrm>
            <a:off x="6468995" y="3069983"/>
            <a:ext cx="916751" cy="631066"/>
          </a:xfrm>
          <a:prstGeom prst="straightConnector1">
            <a:avLst/>
          </a:prstGeom>
          <a:noFill/>
          <a:ln w="63500" cap="flat" cmpd="sng" algn="ctr">
            <a:solidFill>
              <a:srgbClr val="DF2A5D"/>
            </a:solidFill>
            <a:prstDash val="solid"/>
            <a:miter lim="800000"/>
            <a:tailEnd type="triangle"/>
          </a:ln>
          <a:effectLst/>
        </p:spPr>
      </p:cxnSp>
      <p:cxnSp>
        <p:nvCxnSpPr>
          <p:cNvPr id="31" name="Straight Arrow Connector 30">
            <a:extLst>
              <a:ext uri="{FF2B5EF4-FFF2-40B4-BE49-F238E27FC236}">
                <a16:creationId xmlns:a16="http://schemas.microsoft.com/office/drawing/2014/main" id="{9A239229-8B81-86D0-8B1F-250937117B7C}"/>
              </a:ext>
            </a:extLst>
          </p:cNvPr>
          <p:cNvCxnSpPr>
            <a:cxnSpLocks/>
            <a:stCxn id="27" idx="3"/>
          </p:cNvCxnSpPr>
          <p:nvPr/>
        </p:nvCxnSpPr>
        <p:spPr>
          <a:xfrm flipV="1">
            <a:off x="4388866" y="3062430"/>
            <a:ext cx="682891" cy="8974"/>
          </a:xfrm>
          <a:prstGeom prst="straightConnector1">
            <a:avLst/>
          </a:prstGeom>
          <a:noFill/>
          <a:ln w="63500" cap="flat" cmpd="sng" algn="ctr">
            <a:solidFill>
              <a:srgbClr val="DF2A5D"/>
            </a:solidFill>
            <a:prstDash val="solid"/>
            <a:miter lim="800000"/>
            <a:tailEnd type="triangle"/>
          </a:ln>
          <a:effectLst/>
        </p:spPr>
      </p:cxnSp>
      <p:cxnSp>
        <p:nvCxnSpPr>
          <p:cNvPr id="32" name="Straight Arrow Connector 31">
            <a:extLst>
              <a:ext uri="{FF2B5EF4-FFF2-40B4-BE49-F238E27FC236}">
                <a16:creationId xmlns:a16="http://schemas.microsoft.com/office/drawing/2014/main" id="{299A56EB-F16B-6992-837E-F76D0FD00E75}"/>
              </a:ext>
            </a:extLst>
          </p:cNvPr>
          <p:cNvCxnSpPr>
            <a:cxnSpLocks/>
            <a:stCxn id="24" idx="3"/>
            <a:endCxn id="27" idx="1"/>
          </p:cNvCxnSpPr>
          <p:nvPr/>
        </p:nvCxnSpPr>
        <p:spPr>
          <a:xfrm>
            <a:off x="2001420" y="3071404"/>
            <a:ext cx="682891" cy="0"/>
          </a:xfrm>
          <a:prstGeom prst="straightConnector1">
            <a:avLst/>
          </a:prstGeom>
          <a:noFill/>
          <a:ln w="63500" cap="flat" cmpd="sng" algn="ctr">
            <a:solidFill>
              <a:srgbClr val="DF2A5D"/>
            </a:solidFill>
            <a:prstDash val="solid"/>
            <a:miter lim="800000"/>
            <a:tailEnd type="triangle"/>
          </a:ln>
          <a:effectLst/>
        </p:spPr>
      </p:cxnSp>
      <p:cxnSp>
        <p:nvCxnSpPr>
          <p:cNvPr id="33" name="Straight Arrow Connector 32">
            <a:extLst>
              <a:ext uri="{FF2B5EF4-FFF2-40B4-BE49-F238E27FC236}">
                <a16:creationId xmlns:a16="http://schemas.microsoft.com/office/drawing/2014/main" id="{D6EFFA35-BB0F-60EA-049F-75783F916AC5}"/>
              </a:ext>
            </a:extLst>
          </p:cNvPr>
          <p:cNvCxnSpPr>
            <a:cxnSpLocks/>
          </p:cNvCxnSpPr>
          <p:nvPr/>
        </p:nvCxnSpPr>
        <p:spPr>
          <a:xfrm>
            <a:off x="9518137" y="3873236"/>
            <a:ext cx="683447" cy="0"/>
          </a:xfrm>
          <a:prstGeom prst="straightConnector1">
            <a:avLst/>
          </a:prstGeom>
          <a:noFill/>
          <a:ln w="63500" cap="flat" cmpd="sng" algn="ctr">
            <a:solidFill>
              <a:srgbClr val="DF2A5D"/>
            </a:solidFill>
            <a:prstDash val="solid"/>
            <a:miter lim="800000"/>
            <a:tailEnd type="triangle"/>
          </a:ln>
          <a:effectLst/>
        </p:spPr>
      </p:cxnSp>
      <p:sp>
        <p:nvSpPr>
          <p:cNvPr id="34" name="TextBox 33">
            <a:extLst>
              <a:ext uri="{FF2B5EF4-FFF2-40B4-BE49-F238E27FC236}">
                <a16:creationId xmlns:a16="http://schemas.microsoft.com/office/drawing/2014/main" id="{22D4CE10-1EEE-55E3-7603-2D79B4F914E3}"/>
              </a:ext>
            </a:extLst>
          </p:cNvPr>
          <p:cNvSpPr txBox="1"/>
          <p:nvPr/>
        </p:nvSpPr>
        <p:spPr>
          <a:xfrm>
            <a:off x="10403703" y="4583336"/>
            <a:ext cx="1010482" cy="369332"/>
          </a:xfrm>
          <a:prstGeom prst="rect">
            <a:avLst/>
          </a:prstGeom>
          <a:noFill/>
        </p:spPr>
        <p:txBody>
          <a:bodyPr wrap="square" rtlCol="0">
            <a:spAutoFit/>
          </a:bodyPr>
          <a:lstStyle/>
          <a:p>
            <a:pPr algn="ctr"/>
            <a:r>
              <a:rPr lang="en-US" dirty="0">
                <a:solidFill>
                  <a:srgbClr val="232F3E"/>
                </a:solidFill>
                <a:latin typeface="Amazon Ember Light"/>
              </a:rPr>
              <a:t>FMs</a:t>
            </a:r>
          </a:p>
        </p:txBody>
      </p:sp>
      <p:pic>
        <p:nvPicPr>
          <p:cNvPr id="35" name="Picture 5">
            <a:extLst>
              <a:ext uri="{FF2B5EF4-FFF2-40B4-BE49-F238E27FC236}">
                <a16:creationId xmlns:a16="http://schemas.microsoft.com/office/drawing/2014/main" id="{85DC36B8-C8FC-107B-0C68-1AD2435ACB9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10194137" y="3069983"/>
            <a:ext cx="1429614" cy="1502361"/>
          </a:xfrm>
          <a:prstGeom prst="rect">
            <a:avLst/>
          </a:prstGeom>
          <a:effectLst/>
        </p:spPr>
      </p:pic>
      <p:pic>
        <p:nvPicPr>
          <p:cNvPr id="36" name="Content Placeholder 16">
            <a:extLst>
              <a:ext uri="{FF2B5EF4-FFF2-40B4-BE49-F238E27FC236}">
                <a16:creationId xmlns:a16="http://schemas.microsoft.com/office/drawing/2014/main" id="{886AB712-E485-E21D-6336-F61EDDFBEE6C}"/>
              </a:ext>
            </a:extLst>
          </p:cNvPr>
          <p:cNvPicPr>
            <a:picLocks noChangeAspect="1"/>
          </p:cNvPicPr>
          <p:nvPr/>
        </p:nvPicPr>
        <p:blipFill>
          <a:blip r:embed="rId5"/>
          <a:stretch>
            <a:fillRect/>
          </a:stretch>
        </p:blipFill>
        <p:spPr>
          <a:xfrm>
            <a:off x="7765613" y="1950525"/>
            <a:ext cx="1284093" cy="1284093"/>
          </a:xfrm>
          <a:prstGeom prst="rect">
            <a:avLst/>
          </a:prstGeom>
        </p:spPr>
      </p:pic>
      <p:cxnSp>
        <p:nvCxnSpPr>
          <p:cNvPr id="37" name="Straight Arrow Connector 36">
            <a:extLst>
              <a:ext uri="{FF2B5EF4-FFF2-40B4-BE49-F238E27FC236}">
                <a16:creationId xmlns:a16="http://schemas.microsoft.com/office/drawing/2014/main" id="{F473DCDF-B809-8701-9082-85A95F1D2369}"/>
              </a:ext>
            </a:extLst>
          </p:cNvPr>
          <p:cNvCxnSpPr>
            <a:cxnSpLocks/>
          </p:cNvCxnSpPr>
          <p:nvPr/>
        </p:nvCxnSpPr>
        <p:spPr>
          <a:xfrm>
            <a:off x="8440279" y="2973998"/>
            <a:ext cx="23332" cy="498322"/>
          </a:xfrm>
          <a:prstGeom prst="straightConnector1">
            <a:avLst/>
          </a:prstGeom>
          <a:noFill/>
          <a:ln w="63500" cap="flat" cmpd="sng" algn="ctr">
            <a:solidFill>
              <a:srgbClr val="DF2A5D"/>
            </a:solidFill>
            <a:prstDash val="solid"/>
            <a:miter lim="800000"/>
            <a:tailEnd type="triangle"/>
          </a:ln>
          <a:effectLst/>
        </p:spPr>
      </p:cxnSp>
      <p:pic>
        <p:nvPicPr>
          <p:cNvPr id="38" name="Content Placeholder 16">
            <a:extLst>
              <a:ext uri="{FF2B5EF4-FFF2-40B4-BE49-F238E27FC236}">
                <a16:creationId xmlns:a16="http://schemas.microsoft.com/office/drawing/2014/main" id="{9951238C-B66D-3625-7222-ECC570884CCA}"/>
              </a:ext>
            </a:extLst>
          </p:cNvPr>
          <p:cNvPicPr>
            <a:picLocks noChangeAspect="1"/>
          </p:cNvPicPr>
          <p:nvPr/>
        </p:nvPicPr>
        <p:blipFill>
          <a:blip r:embed="rId5"/>
          <a:stretch>
            <a:fillRect/>
          </a:stretch>
        </p:blipFill>
        <p:spPr>
          <a:xfrm>
            <a:off x="615418" y="3372867"/>
            <a:ext cx="1284093" cy="1284093"/>
          </a:xfrm>
          <a:prstGeom prst="rect">
            <a:avLst/>
          </a:prstGeom>
        </p:spPr>
      </p:pic>
      <p:cxnSp>
        <p:nvCxnSpPr>
          <p:cNvPr id="39" name="Straight Arrow Connector 38">
            <a:extLst>
              <a:ext uri="{FF2B5EF4-FFF2-40B4-BE49-F238E27FC236}">
                <a16:creationId xmlns:a16="http://schemas.microsoft.com/office/drawing/2014/main" id="{E0E50934-E2DE-AA9A-51F5-F1700A6385E9}"/>
              </a:ext>
            </a:extLst>
          </p:cNvPr>
          <p:cNvCxnSpPr>
            <a:cxnSpLocks/>
          </p:cNvCxnSpPr>
          <p:nvPr/>
        </p:nvCxnSpPr>
        <p:spPr>
          <a:xfrm flipV="1">
            <a:off x="1685992" y="3204819"/>
            <a:ext cx="998319" cy="888692"/>
          </a:xfrm>
          <a:prstGeom prst="straightConnector1">
            <a:avLst/>
          </a:prstGeom>
          <a:noFill/>
          <a:ln w="63500" cap="flat" cmpd="sng" algn="ctr">
            <a:solidFill>
              <a:srgbClr val="DF2A5D"/>
            </a:solidFill>
            <a:prstDash val="solid"/>
            <a:miter lim="800000"/>
            <a:tailEnd type="triangle"/>
          </a:ln>
          <a:effectLst/>
        </p:spPr>
      </p:cxnSp>
      <p:sp>
        <p:nvSpPr>
          <p:cNvPr id="40" name="TextBox 39">
            <a:extLst>
              <a:ext uri="{FF2B5EF4-FFF2-40B4-BE49-F238E27FC236}">
                <a16:creationId xmlns:a16="http://schemas.microsoft.com/office/drawing/2014/main" id="{2C33DF4D-ACE9-68F0-227F-754CF489ACD9}"/>
              </a:ext>
            </a:extLst>
          </p:cNvPr>
          <p:cNvSpPr txBox="1"/>
          <p:nvPr/>
        </p:nvSpPr>
        <p:spPr>
          <a:xfrm>
            <a:off x="465687" y="4410770"/>
            <a:ext cx="1704313" cy="369332"/>
          </a:xfrm>
          <a:prstGeom prst="rect">
            <a:avLst/>
          </a:prstGeom>
          <a:noFill/>
        </p:spPr>
        <p:txBody>
          <a:bodyPr wrap="none" rtlCol="0">
            <a:spAutoFit/>
          </a:bodyPr>
          <a:lstStyle/>
          <a:p>
            <a:r>
              <a:rPr lang="en-US" dirty="0">
                <a:solidFill>
                  <a:srgbClr val="232F3E"/>
                </a:solidFill>
                <a:latin typeface="Amazon Ember Medium"/>
              </a:rPr>
              <a:t>Prompt Image</a:t>
            </a:r>
          </a:p>
        </p:txBody>
      </p:sp>
      <p:sp>
        <p:nvSpPr>
          <p:cNvPr id="41" name="TextBox 40">
            <a:extLst>
              <a:ext uri="{FF2B5EF4-FFF2-40B4-BE49-F238E27FC236}">
                <a16:creationId xmlns:a16="http://schemas.microsoft.com/office/drawing/2014/main" id="{79AFA724-97EE-FC7A-6F80-0BB997D48676}"/>
              </a:ext>
            </a:extLst>
          </p:cNvPr>
          <p:cNvSpPr txBox="1"/>
          <p:nvPr/>
        </p:nvSpPr>
        <p:spPr>
          <a:xfrm>
            <a:off x="7441561" y="1790253"/>
            <a:ext cx="1704313" cy="369332"/>
          </a:xfrm>
          <a:prstGeom prst="rect">
            <a:avLst/>
          </a:prstGeom>
          <a:noFill/>
        </p:spPr>
        <p:txBody>
          <a:bodyPr wrap="none" rtlCol="0">
            <a:spAutoFit/>
          </a:bodyPr>
          <a:lstStyle/>
          <a:p>
            <a:r>
              <a:rPr lang="en-US" dirty="0">
                <a:solidFill>
                  <a:srgbClr val="232F3E"/>
                </a:solidFill>
                <a:latin typeface="Amazon Ember Medium"/>
              </a:rPr>
              <a:t>Prompt Image</a:t>
            </a:r>
          </a:p>
        </p:txBody>
      </p:sp>
      <p:sp>
        <p:nvSpPr>
          <p:cNvPr id="43" name="Rounded Rectangle 42">
            <a:extLst>
              <a:ext uri="{FF2B5EF4-FFF2-40B4-BE49-F238E27FC236}">
                <a16:creationId xmlns:a16="http://schemas.microsoft.com/office/drawing/2014/main" id="{1E7B9209-2553-FAED-9A6B-9BE20ADE0310}"/>
              </a:ext>
            </a:extLst>
          </p:cNvPr>
          <p:cNvSpPr/>
          <p:nvPr/>
        </p:nvSpPr>
        <p:spPr>
          <a:xfrm>
            <a:off x="7523757" y="3520531"/>
            <a:ext cx="1652956" cy="848367"/>
          </a:xfrm>
          <a:prstGeom prst="roundRect">
            <a:avLst/>
          </a:prstGeom>
          <a:solidFill>
            <a:srgbClr val="330066"/>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mazon Ember Light"/>
                <a:ea typeface="+mn-ea"/>
                <a:cs typeface="+mn-cs"/>
              </a:rPr>
              <a:t>Prompt</a:t>
            </a:r>
            <a:r>
              <a:rPr kumimoji="0" lang="en-DE" sz="2400" b="1" i="0" u="none" strike="noStrike" kern="0" cap="none" spc="0" normalizeH="0" baseline="0" noProof="0">
                <a:ln>
                  <a:noFill/>
                </a:ln>
                <a:solidFill>
                  <a:srgbClr val="FFFFFF"/>
                </a:solidFill>
                <a:effectLst/>
                <a:uLnTx/>
                <a:uFillTx/>
                <a:latin typeface="Amazon Ember Light"/>
                <a:ea typeface="+mn-ea"/>
                <a:cs typeface="+mn-cs"/>
              </a:rPr>
              <a:t> </a:t>
            </a:r>
            <a:r>
              <a:rPr kumimoji="0" lang="en-DE" sz="2400" b="1" i="0" u="none" strike="noStrike" kern="0" cap="none" spc="0" normalizeH="0" baseline="0" noProof="0" dirty="0">
                <a:ln>
                  <a:noFill/>
                </a:ln>
                <a:solidFill>
                  <a:srgbClr val="FFFFFF"/>
                </a:solidFill>
                <a:effectLst/>
                <a:uLnTx/>
                <a:uFillTx/>
                <a:latin typeface="Amazon Ember Light"/>
                <a:ea typeface="+mn-ea"/>
                <a:cs typeface="+mn-cs"/>
              </a:rPr>
              <a:t>+ Context</a:t>
            </a:r>
          </a:p>
        </p:txBody>
      </p:sp>
      <p:pic>
        <p:nvPicPr>
          <p:cNvPr id="44" name="Graphic 43" descr="Icon representing a Vector Database">
            <a:extLst>
              <a:ext uri="{FF2B5EF4-FFF2-40B4-BE49-F238E27FC236}">
                <a16:creationId xmlns:a16="http://schemas.microsoft.com/office/drawing/2014/main" id="{3D6FCBEA-66B7-5EF2-DDAE-0A402BE63F3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84551" y="2364374"/>
            <a:ext cx="1396113" cy="1396113"/>
          </a:xfrm>
          <a:prstGeom prst="rect">
            <a:avLst/>
          </a:prstGeom>
        </p:spPr>
      </p:pic>
    </p:spTree>
    <p:extLst>
      <p:ext uri="{BB962C8B-B14F-4D97-AF65-F5344CB8AC3E}">
        <p14:creationId xmlns:p14="http://schemas.microsoft.com/office/powerpoint/2010/main" val="4002819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A3DF-B4CB-6A33-AC30-401FCD7F60A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EC7D561-C556-F379-AFD6-AC9B86BC07D8}"/>
              </a:ext>
            </a:extLst>
          </p:cNvPr>
          <p:cNvSpPr>
            <a:spLocks noGrp="1"/>
          </p:cNvSpPr>
          <p:nvPr>
            <p:ph type="sldNum" idx="97"/>
          </p:nvPr>
        </p:nvSpPr>
        <p:spPr/>
        <p:txBody>
          <a:bodyPr/>
          <a:lstStyle/>
          <a:p>
            <a:fld id="{86A8BF56-6CB3-514C-9A64-F39D95C9E25B}" type="slidenum">
              <a:rPr lang="en-US" smtClean="0"/>
              <a:pPr/>
              <a:t>39</a:t>
            </a:fld>
            <a:endParaRPr lang="en-US" dirty="0"/>
          </a:p>
        </p:txBody>
      </p:sp>
      <p:sp>
        <p:nvSpPr>
          <p:cNvPr id="2" name="Title 1">
            <a:extLst>
              <a:ext uri="{FF2B5EF4-FFF2-40B4-BE49-F238E27FC236}">
                <a16:creationId xmlns:a16="http://schemas.microsoft.com/office/drawing/2014/main" id="{8695A6EF-CDA0-96FD-F5DC-D0415A030FFB}"/>
              </a:ext>
            </a:extLst>
          </p:cNvPr>
          <p:cNvSpPr>
            <a:spLocks noGrp="1"/>
          </p:cNvSpPr>
          <p:nvPr>
            <p:ph type="title" idx="1"/>
          </p:nvPr>
        </p:nvSpPr>
        <p:spPr/>
        <p:txBody>
          <a:bodyPr/>
          <a:lstStyle/>
          <a:p>
            <a:r>
              <a:rPr lang="en-US" dirty="0"/>
              <a:t>RAG Summary</a:t>
            </a:r>
          </a:p>
        </p:txBody>
      </p:sp>
    </p:spTree>
    <p:extLst>
      <p:ext uri="{BB962C8B-B14F-4D97-AF65-F5344CB8AC3E}">
        <p14:creationId xmlns:p14="http://schemas.microsoft.com/office/powerpoint/2010/main" val="19977411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5504F-829F-EA48-D813-61DA873BFB1B}"/>
              </a:ext>
            </a:extLst>
          </p:cNvPr>
          <p:cNvSpPr>
            <a:spLocks noGrp="1"/>
          </p:cNvSpPr>
          <p:nvPr>
            <p:ph type="sldNum" idx="97"/>
          </p:nvPr>
        </p:nvSpPr>
        <p:spPr/>
        <p:txBody>
          <a:bodyPr/>
          <a:lstStyle/>
          <a:p>
            <a:fld id="{86A8BF56-6CB3-514C-9A64-F39D95C9E25B}" type="slidenum">
              <a:rPr lang="en-US" smtClean="0"/>
              <a:t>40</a:t>
            </a:fld>
            <a:endParaRPr lang="en-US"/>
          </a:p>
        </p:txBody>
      </p:sp>
      <p:sp>
        <p:nvSpPr>
          <p:cNvPr id="3" name="Title 2">
            <a:extLst>
              <a:ext uri="{FF2B5EF4-FFF2-40B4-BE49-F238E27FC236}">
                <a16:creationId xmlns:a16="http://schemas.microsoft.com/office/drawing/2014/main" id="{52E5098C-080B-600E-1869-FDA3DE10F074}"/>
              </a:ext>
            </a:extLst>
          </p:cNvPr>
          <p:cNvSpPr>
            <a:spLocks noGrp="1"/>
          </p:cNvSpPr>
          <p:nvPr>
            <p:ph type="title" idx="1"/>
          </p:nvPr>
        </p:nvSpPr>
        <p:spPr/>
        <p:txBody>
          <a:bodyPr/>
          <a:lstStyle/>
          <a:p>
            <a:r>
              <a:rPr lang="en-US" dirty="0"/>
              <a:t>Strengths of RAG</a:t>
            </a:r>
          </a:p>
        </p:txBody>
      </p:sp>
      <p:sp>
        <p:nvSpPr>
          <p:cNvPr id="4" name="Content Placeholder 3">
            <a:extLst>
              <a:ext uri="{FF2B5EF4-FFF2-40B4-BE49-F238E27FC236}">
                <a16:creationId xmlns:a16="http://schemas.microsoft.com/office/drawing/2014/main" id="{C73AAF23-035E-9C31-A752-E1464A3B4251}"/>
              </a:ext>
            </a:extLst>
          </p:cNvPr>
          <p:cNvSpPr>
            <a:spLocks noGrp="1"/>
          </p:cNvSpPr>
          <p:nvPr>
            <p:ph idx="2"/>
          </p:nvPr>
        </p:nvSpPr>
        <p:spPr/>
        <p:txBody>
          <a:bodyPr/>
          <a:lstStyle/>
          <a:p>
            <a:pPr lvl="0"/>
            <a:r>
              <a:rPr lang="en-US" sz="2400" dirty="0"/>
              <a:t>Improved </a:t>
            </a:r>
            <a:r>
              <a:rPr lang="en-US" sz="2400" b="1" dirty="0">
                <a:solidFill>
                  <a:schemeClr val="accent6"/>
                </a:solidFill>
              </a:rPr>
              <a:t>factual accuracy</a:t>
            </a:r>
            <a:r>
              <a:rPr lang="en-US" sz="2400" dirty="0">
                <a:solidFill>
                  <a:schemeClr val="accent6"/>
                </a:solidFill>
              </a:rPr>
              <a:t> </a:t>
            </a:r>
            <a:r>
              <a:rPr lang="en-US" sz="2400" dirty="0"/>
              <a:t>of generated text</a:t>
            </a:r>
          </a:p>
          <a:p>
            <a:pPr lvl="1"/>
            <a:r>
              <a:rPr lang="en-US" sz="2000" dirty="0"/>
              <a:t>Can help mitigate hallucinations (although it might not be able to </a:t>
            </a:r>
            <a:r>
              <a:rPr lang="en-US" sz="2000" i="1" dirty="0"/>
              <a:t>fully</a:t>
            </a:r>
            <a:r>
              <a:rPr lang="en-US" sz="2000" dirty="0"/>
              <a:t> avoid them)</a:t>
            </a:r>
          </a:p>
          <a:p>
            <a:r>
              <a:rPr lang="en-US" sz="2400" b="1" dirty="0">
                <a:solidFill>
                  <a:schemeClr val="accent6"/>
                </a:solidFill>
              </a:rPr>
              <a:t>Adaptability</a:t>
            </a:r>
            <a:r>
              <a:rPr lang="en-US" sz="2400" dirty="0"/>
              <a:t> of one same model to multiple domains</a:t>
            </a:r>
          </a:p>
          <a:p>
            <a:pPr lvl="1"/>
            <a:r>
              <a:rPr lang="en-US" sz="2000" dirty="0"/>
              <a:t>Replacing the knowledge sources allows to adapt the model to different use cases (internal documentation, customer policies, knowledge of specialized domains, etc.)</a:t>
            </a:r>
          </a:p>
          <a:p>
            <a:pPr lvl="0"/>
            <a:r>
              <a:rPr lang="en-US" sz="2400" dirty="0"/>
              <a:t>Easier maintainability of the system for </a:t>
            </a:r>
            <a:r>
              <a:rPr lang="en-US" sz="2400" b="1" dirty="0">
                <a:solidFill>
                  <a:schemeClr val="accent6"/>
                </a:solidFill>
              </a:rPr>
              <a:t>evolving information</a:t>
            </a:r>
          </a:p>
          <a:p>
            <a:pPr lvl="1"/>
            <a:r>
              <a:rPr lang="en-US" sz="2000" dirty="0"/>
              <a:t>Refreshing the knowledge source keeps information up to date. Best suited for facts that change e.g. quarterly, i.e. not efficient if facts change daily</a:t>
            </a:r>
          </a:p>
          <a:p>
            <a:pPr lvl="0"/>
            <a:r>
              <a:rPr lang="en-US" sz="2400" dirty="0"/>
              <a:t>Increased </a:t>
            </a:r>
            <a:r>
              <a:rPr lang="en-US" sz="2400" b="1" dirty="0">
                <a:solidFill>
                  <a:schemeClr val="accent6"/>
                </a:solidFill>
              </a:rPr>
              <a:t>explainability and interpretability</a:t>
            </a:r>
            <a:r>
              <a:rPr lang="en-US" sz="2400" dirty="0">
                <a:solidFill>
                  <a:schemeClr val="accent6"/>
                </a:solidFill>
              </a:rPr>
              <a:t> </a:t>
            </a:r>
            <a:r>
              <a:rPr lang="en-US" sz="2400" dirty="0"/>
              <a:t>of outputs</a:t>
            </a:r>
          </a:p>
          <a:p>
            <a:pPr lvl="1"/>
            <a:r>
              <a:rPr lang="en-US" sz="2000" dirty="0"/>
              <a:t>The generated responses can be traced back to the actual information sources</a:t>
            </a:r>
          </a:p>
          <a:p>
            <a:pPr marL="0" indent="0">
              <a:buNone/>
            </a:pPr>
            <a:endParaRPr lang="en-US" sz="2400" dirty="0"/>
          </a:p>
          <a:p>
            <a:endParaRPr lang="en-US" dirty="0"/>
          </a:p>
        </p:txBody>
      </p:sp>
      <p:pic>
        <p:nvPicPr>
          <p:cNvPr id="5" name="Graphic 4">
            <a:extLst>
              <a:ext uri="{FF2B5EF4-FFF2-40B4-BE49-F238E27FC236}">
                <a16:creationId xmlns:a16="http://schemas.microsoft.com/office/drawing/2014/main" id="{8EE21B8C-DDF3-805D-BB67-15A5BF14A2C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6573" y="1607157"/>
            <a:ext cx="914400" cy="914400"/>
          </a:xfrm>
          <a:prstGeom prst="rect">
            <a:avLst/>
          </a:prstGeom>
        </p:spPr>
      </p:pic>
    </p:spTree>
    <p:extLst>
      <p:ext uri="{BB962C8B-B14F-4D97-AF65-F5344CB8AC3E}">
        <p14:creationId xmlns:p14="http://schemas.microsoft.com/office/powerpoint/2010/main" val="4271665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25CC-E46D-7D7F-AC6C-6A47FD7626D8}"/>
              </a:ext>
            </a:extLst>
          </p:cNvPr>
          <p:cNvSpPr>
            <a:spLocks noGrp="1"/>
          </p:cNvSpPr>
          <p:nvPr>
            <p:ph type="sldNum" idx="97"/>
          </p:nvPr>
        </p:nvSpPr>
        <p:spPr/>
        <p:txBody>
          <a:bodyPr/>
          <a:lstStyle/>
          <a:p>
            <a:fld id="{86A8BF56-6CB3-514C-9A64-F39D95C9E25B}" type="slidenum">
              <a:rPr lang="en-US" smtClean="0"/>
              <a:t>41</a:t>
            </a:fld>
            <a:endParaRPr lang="en-US"/>
          </a:p>
        </p:txBody>
      </p:sp>
      <p:sp>
        <p:nvSpPr>
          <p:cNvPr id="3" name="Title 2">
            <a:extLst>
              <a:ext uri="{FF2B5EF4-FFF2-40B4-BE49-F238E27FC236}">
                <a16:creationId xmlns:a16="http://schemas.microsoft.com/office/drawing/2014/main" id="{87618622-4F0A-D16A-5FC8-E4B9891C8E7E}"/>
              </a:ext>
            </a:extLst>
          </p:cNvPr>
          <p:cNvSpPr>
            <a:spLocks noGrp="1"/>
          </p:cNvSpPr>
          <p:nvPr>
            <p:ph type="title" idx="1"/>
          </p:nvPr>
        </p:nvSpPr>
        <p:spPr/>
        <p:txBody>
          <a:bodyPr/>
          <a:lstStyle/>
          <a:p>
            <a:r>
              <a:rPr lang="en-US" dirty="0"/>
              <a:t>Weaknesses of RAG</a:t>
            </a:r>
          </a:p>
        </p:txBody>
      </p:sp>
      <p:sp>
        <p:nvSpPr>
          <p:cNvPr id="4" name="Content Placeholder 3">
            <a:extLst>
              <a:ext uri="{FF2B5EF4-FFF2-40B4-BE49-F238E27FC236}">
                <a16:creationId xmlns:a16="http://schemas.microsoft.com/office/drawing/2014/main" id="{7FCC2E9A-BEF4-F03C-EBFD-A3454FABD825}"/>
              </a:ext>
            </a:extLst>
          </p:cNvPr>
          <p:cNvSpPr>
            <a:spLocks noGrp="1"/>
          </p:cNvSpPr>
          <p:nvPr>
            <p:ph idx="2"/>
          </p:nvPr>
        </p:nvSpPr>
        <p:spPr/>
        <p:txBody>
          <a:bodyPr/>
          <a:lstStyle/>
          <a:p>
            <a:pPr lvl="0"/>
            <a:r>
              <a:rPr lang="en-US" sz="2400" dirty="0"/>
              <a:t>Retrieval relies on semantic search</a:t>
            </a:r>
          </a:p>
          <a:p>
            <a:pPr lvl="1"/>
            <a:r>
              <a:rPr lang="en-US" sz="2000" dirty="0"/>
              <a:t>RAG effectiveness is heavily dependent on </a:t>
            </a:r>
            <a:r>
              <a:rPr lang="en-US" sz="2000" b="1" dirty="0">
                <a:solidFill>
                  <a:schemeClr val="accent6"/>
                </a:solidFill>
              </a:rPr>
              <a:t>quality/relevance of retrieved documents</a:t>
            </a:r>
          </a:p>
          <a:p>
            <a:pPr lvl="0"/>
            <a:r>
              <a:rPr lang="en-US" sz="2400" b="1" dirty="0">
                <a:solidFill>
                  <a:schemeClr val="accent6"/>
                </a:solidFill>
              </a:rPr>
              <a:t>Increased latency</a:t>
            </a:r>
            <a:r>
              <a:rPr lang="en-US" sz="2400" dirty="0">
                <a:solidFill>
                  <a:schemeClr val="accent6"/>
                </a:solidFill>
              </a:rPr>
              <a:t> </a:t>
            </a:r>
            <a:r>
              <a:rPr lang="en-US" sz="2400" dirty="0"/>
              <a:t>makes RAG less performant</a:t>
            </a:r>
          </a:p>
          <a:p>
            <a:pPr lvl="1"/>
            <a:r>
              <a:rPr lang="en-US" sz="2000" dirty="0"/>
              <a:t>Retrieval introduces latency, especially when querying from large databases</a:t>
            </a:r>
          </a:p>
          <a:p>
            <a:r>
              <a:rPr lang="en-US" sz="2400" b="1" dirty="0">
                <a:solidFill>
                  <a:schemeClr val="accent6"/>
                </a:solidFill>
              </a:rPr>
              <a:t>Computational cost</a:t>
            </a:r>
            <a:r>
              <a:rPr lang="en-US" sz="2400" dirty="0">
                <a:solidFill>
                  <a:schemeClr val="accent6"/>
                </a:solidFill>
              </a:rPr>
              <a:t> </a:t>
            </a:r>
            <a:r>
              <a:rPr lang="en-US" sz="2400" dirty="0"/>
              <a:t>of inference is higher</a:t>
            </a:r>
          </a:p>
          <a:p>
            <a:pPr lvl="1"/>
            <a:r>
              <a:rPr lang="en-US" sz="2000" dirty="0"/>
              <a:t>With RAG, the number of input tokens in the prompt is larger ($) and it requires additional compute for retrieval ($), making it more expensive than simple inference </a:t>
            </a:r>
          </a:p>
          <a:p>
            <a:endParaRPr lang="en-US" dirty="0"/>
          </a:p>
        </p:txBody>
      </p:sp>
      <p:pic>
        <p:nvPicPr>
          <p:cNvPr id="5" name="Graphic 4">
            <a:extLst>
              <a:ext uri="{FF2B5EF4-FFF2-40B4-BE49-F238E27FC236}">
                <a16:creationId xmlns:a16="http://schemas.microsoft.com/office/drawing/2014/main" id="{7A00CC1C-943C-5628-5690-8C7592BFA66C}"/>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6573" y="1577660"/>
            <a:ext cx="914400" cy="914400"/>
          </a:xfrm>
          <a:prstGeom prst="rect">
            <a:avLst/>
          </a:prstGeom>
        </p:spPr>
      </p:pic>
    </p:spTree>
    <p:extLst>
      <p:ext uri="{BB962C8B-B14F-4D97-AF65-F5344CB8AC3E}">
        <p14:creationId xmlns:p14="http://schemas.microsoft.com/office/powerpoint/2010/main" val="13867115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42</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retrieval augmented generation workflows.</a:t>
            </a:r>
          </a:p>
          <a:p>
            <a:r>
              <a:rPr lang="en-US" dirty="0"/>
              <a:t>In the next lesson, you will learn about </a:t>
            </a:r>
            <a:r>
              <a:rPr lang="en-US"/>
              <a:t>agentic applications.</a:t>
            </a:r>
            <a:endParaRPr lang="en-US" dirty="0"/>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43</a:t>
            </a:fld>
            <a:endParaRPr lang="en-US"/>
          </a:p>
        </p:txBody>
      </p:sp>
    </p:spTree>
    <p:extLst>
      <p:ext uri="{BB962C8B-B14F-4D97-AF65-F5344CB8AC3E}">
        <p14:creationId xmlns:p14="http://schemas.microsoft.com/office/powerpoint/2010/main" val="2598545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15352</TotalTime>
  <Words>10685</Words>
  <Application>Microsoft Macintosh PowerPoint</Application>
  <PresentationFormat>Widescreen</PresentationFormat>
  <Paragraphs>1335</Paragraphs>
  <Slides>43</Slides>
  <Notes>43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Amazon Ember</vt:lpstr>
      <vt:lpstr>Amazon Ember Display</vt:lpstr>
      <vt:lpstr>Amazon Ember Display Heavy</vt:lpstr>
      <vt:lpstr>Amazon Ember Heavy</vt:lpstr>
      <vt:lpstr>Amazon Ember Light</vt:lpstr>
      <vt:lpstr>Amazon Ember Medium</vt:lpstr>
      <vt:lpstr>Arial</vt:lpstr>
      <vt:lpstr>Calibri</vt:lpstr>
      <vt:lpstr>Cambria Math</vt:lpstr>
      <vt:lpstr>Lucida Console</vt:lpstr>
      <vt:lpstr>Wingdings</vt:lpstr>
      <vt:lpstr>EEP-GitHub</vt:lpstr>
      <vt:lpstr>Retrieval Augmented Generation</vt:lpstr>
      <vt:lpstr>Today’s activities</vt:lpstr>
      <vt:lpstr>Review: Chatbot components</vt:lpstr>
      <vt:lpstr>Review: Chatting with Documents</vt:lpstr>
      <vt:lpstr>Grounding a model</vt:lpstr>
      <vt:lpstr>‘Grounding’ a model</vt:lpstr>
      <vt:lpstr>Grounding</vt:lpstr>
      <vt:lpstr>Overview of fine-tuning LLMs</vt:lpstr>
      <vt:lpstr>Strengths of fine-tuning</vt:lpstr>
      <vt:lpstr>Weaknesses of fine-tuning (1/2)</vt:lpstr>
      <vt:lpstr>Weaknesses of fine-tuning (2/2)</vt:lpstr>
      <vt:lpstr>Retrieval Augmented Generation (RAG)</vt:lpstr>
      <vt:lpstr>Retrieval augmented generation: Overview</vt:lpstr>
      <vt:lpstr>Retrieval augmented generation: Steps</vt:lpstr>
      <vt:lpstr>Fine-tuning vs RAG</vt:lpstr>
      <vt:lpstr>RAG Workflow</vt:lpstr>
      <vt:lpstr>Document chunking</vt:lpstr>
      <vt:lpstr>Tips while chunking</vt:lpstr>
      <vt:lpstr>Vector Database</vt:lpstr>
      <vt:lpstr>Increasing LLM recall</vt:lpstr>
      <vt:lpstr>Rerankers</vt:lpstr>
      <vt:lpstr>RAG architecture (1/5)</vt:lpstr>
      <vt:lpstr>RAG architecture (2/5)</vt:lpstr>
      <vt:lpstr>RAG architecture (3/5)</vt:lpstr>
      <vt:lpstr>RAG architecture (4/5)</vt:lpstr>
      <vt:lpstr>RAG architecture (5/5)</vt:lpstr>
      <vt:lpstr>Multimodal Embeddings</vt:lpstr>
      <vt:lpstr>Challenges with multimodal models: Representation</vt:lpstr>
      <vt:lpstr>Challenges with multimodal models: Alignment</vt:lpstr>
      <vt:lpstr>Challenges with multimodal models: Translating</vt:lpstr>
      <vt:lpstr>How to address this challenge?</vt:lpstr>
      <vt:lpstr>Multimodal embeddings: Representation</vt:lpstr>
      <vt:lpstr>Multimodal embeddings: Alignment</vt:lpstr>
      <vt:lpstr>Multimodal Embeddings: Translation</vt:lpstr>
      <vt:lpstr>Multimodal RAG</vt:lpstr>
      <vt:lpstr>How do we perform cross-modal retrieval?</vt:lpstr>
      <vt:lpstr>Multimodal search and retrieval</vt:lpstr>
      <vt:lpstr>Multimodal RAG workflow</vt:lpstr>
      <vt:lpstr>RAG Summary</vt:lpstr>
      <vt:lpstr>Strengths of RAG</vt:lpstr>
      <vt:lpstr>Weaknesses of RAG</vt:lpstr>
      <vt:lpstr>Next lesson</vt:lpstr>
      <vt:lpstr>PowerPoint Presentation</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87</cp:revision>
  <dcterms:created xsi:type="dcterms:W3CDTF">2022-11-16T15:46:36Z</dcterms:created>
  <dcterms:modified xsi:type="dcterms:W3CDTF">2025-10-01T21:16:18Z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2025-06-19T21:25:54Z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e0bc7c66-7908-4a0b-905c-9e52cd09a699</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