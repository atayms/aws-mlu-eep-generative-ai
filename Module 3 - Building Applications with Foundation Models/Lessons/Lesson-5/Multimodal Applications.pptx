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1"/>
  </p:notesMasterIdLst>
  <p:sldIdLst>
    <p:sldId id="256" r:id="rId2"/>
    <p:sldId id="413" r:id="rId3"/>
    <p:sldId id="2147482857" r:id="rId4"/>
    <p:sldId id="2147482830" r:id="rId5"/>
    <p:sldId id="2147482820" r:id="rId6"/>
    <p:sldId id="2147482803" r:id="rId7"/>
    <p:sldId id="2147482837" r:id="rId8"/>
    <p:sldId id="2147482838" r:id="rId9"/>
    <p:sldId id="2147482839" r:id="rId10"/>
    <p:sldId id="2147482840" r:id="rId11"/>
    <p:sldId id="2147482841" r:id="rId12"/>
    <p:sldId id="2147482842" r:id="rId13"/>
    <p:sldId id="2147482843" r:id="rId14"/>
    <p:sldId id="2147482844" r:id="rId15"/>
    <p:sldId id="2147482834" r:id="rId16"/>
    <p:sldId id="2147482835" r:id="rId17"/>
    <p:sldId id="2147482836" r:id="rId18"/>
    <p:sldId id="2147482832" r:id="rId19"/>
    <p:sldId id="2147482845" r:id="rId20"/>
    <p:sldId id="2147482831" r:id="rId21"/>
    <p:sldId id="2147482846" r:id="rId22"/>
    <p:sldId id="2147482850" r:id="rId23"/>
    <p:sldId id="2147482851" r:id="rId24"/>
    <p:sldId id="2147482852" r:id="rId25"/>
    <p:sldId id="2147482847" r:id="rId26"/>
    <p:sldId id="2147482848" r:id="rId27"/>
    <p:sldId id="2147482849" r:id="rId28"/>
    <p:sldId id="4042" r:id="rId29"/>
    <p:sldId id="26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76"/>
    <p:restoredTop sz="45531" autoAdjust="0"/>
  </p:normalViewPr>
  <p:slideViewPr>
    <p:cSldViewPr snapToGrid="0">
      <p:cViewPr varScale="1">
        <p:scale>
          <a:sx n="52" d="100"/>
          <a:sy n="52" d="100"/>
        </p:scale>
        <p:origin x="976"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Overview of the RAG (Retrieval-Augmented Generation) Workflow with multimodal capabilities</a:t>
            </a:r>
          </a:p>
          <a:p>
            <a:r>
              <a:rPr lang="en-US" dirty="0"/>
              <a:t>2. Key Components:</a:t>
            </a:r>
          </a:p>
          <a:p>
            <a:r>
              <a:rPr lang="en-US" dirty="0"/>
              <a:t>   - Query input</a:t>
            </a:r>
          </a:p>
          <a:p>
            <a:r>
              <a:rPr lang="en-US" dirty="0"/>
              <a:t>   - Prompt Image input</a:t>
            </a:r>
          </a:p>
          <a:p>
            <a:r>
              <a:rPr lang="en-US" dirty="0"/>
              <a:t>   - Embedding model</a:t>
            </a:r>
          </a:p>
          <a:p>
            <a:r>
              <a:rPr lang="en-US" dirty="0"/>
              <a:t>   - Vector database storage</a:t>
            </a:r>
          </a:p>
          <a:p>
            <a:r>
              <a:rPr lang="en-US" dirty="0"/>
              <a:t>   - Prompt + Context processing</a:t>
            </a:r>
          </a:p>
          <a:p>
            <a:r>
              <a:rPr lang="en-US" dirty="0"/>
              <a:t>   - Foundation Models (FMs) output</a:t>
            </a:r>
          </a:p>
          <a:p>
            <a:endParaRPr lang="en-US" dirty="0"/>
          </a:p>
          <a:p>
            <a:r>
              <a:rPr lang="en-US" dirty="0"/>
              <a:t>Process Flow:</a:t>
            </a:r>
          </a:p>
          <a:p>
            <a:r>
              <a:rPr lang="en-US" dirty="0"/>
              <a:t>1. Both Query and Prompt Image are processed through the same embedding model</a:t>
            </a:r>
          </a:p>
          <a:p>
            <a:r>
              <a:rPr lang="en-US" dirty="0"/>
              <a:t>2. Embeddings are stored in a vector database</a:t>
            </a:r>
          </a:p>
          <a:p>
            <a:r>
              <a:rPr lang="en-US" dirty="0"/>
              <a:t>3. System processes prompt with context</a:t>
            </a:r>
          </a:p>
          <a:p>
            <a:r>
              <a:rPr lang="en-US" dirty="0"/>
              <a:t>4. Final output is generated through Foundation Models</a:t>
            </a:r>
          </a:p>
          <a:p>
            <a:endParaRPr lang="en-US" dirty="0"/>
          </a:p>
          <a:p>
            <a:r>
              <a:rPr lang="en-US" dirty="0"/>
              <a:t>Key Technical Considerations:</a:t>
            </a:r>
          </a:p>
          <a:p>
            <a:r>
              <a:rPr lang="en-US" dirty="0"/>
              <a:t>- Unified embedding model approach for both vector database and query embedding</a:t>
            </a:r>
          </a:p>
          <a:p>
            <a:r>
              <a:rPr lang="en-US" dirty="0"/>
              <a:t>- Flexible image utilization: can be used for retrieval, prompting, or both functions</a:t>
            </a:r>
          </a:p>
          <a:p>
            <a:endParaRPr lang="en-US" dirty="0"/>
          </a:p>
          <a:p>
            <a:r>
              <a:rPr lang="en-US" b="1" dirty="0"/>
              <a:t>EDUCATOR NOTES:</a:t>
            </a:r>
          </a:p>
          <a:p>
            <a:endParaRPr lang="en-US" b="1" dirty="0"/>
          </a:p>
          <a:p>
            <a:r>
              <a:rPr lang="en-US" dirty="0"/>
              <a:t>"In this slide, we recall a sophisticated multimodal RAG workflow that demonstrates how we can process both text and image inputs seamlessly. The key innovation here is the use of a unified embedding model that handles both the vector database creation and query embedding processes. Notice how images serve multiple purposes - they can be used for retrieval, as prompts, or both simultaneously. This architecture ensures consistency in how we process and match multimodal content, leading to more accurate and contextually relevant outputs through our Foundation Models. The workflow represents a significant advancement in handling multiple input types within a single RAG pipeline."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3417424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Tools Available:</a:t>
            </a:r>
          </a:p>
          <a:p>
            <a:r>
              <a:rPr lang="en-US" dirty="0"/>
              <a:t>   - Wikipedia tool</a:t>
            </a:r>
          </a:p>
          <a:p>
            <a:r>
              <a:rPr lang="en-US" dirty="0"/>
              <a:t>   - Web search tool</a:t>
            </a:r>
          </a:p>
          <a:p>
            <a:r>
              <a:rPr lang="en-US" dirty="0"/>
              <a:t>   - Date tool (today())</a:t>
            </a:r>
          </a:p>
          <a:p>
            <a:r>
              <a:rPr lang="en-US" dirty="0"/>
              <a:t>   - Calculator tool</a:t>
            </a:r>
          </a:p>
          <a:p>
            <a:r>
              <a:rPr lang="en-US" dirty="0"/>
              <a:t>   - Python interpreter tool</a:t>
            </a:r>
          </a:p>
          <a:p>
            <a:endParaRPr lang="en-US" dirty="0"/>
          </a:p>
          <a:p>
            <a:r>
              <a:rPr lang="en-US" dirty="0"/>
              <a:t>2. Functional Structure:</a:t>
            </a:r>
          </a:p>
          <a:p>
            <a:r>
              <a:rPr lang="en-US" dirty="0"/>
              <a:t>   - All tools connect to a central "Search and select tool" component</a:t>
            </a:r>
          </a:p>
          <a:p>
            <a:r>
              <a:rPr lang="en-US" dirty="0"/>
              <a:t>   - The tools are used to answer specific queries</a:t>
            </a:r>
          </a:p>
          <a:p>
            <a:r>
              <a:rPr lang="en-US" dirty="0"/>
              <a:t>   - Example question shown: "What is the age of the current U.S. president today?"</a:t>
            </a:r>
          </a:p>
          <a:p>
            <a:endParaRPr lang="en-US" dirty="0"/>
          </a:p>
          <a:p>
            <a:r>
              <a:rPr lang="en-US" dirty="0"/>
              <a:t>3. Tool Integration:</a:t>
            </a:r>
          </a:p>
          <a:p>
            <a:r>
              <a:rPr lang="en-US" dirty="0"/>
              <a:t>   - Tools work in conjunction with each other</a:t>
            </a:r>
          </a:p>
          <a:p>
            <a:r>
              <a:rPr lang="en-US" dirty="0"/>
              <a:t>   - Organized in a top-down flow diagram</a:t>
            </a:r>
          </a:p>
          <a:p>
            <a:r>
              <a:rPr lang="en-US" dirty="0"/>
              <a:t>   - Demonstrates practical application through a real-world question</a:t>
            </a:r>
          </a:p>
          <a:p>
            <a:endParaRPr lang="en-US" b="1" dirty="0"/>
          </a:p>
          <a:p>
            <a:r>
              <a:rPr lang="en-US" b="1" dirty="0"/>
              <a:t>EDUCATOR NOTES: </a:t>
            </a:r>
          </a:p>
          <a:p>
            <a:endParaRPr lang="en-US" b="1" dirty="0"/>
          </a:p>
          <a:p>
            <a:r>
              <a:rPr lang="en-US" dirty="0"/>
              <a:t>"In this slide, we recall the concept of AI agents equipped with various tools. We can see five primary tools that an agent can utilize to process and respond to queries. The diagram shows how these tools are coordinated through a central search and select mechanism, which helps choose the most appropriate tool(s) for answering specific questions. The example question about the U.S. president's age demonstrates how these tools might work together - potentially using the web search tool for birth date information, the date tool for current date, and the calculator for age computation. This represents the foundation of how AI agents can leverage multiple tools to provide accurate and up-to-date information."</a:t>
            </a:r>
          </a:p>
        </p:txBody>
      </p:sp>
      <p:sp>
        <p:nvSpPr>
          <p:cNvPr id="4" name="Slide Number Placeholder 3"/>
          <p:cNvSpPr>
            <a:spLocks noGrp="1"/>
          </p:cNvSpPr>
          <p:nvPr>
            <p:ph type="sldNum" sz="quarter" idx="5"/>
          </p:nvPr>
        </p:nvSpPr>
        <p:spPr/>
        <p:txBody>
          <a:bodyPr/>
          <a:lstStyle/>
          <a:p>
            <a:fld id="{688EF870-5850-6643-A228-25AFAA8E2BB1}" type="slidenum">
              <a:rPr lang="en-US" smtClean="0"/>
              <a:t>4</a:t>
            </a:fld>
            <a:endParaRPr lang="en-US"/>
          </a:p>
        </p:txBody>
      </p:sp>
    </p:spTree>
    <p:extLst>
      <p:ext uri="{BB962C8B-B14F-4D97-AF65-F5344CB8AC3E}">
        <p14:creationId xmlns:p14="http://schemas.microsoft.com/office/powerpoint/2010/main" val="3506216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Improved accuracy and robustness</a:t>
            </a:r>
          </a:p>
          <a:p>
            <a:r>
              <a:rPr lang="en-US" dirty="0"/>
              <a:t>- Multimodal applications leverage multiple data types/formats</a:t>
            </a:r>
          </a:p>
          <a:p>
            <a:r>
              <a:rPr lang="en-US" dirty="0"/>
              <a:t>- Combining different modalities provides richer, more comprehensive data representation</a:t>
            </a:r>
          </a:p>
          <a:p>
            <a:r>
              <a:rPr lang="en-US" dirty="0"/>
              <a:t>- Results in more accurate and reliable outcomes</a:t>
            </a:r>
          </a:p>
          <a:p>
            <a:endParaRPr lang="en-US" dirty="0"/>
          </a:p>
          <a:p>
            <a:r>
              <a:rPr lang="en-US" dirty="0"/>
              <a:t>2. Ease of development</a:t>
            </a:r>
          </a:p>
          <a:p>
            <a:r>
              <a:rPr lang="en-US" dirty="0"/>
              <a:t>- Despite complex underlying models, application development is streamlined</a:t>
            </a:r>
          </a:p>
          <a:p>
            <a:r>
              <a:rPr lang="en-US" dirty="0"/>
              <a:t>- Modern frameworks and tools simplify implementation</a:t>
            </a:r>
          </a:p>
          <a:p>
            <a:r>
              <a:rPr lang="en-US" dirty="0"/>
              <a:t>- Reduces technical barriers to entry</a:t>
            </a:r>
          </a:p>
          <a:p>
            <a:endParaRPr lang="en-US" dirty="0"/>
          </a:p>
          <a:p>
            <a:r>
              <a:rPr lang="en-US" dirty="0"/>
              <a:t>3. Interactive and intuitive solutions</a:t>
            </a:r>
          </a:p>
          <a:p>
            <a:r>
              <a:rPr lang="en-US" dirty="0"/>
              <a:t>- Enables natural user interactions through:</a:t>
            </a:r>
          </a:p>
          <a:p>
            <a:r>
              <a:rPr lang="en-US" dirty="0"/>
              <a:t>  * Text input/output</a:t>
            </a:r>
          </a:p>
          <a:p>
            <a:r>
              <a:rPr lang="en-US" dirty="0"/>
              <a:t>  * Voice commands/speech</a:t>
            </a:r>
          </a:p>
          <a:p>
            <a:r>
              <a:rPr lang="en-US" dirty="0"/>
              <a:t>  * Gesture recognition</a:t>
            </a:r>
          </a:p>
          <a:p>
            <a:r>
              <a:rPr lang="en-US" dirty="0"/>
              <a:t>  * Other natural interaction methods</a:t>
            </a:r>
          </a:p>
          <a:p>
            <a:r>
              <a:rPr lang="en-US" dirty="0"/>
              <a:t>- Makes technology more accessible to end-users</a:t>
            </a:r>
          </a:p>
          <a:p>
            <a:endParaRPr lang="en-US" dirty="0"/>
          </a:p>
          <a:p>
            <a:r>
              <a:rPr lang="en-US" dirty="0"/>
              <a:t>4. Access to high-performance models</a:t>
            </a:r>
          </a:p>
          <a:p>
            <a:r>
              <a:rPr lang="en-US" dirty="0"/>
              <a:t>- Both open-source and commercial options available</a:t>
            </a:r>
          </a:p>
          <a:p>
            <a:r>
              <a:rPr lang="en-US" dirty="0"/>
              <a:t>- Pay-per-use model eliminates need for expensive pre-training</a:t>
            </a:r>
          </a:p>
          <a:p>
            <a:r>
              <a:rPr lang="en-US" dirty="0"/>
              <a:t>- Flexible model selection based on:</a:t>
            </a:r>
          </a:p>
          <a:p>
            <a:r>
              <a:rPr lang="en-US" dirty="0"/>
              <a:t>  * Size requirements</a:t>
            </a:r>
          </a:p>
          <a:p>
            <a:r>
              <a:rPr lang="en-US" dirty="0"/>
              <a:t>  * Cost constraints</a:t>
            </a:r>
          </a:p>
          <a:p>
            <a:r>
              <a:rPr lang="en-US" dirty="0"/>
              <a:t>  * Performance needs</a:t>
            </a:r>
          </a:p>
          <a:p>
            <a:r>
              <a:rPr lang="en-US" dirty="0"/>
              <a:t>  * Specific use cases</a:t>
            </a:r>
          </a:p>
          <a:p>
            <a:endParaRPr lang="en-US" dirty="0"/>
          </a:p>
          <a:p>
            <a:r>
              <a:rPr lang="en-US" b="1" dirty="0"/>
              <a:t>EDUCATOR NOTES:</a:t>
            </a:r>
          </a:p>
          <a:p>
            <a:endParaRPr lang="en-US" dirty="0"/>
          </a:p>
          <a:p>
            <a:r>
              <a:rPr lang="en-US" dirty="0"/>
              <a:t>”Now we'll discuss how multimodal applications create value for businesses. The key advantage is their ability to process multiple types of inputs, leading to more accurate and robust solutions. While the underlying technology is complex, modern development tools make implementation surprisingly straightforward. These applications offer intuitive interfaces that feel natural to users, whether through text, speech, or gestures. Furthermore, businesses can access powerful models without heavy upfront investments, paying only for what they use. This flexibility in model selection ensures organizations can choose solutions that perfectly match their needs and budget constraints."</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447309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br>
              <a:rPr lang="en-US" dirty="0"/>
            </a:br>
            <a:endParaRPr lang="en-US" dirty="0"/>
          </a:p>
          <a:p>
            <a:r>
              <a:rPr lang="en-US" dirty="0"/>
              <a:t>TOPIC: Personalization in Content Creation and Consumption</a:t>
            </a:r>
          </a:p>
          <a:p>
            <a:endParaRPr lang="en-US" dirty="0"/>
          </a:p>
          <a:p>
            <a:r>
              <a:rPr lang="en-US" dirty="0"/>
              <a:t>1. Content Generation &amp; Adaptation</a:t>
            </a:r>
          </a:p>
          <a:p>
            <a:r>
              <a:rPr lang="en-US" dirty="0"/>
              <a:t>- Automatic content generation tailored for specific target audiences</a:t>
            </a:r>
          </a:p>
          <a:p>
            <a:r>
              <a:rPr lang="en-US" dirty="0"/>
              <a:t>- Content matches required technical depth based on audience needs</a:t>
            </a:r>
          </a:p>
          <a:p>
            <a:r>
              <a:rPr lang="en-US" dirty="0"/>
              <a:t>- Examples and anecdotes included for better concept explanation</a:t>
            </a:r>
          </a:p>
          <a:p>
            <a:r>
              <a:rPr lang="en-US" dirty="0"/>
              <a:t>- Flexible document/video length based on specific requirements</a:t>
            </a:r>
          </a:p>
          <a:p>
            <a:endParaRPr lang="en-US" dirty="0"/>
          </a:p>
          <a:p>
            <a:r>
              <a:rPr lang="en-US" dirty="0"/>
              <a:t>2. Language &amp; Accessibility</a:t>
            </a:r>
          </a:p>
          <a:p>
            <a:r>
              <a:rPr lang="en-US" dirty="0"/>
              <a:t>- Focus on inclusive and accessible language</a:t>
            </a:r>
          </a:p>
          <a:p>
            <a:r>
              <a:rPr lang="en-US" dirty="0"/>
              <a:t>- Multilingual capabilities for broader reach</a:t>
            </a:r>
          </a:p>
          <a:p>
            <a:r>
              <a:rPr lang="en-US" dirty="0"/>
              <a:t>- Ensures content is understandable across different audiences</a:t>
            </a:r>
          </a:p>
          <a:p>
            <a:endParaRPr lang="en-US" dirty="0"/>
          </a:p>
          <a:p>
            <a:r>
              <a:rPr lang="en-US" dirty="0"/>
              <a:t>3. Interactive Content Consumption</a:t>
            </a:r>
          </a:p>
          <a:p>
            <a:r>
              <a:rPr lang="en-US" dirty="0"/>
              <a:t>- Personalized content consumption experience</a:t>
            </a:r>
          </a:p>
          <a:p>
            <a:r>
              <a:rPr lang="en-US" dirty="0"/>
              <a:t>- Interactive elements in various content formats (documents/presentations/videos)</a:t>
            </a:r>
          </a:p>
          <a:p>
            <a:r>
              <a:rPr lang="en-US" dirty="0"/>
              <a:t>- Q&amp;A features for:</a:t>
            </a:r>
          </a:p>
          <a:p>
            <a:r>
              <a:rPr lang="en-US" dirty="0"/>
              <a:t>  * Content summaries</a:t>
            </a:r>
          </a:p>
          <a:p>
            <a:r>
              <a:rPr lang="en-US" dirty="0"/>
              <a:t>  * Detailed explanations</a:t>
            </a:r>
          </a:p>
          <a:p>
            <a:r>
              <a:rPr lang="en-US" dirty="0"/>
              <a:t>  * Translations</a:t>
            </a:r>
          </a:p>
          <a:p>
            <a:r>
              <a:rPr lang="en-US" dirty="0"/>
              <a:t>  * Scene descriptions</a:t>
            </a:r>
          </a:p>
          <a:p>
            <a:r>
              <a:rPr lang="en-US" dirty="0"/>
              <a:t>- Self-paced learning options customized to individual needs</a:t>
            </a:r>
          </a:p>
          <a:p>
            <a:endParaRPr lang="en-US" dirty="0"/>
          </a:p>
          <a:p>
            <a:r>
              <a:rPr lang="en-US" b="1" dirty="0"/>
              <a:t>EDUCATOR NOTES:</a:t>
            </a:r>
          </a:p>
          <a:p>
            <a:endParaRPr lang="en-US" dirty="0"/>
          </a:p>
          <a:p>
            <a:r>
              <a:rPr lang="en-US" dirty="0"/>
              <a:t>”Now we're discussing personalization in content creation and consumption. This is crucial in modern content strategy as it allows us to reach and engage audiences more effectively.</a:t>
            </a:r>
          </a:p>
          <a:p>
            <a:endParaRPr lang="en-US" dirty="0"/>
          </a:p>
          <a:p>
            <a:r>
              <a:rPr lang="en-US" dirty="0"/>
              <a:t>First, let’s emphasize automatic content generation that adapts to our target audience. This means not just creating content, but ensuring it hits the right technical level and includes relatable examples.</a:t>
            </a:r>
          </a:p>
          <a:p>
            <a:endParaRPr lang="en-US" dirty="0"/>
          </a:p>
          <a:p>
            <a:r>
              <a:rPr lang="en-US" dirty="0"/>
              <a:t>It prioritizes accessibility through inclusive language and multilingual options. This expands our reach and ensures no audience is left behind.</a:t>
            </a:r>
          </a:p>
          <a:p>
            <a:endParaRPr lang="en-US" dirty="0"/>
          </a:p>
          <a:p>
            <a:r>
              <a:rPr lang="en-US" dirty="0"/>
              <a:t>Finally, it implements interactive features that transform passive content consumption into an engaging experience. Users can interact with various content formats and learn at their own pace.</a:t>
            </a:r>
          </a:p>
          <a:p>
            <a:endParaRPr lang="en-US" dirty="0"/>
          </a:p>
          <a:p>
            <a:r>
              <a:rPr lang="en-US" dirty="0"/>
              <a:t>Remember: Personalization isn't just about creating different versions of content – it's about creating the right content for the right audience at the right time."</a:t>
            </a:r>
          </a:p>
          <a:p>
            <a:endParaRPr lang="en-US" dirty="0"/>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1067257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Topic: Personalization through Scene Description</a:t>
            </a:r>
          </a:p>
          <a:p>
            <a:r>
              <a:rPr lang="en-US" dirty="0"/>
              <a:t>   - Focus on making content accessible and understandable across different formats</a:t>
            </a:r>
          </a:p>
          <a:p>
            <a:endParaRPr lang="en-US" dirty="0"/>
          </a:p>
          <a:p>
            <a:r>
              <a:rPr lang="en-US" dirty="0"/>
              <a:t>2. Key Components:</a:t>
            </a:r>
          </a:p>
          <a:p>
            <a:r>
              <a:rPr lang="en-US" dirty="0"/>
              <a:t>   a) Descriptions of visual elements</a:t>
            </a:r>
          </a:p>
          <a:p>
            <a:r>
              <a:rPr lang="en-US" dirty="0"/>
              <a:t>      - Detailed explanations of images, graphics, and visual content</a:t>
            </a:r>
          </a:p>
          <a:p>
            <a:r>
              <a:rPr lang="en-US" dirty="0"/>
              <a:t>      - Ensures comprehension for all users</a:t>
            </a:r>
          </a:p>
          <a:p>
            <a:r>
              <a:rPr lang="en-US" dirty="0"/>
              <a:t>   </a:t>
            </a:r>
          </a:p>
          <a:p>
            <a:r>
              <a:rPr lang="en-US" dirty="0"/>
              <a:t>   b) Alt-text generation</a:t>
            </a:r>
          </a:p>
          <a:p>
            <a:r>
              <a:rPr lang="en-US" dirty="0"/>
              <a:t>      - Alternative text for images</a:t>
            </a:r>
          </a:p>
          <a:p>
            <a:r>
              <a:rPr lang="en-US" dirty="0"/>
              <a:t>      - Critical for accessibility</a:t>
            </a:r>
          </a:p>
          <a:p>
            <a:r>
              <a:rPr lang="en-US" dirty="0"/>
              <a:t>      - Helps screen readers convey information</a:t>
            </a:r>
          </a:p>
          <a:p>
            <a:r>
              <a:rPr lang="en-US" dirty="0"/>
              <a:t>   </a:t>
            </a:r>
          </a:p>
          <a:p>
            <a:r>
              <a:rPr lang="en-US" dirty="0"/>
              <a:t>   c) Multilingual descriptions</a:t>
            </a:r>
          </a:p>
          <a:p>
            <a:r>
              <a:rPr lang="en-US" dirty="0"/>
              <a:t>      - Content accessibility across language barriers</a:t>
            </a:r>
          </a:p>
          <a:p>
            <a:r>
              <a:rPr lang="en-US" dirty="0"/>
              <a:t>      - Global reach and understanding</a:t>
            </a:r>
          </a:p>
          <a:p>
            <a:r>
              <a:rPr lang="en-US" dirty="0"/>
              <a:t>      - Cultural inclusivity</a:t>
            </a:r>
          </a:p>
          <a:p>
            <a:endParaRPr lang="en-US" dirty="0"/>
          </a:p>
          <a:p>
            <a:r>
              <a:rPr lang="en-US" dirty="0"/>
              <a:t>3. Process Flow (as shown in diagram):</a:t>
            </a:r>
          </a:p>
          <a:p>
            <a:r>
              <a:rPr lang="en-US" dirty="0"/>
              <a:t>   - Input sources: Documents, Images, Videos</a:t>
            </a:r>
          </a:p>
          <a:p>
            <a:r>
              <a:rPr lang="en-US" dirty="0"/>
              <a:t>   - Processing: multimodal model (represented by brain icon)</a:t>
            </a:r>
          </a:p>
          <a:p>
            <a:r>
              <a:rPr lang="en-US" dirty="0"/>
              <a:t>   - Output: Description generation</a:t>
            </a:r>
          </a:p>
          <a:p>
            <a:endParaRPr lang="en-US" dirty="0"/>
          </a:p>
          <a:p>
            <a:r>
              <a:rPr lang="en-US" b="1" dirty="0"/>
              <a:t>EDUCATOR NOTES:</a:t>
            </a:r>
          </a:p>
          <a:p>
            <a:endParaRPr lang="en-US" dirty="0"/>
          </a:p>
          <a:p>
            <a:r>
              <a:rPr lang="en-US" dirty="0"/>
              <a:t>”Now we're discussing scene description as a crucial element of content personalization. Our system processes three main types of content: documents, images, and videos, converting them into accessible descriptions. The key features include detailed visual element descriptions, automated alt-text generation, and multilingual support. This comprehensive approach ensures our content is accessible to all users, regardless of their visual abilities or language preferences. The AI-powered system handles the conversion process, delivering accurate and meaningful descriptions that maintain the original content's intent and value."</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2856438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Personalization Overview</a:t>
            </a:r>
          </a:p>
          <a:p>
            <a:r>
              <a:rPr lang="en-US" dirty="0"/>
              <a:t>- Focus on creating customized content through transcripts and notes</a:t>
            </a:r>
          </a:p>
          <a:p>
            <a:r>
              <a:rPr lang="en-US" dirty="0"/>
              <a:t>- Aim to deliver tailored educational experiences</a:t>
            </a:r>
          </a:p>
          <a:p>
            <a:r>
              <a:rPr lang="en-US" dirty="0"/>
              <a:t>- System designed to operate with minimal human oversight</a:t>
            </a:r>
          </a:p>
          <a:p>
            <a:endParaRPr lang="en-US" dirty="0"/>
          </a:p>
          <a:p>
            <a:r>
              <a:rPr lang="en-US" dirty="0"/>
              <a:t>2. Key Components</a:t>
            </a:r>
          </a:p>
          <a:p>
            <a:r>
              <a:rPr lang="en-US" dirty="0"/>
              <a:t>a) Personalized Transcripts</a:t>
            </a:r>
          </a:p>
          <a:p>
            <a:r>
              <a:rPr lang="en-US" dirty="0"/>
              <a:t>   - Generation of custom academic content</a:t>
            </a:r>
          </a:p>
          <a:p>
            <a:r>
              <a:rPr lang="en-US" dirty="0"/>
              <a:t>   - Tailoring for individual students/groups</a:t>
            </a:r>
          </a:p>
          <a:p>
            <a:r>
              <a:rPr lang="en-US" dirty="0"/>
              <a:t>   - Adaptation to specific learning needs</a:t>
            </a:r>
          </a:p>
          <a:p>
            <a:endParaRPr lang="en-US" dirty="0"/>
          </a:p>
          <a:p>
            <a:r>
              <a:rPr lang="en-US" dirty="0"/>
              <a:t>b) Content Customization</a:t>
            </a:r>
          </a:p>
          <a:p>
            <a:r>
              <a:rPr lang="en-US" dirty="0"/>
              <a:t>   - Integration of relevant examples</a:t>
            </a:r>
          </a:p>
          <a:p>
            <a:r>
              <a:rPr lang="en-US" dirty="0"/>
              <a:t>   - Use of targeted anecdotes</a:t>
            </a:r>
          </a:p>
          <a:p>
            <a:r>
              <a:rPr lang="en-US" dirty="0"/>
              <a:t>   - Focus on audience engagement</a:t>
            </a:r>
          </a:p>
          <a:p>
            <a:endParaRPr lang="en-US" dirty="0"/>
          </a:p>
          <a:p>
            <a:r>
              <a:rPr lang="en-US" dirty="0"/>
              <a:t>c) Operational Aspects</a:t>
            </a:r>
          </a:p>
          <a:p>
            <a:r>
              <a:rPr lang="en-US" dirty="0"/>
              <a:t>   - Minimal human supervision required</a:t>
            </a:r>
          </a:p>
          <a:p>
            <a:r>
              <a:rPr lang="en-US" dirty="0"/>
              <a:t>   - Quality control through proofing process</a:t>
            </a:r>
          </a:p>
          <a:p>
            <a:r>
              <a:rPr lang="en-US" dirty="0"/>
              <a:t>   - Automated workflow from slides to final transcripts</a:t>
            </a:r>
          </a:p>
          <a:p>
            <a:endParaRPr lang="en-US" dirty="0"/>
          </a:p>
          <a:p>
            <a:r>
              <a:rPr lang="en-US" dirty="0"/>
              <a:t>3. Process Flow</a:t>
            </a:r>
          </a:p>
          <a:p>
            <a:r>
              <a:rPr lang="en-US" dirty="0"/>
              <a:t>   Slides → AI Processing → Personalized Transcripts</a:t>
            </a:r>
          </a:p>
          <a:p>
            <a:endParaRPr lang="en-US" dirty="0"/>
          </a:p>
          <a:p>
            <a:r>
              <a:rPr lang="en-US" b="1" dirty="0"/>
              <a:t>EDUCATOR NOTES:</a:t>
            </a:r>
          </a:p>
          <a:p>
            <a:endParaRPr lang="en-US" dirty="0"/>
          </a:p>
          <a:p>
            <a:r>
              <a:rPr lang="en-US" dirty="0"/>
              <a:t>”Now we're discussing the personalization of educational content through AI-assisted transformation. Our system takes standard slides and converts them into personalized transcripts, requiring minimal human supervision while maintaining quality through necessary proofing steps. The key advantage is the ability to tailor content to specific student needs and interests, making learning more engaging and effective. While the process is largely automated, we ensure quality through strategic human oversight at critical points. Remember to emphasize how this system can save time while improving educational outcomes through customization."</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1722471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Navigate videos</a:t>
            </a:r>
          </a:p>
          <a:p>
            <a:r>
              <a:rPr lang="en-US" dirty="0"/>
              <a:t>   - Quick navigation to topic introductions</a:t>
            </a:r>
          </a:p>
          <a:p>
            <a:r>
              <a:rPr lang="en-US" dirty="0"/>
              <a:t>   - Comprehensive concept search capabilities</a:t>
            </a:r>
          </a:p>
          <a:p>
            <a:r>
              <a:rPr lang="en-US" dirty="0"/>
              <a:t>   - Easy topic-to-topic navigation</a:t>
            </a:r>
          </a:p>
          <a:p>
            <a:r>
              <a:rPr lang="en-US" dirty="0"/>
              <a:t>   - Efficient content browsing</a:t>
            </a:r>
          </a:p>
          <a:p>
            <a:endParaRPr lang="en-US" dirty="0"/>
          </a:p>
          <a:p>
            <a:r>
              <a:rPr lang="en-US" dirty="0"/>
              <a:t>2. Summarize videos</a:t>
            </a:r>
          </a:p>
          <a:p>
            <a:r>
              <a:rPr lang="en-US" dirty="0"/>
              <a:t>   - Complete video summarization</a:t>
            </a:r>
          </a:p>
          <a:p>
            <a:r>
              <a:rPr lang="en-US" dirty="0"/>
              <a:t>   - Concept-specific summaries</a:t>
            </a:r>
          </a:p>
          <a:p>
            <a:r>
              <a:rPr lang="en-US" dirty="0"/>
              <a:t>   - Time-based summary segments</a:t>
            </a:r>
          </a:p>
          <a:p>
            <a:r>
              <a:rPr lang="en-US" dirty="0"/>
              <a:t>   - Flexible summary options</a:t>
            </a:r>
          </a:p>
          <a:p>
            <a:endParaRPr lang="en-US" dirty="0"/>
          </a:p>
          <a:p>
            <a:r>
              <a:rPr lang="en-US" b="1" dirty="0"/>
              <a:t>EDUCATOR NOTES:</a:t>
            </a:r>
          </a:p>
          <a:p>
            <a:endParaRPr lang="en-US" b="1" dirty="0"/>
          </a:p>
          <a:p>
            <a:r>
              <a:rPr lang="en-US" dirty="0"/>
              <a:t>"In this section, we'll discuss two key features of video analysis: navigation and summarization. Our navigation tools allow users to precisely locate content, whether you need to find the first mention of a topic, track all references to a specific concept, or move between different subjects efficiently. </a:t>
            </a:r>
          </a:p>
          <a:p>
            <a:endParaRPr lang="en-US" dirty="0"/>
          </a:p>
          <a:p>
            <a:r>
              <a:rPr lang="en-US" dirty="0"/>
              <a:t>For summarization, we offer multiple approaches: you can get an overview of the entire video, focus on specific concept explanations, or analyze particular time segments - for example, just the first 10 minutes. These features are designed to make video content more accessible and easier to understand.</a:t>
            </a:r>
          </a:p>
          <a:p>
            <a:endParaRPr lang="en-US" dirty="0"/>
          </a:p>
          <a:p>
            <a:r>
              <a:rPr lang="en-US" dirty="0"/>
              <a:t>Remember to emphasize to your students that these tools save time and improve learning efficiency by allowing viewers to interact with video content in a more structured and targeted way."</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725808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Personalized Video Consumption</a:t>
            </a:r>
          </a:p>
          <a:p>
            <a:r>
              <a:rPr lang="en-US" dirty="0"/>
              <a:t>- System offers detailed explanations or brief summaries based on user preference</a:t>
            </a:r>
          </a:p>
          <a:p>
            <a:r>
              <a:rPr lang="en-US" dirty="0"/>
              <a:t>- Provides supporting examples to reinforce video concepts</a:t>
            </a:r>
          </a:p>
          <a:p>
            <a:r>
              <a:rPr lang="en-US" dirty="0"/>
              <a:t>- Customizes content delivery to viewer needs</a:t>
            </a:r>
          </a:p>
          <a:p>
            <a:endParaRPr lang="en-US" dirty="0"/>
          </a:p>
          <a:p>
            <a:r>
              <a:rPr lang="en-US" dirty="0"/>
              <a:t>2. Multilingual Q&amp;A Features</a:t>
            </a:r>
          </a:p>
          <a:p>
            <a:r>
              <a:rPr lang="en-US" dirty="0"/>
              <a:t>- Enhances accessibility for non-English speakers</a:t>
            </a:r>
          </a:p>
          <a:p>
            <a:r>
              <a:rPr lang="en-US" dirty="0"/>
              <a:t>- Enables broader global reach</a:t>
            </a:r>
          </a:p>
          <a:p>
            <a:r>
              <a:rPr lang="en-US" dirty="0"/>
              <a:t>- Improves user understanding across language barriers</a:t>
            </a:r>
          </a:p>
          <a:p>
            <a:endParaRPr lang="en-US" dirty="0"/>
          </a:p>
          <a:p>
            <a:r>
              <a:rPr lang="en-US" dirty="0"/>
              <a:t>3. Step-by-Step Instructions</a:t>
            </a:r>
          </a:p>
          <a:p>
            <a:r>
              <a:rPr lang="en-US" dirty="0"/>
              <a:t>- Extracts clear instructions from walkthrough videos</a:t>
            </a:r>
          </a:p>
          <a:p>
            <a:r>
              <a:rPr lang="en-US" dirty="0"/>
              <a:t>- Offers troubleshooting guidance</a:t>
            </a:r>
          </a:p>
          <a:p>
            <a:r>
              <a:rPr lang="en-US" dirty="0"/>
              <a:t>- Assists with setup procedures</a:t>
            </a:r>
          </a:p>
          <a:p>
            <a:endParaRPr lang="en-US" dirty="0"/>
          </a:p>
          <a:p>
            <a:r>
              <a:rPr lang="en-US" b="1" dirty="0"/>
              <a:t>EDUCATOR NOTES:</a:t>
            </a:r>
          </a:p>
          <a:p>
            <a:endParaRPr lang="en-US" dirty="0"/>
          </a:p>
          <a:p>
            <a:r>
              <a:rPr lang="en-US" dirty="0"/>
              <a:t>"In this section, we're focusing on how our video analysis system enhances user experience through three key features. First, we personalize content delivery by offering flexible learning options - whether users need in-depth explanations or quick summaries. Second, our multilingual Q&amp;A capability breaks down language barriers, making our content truly accessible globally. Finally, for technical videos, we extract clear step-by-step instructions and provide comprehensive setup support. These features work together to create a more engaging and user-friendly learning experience."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1647902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Direct Video Interaction</a:t>
            </a:r>
          </a:p>
          <a:p>
            <a:r>
              <a:rPr lang="en-US" dirty="0"/>
              <a:t>- System enables direct communication with video content</a:t>
            </a:r>
          </a:p>
          <a:p>
            <a:r>
              <a:rPr lang="en-US" dirty="0"/>
              <a:t>- Users can interact and query videos directly</a:t>
            </a:r>
          </a:p>
          <a:p>
            <a:endParaRPr lang="en-US" dirty="0"/>
          </a:p>
          <a:p>
            <a:r>
              <a:rPr lang="en-US" dirty="0"/>
              <a:t>2. Video Understanding Capabilities</a:t>
            </a:r>
          </a:p>
          <a:p>
            <a:r>
              <a:rPr lang="en-US" dirty="0"/>
              <a:t>- Model is equipped with advanced video comprehension features</a:t>
            </a:r>
          </a:p>
          <a:p>
            <a:r>
              <a:rPr lang="en-US" dirty="0"/>
              <a:t>- Can process and interpret video content autonomously</a:t>
            </a:r>
          </a:p>
          <a:p>
            <a:endParaRPr lang="en-US" dirty="0"/>
          </a:p>
          <a:p>
            <a:r>
              <a:rPr lang="en-US" dirty="0"/>
              <a:t>3. Information Extraction</a:t>
            </a:r>
          </a:p>
          <a:p>
            <a:r>
              <a:rPr lang="en-US" dirty="0"/>
              <a:t>- All data is obtained directly from video sources</a:t>
            </a:r>
          </a:p>
          <a:p>
            <a:r>
              <a:rPr lang="en-US" dirty="0"/>
              <a:t>- No reliance on external data or pre-existing summaries</a:t>
            </a:r>
          </a:p>
          <a:p>
            <a:endParaRPr lang="en-US" dirty="0"/>
          </a:p>
          <a:p>
            <a:r>
              <a:rPr lang="en-US" dirty="0"/>
              <a:t>4. Technical Challenges</a:t>
            </a:r>
          </a:p>
          <a:p>
            <a:r>
              <a:rPr lang="en-US" dirty="0"/>
              <a:t>- High recall of details poses challenges for some models</a:t>
            </a:r>
          </a:p>
          <a:p>
            <a:r>
              <a:rPr lang="en-US" dirty="0"/>
              <a:t>- Complex task to extract comprehensive information accurately</a:t>
            </a:r>
          </a:p>
          <a:p>
            <a:endParaRPr lang="en-US" dirty="0"/>
          </a:p>
          <a:p>
            <a:r>
              <a:rPr lang="en-US" dirty="0"/>
              <a:t>Process Flow (as shown in diagram):</a:t>
            </a:r>
          </a:p>
          <a:p>
            <a:r>
              <a:rPr lang="en-US" dirty="0"/>
              <a:t>1. Video Input → 2. AI Model Processing (with Prompt) → 3. Response Generation</a:t>
            </a:r>
          </a:p>
          <a:p>
            <a:endParaRPr lang="en-US" dirty="0"/>
          </a:p>
          <a:p>
            <a:r>
              <a:rPr lang="en-US" b="1" dirty="0"/>
              <a:t>EDUCATOR NOTES:</a:t>
            </a:r>
          </a:p>
          <a:p>
            <a:endParaRPr lang="en-US" dirty="0"/>
          </a:p>
          <a:p>
            <a:r>
              <a:rPr lang="en-US" dirty="0"/>
              <a:t>"In this final section on video analysis, I want to emphasize the groundbreaking capability of direct video interaction. The model can comprehend video content and extract information with remarkable accuracy, though achieving high recall remains a challenge for many systems. The process is straightforward: users input a video, the AI model processes it with the given prompt, and generates relevant responses. This direct video-to-response pipeline represents a significant advancement in multimedia AI interaction, eliminating the need for intermediate processing or manual transcription. Remember that while the technology is powerful, it's important to acknowledge the ongoing challenges in achieving perfect recall and comprehensive understanding of all video details."</a:t>
            </a:r>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677997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Issue Description Components</a:t>
            </a:r>
          </a:p>
          <a:p>
            <a:r>
              <a:rPr lang="en-US" dirty="0"/>
              <a:t>- Text-based descriptions</a:t>
            </a:r>
          </a:p>
          <a:p>
            <a:r>
              <a:rPr lang="en-US" dirty="0"/>
              <a:t>- Image attachments</a:t>
            </a:r>
          </a:p>
          <a:p>
            <a:r>
              <a:rPr lang="en-US" dirty="0"/>
              <a:t>- Video content</a:t>
            </a:r>
          </a:p>
          <a:p>
            <a:r>
              <a:rPr lang="en-US" dirty="0"/>
              <a:t>- Other multimedia formats</a:t>
            </a:r>
          </a:p>
          <a:p>
            <a:endParaRPr lang="en-US" dirty="0"/>
          </a:p>
          <a:p>
            <a:r>
              <a:rPr lang="en-US" dirty="0"/>
              <a:t>2. Vector Database Functionality</a:t>
            </a:r>
          </a:p>
          <a:p>
            <a:r>
              <a:rPr lang="en-US" dirty="0"/>
              <a:t>- Acts as a knowledge repository</a:t>
            </a:r>
          </a:p>
          <a:p>
            <a:r>
              <a:rPr lang="en-US" dirty="0"/>
              <a:t>- Contains reference materials including:</a:t>
            </a:r>
          </a:p>
          <a:p>
            <a:r>
              <a:rPr lang="en-US" dirty="0"/>
              <a:t>  * User manuals</a:t>
            </a:r>
          </a:p>
          <a:p>
            <a:r>
              <a:rPr lang="en-US" dirty="0"/>
              <a:t>  * Frequently Asked Questions (FAQs)</a:t>
            </a:r>
          </a:p>
          <a:p>
            <a:r>
              <a:rPr lang="en-US" dirty="0"/>
              <a:t>  * Troubleshooting guides</a:t>
            </a:r>
          </a:p>
          <a:p>
            <a:r>
              <a:rPr lang="en-US" dirty="0"/>
              <a:t>  * Other relevant documentation</a:t>
            </a:r>
          </a:p>
          <a:p>
            <a:endParaRPr lang="en-US" dirty="0"/>
          </a:p>
          <a:p>
            <a:r>
              <a:rPr lang="en-US" dirty="0"/>
              <a:t>3. Process Flow</a:t>
            </a:r>
          </a:p>
          <a:p>
            <a:r>
              <a:rPr lang="en-US" dirty="0"/>
              <a:t>- Customer issue input (text/images/videos)</a:t>
            </a:r>
          </a:p>
          <a:p>
            <a:r>
              <a:rPr lang="en-US" dirty="0"/>
              <a:t>- Vector database provides relevant context</a:t>
            </a:r>
          </a:p>
          <a:p>
            <a:r>
              <a:rPr lang="en-US" dirty="0"/>
              <a:t>- AI processing of combined information</a:t>
            </a:r>
          </a:p>
          <a:p>
            <a:r>
              <a:rPr lang="en-US" dirty="0"/>
              <a:t>- Generation of appropriate response</a:t>
            </a:r>
          </a:p>
          <a:p>
            <a:endParaRPr lang="en-US" dirty="0"/>
          </a:p>
          <a:p>
            <a:r>
              <a:rPr lang="en-US" b="1" dirty="0"/>
              <a:t>EDUCATOR NOTES:</a:t>
            </a:r>
          </a:p>
          <a:p>
            <a:endParaRPr lang="en-US" dirty="0"/>
          </a:p>
          <a:p>
            <a:r>
              <a:rPr lang="en-US" dirty="0"/>
              <a:t>"In this slide, we're looking at how customer service applications handle issue resolution. The process begins when a customer describes their issue using various formats - they can submit text descriptions, share images, or even upload videos to explain their problem.</a:t>
            </a:r>
          </a:p>
          <a:p>
            <a:endParaRPr lang="en-US" dirty="0"/>
          </a:p>
          <a:p>
            <a:r>
              <a:rPr lang="en-US" dirty="0"/>
              <a:t>The system utilizes a vector database, which is essentially a knowledge base containing all relevant documentation - from user manuals to FAQs and troubleshooting guides. When an issue is submitted, the system retrieves relevant context from this database.</a:t>
            </a:r>
          </a:p>
          <a:p>
            <a:endParaRPr lang="en-US" dirty="0"/>
          </a:p>
          <a:p>
            <a:r>
              <a:rPr lang="en-US" dirty="0"/>
              <a:t>The AI engine then processes both the customer's input and the retrieved information to generate an appropriate response. This combination of customer input, knowledge base access, and AI processing enables efficient and accurate problem resolution.</a:t>
            </a:r>
          </a:p>
          <a:p>
            <a:endParaRPr lang="en-US" dirty="0"/>
          </a:p>
          <a:p>
            <a:r>
              <a:rPr lang="en-US" dirty="0"/>
              <a:t>Key thing to emphasize here is the flexibility in how customers can describe their issues and how the system leverages existing documentation to provide accurate solutions."</a:t>
            </a:r>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3489689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Customer Complaint Resolution</a:t>
            </a:r>
          </a:p>
          <a:p>
            <a:r>
              <a:rPr lang="en-US" dirty="0"/>
              <a:t>- Two main methods for handling complaints:</a:t>
            </a:r>
          </a:p>
          <a:p>
            <a:r>
              <a:rPr lang="en-US" dirty="0"/>
              <a:t>  * Text-based feedback analysis</a:t>
            </a:r>
          </a:p>
          <a:p>
            <a:r>
              <a:rPr lang="en-US" dirty="0"/>
              <a:t>  * Processing customer-submitted images/videos</a:t>
            </a:r>
          </a:p>
          <a:p>
            <a:r>
              <a:rPr lang="en-US" dirty="0"/>
              <a:t>- Importance of quick and accurate resolution</a:t>
            </a:r>
          </a:p>
          <a:p>
            <a:endParaRPr lang="en-US" dirty="0"/>
          </a:p>
          <a:p>
            <a:r>
              <a:rPr lang="en-US" dirty="0"/>
              <a:t>2. Multimodal Call Support Automation</a:t>
            </a:r>
          </a:p>
          <a:p>
            <a:r>
              <a:rPr lang="en-US" dirty="0"/>
              <a:t>- Audio analysis capabilities:</a:t>
            </a:r>
          </a:p>
          <a:p>
            <a:r>
              <a:rPr lang="en-US" dirty="0"/>
              <a:t>  * Detecting customer urgency levels</a:t>
            </a:r>
          </a:p>
          <a:p>
            <a:r>
              <a:rPr lang="en-US" dirty="0"/>
              <a:t>  * Identifying emotional states (frustration)</a:t>
            </a:r>
          </a:p>
          <a:p>
            <a:r>
              <a:rPr lang="en-US" dirty="0"/>
              <a:t>  * Making escalation decisions</a:t>
            </a:r>
          </a:p>
          <a:p>
            <a:r>
              <a:rPr lang="en-US" dirty="0"/>
              <a:t>- Video call support features:</a:t>
            </a:r>
          </a:p>
          <a:p>
            <a:r>
              <a:rPr lang="en-US" dirty="0"/>
              <a:t>  * Guided assistance for complex issues</a:t>
            </a:r>
          </a:p>
          <a:p>
            <a:r>
              <a:rPr lang="en-US" dirty="0"/>
              <a:t>  * Real-time visual problem solving</a:t>
            </a:r>
          </a:p>
          <a:p>
            <a:endParaRPr lang="en-US" dirty="0"/>
          </a:p>
          <a:p>
            <a:r>
              <a:rPr lang="en-US" dirty="0"/>
              <a:t>3. Video-Based Q&amp;A Solutions</a:t>
            </a:r>
          </a:p>
          <a:p>
            <a:r>
              <a:rPr lang="en-US" dirty="0"/>
              <a:t>- Implementation of tutorial videos</a:t>
            </a:r>
          </a:p>
          <a:p>
            <a:r>
              <a:rPr lang="en-US" dirty="0"/>
              <a:t>- Reference to previous section content</a:t>
            </a:r>
          </a:p>
          <a:p>
            <a:r>
              <a:rPr lang="en-US" dirty="0"/>
              <a:t>- Interactive problem resolution</a:t>
            </a:r>
          </a:p>
          <a:p>
            <a:endParaRPr lang="en-US" dirty="0"/>
          </a:p>
          <a:p>
            <a:r>
              <a:rPr lang="en-US" b="1" dirty="0"/>
              <a:t>EDUCATOR NOTES:</a:t>
            </a:r>
          </a:p>
          <a:p>
            <a:endParaRPr lang="en-US" dirty="0"/>
          </a:p>
          <a:p>
            <a:r>
              <a:rPr lang="en-US" dirty="0"/>
              <a:t>"When presenting this slide, emphasize how these applications work together to create a comprehensive customer service ecosystem. Begin by highlighting how the complaint resolution system processes multiple types of input to ensure accurate problem identification. Then, transition to discussing how the multimodal call support system uses AI to detect emotional cues and provide appropriate responses. Finally, explain how video Q&amp;A solutions complement these services by offering self-service options through tutorials and guided assistance. Remember to mention that this represents the cutting edge of customer service technology, combining multiple channels for maximum effectiveness."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1137195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Topic: E-commerce AI Capabilities</a:t>
            </a:r>
          </a:p>
          <a:p>
            <a:endParaRPr lang="en-US" dirty="0"/>
          </a:p>
          <a:p>
            <a:r>
              <a:rPr lang="en-US" dirty="0"/>
              <a:t>Key Features:</a:t>
            </a:r>
          </a:p>
          <a:p>
            <a:r>
              <a:rPr lang="en-US" dirty="0"/>
              <a:t>1. Multimodal Search Engines</a:t>
            </a:r>
          </a:p>
          <a:p>
            <a:r>
              <a:rPr lang="en-US" dirty="0"/>
              <a:t>- Enables searching across multiple formats</a:t>
            </a:r>
          </a:p>
          <a:p>
            <a:r>
              <a:rPr lang="en-US" dirty="0"/>
              <a:t>- Integrates different types of content searches</a:t>
            </a:r>
          </a:p>
          <a:p>
            <a:endParaRPr lang="en-US" dirty="0"/>
          </a:p>
          <a:p>
            <a:r>
              <a:rPr lang="en-US" dirty="0"/>
              <a:t>2. Similar Product Discovery</a:t>
            </a:r>
          </a:p>
          <a:p>
            <a:r>
              <a:rPr lang="en-US" dirty="0"/>
              <a:t>- Uses images, text, and videos for product matching </a:t>
            </a:r>
          </a:p>
          <a:p>
            <a:r>
              <a:rPr lang="en-US" dirty="0"/>
              <a:t>- Helps customers find related or alternative items</a:t>
            </a:r>
          </a:p>
          <a:p>
            <a:r>
              <a:rPr lang="en-US" dirty="0"/>
              <a:t>- Enhanced product discovery experience</a:t>
            </a:r>
          </a:p>
          <a:p>
            <a:endParaRPr lang="en-US" dirty="0"/>
          </a:p>
          <a:p>
            <a:r>
              <a:rPr lang="en-US" dirty="0"/>
              <a:t>3. Product Listing Generation</a:t>
            </a:r>
          </a:p>
          <a:p>
            <a:r>
              <a:rPr lang="en-US" dirty="0"/>
              <a:t>- Automated creation of listings from visual content</a:t>
            </a:r>
          </a:p>
          <a:p>
            <a:r>
              <a:rPr lang="en-US" dirty="0"/>
              <a:t>- Streamlines product upload process</a:t>
            </a:r>
          </a:p>
          <a:p>
            <a:r>
              <a:rPr lang="en-US" dirty="0"/>
              <a:t>- Saves time for sellers/merchants</a:t>
            </a:r>
          </a:p>
          <a:p>
            <a:endParaRPr lang="en-US" dirty="0"/>
          </a:p>
          <a:p>
            <a:r>
              <a:rPr lang="en-US" dirty="0"/>
              <a:t>4. Automated Information Extraction</a:t>
            </a:r>
          </a:p>
          <a:p>
            <a:r>
              <a:rPr lang="en-US" dirty="0"/>
              <a:t>- Pulls product details from images and labels</a:t>
            </a:r>
          </a:p>
          <a:p>
            <a:r>
              <a:rPr lang="en-US" dirty="0"/>
              <a:t>- Reduces manual data entry</a:t>
            </a:r>
          </a:p>
          <a:p>
            <a:r>
              <a:rPr lang="en-US" dirty="0"/>
              <a:t>- Improves accuracy of product information</a:t>
            </a:r>
          </a:p>
          <a:p>
            <a:endParaRPr lang="en-US" dirty="0"/>
          </a:p>
          <a:p>
            <a:r>
              <a:rPr lang="en-US" dirty="0"/>
              <a:t>5. Scene Generation for Products</a:t>
            </a:r>
          </a:p>
          <a:p>
            <a:r>
              <a:rPr lang="en-US" dirty="0"/>
              <a:t>- Creates contextual product visualizations</a:t>
            </a:r>
          </a:p>
          <a:p>
            <a:r>
              <a:rPr lang="en-US" dirty="0"/>
              <a:t>- Shows products in different settings/environments</a:t>
            </a:r>
          </a:p>
          <a:p>
            <a:r>
              <a:rPr lang="en-US" dirty="0"/>
              <a:t>- Enhanced product presentation</a:t>
            </a:r>
          </a:p>
          <a:p>
            <a:endParaRPr lang="en-US" dirty="0"/>
          </a:p>
          <a:p>
            <a:r>
              <a:rPr lang="en-US" b="1" dirty="0"/>
              <a:t>EDUCATOR NOTES:</a:t>
            </a:r>
          </a:p>
          <a:p>
            <a:endParaRPr lang="en-US" dirty="0"/>
          </a:p>
          <a:p>
            <a:r>
              <a:rPr lang="en-US" dirty="0"/>
              <a:t>”Now we'll be discussing how AI is revolutionizing e-commerce through various technological capabilities. Our focus will be on five key innovations that are transforming online shopping experiences.</a:t>
            </a:r>
          </a:p>
          <a:p>
            <a:endParaRPr lang="en-US" dirty="0"/>
          </a:p>
          <a:p>
            <a:r>
              <a:rPr lang="en-US" dirty="0"/>
              <a:t>First, multimodal search engines are changing how customers find products by allowing them to search across different formats simultaneously. This is complemented by advanced similar product discovery systems that can match items based on visual, textual, and video inputs.</a:t>
            </a:r>
          </a:p>
          <a:p>
            <a:endParaRPr lang="en-US" dirty="0"/>
          </a:p>
          <a:p>
            <a:r>
              <a:rPr lang="en-US" dirty="0"/>
              <a:t>For sellers, automated systems can generate product listings directly from images and videos, while also extracting detailed product information automatically from labels and images. This significantly reduces the time and effort needed for product uploads.</a:t>
            </a:r>
          </a:p>
          <a:p>
            <a:endParaRPr lang="en-US" dirty="0"/>
          </a:p>
          <a:p>
            <a:r>
              <a:rPr lang="en-US" dirty="0"/>
              <a:t>Finally, by enhancing product presentation through AI-powered scene generation, allowing products to be visualized in various contexts, helping customers better understand how items might look in real-world settings.</a:t>
            </a:r>
          </a:p>
          <a:p>
            <a:endParaRPr lang="en-US" dirty="0"/>
          </a:p>
          <a:p>
            <a:r>
              <a:rPr lang="en-US" dirty="0"/>
              <a:t>These technologies together are creating more efficient, user-friendly e-commerce experiences for both buyers and sellers. Any questions?"</a:t>
            </a:r>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364612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 Healthcare institutions can leverage AI technology for multiple patient care functions</a:t>
            </a:r>
          </a:p>
          <a:p>
            <a:r>
              <a:rPr lang="en-US" dirty="0"/>
              <a:t>- Four key applications are highlighted for streamlining healthcare processes:</a:t>
            </a:r>
          </a:p>
          <a:p>
            <a:r>
              <a:rPr lang="en-US" dirty="0"/>
              <a:t>  1. Scan Analysis &amp; Reporting</a:t>
            </a:r>
          </a:p>
          <a:p>
            <a:r>
              <a:rPr lang="en-US" dirty="0"/>
              <a:t>     - AI can process medical scans (X-rays, MRIs, etc.)</a:t>
            </a:r>
          </a:p>
          <a:p>
            <a:r>
              <a:rPr lang="en-US" dirty="0"/>
              <a:t>     - Generates initial assessment reports</a:t>
            </a:r>
          </a:p>
          <a:p>
            <a:r>
              <a:rPr lang="en-US" dirty="0"/>
              <a:t>     - Helps reduce workload on medical staff</a:t>
            </a:r>
          </a:p>
          <a:p>
            <a:r>
              <a:rPr lang="en-US" dirty="0"/>
              <a:t>  </a:t>
            </a:r>
          </a:p>
          <a:p>
            <a:r>
              <a:rPr lang="en-US" dirty="0"/>
              <a:t>  2. Patient Triage Support</a:t>
            </a:r>
          </a:p>
          <a:p>
            <a:r>
              <a:rPr lang="en-US" dirty="0"/>
              <a:t>     - Assists in prioritizing patient care</a:t>
            </a:r>
          </a:p>
          <a:p>
            <a:r>
              <a:rPr lang="en-US" dirty="0"/>
              <a:t>     - Evaluates symptoms and medical history</a:t>
            </a:r>
          </a:p>
          <a:p>
            <a:r>
              <a:rPr lang="en-US" dirty="0"/>
              <a:t>     - Helps optimize emergency department workflow</a:t>
            </a:r>
          </a:p>
          <a:p>
            <a:r>
              <a:rPr lang="en-US" dirty="0"/>
              <a:t>  </a:t>
            </a:r>
          </a:p>
          <a:p>
            <a:r>
              <a:rPr lang="en-US" dirty="0"/>
              <a:t>  3. Minor Ailment Diagnosis</a:t>
            </a:r>
          </a:p>
          <a:p>
            <a:r>
              <a:rPr lang="en-US" dirty="0"/>
              <a:t>     - Virtual preliminary diagnosis capabilities</a:t>
            </a:r>
          </a:p>
          <a:p>
            <a:r>
              <a:rPr lang="en-US" dirty="0"/>
              <a:t>     - Handles common/minor health issues</a:t>
            </a:r>
          </a:p>
          <a:p>
            <a:r>
              <a:rPr lang="en-US" dirty="0"/>
              <a:t>     - Can recommend basic treatment options</a:t>
            </a:r>
          </a:p>
          <a:p>
            <a:r>
              <a:rPr lang="en-US" dirty="0"/>
              <a:t>  </a:t>
            </a:r>
          </a:p>
          <a:p>
            <a:r>
              <a:rPr lang="en-US" dirty="0"/>
              <a:t>  4. Patient Report Generation</a:t>
            </a:r>
          </a:p>
          <a:p>
            <a:r>
              <a:rPr lang="en-US" dirty="0"/>
              <a:t>     - Creates customized patient documentation</a:t>
            </a:r>
          </a:p>
          <a:p>
            <a:r>
              <a:rPr lang="en-US" dirty="0"/>
              <a:t>     - Incorporates individual medical history</a:t>
            </a:r>
          </a:p>
          <a:p>
            <a:r>
              <a:rPr lang="en-US" dirty="0"/>
              <a:t>     - Maintains consistent reporting format</a:t>
            </a:r>
          </a:p>
          <a:p>
            <a:endParaRPr lang="en-US" b="1" dirty="0"/>
          </a:p>
          <a:p>
            <a:r>
              <a:rPr lang="en-US" b="1" dirty="0"/>
              <a:t>EDUCATOR NOTES:</a:t>
            </a:r>
          </a:p>
          <a:p>
            <a:endParaRPr lang="en-US" dirty="0"/>
          </a:p>
          <a:p>
            <a:r>
              <a:rPr lang="en-US" dirty="0"/>
              <a:t>”AI technology is also transforming healthcare delivery. These four key applications demonstrate how AI can support medical professionals in providing more efficient and effective patient care. From analyzing scans to assisting with triage decisions, these tools are designed to augment - not replace - healthcare providers' expertise. The goal is to streamline routine tasks, allowing medical staff to focus more time on direct patient care. It's important to note that all these applications work under human supervision and serve as support tools for healthcare professionals."</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950200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Visual Accessibility</a:t>
            </a:r>
          </a:p>
          <a:p>
            <a:r>
              <a:rPr lang="en-US" dirty="0"/>
              <a:t>- Scene descriptions for images/videos help visually impaired users understand visual content</a:t>
            </a:r>
          </a:p>
          <a:p>
            <a:r>
              <a:rPr lang="en-US" dirty="0"/>
              <a:t>- Enables better understanding of visual media through detailed audio descriptions</a:t>
            </a:r>
          </a:p>
          <a:p>
            <a:r>
              <a:rPr lang="en-US" dirty="0"/>
              <a:t>- Critical for making visual content accessible to vision-challenged users</a:t>
            </a:r>
          </a:p>
          <a:p>
            <a:endParaRPr lang="en-US" dirty="0"/>
          </a:p>
          <a:p>
            <a:r>
              <a:rPr lang="en-US" dirty="0"/>
              <a:t>2. Hearing Accessibility</a:t>
            </a:r>
          </a:p>
          <a:p>
            <a:r>
              <a:rPr lang="en-US" dirty="0"/>
              <a:t>- ASL (American Sign Language) content integration for hearing-challenged individuals</a:t>
            </a:r>
          </a:p>
          <a:p>
            <a:r>
              <a:rPr lang="en-US" dirty="0"/>
              <a:t>- Ensures deaf and hard-of-hearing users can access audio content</a:t>
            </a:r>
          </a:p>
          <a:p>
            <a:r>
              <a:rPr lang="en-US" dirty="0"/>
              <a:t>- May include sign language interpretation overlays or translations</a:t>
            </a:r>
          </a:p>
          <a:p>
            <a:endParaRPr lang="en-US" dirty="0"/>
          </a:p>
          <a:p>
            <a:r>
              <a:rPr lang="en-US" dirty="0"/>
              <a:t>3. Technology Solutions</a:t>
            </a:r>
          </a:p>
          <a:p>
            <a:r>
              <a:rPr lang="en-US" dirty="0"/>
              <a:t>- Multimodal screen readers provide flexibility in content consumption</a:t>
            </a:r>
          </a:p>
          <a:p>
            <a:r>
              <a:rPr lang="en-US" dirty="0"/>
              <a:t>- Fall/hurt detection systems specifically designed for elderly safety</a:t>
            </a:r>
          </a:p>
          <a:p>
            <a:r>
              <a:rPr lang="en-US" dirty="0"/>
              <a:t>- Focuses on preventive care and quick response capabilities</a:t>
            </a:r>
          </a:p>
          <a:p>
            <a:endParaRPr lang="en-US" dirty="0"/>
          </a:p>
          <a:p>
            <a:r>
              <a:rPr lang="en-US" dirty="0"/>
              <a:t>4. Content Personalization</a:t>
            </a:r>
          </a:p>
          <a:p>
            <a:r>
              <a:rPr lang="en-US" dirty="0"/>
              <a:t>- Generates customized content based on user needs and preferences</a:t>
            </a:r>
          </a:p>
          <a:p>
            <a:r>
              <a:rPr lang="en-US" dirty="0"/>
              <a:t>- Improves inclusivity across different user groups</a:t>
            </a:r>
          </a:p>
          <a:p>
            <a:r>
              <a:rPr lang="en-US" dirty="0"/>
              <a:t>- Tailored experiences for various demographics</a:t>
            </a:r>
          </a:p>
          <a:p>
            <a:endParaRPr lang="en-US" dirty="0"/>
          </a:p>
          <a:p>
            <a:r>
              <a:rPr lang="en-US" dirty="0"/>
              <a:t>5. Language and Cultural Access</a:t>
            </a:r>
          </a:p>
          <a:p>
            <a:r>
              <a:rPr lang="en-US" dirty="0"/>
              <a:t>- Analysis of multilingual content enables broader accessibility</a:t>
            </a:r>
          </a:p>
          <a:p>
            <a:r>
              <a:rPr lang="en-US" dirty="0"/>
              <a:t>- Supports diverse linguistic needs</a:t>
            </a:r>
          </a:p>
          <a:p>
            <a:r>
              <a:rPr lang="en-US" dirty="0"/>
              <a:t>- Makes content available to non-native speakers</a:t>
            </a:r>
          </a:p>
          <a:p>
            <a:endParaRPr lang="en-US" dirty="0"/>
          </a:p>
          <a:p>
            <a:r>
              <a:rPr lang="en-US" b="1" dirty="0"/>
              <a:t>EDUCATOR NOTES:</a:t>
            </a:r>
          </a:p>
          <a:p>
            <a:endParaRPr lang="en-US" dirty="0"/>
          </a:p>
          <a:p>
            <a:r>
              <a:rPr lang="en-US" dirty="0"/>
              <a:t>”Now we're discussing accessibility use cases that demonstrate our commitment to inclusive technology. These solutions range from visual and hearing assistance to safety features for the elderly. Development of comprehensive tools that include scene descriptions, ASL support, and multimodal screen readers to ensure our technology serves everyone, regardless of their abilities.</a:t>
            </a:r>
          </a:p>
          <a:p>
            <a:endParaRPr lang="en-US" dirty="0"/>
          </a:p>
          <a:p>
            <a:r>
              <a:rPr lang="en-US" dirty="0"/>
              <a:t>The fall detection system specifically addresses the safety needs of elderly users, while the personalized content generation ensures that different demographics receive appropriately tailored experiences. It’s also breaking down language barriers through multilingual content analysis, making solutions truly global and inclusive.</a:t>
            </a:r>
          </a:p>
          <a:p>
            <a:endParaRPr lang="en-US" dirty="0"/>
          </a:p>
          <a:p>
            <a:r>
              <a:rPr lang="en-US" dirty="0"/>
              <a:t>Remember, accessibility isn't just about compliance – it's about creating technology that genuinely serves all users, enhancing their daily lives and ensuring no one is left behind in our digital world."</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3958892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3971470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and Core Concepts</a:t>
            </a:r>
          </a:p>
          <a:p>
            <a:r>
              <a:rPr lang="en-US" dirty="0"/>
              <a:t>- </a:t>
            </a:r>
            <a:r>
              <a:rPr lang="en-US" dirty="0" err="1"/>
              <a:t>ReAct</a:t>
            </a:r>
            <a:r>
              <a:rPr lang="en-US" dirty="0"/>
              <a:t> is a framework combining reasoning and action capabilities</a:t>
            </a:r>
          </a:p>
          <a:p>
            <a:r>
              <a:rPr lang="en-US" dirty="0"/>
              <a:t>- Name breakdown: Re(</a:t>
            </a:r>
            <a:r>
              <a:rPr lang="en-US" dirty="0" err="1"/>
              <a:t>ason</a:t>
            </a:r>
            <a:r>
              <a:rPr lang="en-US" dirty="0"/>
              <a:t>) + Act = </a:t>
            </a:r>
            <a:r>
              <a:rPr lang="en-US" dirty="0" err="1"/>
              <a:t>ReAct</a:t>
            </a:r>
            <a:endParaRPr lang="en-US" dirty="0"/>
          </a:p>
          <a:p>
            <a:endParaRPr lang="en-US" dirty="0"/>
          </a:p>
          <a:p>
            <a:r>
              <a:rPr lang="en-US" dirty="0"/>
              <a:t>2. Key Components</a:t>
            </a:r>
          </a:p>
          <a:p>
            <a:r>
              <a:rPr lang="en-US" dirty="0"/>
              <a:t>a) Reasoning Capabilities</a:t>
            </a:r>
          </a:p>
          <a:p>
            <a:r>
              <a:rPr lang="en-US" dirty="0"/>
              <a:t>- LLMs demonstrate logical reasoning abilities</a:t>
            </a:r>
          </a:p>
          <a:p>
            <a:r>
              <a:rPr lang="en-US" dirty="0"/>
              <a:t>- Used to create and manage action plans</a:t>
            </a:r>
          </a:p>
          <a:p>
            <a:r>
              <a:rPr lang="en-US" dirty="0"/>
              <a:t>- Handles error cases and unexpected scenarios</a:t>
            </a:r>
          </a:p>
          <a:p>
            <a:r>
              <a:rPr lang="en-US" dirty="0"/>
              <a:t>- Tracks and updates plans as needed</a:t>
            </a:r>
          </a:p>
          <a:p>
            <a:endParaRPr lang="en-US" dirty="0"/>
          </a:p>
          <a:p>
            <a:r>
              <a:rPr lang="en-US" dirty="0"/>
              <a:t>b) Action Capabilities</a:t>
            </a:r>
          </a:p>
          <a:p>
            <a:r>
              <a:rPr lang="en-US" dirty="0"/>
              <a:t>- LLMs can generate concrete action plans</a:t>
            </a:r>
          </a:p>
          <a:p>
            <a:r>
              <a:rPr lang="en-US" dirty="0"/>
              <a:t>- Interfaces with external tools and systems</a:t>
            </a:r>
          </a:p>
          <a:p>
            <a:r>
              <a:rPr lang="en-US" dirty="0"/>
              <a:t>- Connects with knowledge bases</a:t>
            </a:r>
          </a:p>
          <a:p>
            <a:r>
              <a:rPr lang="en-US" dirty="0"/>
              <a:t>- Interacts with various environments</a:t>
            </a:r>
          </a:p>
          <a:p>
            <a:endParaRPr lang="en-US" dirty="0"/>
          </a:p>
          <a:p>
            <a:r>
              <a:rPr lang="en-US" dirty="0"/>
              <a:t>3. Process Flow</a:t>
            </a:r>
          </a:p>
          <a:p>
            <a:r>
              <a:rPr lang="en-US" dirty="0"/>
              <a:t>- Reasoning/Chain of Thought → Actions → Environment</a:t>
            </a:r>
          </a:p>
          <a:p>
            <a:r>
              <a:rPr lang="en-US" dirty="0"/>
              <a:t>- Environment provides feedback through Observation</a:t>
            </a:r>
          </a:p>
          <a:p>
            <a:r>
              <a:rPr lang="en-US" dirty="0"/>
              <a:t>- Continuous loop of reasoning and acting based on observations</a:t>
            </a:r>
          </a:p>
          <a:p>
            <a:endParaRPr lang="en-US" dirty="0"/>
          </a:p>
          <a:p>
            <a:r>
              <a:rPr lang="en-US" b="1" dirty="0"/>
              <a:t>EDUCATOR NOTES:</a:t>
            </a:r>
          </a:p>
          <a:p>
            <a:endParaRPr lang="en-US" dirty="0"/>
          </a:p>
          <a:p>
            <a:r>
              <a:rPr lang="en-US" dirty="0"/>
              <a:t>”Now let’s review </a:t>
            </a:r>
            <a:r>
              <a:rPr lang="en-US" dirty="0" err="1"/>
              <a:t>ReAct</a:t>
            </a:r>
            <a:r>
              <a:rPr lang="en-US" dirty="0"/>
              <a:t>, a powerful framework that combines two essential capabilities of Large Language Models: reasoning and acting.</a:t>
            </a:r>
          </a:p>
          <a:p>
            <a:endParaRPr lang="en-US" dirty="0"/>
          </a:p>
          <a:p>
            <a:r>
              <a:rPr lang="en-US" dirty="0"/>
              <a:t>When presenting this slide, emphasize these key points:</a:t>
            </a:r>
          </a:p>
          <a:p>
            <a:r>
              <a:rPr lang="en-US" dirty="0"/>
              <a:t>- Start by explaining how </a:t>
            </a:r>
            <a:r>
              <a:rPr lang="en-US" dirty="0" err="1"/>
              <a:t>ReAct</a:t>
            </a:r>
            <a:r>
              <a:rPr lang="en-US" dirty="0"/>
              <a:t> is more than just a clever name - it represents the synthesis of two crucial AI capabilities</a:t>
            </a:r>
          </a:p>
          <a:p>
            <a:r>
              <a:rPr lang="en-US" dirty="0"/>
              <a:t>- Use the diagram to walk through the cyclical nature of the process: reasoning leads to actions, which affect the environment, which provides observations that inform further reasoning</a:t>
            </a:r>
          </a:p>
          <a:p>
            <a:r>
              <a:rPr lang="en-US" dirty="0"/>
              <a:t>- Provide real-world examples of how this combination of reasoning and acting can be applied</a:t>
            </a:r>
          </a:p>
          <a:p>
            <a:r>
              <a:rPr lang="en-US" dirty="0"/>
              <a:t>- Highlight how error handling and plan adaptation are built into the reasoning component</a:t>
            </a:r>
          </a:p>
          <a:p>
            <a:r>
              <a:rPr lang="en-US" dirty="0"/>
              <a:t>- Stress the practical applications through the action component's ability to interface with various tools and environments</a:t>
            </a:r>
          </a:p>
          <a:p>
            <a:endParaRPr lang="en-US" dirty="0"/>
          </a:p>
          <a:p>
            <a:r>
              <a:rPr lang="en-US" dirty="0"/>
              <a:t>Remember to emphasize that this is not just theoretical - it's a practical approach to making AI systems more effective and reliable in real-world applications."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2870477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Multimodal Agents Implementation</a:t>
            </a:r>
          </a:p>
          <a:p>
            <a:r>
              <a:rPr lang="en-US" dirty="0"/>
              <a:t>- Main concept revolves around </a:t>
            </a:r>
            <a:r>
              <a:rPr lang="en-US" dirty="0" err="1"/>
              <a:t>LangChain</a:t>
            </a:r>
            <a:r>
              <a:rPr lang="en-US" dirty="0"/>
              <a:t> agents and their capabilities</a:t>
            </a:r>
          </a:p>
          <a:p>
            <a:r>
              <a:rPr lang="en-US" dirty="0"/>
              <a:t>- Focus on functionality and tool integration</a:t>
            </a:r>
          </a:p>
          <a:p>
            <a:endParaRPr lang="en-US" dirty="0"/>
          </a:p>
          <a:p>
            <a:r>
              <a:rPr lang="en-US" dirty="0"/>
              <a:t>2. </a:t>
            </a:r>
            <a:r>
              <a:rPr lang="en-US" dirty="0" err="1"/>
              <a:t>LangChain</a:t>
            </a:r>
            <a:r>
              <a:rPr lang="en-US" dirty="0"/>
              <a:t> Agents</a:t>
            </a:r>
          </a:p>
          <a:p>
            <a:r>
              <a:rPr lang="en-US" dirty="0"/>
              <a:t>- Can utilize </a:t>
            </a:r>
            <a:r>
              <a:rPr lang="en-US" dirty="0" err="1"/>
              <a:t>ReAct</a:t>
            </a:r>
            <a:r>
              <a:rPr lang="en-US" dirty="0"/>
              <a:t> approach for:</a:t>
            </a:r>
          </a:p>
          <a:p>
            <a:r>
              <a:rPr lang="en-US" dirty="0"/>
              <a:t>  * Planning tasks</a:t>
            </a:r>
          </a:p>
          <a:p>
            <a:r>
              <a:rPr lang="en-US" dirty="0"/>
              <a:t>  * Executing tasks</a:t>
            </a:r>
          </a:p>
          <a:p>
            <a:r>
              <a:rPr lang="en-US" dirty="0"/>
              <a:t>- </a:t>
            </a:r>
            <a:r>
              <a:rPr lang="en-US" dirty="0" err="1"/>
              <a:t>ReAct</a:t>
            </a:r>
            <a:r>
              <a:rPr lang="en-US" dirty="0"/>
              <a:t> = Reasoning + Acting methodology</a:t>
            </a:r>
          </a:p>
          <a:p>
            <a:endParaRPr lang="en-US" dirty="0"/>
          </a:p>
          <a:p>
            <a:r>
              <a:rPr lang="en-US" dirty="0"/>
              <a:t>3. Tool and API Access</a:t>
            </a:r>
          </a:p>
          <a:p>
            <a:r>
              <a:rPr lang="en-US" dirty="0"/>
              <a:t>- Agents can be equipped with various tools and APIs</a:t>
            </a:r>
          </a:p>
          <a:p>
            <a:r>
              <a:rPr lang="en-US" dirty="0"/>
              <a:t>- Tool description is crucial for agent functionality</a:t>
            </a:r>
          </a:p>
          <a:p>
            <a:r>
              <a:rPr lang="en-US" dirty="0"/>
              <a:t>- Proper tool selection matters for task success</a:t>
            </a:r>
          </a:p>
          <a:p>
            <a:endParaRPr lang="en-US" dirty="0"/>
          </a:p>
          <a:p>
            <a:r>
              <a:rPr lang="en-US" dirty="0"/>
              <a:t>4. Current Limitations &amp; Future Direction</a:t>
            </a:r>
          </a:p>
          <a:p>
            <a:r>
              <a:rPr lang="en-US" dirty="0"/>
              <a:t>- </a:t>
            </a:r>
            <a:r>
              <a:rPr lang="en-US" dirty="0" err="1"/>
              <a:t>LangChain</a:t>
            </a:r>
            <a:r>
              <a:rPr lang="en-US" dirty="0"/>
              <a:t> agents currently limited to text-only operations</a:t>
            </a:r>
          </a:p>
          <a:p>
            <a:r>
              <a:rPr lang="en-US" dirty="0"/>
              <a:t>- Solution: Development of custom tools for multimodal capabilities</a:t>
            </a:r>
          </a:p>
          <a:p>
            <a:r>
              <a:rPr lang="en-US" dirty="0"/>
              <a:t>- Moving towards more versatile agent capabilities</a:t>
            </a:r>
          </a:p>
          <a:p>
            <a:endParaRPr lang="en-US" dirty="0"/>
          </a:p>
          <a:p>
            <a:r>
              <a:rPr lang="en-US" b="1" dirty="0"/>
              <a:t>EDUCATOR NOTES:</a:t>
            </a:r>
          </a:p>
          <a:p>
            <a:endParaRPr lang="en-US" dirty="0"/>
          </a:p>
          <a:p>
            <a:r>
              <a:rPr lang="en-US" dirty="0"/>
              <a:t>“Let me emphasize a few key points:</a:t>
            </a:r>
          </a:p>
          <a:p>
            <a:endParaRPr lang="en-US" dirty="0"/>
          </a:p>
          <a:p>
            <a:r>
              <a:rPr lang="en-US" dirty="0"/>
              <a:t>First, </a:t>
            </a:r>
            <a:r>
              <a:rPr lang="en-US" dirty="0" err="1"/>
              <a:t>LangChain</a:t>
            </a:r>
            <a:r>
              <a:rPr lang="en-US" dirty="0"/>
              <a:t> agents represent a powerful framework that combines reasoning and action through the </a:t>
            </a:r>
            <a:r>
              <a:rPr lang="en-US" dirty="0" err="1"/>
              <a:t>ReAct</a:t>
            </a:r>
            <a:r>
              <a:rPr lang="en-US" dirty="0"/>
              <a:t> methodology. This allows for sophisticated task planning and execution.</a:t>
            </a:r>
          </a:p>
          <a:p>
            <a:endParaRPr lang="en-US" dirty="0"/>
          </a:p>
          <a:p>
            <a:r>
              <a:rPr lang="en-US" dirty="0"/>
              <a:t>A critical aspect often overlooked is the importance of proper tool description. Just like you wouldn't expect someone to use a tool they don't understand, agents need clear descriptions of their available tools to function effectively.</a:t>
            </a:r>
          </a:p>
          <a:p>
            <a:endParaRPr lang="en-US" dirty="0"/>
          </a:p>
          <a:p>
            <a:r>
              <a:rPr lang="en-US" dirty="0"/>
              <a:t>Currently, we face a limitation with </a:t>
            </a:r>
            <a:r>
              <a:rPr lang="en-US" dirty="0" err="1"/>
              <a:t>LangChain</a:t>
            </a:r>
            <a:r>
              <a:rPr lang="en-US" dirty="0"/>
              <a:t> agents being text-only so, we will use custom tools to build multimodal agents</a:t>
            </a:r>
          </a:p>
          <a:p>
            <a:endParaRPr lang="en-US" dirty="0"/>
          </a:p>
          <a:p>
            <a:r>
              <a:rPr lang="en-US" dirty="0"/>
              <a:t>Remember, the success of an agent largely depends on providing it with the right tools for the job. It's not just about having many tools, but having the right ones for specific tasks.”</a:t>
            </a:r>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542271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Tools Suite</a:t>
            </a:r>
          </a:p>
          <a:p>
            <a:r>
              <a:rPr lang="en-US" dirty="0"/>
              <a:t>- Poster generation tool</a:t>
            </a:r>
          </a:p>
          <a:p>
            <a:r>
              <a:rPr lang="en-US" dirty="0"/>
              <a:t>- Poster variation tool</a:t>
            </a:r>
          </a:p>
          <a:p>
            <a:r>
              <a:rPr lang="en-US" dirty="0"/>
              <a:t>- Poster-to-story tool</a:t>
            </a:r>
          </a:p>
          <a:p>
            <a:endParaRPr lang="en-US" dirty="0"/>
          </a:p>
          <a:p>
            <a:r>
              <a:rPr lang="en-US" dirty="0"/>
              <a:t>2. Primary Objective</a:t>
            </a:r>
          </a:p>
          <a:p>
            <a:r>
              <a:rPr lang="en-US" dirty="0"/>
              <a:t>- Create two movie posters and develop corresponding plot narratives</a:t>
            </a:r>
          </a:p>
          <a:p>
            <a:endParaRPr lang="en-US" dirty="0"/>
          </a:p>
          <a:p>
            <a:r>
              <a:rPr lang="en-US" dirty="0"/>
              <a:t>3. Tool Integration</a:t>
            </a:r>
          </a:p>
          <a:p>
            <a:r>
              <a:rPr lang="en-US" dirty="0"/>
              <a:t>- Shows how different tools work together in the creative process</a:t>
            </a:r>
          </a:p>
          <a:p>
            <a:r>
              <a:rPr lang="en-US" dirty="0"/>
              <a:t>- Demonstrates AI's capability in visual and narrative content creation</a:t>
            </a:r>
          </a:p>
          <a:p>
            <a:endParaRPr lang="en-US" dirty="0"/>
          </a:p>
          <a:p>
            <a:r>
              <a:rPr lang="en-US" dirty="0"/>
              <a:t>Key Concepts:</a:t>
            </a:r>
          </a:p>
          <a:p>
            <a:r>
              <a:rPr lang="en-US" dirty="0"/>
              <a:t>- Toolset is designed for creative content generation</a:t>
            </a:r>
          </a:p>
          <a:p>
            <a:r>
              <a:rPr lang="en-US" dirty="0"/>
              <a:t>- Focus on both visual (posters) and textual (plot) elements</a:t>
            </a:r>
          </a:p>
          <a:p>
            <a:r>
              <a:rPr lang="en-US" dirty="0"/>
              <a:t>- Systematic approach to content creation</a:t>
            </a:r>
          </a:p>
          <a:p>
            <a:endParaRPr lang="en-US" dirty="0"/>
          </a:p>
          <a:p>
            <a:r>
              <a:rPr lang="en-US" b="1" dirty="0"/>
              <a:t>EDUCATOR NOTES:</a:t>
            </a:r>
          </a:p>
          <a:p>
            <a:endParaRPr lang="en-US" dirty="0"/>
          </a:p>
          <a:p>
            <a:r>
              <a:rPr lang="en-US" dirty="0"/>
              <a:t>"In this first part of our four-part example sequence, we're looking at image generation and description tools. What you see here is our creative toolkit that combines three powerful instruments: our poster generation tool, poster variation tool, and poster-to-story tool. </a:t>
            </a:r>
          </a:p>
          <a:p>
            <a:endParaRPr lang="en-US" dirty="0"/>
          </a:p>
          <a:p>
            <a:r>
              <a:rPr lang="en-US" dirty="0"/>
              <a:t>The main task we'll be demonstrating is how to create two movie posters and develop their corresponding plot lines. This showcases the seamless integration between visual creation and storytelling.</a:t>
            </a:r>
          </a:p>
          <a:p>
            <a:endParaRPr lang="en-US" dirty="0"/>
          </a:p>
          <a:p>
            <a:r>
              <a:rPr lang="en-US" dirty="0"/>
              <a:t>The brain icon on the right represents the AI processing that makes this all possible, connecting our creative inputs with meaningful outputs. </a:t>
            </a:r>
          </a:p>
          <a:p>
            <a:endParaRPr lang="en-US" dirty="0"/>
          </a:p>
          <a:p>
            <a:r>
              <a:rPr lang="en-US" dirty="0"/>
              <a:t>This is just the beginning of our journey into AI-assisted creative content generation. Let's move forward to see how these tools work in practice."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4185355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Elements Added:</a:t>
            </a:r>
          </a:p>
          <a:p>
            <a:r>
              <a:rPr lang="en-US" dirty="0"/>
              <a:t>1. Arrow Connection</a:t>
            </a:r>
          </a:p>
          <a:p>
            <a:r>
              <a:rPr lang="en-US" dirty="0"/>
              <a:t>- Direct line showing connection from "Poster generation tool" to the AI brain icon</a:t>
            </a:r>
          </a:p>
          <a:p>
            <a:r>
              <a:rPr lang="en-US" dirty="0"/>
              <a:t>- Label "Generate a movie poster" added to the arrow</a:t>
            </a:r>
          </a:p>
          <a:p>
            <a:endParaRPr lang="en-US" dirty="0"/>
          </a:p>
          <a:p>
            <a:r>
              <a:rPr lang="en-US" dirty="0"/>
              <a:t>Key Changes:</a:t>
            </a:r>
          </a:p>
          <a:p>
            <a:r>
              <a:rPr lang="en-US" dirty="0"/>
              <a:t>- Demonstrates the first step in the workflow</a:t>
            </a:r>
          </a:p>
          <a:p>
            <a:r>
              <a:rPr lang="en-US" dirty="0"/>
              <a:t>- Shows specific functionality of the poster generation tool</a:t>
            </a:r>
          </a:p>
          <a:p>
            <a:r>
              <a:rPr lang="en-US" dirty="0"/>
              <a:t>- Illustrates how the first tool interfaces with the AI system</a:t>
            </a:r>
          </a:p>
          <a:p>
            <a:endParaRPr lang="en-US" dirty="0"/>
          </a:p>
          <a:p>
            <a:r>
              <a:rPr lang="en-US" dirty="0"/>
              <a:t>What's Different:</a:t>
            </a:r>
          </a:p>
          <a:p>
            <a:r>
              <a:rPr lang="en-US" dirty="0"/>
              <a:t>- More detailed visualization of the process flow</a:t>
            </a:r>
          </a:p>
          <a:p>
            <a:r>
              <a:rPr lang="en-US" dirty="0"/>
              <a:t>- Clear indication of the first action step</a:t>
            </a:r>
          </a:p>
          <a:p>
            <a:r>
              <a:rPr lang="en-US" dirty="0"/>
              <a:t>- Beginning of the step-by-step demonstration</a:t>
            </a:r>
          </a:p>
          <a:p>
            <a:endParaRPr lang="en-US" dirty="0"/>
          </a:p>
          <a:p>
            <a:r>
              <a:rPr lang="en-US" dirty="0"/>
              <a:t>EDUCATOR NOTES:</a:t>
            </a:r>
          </a:p>
          <a:p>
            <a:endParaRPr lang="en-US" dirty="0"/>
          </a:p>
          <a:p>
            <a:r>
              <a:rPr lang="en-US" dirty="0"/>
              <a:t>"Now we're seeing the first step in our creative process. The poster generation tool connects directly to our AI system to create the initial movie poster. This is where our creative journey begins - with a simple but powerful command to generate a movie poster.</a:t>
            </a:r>
          </a:p>
          <a:p>
            <a:endParaRPr lang="en-US" dirty="0"/>
          </a:p>
          <a:p>
            <a:r>
              <a:rPr lang="en-US" dirty="0"/>
              <a:t>Notice how we've highlighted this specific connection to show the clear workflow. This step is crucial as it creates the foundation for all our subsequent modifications and story development.</a:t>
            </a:r>
          </a:p>
          <a:p>
            <a:endParaRPr lang="en-US" dirty="0"/>
          </a:p>
          <a:p>
            <a:r>
              <a:rPr lang="en-US" dirty="0"/>
              <a:t>In our next slide, we'll see how we can take this generated poster and create variations, building upon this initial creation. This systematic approach ensures we have a solid base for our creative project."</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246718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Elements Added:</a:t>
            </a:r>
          </a:p>
          <a:p>
            <a:r>
              <a:rPr lang="en-US" dirty="0"/>
              <a:t>1. Second Tool Connection</a:t>
            </a:r>
          </a:p>
          <a:p>
            <a:r>
              <a:rPr lang="en-US" dirty="0"/>
              <a:t>- Arrow now connects from "Poster variation tool" to the AI brain icon</a:t>
            </a:r>
          </a:p>
          <a:p>
            <a:r>
              <a:rPr lang="en-US" dirty="0"/>
              <a:t>- New label "Generate a second movie poster" added to the arrow</a:t>
            </a:r>
          </a:p>
          <a:p>
            <a:endParaRPr lang="en-US" dirty="0"/>
          </a:p>
          <a:p>
            <a:r>
              <a:rPr lang="en-US" dirty="0"/>
              <a:t>Key Changes:</a:t>
            </a:r>
          </a:p>
          <a:p>
            <a:r>
              <a:rPr lang="en-US" dirty="0"/>
              <a:t>- Shows progression to the second step in the workflow</a:t>
            </a:r>
          </a:p>
          <a:p>
            <a:r>
              <a:rPr lang="en-US" dirty="0"/>
              <a:t>- Demonstrates use of variation tool for creating alternative poster</a:t>
            </a:r>
          </a:p>
          <a:p>
            <a:r>
              <a:rPr lang="en-US" dirty="0"/>
              <a:t>- Illustrates sequential nature of the creative process</a:t>
            </a:r>
          </a:p>
          <a:p>
            <a:endParaRPr lang="en-US" dirty="0"/>
          </a:p>
          <a:p>
            <a:r>
              <a:rPr lang="en-US" dirty="0"/>
              <a:t>What's Different from Previous Slides:</a:t>
            </a:r>
          </a:p>
          <a:p>
            <a:r>
              <a:rPr lang="en-US" dirty="0"/>
              <a:t>- Focus shifts to the poster variation tool</a:t>
            </a:r>
          </a:p>
          <a:p>
            <a:r>
              <a:rPr lang="en-US" dirty="0"/>
              <a:t>- New directional arrow from different tool</a:t>
            </a:r>
          </a:p>
          <a:p>
            <a:r>
              <a:rPr lang="en-US" dirty="0"/>
              <a:t>- Different purpose indicated in the label</a:t>
            </a:r>
          </a:p>
          <a:p>
            <a:endParaRPr lang="en-US" dirty="0"/>
          </a:p>
          <a:p>
            <a:r>
              <a:rPr lang="en-US" dirty="0"/>
              <a:t>EDUCATOR NOTES:</a:t>
            </a:r>
          </a:p>
          <a:p>
            <a:endParaRPr lang="en-US" dirty="0"/>
          </a:p>
          <a:p>
            <a:r>
              <a:rPr lang="en-US" dirty="0"/>
              <a:t>"In this third slide, we're seeing how the poster variation tool comes into play. After creating our initial poster, we now use this tool to generate a second, alternative movie poster. This demonstrates the versatility of our toolset and how we can create multiple creative variations.</a:t>
            </a:r>
          </a:p>
          <a:p>
            <a:endParaRPr lang="en-US" dirty="0"/>
          </a:p>
          <a:p>
            <a:r>
              <a:rPr lang="en-US" dirty="0"/>
              <a:t>The variation tool is crucial because it allows us to explore different visual interpretations of the same concept. This helps ensure we have diverse options to choose from and can select the most effective visual representation for our movie.</a:t>
            </a:r>
          </a:p>
          <a:p>
            <a:endParaRPr lang="en-US" dirty="0"/>
          </a:p>
          <a:p>
            <a:r>
              <a:rPr lang="en-US" dirty="0"/>
              <a:t>In our final slide, we'll see how we tie these visual elements together with the story development phase using our poster-to-story tool. This systematic approach helps maintain creative consistency throughout the process."</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467485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a:t>
            </a:r>
          </a:p>
          <a:p>
            <a:endParaRPr lang="en-US" dirty="0"/>
          </a:p>
          <a:p>
            <a:r>
              <a:rPr lang="en-US" dirty="0"/>
              <a:t>New Elements Added:</a:t>
            </a:r>
          </a:p>
          <a:p>
            <a:r>
              <a:rPr lang="en-US" dirty="0"/>
              <a:t>1. Final Tool Connection</a:t>
            </a:r>
          </a:p>
          <a:p>
            <a:r>
              <a:rPr lang="en-US" dirty="0"/>
              <a:t>- Arrow connects from "Poster-to-story tool" to the AI brain</a:t>
            </a:r>
          </a:p>
          <a:p>
            <a:r>
              <a:rPr lang="en-US" dirty="0"/>
              <a:t>- New label "Write a plot of the movie" added to the arrow</a:t>
            </a:r>
          </a:p>
          <a:p>
            <a:endParaRPr lang="en-US" dirty="0"/>
          </a:p>
          <a:p>
            <a:r>
              <a:rPr lang="en-US" dirty="0"/>
              <a:t>2. Output Element</a:t>
            </a:r>
          </a:p>
          <a:p>
            <a:r>
              <a:rPr lang="en-US" dirty="0"/>
              <a:t>- New "End Response" block added after the AI brain icon</a:t>
            </a:r>
          </a:p>
          <a:p>
            <a:r>
              <a:rPr lang="en-US" dirty="0"/>
              <a:t>- Additional arrow connecting AI brain to End Response</a:t>
            </a:r>
          </a:p>
          <a:p>
            <a:endParaRPr lang="en-US" dirty="0"/>
          </a:p>
          <a:p>
            <a:r>
              <a:rPr lang="en-US" dirty="0"/>
              <a:t>Key Changes:</a:t>
            </a:r>
          </a:p>
          <a:p>
            <a:r>
              <a:rPr lang="en-US" dirty="0"/>
              <a:t>- Completes the workflow visualization</a:t>
            </a:r>
          </a:p>
          <a:p>
            <a:r>
              <a:rPr lang="en-US" dirty="0"/>
              <a:t>- Shows the final step of story generation</a:t>
            </a:r>
          </a:p>
          <a:p>
            <a:r>
              <a:rPr lang="en-US" dirty="0"/>
              <a:t>- Demonstrates the complete process output</a:t>
            </a:r>
          </a:p>
          <a:p>
            <a:endParaRPr lang="en-US" dirty="0"/>
          </a:p>
          <a:p>
            <a:r>
              <a:rPr lang="en-US" dirty="0"/>
              <a:t>What's Different from Previous Slides:</a:t>
            </a:r>
          </a:p>
          <a:p>
            <a:r>
              <a:rPr lang="en-US" dirty="0"/>
              <a:t>- Addition of final output stage</a:t>
            </a:r>
          </a:p>
          <a:p>
            <a:r>
              <a:rPr lang="en-US" dirty="0"/>
              <a:t>- Completion of the full workflow cycle</a:t>
            </a:r>
          </a:p>
          <a:p>
            <a:r>
              <a:rPr lang="en-US" dirty="0"/>
              <a:t>- Clear indication of process completion</a:t>
            </a:r>
          </a:p>
          <a:p>
            <a:endParaRPr lang="en-US" dirty="0"/>
          </a:p>
          <a:p>
            <a:r>
              <a:rPr lang="en-US" dirty="0"/>
              <a:t>EDUCATOR NOTES:</a:t>
            </a:r>
          </a:p>
          <a:p>
            <a:endParaRPr lang="en-US" dirty="0"/>
          </a:p>
          <a:p>
            <a:r>
              <a:rPr lang="en-US" dirty="0"/>
              <a:t>"In this final slide, we see the completion of our creative workflow. The poster-to-story tool now comes into play, transforming our visual creations into a narrative structure by generating a plot for our movie.</a:t>
            </a:r>
          </a:p>
          <a:p>
            <a:endParaRPr lang="en-US" dirty="0"/>
          </a:p>
          <a:p>
            <a:r>
              <a:rPr lang="en-US" dirty="0"/>
              <a:t>Notice how we've added an 'End Response' element, showing that our process delivers a complete package - from initial poster generation, through variation, to a fully developed story. This demonstrates the full capability of our AI-powered creative suite.</a:t>
            </a:r>
          </a:p>
          <a:p>
            <a:endParaRPr lang="en-US" dirty="0"/>
          </a:p>
          <a:p>
            <a:r>
              <a:rPr lang="en-US" dirty="0"/>
              <a:t>This concludes our walkthrough of the image generation and description process. We've seen how each tool contributes to creating a comprehensive creative output, from visual elements to narrative content, all working together in a seamless workflow."</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247938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Key Components:</a:t>
            </a:r>
          </a:p>
          <a:p>
            <a:r>
              <a:rPr lang="en-US" dirty="0"/>
              <a:t>1. Title: Example 2: Multimodal agent for retrieval-based responses (1/3)</a:t>
            </a:r>
          </a:p>
          <a:p>
            <a:endParaRPr lang="en-US" dirty="0"/>
          </a:p>
          <a:p>
            <a:r>
              <a:rPr lang="en-US" dirty="0"/>
              <a:t>2. Tools Section (shown in red box):</a:t>
            </a:r>
          </a:p>
          <a:p>
            <a:r>
              <a:rPr lang="en-US" dirty="0"/>
              <a:t>   - Image web search</a:t>
            </a:r>
          </a:p>
          <a:p>
            <a:r>
              <a:rPr lang="en-US" dirty="0"/>
              <a:t>   - Image comparison tool</a:t>
            </a:r>
          </a:p>
          <a:p>
            <a:r>
              <a:rPr lang="en-US" dirty="0"/>
              <a:t>   - Product web search</a:t>
            </a:r>
          </a:p>
          <a:p>
            <a:endParaRPr lang="en-US" dirty="0"/>
          </a:p>
          <a:p>
            <a:r>
              <a:rPr lang="en-US" dirty="0"/>
              <a:t>3. Main Query (shown in purple box):</a:t>
            </a:r>
          </a:p>
          <a:p>
            <a:r>
              <a:rPr lang="en-US" dirty="0"/>
              <a:t>   - Question: "Check whether the image is original Nike FN5214-131 and where can I buy it?"</a:t>
            </a:r>
          </a:p>
          <a:p>
            <a:r>
              <a:rPr lang="en-US" dirty="0"/>
              <a:t>   - Connected to an AI/neural network symbol via arrows</a:t>
            </a:r>
          </a:p>
          <a:p>
            <a:endParaRPr lang="en-US" dirty="0"/>
          </a:p>
          <a:p>
            <a:r>
              <a:rPr lang="en-US" dirty="0"/>
              <a:t>4. Process Flow:</a:t>
            </a:r>
          </a:p>
          <a:p>
            <a:r>
              <a:rPr lang="en-US" dirty="0"/>
              <a:t>   - Tools are available at the top</a:t>
            </a:r>
          </a:p>
          <a:p>
            <a:r>
              <a:rPr lang="en-US" dirty="0"/>
              <a:t>   - Query leads to image search</a:t>
            </a:r>
          </a:p>
          <a:p>
            <a:r>
              <a:rPr lang="en-US" dirty="0"/>
              <a:t>   - Both query and search feed into the AI processing system</a:t>
            </a:r>
          </a:p>
          <a:p>
            <a:endParaRPr lang="en-US" dirty="0"/>
          </a:p>
          <a:p>
            <a:r>
              <a:rPr lang="en-US" b="1" dirty="0"/>
              <a:t>EDUCATOR NOTES:</a:t>
            </a:r>
          </a:p>
          <a:p>
            <a:endParaRPr lang="en-US" dirty="0"/>
          </a:p>
          <a:p>
            <a:r>
              <a:rPr lang="en-US" dirty="0"/>
              <a:t>"In this first slide, we're looking at a multimodal agent system designed to handle product authenticity verification. The example focuses on Nike product authentication, specifically model FN5214-131. The system incorporates three main tools: image web search, image comparison, and product web search capabilities. The workflow shows how a user query about product authenticity and purchasing information triggers the image web search function as part of the verification process. This represents the initial stage of a more complex authentication and shopping assistance system, which we'll explore further in the following slides."</a:t>
            </a:r>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13022579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Element Added:</a:t>
            </a:r>
          </a:p>
          <a:p>
            <a:r>
              <a:rPr lang="en-US" dirty="0"/>
              <a:t>1. New Process Step:</a:t>
            </a:r>
          </a:p>
          <a:p>
            <a:r>
              <a:rPr lang="en-US" dirty="0"/>
              <a:t>   - Arrow from "Image comparison tool" to AI symbol</a:t>
            </a:r>
          </a:p>
          <a:p>
            <a:r>
              <a:rPr lang="en-US" dirty="0"/>
              <a:t>   - New annotation: "Check whether the given image is a match"</a:t>
            </a:r>
          </a:p>
          <a:p>
            <a:endParaRPr lang="en-US" dirty="0"/>
          </a:p>
          <a:p>
            <a:r>
              <a:rPr lang="en-US" dirty="0"/>
              <a:t>Key Difference from Slide 1:</a:t>
            </a:r>
          </a:p>
          <a:p>
            <a:r>
              <a:rPr lang="en-US" dirty="0"/>
              <a:t>- While Slide 1 showed the image web search process</a:t>
            </a:r>
          </a:p>
          <a:p>
            <a:r>
              <a:rPr lang="en-US" dirty="0"/>
              <a:t>- Slide 2 introduces the comparison phase using the image comparison tool</a:t>
            </a:r>
          </a:p>
          <a:p>
            <a:r>
              <a:rPr lang="en-US" dirty="0"/>
              <a:t>- This represents the second step in the authentication process</a:t>
            </a:r>
          </a:p>
          <a:p>
            <a:endParaRPr lang="en-US" dirty="0"/>
          </a:p>
          <a:p>
            <a:r>
              <a:rPr lang="en-US" b="1" dirty="0"/>
              <a:t>EDUCATOR NOTES:</a:t>
            </a:r>
          </a:p>
          <a:p>
            <a:endParaRPr lang="en-US" dirty="0"/>
          </a:p>
          <a:p>
            <a:r>
              <a:rPr lang="en-US" dirty="0"/>
              <a:t>"In this second slide, we see the next step of our product verification process. After retrieving images of the original product through web search, the system now utilizes the image comparison tool to check if the given image matches authentic product images. This is a crucial step in determining product authenticity, as it allows the system to analyze and compare specific details and characteristics of the Nike FN5214-131 model against verified authentic images. The comparison tool works in conjunction with the initial web search results to provide a more comprehensive authentication analysis."</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1484470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New Elements Added:</a:t>
            </a:r>
          </a:p>
          <a:p>
            <a:r>
              <a:rPr lang="en-US" dirty="0"/>
              <a:t>1. Product Web Search Integration:</a:t>
            </a:r>
          </a:p>
          <a:p>
            <a:r>
              <a:rPr lang="en-US" dirty="0"/>
              <a:t>   - Arrow from "Product web search" tool to AI symbol</a:t>
            </a:r>
          </a:p>
          <a:p>
            <a:r>
              <a:rPr lang="en-US" dirty="0"/>
              <a:t>   - New annotation: "Search the web for where it can it bought."</a:t>
            </a:r>
          </a:p>
          <a:p>
            <a:endParaRPr lang="en-US" dirty="0"/>
          </a:p>
          <a:p>
            <a:r>
              <a:rPr lang="en-US" dirty="0"/>
              <a:t>2. Final Step Addition:</a:t>
            </a:r>
          </a:p>
          <a:p>
            <a:r>
              <a:rPr lang="en-US" dirty="0"/>
              <a:t>   - New "End Response" box in dark purple</a:t>
            </a:r>
          </a:p>
          <a:p>
            <a:r>
              <a:rPr lang="en-US" dirty="0"/>
              <a:t>   - Shows completion of the workflow after AI processing</a:t>
            </a:r>
          </a:p>
          <a:p>
            <a:endParaRPr lang="en-US" dirty="0"/>
          </a:p>
          <a:p>
            <a:r>
              <a:rPr lang="en-US" dirty="0"/>
              <a:t>Key Differences from Previous Slides:</a:t>
            </a:r>
          </a:p>
          <a:p>
            <a:r>
              <a:rPr lang="en-US" dirty="0"/>
              <a:t>- Completes the full workflow by adding the purchasing information search</a:t>
            </a:r>
          </a:p>
          <a:p>
            <a:r>
              <a:rPr lang="en-US" dirty="0"/>
              <a:t>- Introduces a clear endpoint for the process</a:t>
            </a:r>
          </a:p>
          <a:p>
            <a:r>
              <a:rPr lang="en-US" dirty="0"/>
              <a:t>- Shows how all three tools work together to provide a complete response</a:t>
            </a:r>
          </a:p>
          <a:p>
            <a:endParaRPr lang="en-US" dirty="0"/>
          </a:p>
          <a:p>
            <a:r>
              <a:rPr lang="en-US" b="1" dirty="0"/>
              <a:t>EDUCATOR NOTES:</a:t>
            </a:r>
          </a:p>
          <a:p>
            <a:endParaRPr lang="en-US" dirty="0"/>
          </a:p>
          <a:p>
            <a:r>
              <a:rPr lang="en-US" dirty="0"/>
              <a:t>"In this final slide of the sequence, we see the complete workflow with the addition of the product web search functionality. After authenticating the product through image search and comparison, the system searches the web to find legitimate purchasing options for the Nike FN5214-131. The process concludes with an 'End Response' that would provide the user with both authentication results and purchasing information. This demonstrates how the multimodal agent combines visual authentication with practical shopping guidance in a single, comprehensive response. The three tools - image web search, image comparison, and product web search - work in concert to deliver a complete solution to the user's query."</a:t>
            </a:r>
          </a:p>
        </p:txBody>
      </p:sp>
      <p:sp>
        <p:nvSpPr>
          <p:cNvPr id="4" name="Slide Number Placeholder 3"/>
          <p:cNvSpPr>
            <a:spLocks noGrp="1"/>
          </p:cNvSpPr>
          <p:nvPr>
            <p:ph type="sldNum" sz="quarter" idx="5"/>
          </p:nvPr>
        </p:nvSpPr>
        <p:spPr/>
        <p:txBody>
          <a:bodyPr/>
          <a:lstStyle/>
          <a:p>
            <a:fld id="{688EF870-5850-6643-A228-25AFAA8E2BB1}" type="slidenum">
              <a:rPr lang="en-US" smtClean="0"/>
              <a:t>27</a:t>
            </a:fld>
            <a:endParaRPr lang="en-US"/>
          </a:p>
        </p:txBody>
      </p:sp>
    </p:spTree>
    <p:extLst>
      <p:ext uri="{BB962C8B-B14F-4D97-AF65-F5344CB8AC3E}">
        <p14:creationId xmlns:p14="http://schemas.microsoft.com/office/powerpoint/2010/main" val="3229033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29</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Multimodal Applications</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3 – Lesson 5</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a:t>
            </a:r>
          </a:p>
          <a:p>
            <a:r>
              <a:rPr lang="en-US" dirty="0"/>
              <a:t>Examples of multimodal applications</a:t>
            </a:r>
          </a:p>
          <a:p>
            <a:r>
              <a:rPr lang="en-US" dirty="0"/>
              <a:t>Multimodal agents</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D2DFF-4B4C-5052-E10C-43CB33268DE6}"/>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5C9C93E7-D972-F876-DF6D-2DE7207A7EAF}"/>
              </a:ext>
            </a:extLst>
          </p:cNvPr>
          <p:cNvSpPr>
            <a:spLocks noGrp="1"/>
          </p:cNvSpPr>
          <p:nvPr>
            <p:ph type="title" idx="1"/>
          </p:nvPr>
        </p:nvSpPr>
        <p:spPr/>
        <p:txBody>
          <a:bodyPr/>
          <a:lstStyle/>
          <a:p>
            <a:r>
              <a:rPr lang="en-US" dirty="0"/>
              <a:t>Review: Multimodal RAG workflow</a:t>
            </a:r>
          </a:p>
        </p:txBody>
      </p:sp>
      <p:sp>
        <p:nvSpPr>
          <p:cNvPr id="4" name="Content Placeholder 3">
            <a:extLst>
              <a:ext uri="{FF2B5EF4-FFF2-40B4-BE49-F238E27FC236}">
                <a16:creationId xmlns:a16="http://schemas.microsoft.com/office/drawing/2014/main" id="{2710D7CF-4EBB-BB6F-8AD8-291554E602BF}"/>
              </a:ext>
            </a:extLst>
          </p:cNvPr>
          <p:cNvSpPr>
            <a:spLocks noGrp="1"/>
          </p:cNvSpPr>
          <p:nvPr>
            <p:ph idx="2"/>
          </p:nvPr>
        </p:nvSpPr>
        <p:spPr>
          <a:xfrm>
            <a:off x="365760" y="4961642"/>
            <a:ext cx="11466576" cy="1466589"/>
          </a:xfrm>
        </p:spPr>
        <p:txBody>
          <a:bodyPr/>
          <a:lstStyle/>
          <a:p>
            <a:r>
              <a:rPr lang="en-US" dirty="0"/>
              <a:t>Use the same embedding model for the vector database and embedding the query</a:t>
            </a:r>
          </a:p>
          <a:p>
            <a:r>
              <a:rPr lang="en-US" dirty="0"/>
              <a:t>Images can be used for retrieval, prompting </a:t>
            </a:r>
            <a:r>
              <a:rPr lang="en-US"/>
              <a:t>and both</a:t>
            </a:r>
            <a:endParaRPr lang="en-US" dirty="0"/>
          </a:p>
        </p:txBody>
      </p:sp>
      <p:sp>
        <p:nvSpPr>
          <p:cNvPr id="24" name="Rounded Rectangle 23">
            <a:extLst>
              <a:ext uri="{FF2B5EF4-FFF2-40B4-BE49-F238E27FC236}">
                <a16:creationId xmlns:a16="http://schemas.microsoft.com/office/drawing/2014/main" id="{B19A138B-942E-98C9-979E-F292FFA9747F}"/>
              </a:ext>
            </a:extLst>
          </p:cNvPr>
          <p:cNvSpPr/>
          <p:nvPr/>
        </p:nvSpPr>
        <p:spPr>
          <a:xfrm>
            <a:off x="513511" y="2769940"/>
            <a:ext cx="1487909" cy="602927"/>
          </a:xfrm>
          <a:prstGeom prst="roundRect">
            <a:avLst/>
          </a:prstGeom>
          <a:solidFill>
            <a:schemeClr val="accent5"/>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Query</a:t>
            </a:r>
          </a:p>
        </p:txBody>
      </p:sp>
      <p:cxnSp>
        <p:nvCxnSpPr>
          <p:cNvPr id="25" name="Straight Arrow Connector 24">
            <a:extLst>
              <a:ext uri="{FF2B5EF4-FFF2-40B4-BE49-F238E27FC236}">
                <a16:creationId xmlns:a16="http://schemas.microsoft.com/office/drawing/2014/main" id="{80A3EC8A-3FD2-415C-A105-2AF8D105BDAF}"/>
              </a:ext>
            </a:extLst>
          </p:cNvPr>
          <p:cNvCxnSpPr>
            <a:cxnSpLocks/>
            <a:stCxn id="26" idx="3"/>
          </p:cNvCxnSpPr>
          <p:nvPr/>
        </p:nvCxnSpPr>
        <p:spPr>
          <a:xfrm flipV="1">
            <a:off x="6721676" y="4067436"/>
            <a:ext cx="687409" cy="504908"/>
          </a:xfrm>
          <a:prstGeom prst="straightConnector1">
            <a:avLst/>
          </a:prstGeom>
          <a:noFill/>
          <a:ln w="63500" cap="flat" cmpd="sng" algn="ctr">
            <a:solidFill>
              <a:srgbClr val="DF2A5D"/>
            </a:solidFill>
            <a:prstDash val="solid"/>
            <a:miter lim="800000"/>
            <a:tailEnd type="triangle"/>
          </a:ln>
          <a:effectLst/>
        </p:spPr>
      </p:cxnSp>
      <p:sp>
        <p:nvSpPr>
          <p:cNvPr id="26" name="Rounded Rectangle 25">
            <a:extLst>
              <a:ext uri="{FF2B5EF4-FFF2-40B4-BE49-F238E27FC236}">
                <a16:creationId xmlns:a16="http://schemas.microsoft.com/office/drawing/2014/main" id="{DFD26026-2054-4E47-BC39-CE11562639DF}"/>
              </a:ext>
            </a:extLst>
          </p:cNvPr>
          <p:cNvSpPr/>
          <p:nvPr/>
        </p:nvSpPr>
        <p:spPr>
          <a:xfrm>
            <a:off x="5233767" y="4270880"/>
            <a:ext cx="1487909" cy="602927"/>
          </a:xfrm>
          <a:prstGeom prst="roundRect">
            <a:avLst/>
          </a:prstGeom>
          <a:solidFill>
            <a:schemeClr val="accent5"/>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Prompt</a:t>
            </a:r>
          </a:p>
        </p:txBody>
      </p:sp>
      <p:sp>
        <p:nvSpPr>
          <p:cNvPr id="27" name="Rounded Rectangle 26">
            <a:extLst>
              <a:ext uri="{FF2B5EF4-FFF2-40B4-BE49-F238E27FC236}">
                <a16:creationId xmlns:a16="http://schemas.microsoft.com/office/drawing/2014/main" id="{D2481017-ECBD-0E20-3AA2-AF597261293C}"/>
              </a:ext>
            </a:extLst>
          </p:cNvPr>
          <p:cNvSpPr/>
          <p:nvPr/>
        </p:nvSpPr>
        <p:spPr>
          <a:xfrm>
            <a:off x="2684311" y="2670488"/>
            <a:ext cx="1704555" cy="801832"/>
          </a:xfrm>
          <a:prstGeom prst="roundRect">
            <a:avLst/>
          </a:prstGeom>
          <a:solidFill>
            <a:schemeClr val="accent3">
              <a:lumMod val="50000"/>
            </a:scheme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Amazon Ember Medium"/>
                <a:ea typeface="+mn-ea"/>
                <a:cs typeface="+mn-cs"/>
              </a:rPr>
              <a:t>Embedding model</a:t>
            </a:r>
          </a:p>
        </p:txBody>
      </p:sp>
      <p:cxnSp>
        <p:nvCxnSpPr>
          <p:cNvPr id="30" name="Straight Arrow Connector 29">
            <a:extLst>
              <a:ext uri="{FF2B5EF4-FFF2-40B4-BE49-F238E27FC236}">
                <a16:creationId xmlns:a16="http://schemas.microsoft.com/office/drawing/2014/main" id="{5DD80D37-944D-ED61-FA14-5A45B3B440EC}"/>
              </a:ext>
            </a:extLst>
          </p:cNvPr>
          <p:cNvCxnSpPr>
            <a:cxnSpLocks/>
          </p:cNvCxnSpPr>
          <p:nvPr/>
        </p:nvCxnSpPr>
        <p:spPr>
          <a:xfrm>
            <a:off x="6468995" y="3069983"/>
            <a:ext cx="916751" cy="631066"/>
          </a:xfrm>
          <a:prstGeom prst="straightConnector1">
            <a:avLst/>
          </a:prstGeom>
          <a:noFill/>
          <a:ln w="63500" cap="flat" cmpd="sng" algn="ctr">
            <a:solidFill>
              <a:srgbClr val="DF2A5D"/>
            </a:solidFill>
            <a:prstDash val="solid"/>
            <a:miter lim="800000"/>
            <a:tailEnd type="triangle"/>
          </a:ln>
          <a:effectLst/>
        </p:spPr>
      </p:cxnSp>
      <p:cxnSp>
        <p:nvCxnSpPr>
          <p:cNvPr id="31" name="Straight Arrow Connector 30">
            <a:extLst>
              <a:ext uri="{FF2B5EF4-FFF2-40B4-BE49-F238E27FC236}">
                <a16:creationId xmlns:a16="http://schemas.microsoft.com/office/drawing/2014/main" id="{9A239229-8B81-86D0-8B1F-250937117B7C}"/>
              </a:ext>
            </a:extLst>
          </p:cNvPr>
          <p:cNvCxnSpPr>
            <a:cxnSpLocks/>
            <a:stCxn id="27" idx="3"/>
          </p:cNvCxnSpPr>
          <p:nvPr/>
        </p:nvCxnSpPr>
        <p:spPr>
          <a:xfrm flipV="1">
            <a:off x="4388866" y="3062430"/>
            <a:ext cx="682891" cy="8974"/>
          </a:xfrm>
          <a:prstGeom prst="straightConnector1">
            <a:avLst/>
          </a:prstGeom>
          <a:noFill/>
          <a:ln w="63500" cap="flat" cmpd="sng" algn="ctr">
            <a:solidFill>
              <a:srgbClr val="DF2A5D"/>
            </a:solidFill>
            <a:prstDash val="solid"/>
            <a:miter lim="800000"/>
            <a:tailEnd type="triangle"/>
          </a:ln>
          <a:effectLst/>
        </p:spPr>
      </p:cxnSp>
      <p:cxnSp>
        <p:nvCxnSpPr>
          <p:cNvPr id="32" name="Straight Arrow Connector 31">
            <a:extLst>
              <a:ext uri="{FF2B5EF4-FFF2-40B4-BE49-F238E27FC236}">
                <a16:creationId xmlns:a16="http://schemas.microsoft.com/office/drawing/2014/main" id="{299A56EB-F16B-6992-837E-F76D0FD00E75}"/>
              </a:ext>
            </a:extLst>
          </p:cNvPr>
          <p:cNvCxnSpPr>
            <a:cxnSpLocks/>
            <a:stCxn id="24" idx="3"/>
            <a:endCxn id="27" idx="1"/>
          </p:cNvCxnSpPr>
          <p:nvPr/>
        </p:nvCxnSpPr>
        <p:spPr>
          <a:xfrm>
            <a:off x="2001420" y="3071404"/>
            <a:ext cx="682891" cy="0"/>
          </a:xfrm>
          <a:prstGeom prst="straightConnector1">
            <a:avLst/>
          </a:prstGeom>
          <a:noFill/>
          <a:ln w="63500" cap="flat" cmpd="sng" algn="ctr">
            <a:solidFill>
              <a:srgbClr val="DF2A5D"/>
            </a:solidFill>
            <a:prstDash val="solid"/>
            <a:miter lim="800000"/>
            <a:tailEnd type="triangle"/>
          </a:ln>
          <a:effectLst/>
        </p:spPr>
      </p:cxnSp>
      <p:cxnSp>
        <p:nvCxnSpPr>
          <p:cNvPr id="33" name="Straight Arrow Connector 32">
            <a:extLst>
              <a:ext uri="{FF2B5EF4-FFF2-40B4-BE49-F238E27FC236}">
                <a16:creationId xmlns:a16="http://schemas.microsoft.com/office/drawing/2014/main" id="{D6EFFA35-BB0F-60EA-049F-75783F916AC5}"/>
              </a:ext>
            </a:extLst>
          </p:cNvPr>
          <p:cNvCxnSpPr>
            <a:cxnSpLocks/>
          </p:cNvCxnSpPr>
          <p:nvPr/>
        </p:nvCxnSpPr>
        <p:spPr>
          <a:xfrm>
            <a:off x="9518137" y="3873236"/>
            <a:ext cx="683447" cy="0"/>
          </a:xfrm>
          <a:prstGeom prst="straightConnector1">
            <a:avLst/>
          </a:prstGeom>
          <a:noFill/>
          <a:ln w="63500" cap="flat" cmpd="sng" algn="ctr">
            <a:solidFill>
              <a:srgbClr val="DF2A5D"/>
            </a:solidFill>
            <a:prstDash val="solid"/>
            <a:miter lim="800000"/>
            <a:tailEnd type="triangle"/>
          </a:ln>
          <a:effectLst/>
        </p:spPr>
      </p:cxnSp>
      <p:sp>
        <p:nvSpPr>
          <p:cNvPr id="34" name="TextBox 33">
            <a:extLst>
              <a:ext uri="{FF2B5EF4-FFF2-40B4-BE49-F238E27FC236}">
                <a16:creationId xmlns:a16="http://schemas.microsoft.com/office/drawing/2014/main" id="{22D4CE10-1EEE-55E3-7603-2D79B4F914E3}"/>
              </a:ext>
            </a:extLst>
          </p:cNvPr>
          <p:cNvSpPr txBox="1"/>
          <p:nvPr/>
        </p:nvSpPr>
        <p:spPr>
          <a:xfrm>
            <a:off x="10403703" y="4583336"/>
            <a:ext cx="1010482" cy="369332"/>
          </a:xfrm>
          <a:prstGeom prst="rect">
            <a:avLst/>
          </a:prstGeom>
          <a:noFill/>
        </p:spPr>
        <p:txBody>
          <a:bodyPr wrap="square" rtlCol="0">
            <a:spAutoFit/>
          </a:bodyPr>
          <a:lstStyle/>
          <a:p>
            <a:pPr algn="ctr"/>
            <a:r>
              <a:rPr lang="en-US" dirty="0">
                <a:solidFill>
                  <a:srgbClr val="232F3E"/>
                </a:solidFill>
                <a:latin typeface="Amazon Ember Light"/>
              </a:rPr>
              <a:t>FMs</a:t>
            </a:r>
          </a:p>
        </p:txBody>
      </p:sp>
      <p:pic>
        <p:nvPicPr>
          <p:cNvPr id="35" name="Picture 5">
            <a:extLst>
              <a:ext uri="{FF2B5EF4-FFF2-40B4-BE49-F238E27FC236}">
                <a16:creationId xmlns:a16="http://schemas.microsoft.com/office/drawing/2014/main" id="{85DC36B8-C8FC-107B-0C68-1AD2435ACB9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10194137" y="3069983"/>
            <a:ext cx="1429614" cy="1502361"/>
          </a:xfrm>
          <a:prstGeom prst="rect">
            <a:avLst/>
          </a:prstGeom>
          <a:effectLst/>
        </p:spPr>
      </p:pic>
      <p:pic>
        <p:nvPicPr>
          <p:cNvPr id="36" name="Content Placeholder 16">
            <a:extLst>
              <a:ext uri="{FF2B5EF4-FFF2-40B4-BE49-F238E27FC236}">
                <a16:creationId xmlns:a16="http://schemas.microsoft.com/office/drawing/2014/main" id="{886AB712-E485-E21D-6336-F61EDDFBEE6C}"/>
              </a:ext>
            </a:extLst>
          </p:cNvPr>
          <p:cNvPicPr>
            <a:picLocks noChangeAspect="1"/>
          </p:cNvPicPr>
          <p:nvPr/>
        </p:nvPicPr>
        <p:blipFill>
          <a:blip r:embed="rId5"/>
          <a:stretch>
            <a:fillRect/>
          </a:stretch>
        </p:blipFill>
        <p:spPr>
          <a:xfrm>
            <a:off x="7765613" y="1950525"/>
            <a:ext cx="1284093" cy="1284093"/>
          </a:xfrm>
          <a:prstGeom prst="rect">
            <a:avLst/>
          </a:prstGeom>
        </p:spPr>
      </p:pic>
      <p:cxnSp>
        <p:nvCxnSpPr>
          <p:cNvPr id="37" name="Straight Arrow Connector 36">
            <a:extLst>
              <a:ext uri="{FF2B5EF4-FFF2-40B4-BE49-F238E27FC236}">
                <a16:creationId xmlns:a16="http://schemas.microsoft.com/office/drawing/2014/main" id="{F473DCDF-B809-8701-9082-85A95F1D2369}"/>
              </a:ext>
            </a:extLst>
          </p:cNvPr>
          <p:cNvCxnSpPr>
            <a:cxnSpLocks/>
          </p:cNvCxnSpPr>
          <p:nvPr/>
        </p:nvCxnSpPr>
        <p:spPr>
          <a:xfrm>
            <a:off x="8440279" y="2973998"/>
            <a:ext cx="23332" cy="498322"/>
          </a:xfrm>
          <a:prstGeom prst="straightConnector1">
            <a:avLst/>
          </a:prstGeom>
          <a:noFill/>
          <a:ln w="63500" cap="flat" cmpd="sng" algn="ctr">
            <a:solidFill>
              <a:srgbClr val="DF2A5D"/>
            </a:solidFill>
            <a:prstDash val="solid"/>
            <a:miter lim="800000"/>
            <a:tailEnd type="triangle"/>
          </a:ln>
          <a:effectLst/>
        </p:spPr>
      </p:cxnSp>
      <p:pic>
        <p:nvPicPr>
          <p:cNvPr id="38" name="Content Placeholder 16">
            <a:extLst>
              <a:ext uri="{FF2B5EF4-FFF2-40B4-BE49-F238E27FC236}">
                <a16:creationId xmlns:a16="http://schemas.microsoft.com/office/drawing/2014/main" id="{9951238C-B66D-3625-7222-ECC570884CCA}"/>
              </a:ext>
            </a:extLst>
          </p:cNvPr>
          <p:cNvPicPr>
            <a:picLocks noChangeAspect="1"/>
          </p:cNvPicPr>
          <p:nvPr/>
        </p:nvPicPr>
        <p:blipFill>
          <a:blip r:embed="rId5"/>
          <a:stretch>
            <a:fillRect/>
          </a:stretch>
        </p:blipFill>
        <p:spPr>
          <a:xfrm>
            <a:off x="615418" y="3372867"/>
            <a:ext cx="1284093" cy="1284093"/>
          </a:xfrm>
          <a:prstGeom prst="rect">
            <a:avLst/>
          </a:prstGeom>
        </p:spPr>
      </p:pic>
      <p:cxnSp>
        <p:nvCxnSpPr>
          <p:cNvPr id="39" name="Straight Arrow Connector 38">
            <a:extLst>
              <a:ext uri="{FF2B5EF4-FFF2-40B4-BE49-F238E27FC236}">
                <a16:creationId xmlns:a16="http://schemas.microsoft.com/office/drawing/2014/main" id="{E0E50934-E2DE-AA9A-51F5-F1700A6385E9}"/>
              </a:ext>
            </a:extLst>
          </p:cNvPr>
          <p:cNvCxnSpPr>
            <a:cxnSpLocks/>
          </p:cNvCxnSpPr>
          <p:nvPr/>
        </p:nvCxnSpPr>
        <p:spPr>
          <a:xfrm flipV="1">
            <a:off x="1685992" y="3204819"/>
            <a:ext cx="998319" cy="888692"/>
          </a:xfrm>
          <a:prstGeom prst="straightConnector1">
            <a:avLst/>
          </a:prstGeom>
          <a:noFill/>
          <a:ln w="63500" cap="flat" cmpd="sng" algn="ctr">
            <a:solidFill>
              <a:srgbClr val="DF2A5D"/>
            </a:solidFill>
            <a:prstDash val="solid"/>
            <a:miter lim="800000"/>
            <a:tailEnd type="triangle"/>
          </a:ln>
          <a:effectLst/>
        </p:spPr>
      </p:cxnSp>
      <p:sp>
        <p:nvSpPr>
          <p:cNvPr id="40" name="TextBox 39">
            <a:extLst>
              <a:ext uri="{FF2B5EF4-FFF2-40B4-BE49-F238E27FC236}">
                <a16:creationId xmlns:a16="http://schemas.microsoft.com/office/drawing/2014/main" id="{2C33DF4D-ACE9-68F0-227F-754CF489ACD9}"/>
              </a:ext>
            </a:extLst>
          </p:cNvPr>
          <p:cNvSpPr txBox="1"/>
          <p:nvPr/>
        </p:nvSpPr>
        <p:spPr>
          <a:xfrm>
            <a:off x="465687" y="4410770"/>
            <a:ext cx="1704313" cy="369332"/>
          </a:xfrm>
          <a:prstGeom prst="rect">
            <a:avLst/>
          </a:prstGeom>
          <a:noFill/>
        </p:spPr>
        <p:txBody>
          <a:bodyPr wrap="none" rtlCol="0">
            <a:spAutoFit/>
          </a:bodyPr>
          <a:lstStyle/>
          <a:p>
            <a:r>
              <a:rPr lang="en-US" dirty="0">
                <a:solidFill>
                  <a:srgbClr val="232F3E"/>
                </a:solidFill>
                <a:latin typeface="Amazon Ember Medium"/>
              </a:rPr>
              <a:t>Prompt Image</a:t>
            </a:r>
          </a:p>
        </p:txBody>
      </p:sp>
      <p:sp>
        <p:nvSpPr>
          <p:cNvPr id="41" name="TextBox 40">
            <a:extLst>
              <a:ext uri="{FF2B5EF4-FFF2-40B4-BE49-F238E27FC236}">
                <a16:creationId xmlns:a16="http://schemas.microsoft.com/office/drawing/2014/main" id="{79AFA724-97EE-FC7A-6F80-0BB997D48676}"/>
              </a:ext>
            </a:extLst>
          </p:cNvPr>
          <p:cNvSpPr txBox="1"/>
          <p:nvPr/>
        </p:nvSpPr>
        <p:spPr>
          <a:xfrm>
            <a:off x="7441561" y="1790253"/>
            <a:ext cx="1704313" cy="369332"/>
          </a:xfrm>
          <a:prstGeom prst="rect">
            <a:avLst/>
          </a:prstGeom>
          <a:noFill/>
        </p:spPr>
        <p:txBody>
          <a:bodyPr wrap="none" rtlCol="0">
            <a:spAutoFit/>
          </a:bodyPr>
          <a:lstStyle/>
          <a:p>
            <a:r>
              <a:rPr lang="en-US" dirty="0">
                <a:solidFill>
                  <a:srgbClr val="232F3E"/>
                </a:solidFill>
                <a:latin typeface="Amazon Ember Medium"/>
              </a:rPr>
              <a:t>Prompt Image</a:t>
            </a:r>
          </a:p>
        </p:txBody>
      </p:sp>
      <p:sp>
        <p:nvSpPr>
          <p:cNvPr id="43" name="Rounded Rectangle 42">
            <a:extLst>
              <a:ext uri="{FF2B5EF4-FFF2-40B4-BE49-F238E27FC236}">
                <a16:creationId xmlns:a16="http://schemas.microsoft.com/office/drawing/2014/main" id="{1E7B9209-2553-FAED-9A6B-9BE20ADE0310}"/>
              </a:ext>
            </a:extLst>
          </p:cNvPr>
          <p:cNvSpPr/>
          <p:nvPr/>
        </p:nvSpPr>
        <p:spPr>
          <a:xfrm>
            <a:off x="7523757" y="3520531"/>
            <a:ext cx="1652956" cy="848367"/>
          </a:xfrm>
          <a:prstGeom prst="roundRect">
            <a:avLst/>
          </a:prstGeom>
          <a:solidFill>
            <a:srgbClr val="330066"/>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mazon Ember Light"/>
                <a:ea typeface="+mn-ea"/>
                <a:cs typeface="+mn-cs"/>
              </a:rPr>
              <a:t>Prompt</a:t>
            </a:r>
            <a:r>
              <a:rPr kumimoji="0" lang="en-DE" sz="2400" b="1" i="0" u="none" strike="noStrike" kern="0" cap="none" spc="0" normalizeH="0" baseline="0" noProof="0">
                <a:ln>
                  <a:noFill/>
                </a:ln>
                <a:solidFill>
                  <a:srgbClr val="FFFFFF"/>
                </a:solidFill>
                <a:effectLst/>
                <a:uLnTx/>
                <a:uFillTx/>
                <a:latin typeface="Amazon Ember Light"/>
                <a:ea typeface="+mn-ea"/>
                <a:cs typeface="+mn-cs"/>
              </a:rPr>
              <a:t> </a:t>
            </a:r>
            <a:r>
              <a:rPr kumimoji="0" lang="en-DE" sz="2400" b="1" i="0" u="none" strike="noStrike" kern="0" cap="none" spc="0" normalizeH="0" baseline="0" noProof="0" dirty="0">
                <a:ln>
                  <a:noFill/>
                </a:ln>
                <a:solidFill>
                  <a:srgbClr val="FFFFFF"/>
                </a:solidFill>
                <a:effectLst/>
                <a:uLnTx/>
                <a:uFillTx/>
                <a:latin typeface="Amazon Ember Light"/>
                <a:ea typeface="+mn-ea"/>
                <a:cs typeface="+mn-cs"/>
              </a:rPr>
              <a:t>+ Context</a:t>
            </a:r>
          </a:p>
        </p:txBody>
      </p:sp>
      <p:pic>
        <p:nvPicPr>
          <p:cNvPr id="44" name="Graphic 43" descr="Icon representing a Vector Database">
            <a:extLst>
              <a:ext uri="{FF2B5EF4-FFF2-40B4-BE49-F238E27FC236}">
                <a16:creationId xmlns:a16="http://schemas.microsoft.com/office/drawing/2014/main" id="{3D6FCBEA-66B7-5EF2-DDAE-0A402BE63F3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84551" y="2364374"/>
            <a:ext cx="1396113" cy="1396113"/>
          </a:xfrm>
          <a:prstGeom prst="rect">
            <a:avLst/>
          </a:prstGeom>
        </p:spPr>
      </p:pic>
    </p:spTree>
    <p:extLst>
      <p:ext uri="{BB962C8B-B14F-4D97-AF65-F5344CB8AC3E}">
        <p14:creationId xmlns:p14="http://schemas.microsoft.com/office/powerpoint/2010/main" val="4002819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5F3828-F93A-611F-2088-9C026F8645B6}"/>
              </a:ext>
            </a:extLst>
          </p:cNvPr>
          <p:cNvSpPr>
            <a:spLocks noGrp="1"/>
          </p:cNvSpPr>
          <p:nvPr>
            <p:ph type="sldNum" idx="97"/>
          </p:nvPr>
        </p:nvSpPr>
        <p:spPr/>
        <p:txBody>
          <a:bodyPr/>
          <a:lstStyle/>
          <a:p>
            <a:fld id="{86A8BF56-6CB3-514C-9A64-F39D95C9E25B}" type="slidenum">
              <a:rPr lang="en-US" smtClean="0"/>
              <a:t>4</a:t>
            </a:fld>
            <a:endParaRPr lang="en-US"/>
          </a:p>
        </p:txBody>
      </p:sp>
      <p:sp>
        <p:nvSpPr>
          <p:cNvPr id="3" name="Title 2">
            <a:extLst>
              <a:ext uri="{FF2B5EF4-FFF2-40B4-BE49-F238E27FC236}">
                <a16:creationId xmlns:a16="http://schemas.microsoft.com/office/drawing/2014/main" id="{655C1D30-3B9C-9523-EED3-70F3B16B0A65}"/>
              </a:ext>
            </a:extLst>
          </p:cNvPr>
          <p:cNvSpPr>
            <a:spLocks noGrp="1"/>
          </p:cNvSpPr>
          <p:nvPr>
            <p:ph type="title" idx="1"/>
          </p:nvPr>
        </p:nvSpPr>
        <p:spPr/>
        <p:txBody>
          <a:bodyPr/>
          <a:lstStyle/>
          <a:p>
            <a:r>
              <a:rPr lang="en-US" dirty="0"/>
              <a:t>Review: </a:t>
            </a:r>
            <a:r>
              <a:rPr lang="en-DE"/>
              <a:t>Agents with </a:t>
            </a:r>
            <a:r>
              <a:rPr lang="en-US" dirty="0"/>
              <a:t>t</a:t>
            </a:r>
            <a:r>
              <a:rPr lang="en-DE"/>
              <a:t>ools</a:t>
            </a:r>
            <a:endParaRPr lang="en-US" dirty="0"/>
          </a:p>
        </p:txBody>
      </p:sp>
      <p:pic>
        <p:nvPicPr>
          <p:cNvPr id="21" name="Picture 5">
            <a:extLst>
              <a:ext uri="{FF2B5EF4-FFF2-40B4-BE49-F238E27FC236}">
                <a16:creationId xmlns:a16="http://schemas.microsoft.com/office/drawing/2014/main" id="{A4D33786-8AD3-49BE-E90D-B9017E025066}"/>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22" name="Straight Arrow Connector 21">
            <a:extLst>
              <a:ext uri="{FF2B5EF4-FFF2-40B4-BE49-F238E27FC236}">
                <a16:creationId xmlns:a16="http://schemas.microsoft.com/office/drawing/2014/main" id="{5921873A-28A9-5F4A-CFEF-1A37A43BA998}"/>
              </a:ext>
              <a:ext uri="{C183D7F6-B498-43B3-948B-1728B52AA6E4}">
                <adec:decorative xmlns:adec="http://schemas.microsoft.com/office/drawing/2017/decorative" val="1"/>
              </a:ext>
            </a:extLst>
          </p:cNvPr>
          <p:cNvCxnSpPr>
            <a:cxnSpLocks/>
            <a:endCxn id="21"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3" name="Rounded Rectangle 22">
            <a:extLst>
              <a:ext uri="{FF2B5EF4-FFF2-40B4-BE49-F238E27FC236}">
                <a16:creationId xmlns:a16="http://schemas.microsoft.com/office/drawing/2014/main" id="{B7FFC1C8-B776-9A99-80E6-CF79743B9445}"/>
              </a:ext>
            </a:extLst>
          </p:cNvPr>
          <p:cNvSpPr/>
          <p:nvPr/>
        </p:nvSpPr>
        <p:spPr>
          <a:xfrm>
            <a:off x="648227" y="1603647"/>
            <a:ext cx="10734275" cy="1306090"/>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4" name="Rounded Rectangle 23">
            <a:extLst>
              <a:ext uri="{FF2B5EF4-FFF2-40B4-BE49-F238E27FC236}">
                <a16:creationId xmlns:a16="http://schemas.microsoft.com/office/drawing/2014/main" id="{19CB4C8E-EC39-20D0-DF3E-5A6EC9F7FBD2}"/>
              </a:ext>
            </a:extLst>
          </p:cNvPr>
          <p:cNvSpPr/>
          <p:nvPr/>
        </p:nvSpPr>
        <p:spPr>
          <a:xfrm>
            <a:off x="809498"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Wikipedia tool</a:t>
            </a:r>
          </a:p>
        </p:txBody>
      </p:sp>
      <p:sp>
        <p:nvSpPr>
          <p:cNvPr id="25" name="Rounded Rectangle 24">
            <a:extLst>
              <a:ext uri="{FF2B5EF4-FFF2-40B4-BE49-F238E27FC236}">
                <a16:creationId xmlns:a16="http://schemas.microsoft.com/office/drawing/2014/main" id="{4E378F25-5688-5383-16D5-AFEE6A17199E}"/>
              </a:ext>
            </a:extLst>
          </p:cNvPr>
          <p:cNvSpPr/>
          <p:nvPr/>
        </p:nvSpPr>
        <p:spPr>
          <a:xfrm>
            <a:off x="2911339"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Web search tool</a:t>
            </a:r>
          </a:p>
        </p:txBody>
      </p:sp>
      <p:sp>
        <p:nvSpPr>
          <p:cNvPr id="26" name="Rounded Rectangle 25">
            <a:extLst>
              <a:ext uri="{FF2B5EF4-FFF2-40B4-BE49-F238E27FC236}">
                <a16:creationId xmlns:a16="http://schemas.microsoft.com/office/drawing/2014/main" id="{11F2901E-C578-A841-5E62-A03B562181E1}"/>
              </a:ext>
            </a:extLst>
          </p:cNvPr>
          <p:cNvSpPr/>
          <p:nvPr/>
        </p:nvSpPr>
        <p:spPr>
          <a:xfrm>
            <a:off x="5023702"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Date tool </a:t>
            </a:r>
            <a:r>
              <a:rPr kumimoji="0" lang="en-US" sz="1800" b="1" i="0" u="none" strike="noStrike" kern="0" cap="none" spc="0" normalizeH="0" baseline="0" noProof="0" dirty="0">
                <a:ln>
                  <a:noFill/>
                </a:ln>
                <a:solidFill>
                  <a:srgbClr val="FFFFFF"/>
                </a:solidFill>
                <a:effectLst/>
                <a:uLnTx/>
                <a:uFillTx/>
                <a:latin typeface="Consolas" panose="020B0609020204030204" pitchFamily="49" charset="0"/>
                <a:ea typeface="+mn-ea"/>
                <a:cs typeface="Consolas" panose="020B0609020204030204" pitchFamily="49" charset="0"/>
              </a:rPr>
              <a:t>today()</a:t>
            </a:r>
          </a:p>
        </p:txBody>
      </p:sp>
      <p:cxnSp>
        <p:nvCxnSpPr>
          <p:cNvPr id="27" name="Straight Arrow Connector 26">
            <a:extLst>
              <a:ext uri="{FF2B5EF4-FFF2-40B4-BE49-F238E27FC236}">
                <a16:creationId xmlns:a16="http://schemas.microsoft.com/office/drawing/2014/main" id="{52DD6171-1452-14FF-ADA0-975A7DC8EE23}"/>
              </a:ext>
              <a:ext uri="{C183D7F6-B498-43B3-948B-1728B52AA6E4}">
                <adec:decorative xmlns:adec="http://schemas.microsoft.com/office/drawing/2017/decorative" val="1"/>
              </a:ext>
            </a:extLst>
          </p:cNvPr>
          <p:cNvCxnSpPr>
            <a:cxnSpLocks/>
            <a:stCxn id="24" idx="2"/>
            <a:endCxn id="21" idx="0"/>
          </p:cNvCxnSpPr>
          <p:nvPr/>
        </p:nvCxnSpPr>
        <p:spPr>
          <a:xfrm>
            <a:off x="1787399" y="2735402"/>
            <a:ext cx="3903724"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28" name="Rounded Rectangle 27">
            <a:extLst>
              <a:ext uri="{FF2B5EF4-FFF2-40B4-BE49-F238E27FC236}">
                <a16:creationId xmlns:a16="http://schemas.microsoft.com/office/drawing/2014/main" id="{3A03F3C5-86B2-CB20-1ED0-B8F43E3A1156}"/>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What is the age of the current U.S. president today?</a:t>
            </a:r>
          </a:p>
        </p:txBody>
      </p:sp>
      <p:sp>
        <p:nvSpPr>
          <p:cNvPr id="29" name="Rounded Rectangle 28">
            <a:extLst>
              <a:ext uri="{FF2B5EF4-FFF2-40B4-BE49-F238E27FC236}">
                <a16:creationId xmlns:a16="http://schemas.microsoft.com/office/drawing/2014/main" id="{6A149533-17A2-B80D-ED07-117659FD0743}"/>
              </a:ext>
            </a:extLst>
          </p:cNvPr>
          <p:cNvSpPr/>
          <p:nvPr/>
        </p:nvSpPr>
        <p:spPr>
          <a:xfrm>
            <a:off x="7136065" y="20418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Calculator tool</a:t>
            </a:r>
          </a:p>
        </p:txBody>
      </p:sp>
      <p:sp>
        <p:nvSpPr>
          <p:cNvPr id="30" name="Rounded Rectangle 29">
            <a:extLst>
              <a:ext uri="{FF2B5EF4-FFF2-40B4-BE49-F238E27FC236}">
                <a16:creationId xmlns:a16="http://schemas.microsoft.com/office/drawing/2014/main" id="{F6E547F6-1A0B-A1EE-B4E4-2D62C40F0DBE}"/>
              </a:ext>
            </a:extLst>
          </p:cNvPr>
          <p:cNvSpPr/>
          <p:nvPr/>
        </p:nvSpPr>
        <p:spPr>
          <a:xfrm>
            <a:off x="9245682" y="204701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Python interpreter tool</a:t>
            </a:r>
          </a:p>
        </p:txBody>
      </p:sp>
      <p:sp>
        <p:nvSpPr>
          <p:cNvPr id="31" name="TextBox 30">
            <a:extLst>
              <a:ext uri="{FF2B5EF4-FFF2-40B4-BE49-F238E27FC236}">
                <a16:creationId xmlns:a16="http://schemas.microsoft.com/office/drawing/2014/main" id="{97DDDF49-C02C-86FE-F394-447AB73E8D6B}"/>
              </a:ext>
            </a:extLst>
          </p:cNvPr>
          <p:cNvSpPr txBox="1"/>
          <p:nvPr/>
        </p:nvSpPr>
        <p:spPr>
          <a:xfrm>
            <a:off x="4548122" y="6232608"/>
            <a:ext cx="2285999" cy="400110"/>
          </a:xfrm>
          <a:prstGeom prst="rect">
            <a:avLst/>
          </a:prstGeom>
          <a:noFill/>
        </p:spPr>
        <p:txBody>
          <a:bodyPr wrap="square">
            <a:spAutoFit/>
          </a:bodyPr>
          <a:lstStyle/>
          <a:p>
            <a:pPr algn="ctr">
              <a:defRPr/>
            </a:pPr>
            <a:r>
              <a:rPr lang="en-US" sz="2000" i="1" kern="0" dirty="0">
                <a:solidFill>
                  <a:srgbClr val="232F3E"/>
                </a:solidFill>
                <a:latin typeface="Amazon Ember Light"/>
              </a:rPr>
              <a:t>Agent</a:t>
            </a:r>
          </a:p>
        </p:txBody>
      </p:sp>
      <p:cxnSp>
        <p:nvCxnSpPr>
          <p:cNvPr id="32" name="Straight Arrow Connector 31">
            <a:extLst>
              <a:ext uri="{FF2B5EF4-FFF2-40B4-BE49-F238E27FC236}">
                <a16:creationId xmlns:a16="http://schemas.microsoft.com/office/drawing/2014/main" id="{CC731239-2DAD-A3EE-7129-284C45FB2211}"/>
              </a:ext>
              <a:ext uri="{C183D7F6-B498-43B3-948B-1728B52AA6E4}">
                <adec:decorative xmlns:adec="http://schemas.microsoft.com/office/drawing/2017/decorative" val="1"/>
              </a:ext>
            </a:extLst>
          </p:cNvPr>
          <p:cNvCxnSpPr>
            <a:cxnSpLocks/>
            <a:stCxn id="25" idx="2"/>
          </p:cNvCxnSpPr>
          <p:nvPr/>
        </p:nvCxnSpPr>
        <p:spPr>
          <a:xfrm>
            <a:off x="3889240" y="2735402"/>
            <a:ext cx="1801880"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3" name="Straight Arrow Connector 32">
            <a:extLst>
              <a:ext uri="{FF2B5EF4-FFF2-40B4-BE49-F238E27FC236}">
                <a16:creationId xmlns:a16="http://schemas.microsoft.com/office/drawing/2014/main" id="{F44C1A25-309B-1305-C33A-A9C29170DA75}"/>
              </a:ext>
              <a:ext uri="{C183D7F6-B498-43B3-948B-1728B52AA6E4}">
                <adec:decorative xmlns:adec="http://schemas.microsoft.com/office/drawing/2017/decorative" val="1"/>
              </a:ext>
            </a:extLst>
          </p:cNvPr>
          <p:cNvCxnSpPr>
            <a:cxnSpLocks/>
            <a:stCxn id="26" idx="2"/>
          </p:cNvCxnSpPr>
          <p:nvPr/>
        </p:nvCxnSpPr>
        <p:spPr>
          <a:xfrm flipH="1">
            <a:off x="5688282" y="2735402"/>
            <a:ext cx="313321"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4" name="Straight Arrow Connector 33">
            <a:extLst>
              <a:ext uri="{FF2B5EF4-FFF2-40B4-BE49-F238E27FC236}">
                <a16:creationId xmlns:a16="http://schemas.microsoft.com/office/drawing/2014/main" id="{FDABC3DB-4EBB-4509-5C2E-0C7B1DFD5CA3}"/>
              </a:ext>
              <a:ext uri="{C183D7F6-B498-43B3-948B-1728B52AA6E4}">
                <adec:decorative xmlns:adec="http://schemas.microsoft.com/office/drawing/2017/decorative" val="1"/>
              </a:ext>
            </a:extLst>
          </p:cNvPr>
          <p:cNvCxnSpPr>
            <a:cxnSpLocks/>
            <a:stCxn id="29" idx="2"/>
          </p:cNvCxnSpPr>
          <p:nvPr/>
        </p:nvCxnSpPr>
        <p:spPr>
          <a:xfrm flipH="1">
            <a:off x="5727033" y="2735402"/>
            <a:ext cx="2386933" cy="1964974"/>
          </a:xfrm>
          <a:prstGeom prst="straightConnector1">
            <a:avLst/>
          </a:prstGeom>
          <a:noFill/>
          <a:ln w="63500" cap="flat" cmpd="sng" algn="ctr">
            <a:solidFill>
              <a:srgbClr val="330066"/>
            </a:solidFill>
            <a:prstDash val="solid"/>
            <a:miter lim="800000"/>
            <a:headEnd type="triangle" w="med" len="med"/>
            <a:tailEnd type="none" w="med" len="med"/>
          </a:ln>
          <a:effectLst/>
        </p:spPr>
      </p:cxnSp>
      <p:cxnSp>
        <p:nvCxnSpPr>
          <p:cNvPr id="35" name="Straight Arrow Connector 34">
            <a:extLst>
              <a:ext uri="{FF2B5EF4-FFF2-40B4-BE49-F238E27FC236}">
                <a16:creationId xmlns:a16="http://schemas.microsoft.com/office/drawing/2014/main" id="{985F67A7-4A75-21FB-FF99-3C6D2E72E3EA}"/>
              </a:ext>
              <a:ext uri="{C183D7F6-B498-43B3-948B-1728B52AA6E4}">
                <adec:decorative xmlns:adec="http://schemas.microsoft.com/office/drawing/2017/decorative" val="1"/>
              </a:ext>
            </a:extLst>
          </p:cNvPr>
          <p:cNvCxnSpPr>
            <a:cxnSpLocks/>
            <a:stCxn id="30" idx="2"/>
          </p:cNvCxnSpPr>
          <p:nvPr/>
        </p:nvCxnSpPr>
        <p:spPr>
          <a:xfrm flipH="1">
            <a:off x="5688282" y="2740602"/>
            <a:ext cx="4535301" cy="1959774"/>
          </a:xfrm>
          <a:prstGeom prst="straightConnector1">
            <a:avLst/>
          </a:prstGeom>
          <a:noFill/>
          <a:ln w="63500" cap="flat" cmpd="sng" algn="ctr">
            <a:solidFill>
              <a:srgbClr val="330066"/>
            </a:solidFill>
            <a:prstDash val="solid"/>
            <a:miter lim="800000"/>
            <a:headEnd type="triangle" w="med" len="med"/>
            <a:tailEnd type="none" w="med" len="med"/>
          </a:ln>
          <a:effectLst/>
        </p:spPr>
      </p:cxnSp>
      <p:sp>
        <p:nvSpPr>
          <p:cNvPr id="36" name="Rounded Rectangle 35">
            <a:extLst>
              <a:ext uri="{FF2B5EF4-FFF2-40B4-BE49-F238E27FC236}">
                <a16:creationId xmlns:a16="http://schemas.microsoft.com/office/drawing/2014/main" id="{A23084A0-B691-7155-9755-633E3CA30750}"/>
              </a:ext>
            </a:extLst>
          </p:cNvPr>
          <p:cNvSpPr/>
          <p:nvPr/>
        </p:nvSpPr>
        <p:spPr>
          <a:xfrm>
            <a:off x="3889239" y="3500391"/>
            <a:ext cx="3531935" cy="720436"/>
          </a:xfrm>
          <a:prstGeom prst="roundRect">
            <a:avLst/>
          </a:prstGeom>
          <a:solidFill>
            <a:srgbClr val="FFFFFF"/>
          </a:solidFill>
          <a:ln w="57150" cap="flat" cmpd="sng" algn="ctr">
            <a:solidFill>
              <a:srgbClr val="DF2A5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DE" sz="2200" b="1" i="0" u="none" strike="noStrike" kern="0" cap="none" spc="0" normalizeH="0" baseline="0" noProof="0" dirty="0">
                <a:ln>
                  <a:noFill/>
                </a:ln>
                <a:solidFill>
                  <a:srgbClr val="232F3E"/>
                </a:solidFill>
                <a:effectLst/>
                <a:uLnTx/>
                <a:uFillTx/>
                <a:latin typeface="Amazon Ember Light"/>
                <a:ea typeface="+mn-ea"/>
                <a:cs typeface="+mn-cs"/>
              </a:rPr>
              <a:t>Search and select tool</a:t>
            </a:r>
          </a:p>
        </p:txBody>
      </p:sp>
    </p:spTree>
    <p:extLst>
      <p:ext uri="{BB962C8B-B14F-4D97-AF65-F5344CB8AC3E}">
        <p14:creationId xmlns:p14="http://schemas.microsoft.com/office/powerpoint/2010/main" val="2915215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noAutofit/>
          </a:bodyPr>
          <a:lstStyle/>
          <a:p>
            <a:r>
              <a:rPr lang="en-US" sz="2800" dirty="0"/>
              <a:t>How do multimodal applications add value to businesses?</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p:txBody>
          <a:bodyPr/>
          <a:lstStyle/>
          <a:p>
            <a:r>
              <a:rPr lang="en-US" sz="2400" dirty="0">
                <a:solidFill>
                  <a:schemeClr val="accent6"/>
                </a:solidFill>
              </a:rPr>
              <a:t>Improved accuracy and robustness</a:t>
            </a:r>
          </a:p>
          <a:p>
            <a:pPr lvl="1"/>
            <a:r>
              <a:rPr lang="en-US" sz="2000" dirty="0"/>
              <a:t>Richer representation from multiple modalities</a:t>
            </a:r>
          </a:p>
          <a:p>
            <a:r>
              <a:rPr lang="en-US" sz="2400" dirty="0">
                <a:solidFill>
                  <a:schemeClr val="accent6"/>
                </a:solidFill>
              </a:rPr>
              <a:t>Ease of development</a:t>
            </a:r>
          </a:p>
          <a:p>
            <a:pPr lvl="1"/>
            <a:r>
              <a:rPr lang="en-US" sz="2000" dirty="0"/>
              <a:t>Complex models but simpler applications</a:t>
            </a:r>
          </a:p>
          <a:p>
            <a:r>
              <a:rPr lang="en-US" sz="2400" dirty="0">
                <a:solidFill>
                  <a:schemeClr val="accent6"/>
                </a:solidFill>
              </a:rPr>
              <a:t>Interactive and intuitive solutions</a:t>
            </a:r>
          </a:p>
          <a:p>
            <a:pPr lvl="1"/>
            <a:r>
              <a:rPr lang="en-US" sz="2000" dirty="0"/>
              <a:t>Interact using natural mediums such as natural language text, speech, gestures, etc.</a:t>
            </a:r>
          </a:p>
          <a:p>
            <a:r>
              <a:rPr lang="en-US" sz="2400" dirty="0">
                <a:solidFill>
                  <a:schemeClr val="accent6"/>
                </a:solidFill>
              </a:rPr>
              <a:t>Easy access to highly performant open-source and commercial models</a:t>
            </a:r>
          </a:p>
          <a:p>
            <a:pPr lvl="1"/>
            <a:r>
              <a:rPr lang="en-US" sz="2000" dirty="0"/>
              <a:t>Only pay to use, not to pre-train</a:t>
            </a:r>
          </a:p>
          <a:p>
            <a:pPr lvl="1"/>
            <a:r>
              <a:rPr lang="en-US" sz="2000" dirty="0"/>
              <a:t>Wide range of model choices (size, cost, performance, etc.)</a:t>
            </a:r>
            <a:endParaRPr lang="en-US" dirty="0"/>
          </a:p>
          <a:p>
            <a:endParaRPr lang="en-US" dirty="0"/>
          </a:p>
        </p:txBody>
      </p:sp>
    </p:spTree>
    <p:extLst>
      <p:ext uri="{BB962C8B-B14F-4D97-AF65-F5344CB8AC3E}">
        <p14:creationId xmlns:p14="http://schemas.microsoft.com/office/powerpoint/2010/main" val="3811434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6</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Examples of multimodal applications</a:t>
            </a:r>
          </a:p>
        </p:txBody>
      </p:sp>
    </p:spTree>
    <p:extLst>
      <p:ext uri="{BB962C8B-B14F-4D97-AF65-F5344CB8AC3E}">
        <p14:creationId xmlns:p14="http://schemas.microsoft.com/office/powerpoint/2010/main" val="3659843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4401E8-D285-1E89-EC4C-93E33D5F9CD4}"/>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F601C2A3-0818-2D8B-85FE-91950AD507F7}"/>
              </a:ext>
            </a:extLst>
          </p:cNvPr>
          <p:cNvSpPr>
            <a:spLocks noGrp="1"/>
          </p:cNvSpPr>
          <p:nvPr>
            <p:ph type="title" idx="1"/>
          </p:nvPr>
        </p:nvSpPr>
        <p:spPr/>
        <p:txBody>
          <a:bodyPr/>
          <a:lstStyle/>
          <a:p>
            <a:r>
              <a:rPr lang="en-US" dirty="0"/>
              <a:t>Personalization</a:t>
            </a:r>
          </a:p>
        </p:txBody>
      </p:sp>
      <p:sp>
        <p:nvSpPr>
          <p:cNvPr id="4" name="Content Placeholder 3">
            <a:extLst>
              <a:ext uri="{FF2B5EF4-FFF2-40B4-BE49-F238E27FC236}">
                <a16:creationId xmlns:a16="http://schemas.microsoft.com/office/drawing/2014/main" id="{4708BE27-BB22-26D5-6918-FA6B811B124E}"/>
              </a:ext>
            </a:extLst>
          </p:cNvPr>
          <p:cNvSpPr>
            <a:spLocks noGrp="1"/>
          </p:cNvSpPr>
          <p:nvPr>
            <p:ph idx="2"/>
          </p:nvPr>
        </p:nvSpPr>
        <p:spPr/>
        <p:txBody>
          <a:bodyPr/>
          <a:lstStyle/>
          <a:p>
            <a:r>
              <a:rPr lang="en-US" dirty="0"/>
              <a:t>Automatically generate or update content for </a:t>
            </a:r>
            <a:r>
              <a:rPr lang="en-US" dirty="0">
                <a:solidFill>
                  <a:schemeClr val="accent6"/>
                </a:solidFill>
              </a:rPr>
              <a:t>target audience</a:t>
            </a:r>
          </a:p>
          <a:p>
            <a:pPr lvl="1"/>
            <a:r>
              <a:rPr lang="en-US" dirty="0"/>
              <a:t>Match the expected technical depth</a:t>
            </a:r>
          </a:p>
          <a:p>
            <a:pPr lvl="1"/>
            <a:r>
              <a:rPr lang="en-US" dirty="0"/>
              <a:t>Provide relevant examples and anecdotes to explain concepts</a:t>
            </a:r>
          </a:p>
          <a:p>
            <a:pPr lvl="1"/>
            <a:r>
              <a:rPr lang="en-US" dirty="0"/>
              <a:t>Define length of documents/videos based on requirements</a:t>
            </a:r>
          </a:p>
          <a:p>
            <a:pPr lvl="1"/>
            <a:r>
              <a:rPr lang="en-US" dirty="0"/>
              <a:t>Use of inclusive and accessible language</a:t>
            </a:r>
          </a:p>
          <a:p>
            <a:pPr lvl="1"/>
            <a:r>
              <a:rPr lang="en-US" dirty="0"/>
              <a:t>Multilingual content generation</a:t>
            </a:r>
          </a:p>
          <a:p>
            <a:r>
              <a:rPr lang="en-US" dirty="0">
                <a:solidFill>
                  <a:schemeClr val="accent6"/>
                </a:solidFill>
              </a:rPr>
              <a:t>Personalized content consumption</a:t>
            </a:r>
          </a:p>
          <a:p>
            <a:pPr lvl="1"/>
            <a:r>
              <a:rPr lang="en-US" dirty="0"/>
              <a:t>Interact with documents/presentations/videos </a:t>
            </a:r>
          </a:p>
          <a:p>
            <a:pPr lvl="2"/>
            <a:r>
              <a:rPr lang="en-US" dirty="0"/>
              <a:t>Q&amp;A for summaries, detailed explanations, translations, scene descriptions, etc.</a:t>
            </a:r>
          </a:p>
          <a:p>
            <a:pPr lvl="2"/>
            <a:r>
              <a:rPr lang="en-US" dirty="0"/>
              <a:t>Personalized self-paced learning</a:t>
            </a:r>
          </a:p>
          <a:p>
            <a:endParaRPr lang="en-US" dirty="0"/>
          </a:p>
        </p:txBody>
      </p:sp>
    </p:spTree>
    <p:extLst>
      <p:ext uri="{BB962C8B-B14F-4D97-AF65-F5344CB8AC3E}">
        <p14:creationId xmlns:p14="http://schemas.microsoft.com/office/powerpoint/2010/main" val="997777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FE43C7-8FEC-9F0F-7F07-04B66866323D}"/>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84B2FEB9-13C1-448B-B93D-6C32E32502DC}"/>
              </a:ext>
            </a:extLst>
          </p:cNvPr>
          <p:cNvSpPr>
            <a:spLocks noGrp="1"/>
          </p:cNvSpPr>
          <p:nvPr>
            <p:ph type="title" idx="1"/>
          </p:nvPr>
        </p:nvSpPr>
        <p:spPr/>
        <p:txBody>
          <a:bodyPr/>
          <a:lstStyle/>
          <a:p>
            <a:r>
              <a:rPr lang="en-US" dirty="0"/>
              <a:t>Personalization: Scene description</a:t>
            </a:r>
          </a:p>
        </p:txBody>
      </p:sp>
      <p:sp>
        <p:nvSpPr>
          <p:cNvPr id="4" name="Content Placeholder 3">
            <a:extLst>
              <a:ext uri="{FF2B5EF4-FFF2-40B4-BE49-F238E27FC236}">
                <a16:creationId xmlns:a16="http://schemas.microsoft.com/office/drawing/2014/main" id="{36E4CB49-59AE-0007-C29D-C6CDCFA83730}"/>
              </a:ext>
            </a:extLst>
          </p:cNvPr>
          <p:cNvSpPr>
            <a:spLocks noGrp="1"/>
          </p:cNvSpPr>
          <p:nvPr>
            <p:ph idx="2"/>
          </p:nvPr>
        </p:nvSpPr>
        <p:spPr>
          <a:xfrm>
            <a:off x="365760" y="1165536"/>
            <a:ext cx="11466576" cy="1845888"/>
          </a:xfrm>
        </p:spPr>
        <p:txBody>
          <a:bodyPr/>
          <a:lstStyle/>
          <a:p>
            <a:r>
              <a:rPr lang="en-US" dirty="0"/>
              <a:t>Descriptions of visual elements </a:t>
            </a:r>
          </a:p>
          <a:p>
            <a:r>
              <a:rPr lang="en-US" dirty="0"/>
              <a:t>Alt-text generation</a:t>
            </a:r>
          </a:p>
          <a:p>
            <a:r>
              <a:rPr lang="en-US" dirty="0"/>
              <a:t>Multilingual descriptions</a:t>
            </a:r>
          </a:p>
          <a:p>
            <a:endParaRPr lang="en-US" dirty="0"/>
          </a:p>
          <a:p>
            <a:endParaRPr lang="en-US" dirty="0"/>
          </a:p>
        </p:txBody>
      </p:sp>
      <p:pic>
        <p:nvPicPr>
          <p:cNvPr id="17" name="Content Placeholder 5">
            <a:extLst>
              <a:ext uri="{FF2B5EF4-FFF2-40B4-BE49-F238E27FC236}">
                <a16:creationId xmlns:a16="http://schemas.microsoft.com/office/drawing/2014/main" id="{08905ABF-986A-1CBB-B0AE-8011D4402717}"/>
              </a:ext>
            </a:extLst>
          </p:cNvPr>
          <p:cNvPicPr>
            <a:picLocks noChangeAspect="1"/>
          </p:cNvPicPr>
          <p:nvPr/>
        </p:nvPicPr>
        <p:blipFill>
          <a:blip r:embed="rId3"/>
          <a:stretch>
            <a:fillRect/>
          </a:stretch>
        </p:blipFill>
        <p:spPr>
          <a:xfrm>
            <a:off x="2682950" y="3853606"/>
            <a:ext cx="937756" cy="937756"/>
          </a:xfrm>
          <a:prstGeom prst="rect">
            <a:avLst/>
          </a:prstGeom>
        </p:spPr>
      </p:pic>
      <p:cxnSp>
        <p:nvCxnSpPr>
          <p:cNvPr id="18" name="Straight Arrow Connector 17">
            <a:extLst>
              <a:ext uri="{FF2B5EF4-FFF2-40B4-BE49-F238E27FC236}">
                <a16:creationId xmlns:a16="http://schemas.microsoft.com/office/drawing/2014/main" id="{78A9CDC1-9567-848E-B893-E8842CBC42A6}"/>
              </a:ext>
            </a:extLst>
          </p:cNvPr>
          <p:cNvCxnSpPr>
            <a:cxnSpLocks/>
            <a:stCxn id="17" idx="3"/>
          </p:cNvCxnSpPr>
          <p:nvPr/>
        </p:nvCxnSpPr>
        <p:spPr>
          <a:xfrm>
            <a:off x="3620706" y="4322484"/>
            <a:ext cx="2227960" cy="667164"/>
          </a:xfrm>
          <a:prstGeom prst="straightConnector1">
            <a:avLst/>
          </a:prstGeom>
          <a:noFill/>
          <a:ln w="63500" cap="flat" cmpd="sng" algn="ctr">
            <a:solidFill>
              <a:srgbClr val="9F1D7B"/>
            </a:solidFill>
            <a:prstDash val="solid"/>
            <a:miter lim="800000"/>
            <a:tailEnd type="triangle"/>
          </a:ln>
          <a:effectLst/>
        </p:spPr>
      </p:cxnSp>
      <p:pic>
        <p:nvPicPr>
          <p:cNvPr id="19" name="Content Placeholder 16">
            <a:extLst>
              <a:ext uri="{FF2B5EF4-FFF2-40B4-BE49-F238E27FC236}">
                <a16:creationId xmlns:a16="http://schemas.microsoft.com/office/drawing/2014/main" id="{F83865F1-FD23-D061-D80F-DF5EDDF59954}"/>
              </a:ext>
            </a:extLst>
          </p:cNvPr>
          <p:cNvPicPr>
            <a:picLocks noChangeAspect="1"/>
          </p:cNvPicPr>
          <p:nvPr/>
        </p:nvPicPr>
        <p:blipFill>
          <a:blip r:embed="rId4"/>
          <a:stretch>
            <a:fillRect/>
          </a:stretch>
        </p:blipFill>
        <p:spPr>
          <a:xfrm>
            <a:off x="2445125" y="4527309"/>
            <a:ext cx="1364647" cy="1364647"/>
          </a:xfrm>
          <a:prstGeom prst="rect">
            <a:avLst/>
          </a:prstGeom>
        </p:spPr>
      </p:pic>
      <p:cxnSp>
        <p:nvCxnSpPr>
          <p:cNvPr id="20" name="Straight Arrow Connector 19">
            <a:extLst>
              <a:ext uri="{FF2B5EF4-FFF2-40B4-BE49-F238E27FC236}">
                <a16:creationId xmlns:a16="http://schemas.microsoft.com/office/drawing/2014/main" id="{D8934AA3-8AA6-1109-3A23-4B2734A4D735}"/>
              </a:ext>
            </a:extLst>
          </p:cNvPr>
          <p:cNvCxnSpPr>
            <a:cxnSpLocks/>
          </p:cNvCxnSpPr>
          <p:nvPr/>
        </p:nvCxnSpPr>
        <p:spPr>
          <a:xfrm>
            <a:off x="3620706" y="5209632"/>
            <a:ext cx="2227960" cy="26789"/>
          </a:xfrm>
          <a:prstGeom prst="straightConnector1">
            <a:avLst/>
          </a:prstGeom>
          <a:noFill/>
          <a:ln w="63500" cap="flat" cmpd="sng" algn="ctr">
            <a:solidFill>
              <a:srgbClr val="9F1D7B"/>
            </a:solidFill>
            <a:prstDash val="solid"/>
            <a:miter lim="800000"/>
            <a:tailEnd type="triangle"/>
          </a:ln>
          <a:effectLst/>
        </p:spPr>
      </p:cxnSp>
      <p:sp>
        <p:nvSpPr>
          <p:cNvPr id="21" name="Graphic 27" descr="Clapper board with solid fill">
            <a:extLst>
              <a:ext uri="{FF2B5EF4-FFF2-40B4-BE49-F238E27FC236}">
                <a16:creationId xmlns:a16="http://schemas.microsoft.com/office/drawing/2014/main" id="{E0CAC4B2-F761-AD77-CA53-F9FCEA011D57}"/>
              </a:ext>
            </a:extLst>
          </p:cNvPr>
          <p:cNvSpPr/>
          <p:nvPr/>
        </p:nvSpPr>
        <p:spPr>
          <a:xfrm>
            <a:off x="2711709" y="5765744"/>
            <a:ext cx="880237" cy="718509"/>
          </a:xfrm>
          <a:custGeom>
            <a:avLst/>
            <a:gdLst>
              <a:gd name="connsiteX0" fmla="*/ 208285 w 721588"/>
              <a:gd name="connsiteY0" fmla="*/ 226586 h 627468"/>
              <a:gd name="connsiteX1" fmla="*/ 710259 w 721588"/>
              <a:gd name="connsiteY1" fmla="*/ 137694 h 627468"/>
              <a:gd name="connsiteX2" fmla="*/ 685857 w 721588"/>
              <a:gd name="connsiteY2" fmla="*/ 0 h 627468"/>
              <a:gd name="connsiteX3" fmla="*/ 0 w 721588"/>
              <a:gd name="connsiteY3" fmla="*/ 122008 h 627468"/>
              <a:gd name="connsiteX4" fmla="*/ 22659 w 721588"/>
              <a:gd name="connsiteY4" fmla="*/ 250116 h 627468"/>
              <a:gd name="connsiteX5" fmla="*/ 24402 w 721588"/>
              <a:gd name="connsiteY5" fmla="*/ 592609 h 627468"/>
              <a:gd name="connsiteX6" fmla="*/ 59261 w 721588"/>
              <a:gd name="connsiteY6" fmla="*/ 627468 h 627468"/>
              <a:gd name="connsiteX7" fmla="*/ 686729 w 721588"/>
              <a:gd name="connsiteY7" fmla="*/ 627468 h 627468"/>
              <a:gd name="connsiteX8" fmla="*/ 721588 w 721588"/>
              <a:gd name="connsiteY8" fmla="*/ 592609 h 627468"/>
              <a:gd name="connsiteX9" fmla="*/ 721588 w 721588"/>
              <a:gd name="connsiteY9" fmla="*/ 226586 h 627468"/>
              <a:gd name="connsiteX10" fmla="*/ 208285 w 721588"/>
              <a:gd name="connsiteY10" fmla="*/ 226586 h 627468"/>
              <a:gd name="connsiteX11" fmla="*/ 599581 w 721588"/>
              <a:gd name="connsiteY11" fmla="*/ 50546 h 627468"/>
              <a:gd name="connsiteX12" fmla="*/ 657970 w 721588"/>
              <a:gd name="connsiteY12" fmla="*/ 40088 h 627468"/>
              <a:gd name="connsiteX13" fmla="*/ 659713 w 721588"/>
              <a:gd name="connsiteY13" fmla="*/ 50546 h 627468"/>
              <a:gd name="connsiteX14" fmla="*/ 611781 w 721588"/>
              <a:gd name="connsiteY14" fmla="*/ 118522 h 627468"/>
              <a:gd name="connsiteX15" fmla="*/ 543806 w 721588"/>
              <a:gd name="connsiteY15" fmla="*/ 131594 h 627468"/>
              <a:gd name="connsiteX16" fmla="*/ 599581 w 721588"/>
              <a:gd name="connsiteY16" fmla="*/ 50546 h 627468"/>
              <a:gd name="connsiteX17" fmla="*/ 458400 w 721588"/>
              <a:gd name="connsiteY17" fmla="*/ 75819 h 627468"/>
              <a:gd name="connsiteX18" fmla="*/ 527247 w 721588"/>
              <a:gd name="connsiteY18" fmla="*/ 63618 h 627468"/>
              <a:gd name="connsiteX19" fmla="*/ 470601 w 721588"/>
              <a:gd name="connsiteY19" fmla="*/ 144666 h 627468"/>
              <a:gd name="connsiteX20" fmla="*/ 401754 w 721588"/>
              <a:gd name="connsiteY20" fmla="*/ 156867 h 627468"/>
              <a:gd name="connsiteX21" fmla="*/ 458400 w 721588"/>
              <a:gd name="connsiteY21" fmla="*/ 75819 h 627468"/>
              <a:gd name="connsiteX22" fmla="*/ 316348 w 721588"/>
              <a:gd name="connsiteY22" fmla="*/ 101092 h 627468"/>
              <a:gd name="connsiteX23" fmla="*/ 385196 w 721588"/>
              <a:gd name="connsiteY23" fmla="*/ 88891 h 627468"/>
              <a:gd name="connsiteX24" fmla="*/ 328549 w 721588"/>
              <a:gd name="connsiteY24" fmla="*/ 169939 h 627468"/>
              <a:gd name="connsiteX25" fmla="*/ 259702 w 721588"/>
              <a:gd name="connsiteY25" fmla="*/ 182140 h 627468"/>
              <a:gd name="connsiteX26" fmla="*/ 316348 w 721588"/>
              <a:gd name="connsiteY26" fmla="*/ 101092 h 627468"/>
              <a:gd name="connsiteX27" fmla="*/ 175168 w 721588"/>
              <a:gd name="connsiteY27" fmla="*/ 126365 h 627468"/>
              <a:gd name="connsiteX28" fmla="*/ 244015 w 721588"/>
              <a:gd name="connsiteY28" fmla="*/ 114164 h 627468"/>
              <a:gd name="connsiteX29" fmla="*/ 187369 w 721588"/>
              <a:gd name="connsiteY29" fmla="*/ 195212 h 627468"/>
              <a:gd name="connsiteX30" fmla="*/ 118522 w 721588"/>
              <a:gd name="connsiteY30" fmla="*/ 207413 h 627468"/>
              <a:gd name="connsiteX31" fmla="*/ 175168 w 721588"/>
              <a:gd name="connsiteY31" fmla="*/ 126365 h 627468"/>
              <a:gd name="connsiteX32" fmla="*/ 101964 w 721588"/>
              <a:gd name="connsiteY32" fmla="*/ 139437 h 627468"/>
              <a:gd name="connsiteX33" fmla="*/ 51418 w 721588"/>
              <a:gd name="connsiteY33" fmla="*/ 211770 h 627468"/>
              <a:gd name="connsiteX34" fmla="*/ 40088 w 721588"/>
              <a:gd name="connsiteY34" fmla="*/ 149895 h 627468"/>
              <a:gd name="connsiteX35" fmla="*/ 101964 w 721588"/>
              <a:gd name="connsiteY35" fmla="*/ 139437 h 627468"/>
              <a:gd name="connsiteX36" fmla="*/ 582151 w 721588"/>
              <a:gd name="connsiteY36" fmla="*/ 444457 h 627468"/>
              <a:gd name="connsiteX37" fmla="*/ 163839 w 721588"/>
              <a:gd name="connsiteY37" fmla="*/ 444457 h 627468"/>
              <a:gd name="connsiteX38" fmla="*/ 163839 w 721588"/>
              <a:gd name="connsiteY38" fmla="*/ 339879 h 627468"/>
              <a:gd name="connsiteX39" fmla="*/ 582151 w 721588"/>
              <a:gd name="connsiteY39" fmla="*/ 339879 h 627468"/>
              <a:gd name="connsiteX40" fmla="*/ 582151 w 721588"/>
              <a:gd name="connsiteY40" fmla="*/ 444457 h 62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21588" h="627468">
                <a:moveTo>
                  <a:pt x="208285" y="226586"/>
                </a:moveTo>
                <a:lnTo>
                  <a:pt x="710259" y="137694"/>
                </a:lnTo>
                <a:lnTo>
                  <a:pt x="685857" y="0"/>
                </a:lnTo>
                <a:lnTo>
                  <a:pt x="0" y="122008"/>
                </a:lnTo>
                <a:lnTo>
                  <a:pt x="22659" y="250116"/>
                </a:lnTo>
                <a:lnTo>
                  <a:pt x="24402" y="592609"/>
                </a:lnTo>
                <a:cubicBezTo>
                  <a:pt x="24402" y="611781"/>
                  <a:pt x="40088" y="627468"/>
                  <a:pt x="59261" y="627468"/>
                </a:cubicBezTo>
                <a:lnTo>
                  <a:pt x="686729" y="627468"/>
                </a:lnTo>
                <a:cubicBezTo>
                  <a:pt x="705902" y="627468"/>
                  <a:pt x="721588" y="611781"/>
                  <a:pt x="721588" y="592609"/>
                </a:cubicBezTo>
                <a:lnTo>
                  <a:pt x="721588" y="226586"/>
                </a:lnTo>
                <a:lnTo>
                  <a:pt x="208285" y="226586"/>
                </a:lnTo>
                <a:close/>
                <a:moveTo>
                  <a:pt x="599581" y="50546"/>
                </a:moveTo>
                <a:lnTo>
                  <a:pt x="657970" y="40088"/>
                </a:lnTo>
                <a:lnTo>
                  <a:pt x="659713" y="50546"/>
                </a:lnTo>
                <a:lnTo>
                  <a:pt x="611781" y="118522"/>
                </a:lnTo>
                <a:lnTo>
                  <a:pt x="543806" y="131594"/>
                </a:lnTo>
                <a:lnTo>
                  <a:pt x="599581" y="50546"/>
                </a:lnTo>
                <a:close/>
                <a:moveTo>
                  <a:pt x="458400" y="75819"/>
                </a:moveTo>
                <a:lnTo>
                  <a:pt x="527247" y="63618"/>
                </a:lnTo>
                <a:lnTo>
                  <a:pt x="470601" y="144666"/>
                </a:lnTo>
                <a:lnTo>
                  <a:pt x="401754" y="156867"/>
                </a:lnTo>
                <a:lnTo>
                  <a:pt x="458400" y="75819"/>
                </a:lnTo>
                <a:close/>
                <a:moveTo>
                  <a:pt x="316348" y="101092"/>
                </a:moveTo>
                <a:lnTo>
                  <a:pt x="385196" y="88891"/>
                </a:lnTo>
                <a:lnTo>
                  <a:pt x="328549" y="169939"/>
                </a:lnTo>
                <a:lnTo>
                  <a:pt x="259702" y="182140"/>
                </a:lnTo>
                <a:lnTo>
                  <a:pt x="316348" y="101092"/>
                </a:lnTo>
                <a:close/>
                <a:moveTo>
                  <a:pt x="175168" y="126365"/>
                </a:moveTo>
                <a:lnTo>
                  <a:pt x="244015" y="114164"/>
                </a:lnTo>
                <a:lnTo>
                  <a:pt x="187369" y="195212"/>
                </a:lnTo>
                <a:lnTo>
                  <a:pt x="118522" y="207413"/>
                </a:lnTo>
                <a:lnTo>
                  <a:pt x="175168" y="126365"/>
                </a:lnTo>
                <a:close/>
                <a:moveTo>
                  <a:pt x="101964" y="139437"/>
                </a:moveTo>
                <a:lnTo>
                  <a:pt x="51418" y="211770"/>
                </a:lnTo>
                <a:lnTo>
                  <a:pt x="40088" y="149895"/>
                </a:lnTo>
                <a:lnTo>
                  <a:pt x="101964" y="139437"/>
                </a:lnTo>
                <a:close/>
                <a:moveTo>
                  <a:pt x="582151" y="444457"/>
                </a:moveTo>
                <a:lnTo>
                  <a:pt x="163839" y="444457"/>
                </a:lnTo>
                <a:lnTo>
                  <a:pt x="163839" y="339879"/>
                </a:lnTo>
                <a:lnTo>
                  <a:pt x="582151" y="339879"/>
                </a:lnTo>
                <a:lnTo>
                  <a:pt x="582151" y="444457"/>
                </a:lnTo>
                <a:close/>
              </a:path>
            </a:pathLst>
          </a:custGeom>
          <a:solidFill>
            <a:srgbClr val="000000"/>
          </a:solidFill>
          <a:ln w="8632" cap="flat">
            <a:noFill/>
            <a:prstDash val="solid"/>
            <a:miter/>
          </a:ln>
        </p:spPr>
        <p:txBody>
          <a:bodyPr rtlCol="0" anchor="ctr"/>
          <a:lstStyle/>
          <a:p>
            <a:endParaRPr lang="en-US">
              <a:solidFill>
                <a:srgbClr val="232F3E"/>
              </a:solidFill>
              <a:latin typeface="Amazon Ember Light"/>
            </a:endParaRPr>
          </a:p>
        </p:txBody>
      </p:sp>
      <p:cxnSp>
        <p:nvCxnSpPr>
          <p:cNvPr id="22" name="Straight Arrow Connector 21">
            <a:extLst>
              <a:ext uri="{FF2B5EF4-FFF2-40B4-BE49-F238E27FC236}">
                <a16:creationId xmlns:a16="http://schemas.microsoft.com/office/drawing/2014/main" id="{AF75E9FD-BEBC-5AA3-F0C0-AF8EA7332F39}"/>
              </a:ext>
            </a:extLst>
          </p:cNvPr>
          <p:cNvCxnSpPr>
            <a:cxnSpLocks/>
          </p:cNvCxnSpPr>
          <p:nvPr/>
        </p:nvCxnSpPr>
        <p:spPr>
          <a:xfrm flipV="1">
            <a:off x="3689956" y="5434707"/>
            <a:ext cx="2158710" cy="783607"/>
          </a:xfrm>
          <a:prstGeom prst="straightConnector1">
            <a:avLst/>
          </a:prstGeom>
          <a:noFill/>
          <a:ln w="63500" cap="flat" cmpd="sng" algn="ctr">
            <a:solidFill>
              <a:srgbClr val="9F1D7B"/>
            </a:solidFill>
            <a:prstDash val="solid"/>
            <a:miter lim="800000"/>
            <a:tailEnd type="triangle"/>
          </a:ln>
          <a:effectLst/>
        </p:spPr>
      </p:cxnSp>
      <p:cxnSp>
        <p:nvCxnSpPr>
          <p:cNvPr id="23" name="Straight Arrow Connector 22">
            <a:extLst>
              <a:ext uri="{FF2B5EF4-FFF2-40B4-BE49-F238E27FC236}">
                <a16:creationId xmlns:a16="http://schemas.microsoft.com/office/drawing/2014/main" id="{488EB9A6-9AD2-EC5C-EC8B-661EAA877303}"/>
              </a:ext>
            </a:extLst>
          </p:cNvPr>
          <p:cNvCxnSpPr>
            <a:cxnSpLocks/>
            <a:endCxn id="27" idx="1"/>
          </p:cNvCxnSpPr>
          <p:nvPr/>
        </p:nvCxnSpPr>
        <p:spPr>
          <a:xfrm>
            <a:off x="6786422" y="5236421"/>
            <a:ext cx="1146159" cy="0"/>
          </a:xfrm>
          <a:prstGeom prst="straightConnector1">
            <a:avLst/>
          </a:prstGeom>
          <a:noFill/>
          <a:ln w="63500" cap="flat" cmpd="sng" algn="ctr">
            <a:solidFill>
              <a:srgbClr val="9F1D7B"/>
            </a:solidFill>
            <a:prstDash val="solid"/>
            <a:miter lim="800000"/>
            <a:tailEnd type="triangle"/>
          </a:ln>
          <a:effectLst/>
        </p:spPr>
      </p:cxnSp>
      <p:sp>
        <p:nvSpPr>
          <p:cNvPr id="24" name="TextBox 23">
            <a:extLst>
              <a:ext uri="{FF2B5EF4-FFF2-40B4-BE49-F238E27FC236}">
                <a16:creationId xmlns:a16="http://schemas.microsoft.com/office/drawing/2014/main" id="{50CEE594-3794-029D-1D17-960D083CBC92}"/>
              </a:ext>
            </a:extLst>
          </p:cNvPr>
          <p:cNvSpPr txBox="1"/>
          <p:nvPr/>
        </p:nvSpPr>
        <p:spPr>
          <a:xfrm>
            <a:off x="1220761" y="4196877"/>
            <a:ext cx="1380506" cy="369332"/>
          </a:xfrm>
          <a:prstGeom prst="rect">
            <a:avLst/>
          </a:prstGeom>
          <a:noFill/>
        </p:spPr>
        <p:txBody>
          <a:bodyPr wrap="none" rtlCol="0">
            <a:spAutoFit/>
          </a:bodyPr>
          <a:lstStyle/>
          <a:p>
            <a:pPr algn="r"/>
            <a:r>
              <a:rPr lang="en-US" dirty="0">
                <a:solidFill>
                  <a:srgbClr val="DF2A5D"/>
                </a:solidFill>
                <a:latin typeface="Amazon Ember Medium"/>
              </a:rPr>
              <a:t>Documents</a:t>
            </a:r>
          </a:p>
        </p:txBody>
      </p:sp>
      <p:sp>
        <p:nvSpPr>
          <p:cNvPr id="25" name="TextBox 24">
            <a:extLst>
              <a:ext uri="{FF2B5EF4-FFF2-40B4-BE49-F238E27FC236}">
                <a16:creationId xmlns:a16="http://schemas.microsoft.com/office/drawing/2014/main" id="{2C8DB67C-7071-1DB8-DC52-B601C4230421}"/>
              </a:ext>
            </a:extLst>
          </p:cNvPr>
          <p:cNvSpPr txBox="1"/>
          <p:nvPr/>
        </p:nvSpPr>
        <p:spPr>
          <a:xfrm>
            <a:off x="1658380" y="5027647"/>
            <a:ext cx="942887" cy="369332"/>
          </a:xfrm>
          <a:prstGeom prst="rect">
            <a:avLst/>
          </a:prstGeom>
          <a:noFill/>
        </p:spPr>
        <p:txBody>
          <a:bodyPr wrap="none" rtlCol="0">
            <a:spAutoFit/>
          </a:bodyPr>
          <a:lstStyle/>
          <a:p>
            <a:r>
              <a:rPr lang="en-US" dirty="0">
                <a:solidFill>
                  <a:srgbClr val="DF2A5D"/>
                </a:solidFill>
                <a:latin typeface="Amazon Ember Medium"/>
              </a:rPr>
              <a:t>Images</a:t>
            </a:r>
          </a:p>
        </p:txBody>
      </p:sp>
      <p:sp>
        <p:nvSpPr>
          <p:cNvPr id="26" name="TextBox 25">
            <a:extLst>
              <a:ext uri="{FF2B5EF4-FFF2-40B4-BE49-F238E27FC236}">
                <a16:creationId xmlns:a16="http://schemas.microsoft.com/office/drawing/2014/main" id="{798158ED-E99E-AFEC-7E7F-04C0B08A45CD}"/>
              </a:ext>
            </a:extLst>
          </p:cNvPr>
          <p:cNvSpPr txBox="1"/>
          <p:nvPr/>
        </p:nvSpPr>
        <p:spPr>
          <a:xfrm>
            <a:off x="1708074" y="6009273"/>
            <a:ext cx="893193" cy="369332"/>
          </a:xfrm>
          <a:prstGeom prst="rect">
            <a:avLst/>
          </a:prstGeom>
          <a:noFill/>
        </p:spPr>
        <p:txBody>
          <a:bodyPr wrap="none" rtlCol="0">
            <a:spAutoFit/>
          </a:bodyPr>
          <a:lstStyle/>
          <a:p>
            <a:pPr algn="r"/>
            <a:r>
              <a:rPr lang="en-US" dirty="0">
                <a:solidFill>
                  <a:srgbClr val="DF2A5D"/>
                </a:solidFill>
                <a:latin typeface="Amazon Ember Medium"/>
              </a:rPr>
              <a:t>Videos</a:t>
            </a:r>
          </a:p>
        </p:txBody>
      </p:sp>
      <p:sp>
        <p:nvSpPr>
          <p:cNvPr id="27" name="Rounded Rectangle 26">
            <a:extLst>
              <a:ext uri="{FF2B5EF4-FFF2-40B4-BE49-F238E27FC236}">
                <a16:creationId xmlns:a16="http://schemas.microsoft.com/office/drawing/2014/main" id="{F7FA1E24-D0AA-6B1C-11FB-08ADA31A75FF}"/>
              </a:ext>
            </a:extLst>
          </p:cNvPr>
          <p:cNvSpPr/>
          <p:nvPr/>
        </p:nvSpPr>
        <p:spPr>
          <a:xfrm>
            <a:off x="7932581" y="4867372"/>
            <a:ext cx="2127250" cy="738097"/>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Description</a:t>
            </a:r>
          </a:p>
        </p:txBody>
      </p:sp>
      <p:pic>
        <p:nvPicPr>
          <p:cNvPr id="28" name="Picture 5">
            <a:extLst>
              <a:ext uri="{FF2B5EF4-FFF2-40B4-BE49-F238E27FC236}">
                <a16:creationId xmlns:a16="http://schemas.microsoft.com/office/drawing/2014/main" id="{17261CBB-9992-CE6F-5149-E320DA86DA8C}"/>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6905" b="1817"/>
          <a:stretch/>
        </p:blipFill>
        <p:spPr>
          <a:xfrm>
            <a:off x="5848666" y="4641410"/>
            <a:ext cx="955821" cy="1004459"/>
          </a:xfrm>
          <a:prstGeom prst="rect">
            <a:avLst/>
          </a:prstGeom>
          <a:effectLst/>
        </p:spPr>
      </p:pic>
    </p:spTree>
    <p:extLst>
      <p:ext uri="{BB962C8B-B14F-4D97-AF65-F5344CB8AC3E}">
        <p14:creationId xmlns:p14="http://schemas.microsoft.com/office/powerpoint/2010/main" val="3071095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12961-96BF-102F-9E1E-F0BB8F943AA5}"/>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0CCA8CC0-A0A6-FB10-C5ED-31D0EA243EA2}"/>
              </a:ext>
            </a:extLst>
          </p:cNvPr>
          <p:cNvSpPr>
            <a:spLocks noGrp="1"/>
          </p:cNvSpPr>
          <p:nvPr>
            <p:ph type="title" idx="1"/>
          </p:nvPr>
        </p:nvSpPr>
        <p:spPr/>
        <p:txBody>
          <a:bodyPr>
            <a:normAutofit fontScale="90000"/>
          </a:bodyPr>
          <a:lstStyle/>
          <a:p>
            <a:r>
              <a:rPr lang="en-US" dirty="0"/>
              <a:t>Personalization: Personalized presentations example</a:t>
            </a:r>
          </a:p>
        </p:txBody>
      </p:sp>
      <p:sp>
        <p:nvSpPr>
          <p:cNvPr id="4" name="Content Placeholder 3">
            <a:extLst>
              <a:ext uri="{FF2B5EF4-FFF2-40B4-BE49-F238E27FC236}">
                <a16:creationId xmlns:a16="http://schemas.microsoft.com/office/drawing/2014/main" id="{1E375371-DF9E-5341-617C-85AFAB416BDD}"/>
              </a:ext>
            </a:extLst>
          </p:cNvPr>
          <p:cNvSpPr>
            <a:spLocks noGrp="1"/>
          </p:cNvSpPr>
          <p:nvPr>
            <p:ph idx="2"/>
          </p:nvPr>
        </p:nvSpPr>
        <p:spPr>
          <a:xfrm>
            <a:off x="365760" y="1165536"/>
            <a:ext cx="11466576" cy="2821248"/>
          </a:xfrm>
        </p:spPr>
        <p:txBody>
          <a:bodyPr/>
          <a:lstStyle/>
          <a:p>
            <a:r>
              <a:rPr lang="en-US" dirty="0"/>
              <a:t>Generate </a:t>
            </a:r>
            <a:r>
              <a:rPr lang="en-US" dirty="0">
                <a:solidFill>
                  <a:schemeClr val="accent6"/>
                </a:solidFill>
              </a:rPr>
              <a:t>personalized transcripts </a:t>
            </a:r>
            <a:r>
              <a:rPr lang="en-US" dirty="0"/>
              <a:t>and notes </a:t>
            </a:r>
          </a:p>
          <a:p>
            <a:pPr lvl="1"/>
            <a:r>
              <a:rPr lang="en-US" dirty="0" err="1"/>
              <a:t>Eg</a:t>
            </a:r>
            <a:r>
              <a:rPr lang="en-US" dirty="0"/>
              <a:t>: Academic courses tailored for each student/ group</a:t>
            </a:r>
          </a:p>
          <a:p>
            <a:r>
              <a:rPr lang="en-US" dirty="0"/>
              <a:t>Examples and anecdotes that appeal to audience’s interest</a:t>
            </a:r>
          </a:p>
          <a:p>
            <a:r>
              <a:rPr lang="en-US" dirty="0">
                <a:solidFill>
                  <a:schemeClr val="accent6"/>
                </a:solidFill>
              </a:rPr>
              <a:t>Minimal human supervision</a:t>
            </a:r>
          </a:p>
          <a:p>
            <a:pPr lvl="1"/>
            <a:r>
              <a:rPr lang="en-US" dirty="0"/>
              <a:t>Proofing required</a:t>
            </a:r>
          </a:p>
          <a:p>
            <a:endParaRPr lang="en-US" dirty="0"/>
          </a:p>
        </p:txBody>
      </p:sp>
      <p:pic>
        <p:nvPicPr>
          <p:cNvPr id="5" name="Content Placeholder 21">
            <a:extLst>
              <a:ext uri="{FF2B5EF4-FFF2-40B4-BE49-F238E27FC236}">
                <a16:creationId xmlns:a16="http://schemas.microsoft.com/office/drawing/2014/main" id="{C4CCA987-4A4A-D4B1-9763-376B6A303827}"/>
              </a:ext>
            </a:extLst>
          </p:cNvPr>
          <p:cNvPicPr>
            <a:picLocks noChangeAspect="1"/>
          </p:cNvPicPr>
          <p:nvPr/>
        </p:nvPicPr>
        <p:blipFill rotWithShape="1">
          <a:blip r:embed="rId3"/>
          <a:srcRect l="41537" t="12847" r="41459" b="25931"/>
          <a:stretch/>
        </p:blipFill>
        <p:spPr>
          <a:xfrm>
            <a:off x="2223626" y="4067961"/>
            <a:ext cx="1710532" cy="1725516"/>
          </a:xfrm>
          <a:prstGeom prst="rect">
            <a:avLst/>
          </a:prstGeom>
        </p:spPr>
      </p:pic>
      <p:cxnSp>
        <p:nvCxnSpPr>
          <p:cNvPr id="6" name="Straight Arrow Connector 5">
            <a:extLst>
              <a:ext uri="{FF2B5EF4-FFF2-40B4-BE49-F238E27FC236}">
                <a16:creationId xmlns:a16="http://schemas.microsoft.com/office/drawing/2014/main" id="{29E37872-D245-8596-CE15-A10865DFCFB1}"/>
              </a:ext>
            </a:extLst>
          </p:cNvPr>
          <p:cNvCxnSpPr>
            <a:cxnSpLocks/>
            <a:stCxn id="5" idx="3"/>
          </p:cNvCxnSpPr>
          <p:nvPr/>
        </p:nvCxnSpPr>
        <p:spPr>
          <a:xfrm>
            <a:off x="3934158" y="4930719"/>
            <a:ext cx="895520" cy="0"/>
          </a:xfrm>
          <a:prstGeom prst="straightConnector1">
            <a:avLst/>
          </a:prstGeom>
          <a:noFill/>
          <a:ln w="63500" cap="flat" cmpd="sng" algn="ctr">
            <a:solidFill>
              <a:srgbClr val="9F1D7B"/>
            </a:solidFill>
            <a:prstDash val="solid"/>
            <a:miter lim="800000"/>
            <a:tailEnd type="triangle"/>
          </a:ln>
          <a:effectLst/>
        </p:spPr>
      </p:cxnSp>
      <p:cxnSp>
        <p:nvCxnSpPr>
          <p:cNvPr id="7" name="Straight Arrow Connector 6">
            <a:extLst>
              <a:ext uri="{FF2B5EF4-FFF2-40B4-BE49-F238E27FC236}">
                <a16:creationId xmlns:a16="http://schemas.microsoft.com/office/drawing/2014/main" id="{DA2CFB5E-CE79-73F2-B7B7-54B9570E4D9E}"/>
              </a:ext>
            </a:extLst>
          </p:cNvPr>
          <p:cNvCxnSpPr>
            <a:cxnSpLocks/>
            <a:endCxn id="8" idx="1"/>
          </p:cNvCxnSpPr>
          <p:nvPr/>
        </p:nvCxnSpPr>
        <p:spPr>
          <a:xfrm>
            <a:off x="6043472" y="4930719"/>
            <a:ext cx="895520" cy="0"/>
          </a:xfrm>
          <a:prstGeom prst="straightConnector1">
            <a:avLst/>
          </a:prstGeom>
          <a:noFill/>
          <a:ln w="63500" cap="flat" cmpd="sng" algn="ctr">
            <a:solidFill>
              <a:srgbClr val="9F1D7B"/>
            </a:solidFill>
            <a:prstDash val="solid"/>
            <a:miter lim="800000"/>
            <a:tailEnd type="triangle"/>
          </a:ln>
          <a:effectLst/>
        </p:spPr>
      </p:cxnSp>
      <p:sp>
        <p:nvSpPr>
          <p:cNvPr id="8" name="Rounded Rectangle 7">
            <a:extLst>
              <a:ext uri="{FF2B5EF4-FFF2-40B4-BE49-F238E27FC236}">
                <a16:creationId xmlns:a16="http://schemas.microsoft.com/office/drawing/2014/main" id="{C7D5C9AA-74D2-0656-3557-1F69A74D3661}"/>
              </a:ext>
            </a:extLst>
          </p:cNvPr>
          <p:cNvSpPr/>
          <p:nvPr/>
        </p:nvSpPr>
        <p:spPr>
          <a:xfrm>
            <a:off x="6938992" y="4453037"/>
            <a:ext cx="2520143" cy="955364"/>
          </a:xfrm>
          <a:prstGeom prst="roundRect">
            <a:avLst/>
          </a:prstGeom>
          <a:solidFill>
            <a:srgbClr val="9F1D7B"/>
          </a:solidFill>
          <a:ln w="12700" cap="flat" cmpd="sng" algn="ctr">
            <a:solidFill>
              <a:srgbClr val="7C5AE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Personalized Transcripts</a:t>
            </a:r>
          </a:p>
        </p:txBody>
      </p:sp>
      <p:sp>
        <p:nvSpPr>
          <p:cNvPr id="9" name="TextBox 8">
            <a:extLst>
              <a:ext uri="{FF2B5EF4-FFF2-40B4-BE49-F238E27FC236}">
                <a16:creationId xmlns:a16="http://schemas.microsoft.com/office/drawing/2014/main" id="{B783F6D7-ABFF-C6B1-8981-29BBD9748D10}"/>
              </a:ext>
            </a:extLst>
          </p:cNvPr>
          <p:cNvSpPr txBox="1"/>
          <p:nvPr/>
        </p:nvSpPr>
        <p:spPr>
          <a:xfrm>
            <a:off x="2598237" y="5537616"/>
            <a:ext cx="961310" cy="400110"/>
          </a:xfrm>
          <a:prstGeom prst="rect">
            <a:avLst/>
          </a:prstGeom>
          <a:noFill/>
        </p:spPr>
        <p:txBody>
          <a:bodyPr wrap="square" rtlCol="0">
            <a:spAutoFit/>
          </a:bodyPr>
          <a:lstStyle/>
          <a:p>
            <a:pPr algn="ctr"/>
            <a:r>
              <a:rPr lang="en-US" sz="2000" dirty="0">
                <a:solidFill>
                  <a:srgbClr val="DF2A5D"/>
                </a:solidFill>
                <a:latin typeface="Amazon Ember Medium"/>
              </a:rPr>
              <a:t>Slides</a:t>
            </a:r>
          </a:p>
        </p:txBody>
      </p:sp>
      <p:pic>
        <p:nvPicPr>
          <p:cNvPr id="10" name="Picture 5">
            <a:extLst>
              <a:ext uri="{FF2B5EF4-FFF2-40B4-BE49-F238E27FC236}">
                <a16:creationId xmlns:a16="http://schemas.microsoft.com/office/drawing/2014/main" id="{BD4E2772-58D9-2168-E4F9-AC0C789D8BDB}"/>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6905" b="1817"/>
          <a:stretch/>
        </p:blipFill>
        <p:spPr>
          <a:xfrm>
            <a:off x="4924141" y="4331381"/>
            <a:ext cx="1024868" cy="1077020"/>
          </a:xfrm>
          <a:prstGeom prst="rect">
            <a:avLst/>
          </a:prstGeom>
          <a:effectLst/>
        </p:spPr>
      </p:pic>
    </p:spTree>
    <p:extLst>
      <p:ext uri="{BB962C8B-B14F-4D97-AF65-F5344CB8AC3E}">
        <p14:creationId xmlns:p14="http://schemas.microsoft.com/office/powerpoint/2010/main" val="2333028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06B323-7871-E559-62C5-10588CDB7E81}"/>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A18AEB8D-1684-2A0E-CBE9-64E5A787AFEB}"/>
              </a:ext>
            </a:extLst>
          </p:cNvPr>
          <p:cNvSpPr>
            <a:spLocks noGrp="1"/>
          </p:cNvSpPr>
          <p:nvPr>
            <p:ph type="title" idx="1"/>
          </p:nvPr>
        </p:nvSpPr>
        <p:spPr/>
        <p:txBody>
          <a:bodyPr/>
          <a:lstStyle/>
          <a:p>
            <a:r>
              <a:rPr lang="en-US" dirty="0"/>
              <a:t>Video Analysis (1/3)</a:t>
            </a:r>
          </a:p>
        </p:txBody>
      </p:sp>
      <p:sp>
        <p:nvSpPr>
          <p:cNvPr id="4" name="Content Placeholder 3">
            <a:extLst>
              <a:ext uri="{FF2B5EF4-FFF2-40B4-BE49-F238E27FC236}">
                <a16:creationId xmlns:a16="http://schemas.microsoft.com/office/drawing/2014/main" id="{1F6A6CFD-D6DB-B512-9E3D-BD18F797A900}"/>
              </a:ext>
            </a:extLst>
          </p:cNvPr>
          <p:cNvSpPr>
            <a:spLocks noGrp="1"/>
          </p:cNvSpPr>
          <p:nvPr>
            <p:ph idx="2"/>
          </p:nvPr>
        </p:nvSpPr>
        <p:spPr/>
        <p:txBody>
          <a:bodyPr/>
          <a:lstStyle/>
          <a:p>
            <a:r>
              <a:rPr lang="en-US" dirty="0">
                <a:solidFill>
                  <a:schemeClr val="accent6"/>
                </a:solidFill>
              </a:rPr>
              <a:t>Navigate videos</a:t>
            </a:r>
          </a:p>
          <a:p>
            <a:pPr lvl="1"/>
            <a:r>
              <a:rPr lang="en-US" dirty="0"/>
              <a:t>Jump to exactly when a topic was first introduced</a:t>
            </a:r>
          </a:p>
          <a:p>
            <a:pPr lvl="1"/>
            <a:r>
              <a:rPr lang="en-US" dirty="0"/>
              <a:t>Find all mentions of a concept</a:t>
            </a:r>
          </a:p>
          <a:p>
            <a:pPr lvl="1"/>
            <a:r>
              <a:rPr lang="en-US" dirty="0"/>
              <a:t>Skip to next topic</a:t>
            </a:r>
          </a:p>
          <a:p>
            <a:r>
              <a:rPr lang="en-US" dirty="0">
                <a:solidFill>
                  <a:schemeClr val="accent6"/>
                </a:solidFill>
              </a:rPr>
              <a:t>Summarize videos</a:t>
            </a:r>
          </a:p>
          <a:p>
            <a:pPr lvl="1"/>
            <a:r>
              <a:rPr lang="en-US" dirty="0"/>
              <a:t>Summarize entire videos</a:t>
            </a:r>
          </a:p>
          <a:p>
            <a:pPr lvl="1"/>
            <a:r>
              <a:rPr lang="en-US" dirty="0"/>
              <a:t>Summarize explanation of each concept </a:t>
            </a:r>
          </a:p>
          <a:p>
            <a:pPr lvl="1"/>
            <a:r>
              <a:rPr lang="en-US" dirty="0"/>
              <a:t>Summarize within time range (</a:t>
            </a:r>
            <a:r>
              <a:rPr lang="en-US" dirty="0" err="1"/>
              <a:t>eg</a:t>
            </a:r>
            <a:r>
              <a:rPr lang="en-US" dirty="0"/>
              <a:t>: first 10 mins)</a:t>
            </a:r>
          </a:p>
          <a:p>
            <a:pPr lvl="1"/>
            <a:endParaRPr lang="en-US" dirty="0"/>
          </a:p>
          <a:p>
            <a:endParaRPr lang="en-US" dirty="0"/>
          </a:p>
        </p:txBody>
      </p:sp>
    </p:spTree>
    <p:extLst>
      <p:ext uri="{BB962C8B-B14F-4D97-AF65-F5344CB8AC3E}">
        <p14:creationId xmlns:p14="http://schemas.microsoft.com/office/powerpoint/2010/main" val="158646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AF48FA-9021-0143-A530-11AE263B38B3}"/>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0A6BD729-A82D-EBAB-D415-1D6F1756C537}"/>
              </a:ext>
            </a:extLst>
          </p:cNvPr>
          <p:cNvSpPr>
            <a:spLocks noGrp="1"/>
          </p:cNvSpPr>
          <p:nvPr>
            <p:ph type="title" idx="1"/>
          </p:nvPr>
        </p:nvSpPr>
        <p:spPr/>
        <p:txBody>
          <a:bodyPr/>
          <a:lstStyle/>
          <a:p>
            <a:r>
              <a:rPr lang="en-US" dirty="0"/>
              <a:t>Video Analysis (2/3)</a:t>
            </a:r>
          </a:p>
        </p:txBody>
      </p:sp>
      <p:sp>
        <p:nvSpPr>
          <p:cNvPr id="4" name="Content Placeholder 3">
            <a:extLst>
              <a:ext uri="{FF2B5EF4-FFF2-40B4-BE49-F238E27FC236}">
                <a16:creationId xmlns:a16="http://schemas.microsoft.com/office/drawing/2014/main" id="{BFC67BF5-61EC-8531-9312-D952BFA3362C}"/>
              </a:ext>
            </a:extLst>
          </p:cNvPr>
          <p:cNvSpPr>
            <a:spLocks noGrp="1"/>
          </p:cNvSpPr>
          <p:nvPr>
            <p:ph idx="2"/>
          </p:nvPr>
        </p:nvSpPr>
        <p:spPr/>
        <p:txBody>
          <a:bodyPr/>
          <a:lstStyle/>
          <a:p>
            <a:r>
              <a:rPr lang="en-US" dirty="0">
                <a:solidFill>
                  <a:schemeClr val="accent6"/>
                </a:solidFill>
              </a:rPr>
              <a:t>Personalize video consumption</a:t>
            </a:r>
          </a:p>
          <a:p>
            <a:pPr lvl="1"/>
            <a:r>
              <a:rPr lang="en-US" dirty="0"/>
              <a:t>Detailed explanations of concepts or short summaries</a:t>
            </a:r>
          </a:p>
          <a:p>
            <a:pPr lvl="1"/>
            <a:r>
              <a:rPr lang="en-US" dirty="0"/>
              <a:t>Provide examples to support concepts presented in videos</a:t>
            </a:r>
          </a:p>
          <a:p>
            <a:r>
              <a:rPr lang="en-US" dirty="0">
                <a:solidFill>
                  <a:schemeClr val="accent6"/>
                </a:solidFill>
              </a:rPr>
              <a:t>Multilingual Q&amp;A for improved accessibility</a:t>
            </a:r>
          </a:p>
          <a:p>
            <a:r>
              <a:rPr lang="en-US" dirty="0">
                <a:solidFill>
                  <a:schemeClr val="accent6"/>
                </a:solidFill>
              </a:rPr>
              <a:t>Extract step-by-step instructions from walkthrough videos</a:t>
            </a:r>
          </a:p>
          <a:p>
            <a:pPr lvl="1"/>
            <a:r>
              <a:rPr lang="en-US" dirty="0"/>
              <a:t>Troubleshoot and assist with setup process</a:t>
            </a:r>
          </a:p>
          <a:p>
            <a:endParaRPr lang="en-US" dirty="0"/>
          </a:p>
          <a:p>
            <a:endParaRPr lang="en-US" dirty="0"/>
          </a:p>
        </p:txBody>
      </p:sp>
    </p:spTree>
    <p:extLst>
      <p:ext uri="{BB962C8B-B14F-4D97-AF65-F5344CB8AC3E}">
        <p14:creationId xmlns:p14="http://schemas.microsoft.com/office/powerpoint/2010/main" val="3961371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2928AB-2EC3-F22F-7C50-0BBCBCA40554}"/>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1F7D71B2-873E-6D1B-C9C2-0BC01F09EF6A}"/>
              </a:ext>
            </a:extLst>
          </p:cNvPr>
          <p:cNvSpPr>
            <a:spLocks noGrp="1"/>
          </p:cNvSpPr>
          <p:nvPr>
            <p:ph type="title" idx="1"/>
          </p:nvPr>
        </p:nvSpPr>
        <p:spPr/>
        <p:txBody>
          <a:bodyPr/>
          <a:lstStyle/>
          <a:p>
            <a:r>
              <a:rPr lang="en-US" dirty="0"/>
              <a:t>Video Analysis (3/3)</a:t>
            </a:r>
          </a:p>
        </p:txBody>
      </p:sp>
      <p:sp>
        <p:nvSpPr>
          <p:cNvPr id="4" name="Content Placeholder 3">
            <a:extLst>
              <a:ext uri="{FF2B5EF4-FFF2-40B4-BE49-F238E27FC236}">
                <a16:creationId xmlns:a16="http://schemas.microsoft.com/office/drawing/2014/main" id="{345648F0-E9FE-CC94-16AB-0A1269F18709}"/>
              </a:ext>
            </a:extLst>
          </p:cNvPr>
          <p:cNvSpPr>
            <a:spLocks noGrp="1"/>
          </p:cNvSpPr>
          <p:nvPr>
            <p:ph idx="2"/>
          </p:nvPr>
        </p:nvSpPr>
        <p:spPr>
          <a:xfrm>
            <a:off x="365760" y="1165536"/>
            <a:ext cx="11466576" cy="2528640"/>
          </a:xfrm>
        </p:spPr>
        <p:txBody>
          <a:bodyPr/>
          <a:lstStyle/>
          <a:p>
            <a:r>
              <a:rPr lang="en-US" dirty="0"/>
              <a:t>Directly chat with videos</a:t>
            </a:r>
          </a:p>
          <a:p>
            <a:r>
              <a:rPr lang="en-US" dirty="0"/>
              <a:t>Model capable of video understanding</a:t>
            </a:r>
          </a:p>
          <a:p>
            <a:r>
              <a:rPr lang="en-US" dirty="0"/>
              <a:t>All the information is retrieved directly from the video</a:t>
            </a:r>
          </a:p>
          <a:p>
            <a:pPr lvl="1"/>
            <a:r>
              <a:rPr lang="en-US" dirty="0"/>
              <a:t>Challenging for some models to extract all the details with high recall</a:t>
            </a:r>
          </a:p>
          <a:p>
            <a:endParaRPr lang="en-US" dirty="0"/>
          </a:p>
        </p:txBody>
      </p:sp>
      <p:sp>
        <p:nvSpPr>
          <p:cNvPr id="13" name="Graphic 27" descr="Clapper board with solid fill">
            <a:extLst>
              <a:ext uri="{FF2B5EF4-FFF2-40B4-BE49-F238E27FC236}">
                <a16:creationId xmlns:a16="http://schemas.microsoft.com/office/drawing/2014/main" id="{4F1D0AD1-8212-9C0E-6E87-CBB40C4E1B69}"/>
              </a:ext>
            </a:extLst>
          </p:cNvPr>
          <p:cNvSpPr/>
          <p:nvPr/>
        </p:nvSpPr>
        <p:spPr>
          <a:xfrm>
            <a:off x="2648080" y="4597344"/>
            <a:ext cx="880237" cy="718509"/>
          </a:xfrm>
          <a:custGeom>
            <a:avLst/>
            <a:gdLst>
              <a:gd name="connsiteX0" fmla="*/ 208285 w 721588"/>
              <a:gd name="connsiteY0" fmla="*/ 226586 h 627468"/>
              <a:gd name="connsiteX1" fmla="*/ 710259 w 721588"/>
              <a:gd name="connsiteY1" fmla="*/ 137694 h 627468"/>
              <a:gd name="connsiteX2" fmla="*/ 685857 w 721588"/>
              <a:gd name="connsiteY2" fmla="*/ 0 h 627468"/>
              <a:gd name="connsiteX3" fmla="*/ 0 w 721588"/>
              <a:gd name="connsiteY3" fmla="*/ 122008 h 627468"/>
              <a:gd name="connsiteX4" fmla="*/ 22659 w 721588"/>
              <a:gd name="connsiteY4" fmla="*/ 250116 h 627468"/>
              <a:gd name="connsiteX5" fmla="*/ 24402 w 721588"/>
              <a:gd name="connsiteY5" fmla="*/ 592609 h 627468"/>
              <a:gd name="connsiteX6" fmla="*/ 59261 w 721588"/>
              <a:gd name="connsiteY6" fmla="*/ 627468 h 627468"/>
              <a:gd name="connsiteX7" fmla="*/ 686729 w 721588"/>
              <a:gd name="connsiteY7" fmla="*/ 627468 h 627468"/>
              <a:gd name="connsiteX8" fmla="*/ 721588 w 721588"/>
              <a:gd name="connsiteY8" fmla="*/ 592609 h 627468"/>
              <a:gd name="connsiteX9" fmla="*/ 721588 w 721588"/>
              <a:gd name="connsiteY9" fmla="*/ 226586 h 627468"/>
              <a:gd name="connsiteX10" fmla="*/ 208285 w 721588"/>
              <a:gd name="connsiteY10" fmla="*/ 226586 h 627468"/>
              <a:gd name="connsiteX11" fmla="*/ 599581 w 721588"/>
              <a:gd name="connsiteY11" fmla="*/ 50546 h 627468"/>
              <a:gd name="connsiteX12" fmla="*/ 657970 w 721588"/>
              <a:gd name="connsiteY12" fmla="*/ 40088 h 627468"/>
              <a:gd name="connsiteX13" fmla="*/ 659713 w 721588"/>
              <a:gd name="connsiteY13" fmla="*/ 50546 h 627468"/>
              <a:gd name="connsiteX14" fmla="*/ 611781 w 721588"/>
              <a:gd name="connsiteY14" fmla="*/ 118522 h 627468"/>
              <a:gd name="connsiteX15" fmla="*/ 543806 w 721588"/>
              <a:gd name="connsiteY15" fmla="*/ 131594 h 627468"/>
              <a:gd name="connsiteX16" fmla="*/ 599581 w 721588"/>
              <a:gd name="connsiteY16" fmla="*/ 50546 h 627468"/>
              <a:gd name="connsiteX17" fmla="*/ 458400 w 721588"/>
              <a:gd name="connsiteY17" fmla="*/ 75819 h 627468"/>
              <a:gd name="connsiteX18" fmla="*/ 527247 w 721588"/>
              <a:gd name="connsiteY18" fmla="*/ 63618 h 627468"/>
              <a:gd name="connsiteX19" fmla="*/ 470601 w 721588"/>
              <a:gd name="connsiteY19" fmla="*/ 144666 h 627468"/>
              <a:gd name="connsiteX20" fmla="*/ 401754 w 721588"/>
              <a:gd name="connsiteY20" fmla="*/ 156867 h 627468"/>
              <a:gd name="connsiteX21" fmla="*/ 458400 w 721588"/>
              <a:gd name="connsiteY21" fmla="*/ 75819 h 627468"/>
              <a:gd name="connsiteX22" fmla="*/ 316348 w 721588"/>
              <a:gd name="connsiteY22" fmla="*/ 101092 h 627468"/>
              <a:gd name="connsiteX23" fmla="*/ 385196 w 721588"/>
              <a:gd name="connsiteY23" fmla="*/ 88891 h 627468"/>
              <a:gd name="connsiteX24" fmla="*/ 328549 w 721588"/>
              <a:gd name="connsiteY24" fmla="*/ 169939 h 627468"/>
              <a:gd name="connsiteX25" fmla="*/ 259702 w 721588"/>
              <a:gd name="connsiteY25" fmla="*/ 182140 h 627468"/>
              <a:gd name="connsiteX26" fmla="*/ 316348 w 721588"/>
              <a:gd name="connsiteY26" fmla="*/ 101092 h 627468"/>
              <a:gd name="connsiteX27" fmla="*/ 175168 w 721588"/>
              <a:gd name="connsiteY27" fmla="*/ 126365 h 627468"/>
              <a:gd name="connsiteX28" fmla="*/ 244015 w 721588"/>
              <a:gd name="connsiteY28" fmla="*/ 114164 h 627468"/>
              <a:gd name="connsiteX29" fmla="*/ 187369 w 721588"/>
              <a:gd name="connsiteY29" fmla="*/ 195212 h 627468"/>
              <a:gd name="connsiteX30" fmla="*/ 118522 w 721588"/>
              <a:gd name="connsiteY30" fmla="*/ 207413 h 627468"/>
              <a:gd name="connsiteX31" fmla="*/ 175168 w 721588"/>
              <a:gd name="connsiteY31" fmla="*/ 126365 h 627468"/>
              <a:gd name="connsiteX32" fmla="*/ 101964 w 721588"/>
              <a:gd name="connsiteY32" fmla="*/ 139437 h 627468"/>
              <a:gd name="connsiteX33" fmla="*/ 51418 w 721588"/>
              <a:gd name="connsiteY33" fmla="*/ 211770 h 627468"/>
              <a:gd name="connsiteX34" fmla="*/ 40088 w 721588"/>
              <a:gd name="connsiteY34" fmla="*/ 149895 h 627468"/>
              <a:gd name="connsiteX35" fmla="*/ 101964 w 721588"/>
              <a:gd name="connsiteY35" fmla="*/ 139437 h 627468"/>
              <a:gd name="connsiteX36" fmla="*/ 582151 w 721588"/>
              <a:gd name="connsiteY36" fmla="*/ 444457 h 627468"/>
              <a:gd name="connsiteX37" fmla="*/ 163839 w 721588"/>
              <a:gd name="connsiteY37" fmla="*/ 444457 h 627468"/>
              <a:gd name="connsiteX38" fmla="*/ 163839 w 721588"/>
              <a:gd name="connsiteY38" fmla="*/ 339879 h 627468"/>
              <a:gd name="connsiteX39" fmla="*/ 582151 w 721588"/>
              <a:gd name="connsiteY39" fmla="*/ 339879 h 627468"/>
              <a:gd name="connsiteX40" fmla="*/ 582151 w 721588"/>
              <a:gd name="connsiteY40" fmla="*/ 444457 h 62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21588" h="627468">
                <a:moveTo>
                  <a:pt x="208285" y="226586"/>
                </a:moveTo>
                <a:lnTo>
                  <a:pt x="710259" y="137694"/>
                </a:lnTo>
                <a:lnTo>
                  <a:pt x="685857" y="0"/>
                </a:lnTo>
                <a:lnTo>
                  <a:pt x="0" y="122008"/>
                </a:lnTo>
                <a:lnTo>
                  <a:pt x="22659" y="250116"/>
                </a:lnTo>
                <a:lnTo>
                  <a:pt x="24402" y="592609"/>
                </a:lnTo>
                <a:cubicBezTo>
                  <a:pt x="24402" y="611781"/>
                  <a:pt x="40088" y="627468"/>
                  <a:pt x="59261" y="627468"/>
                </a:cubicBezTo>
                <a:lnTo>
                  <a:pt x="686729" y="627468"/>
                </a:lnTo>
                <a:cubicBezTo>
                  <a:pt x="705902" y="627468"/>
                  <a:pt x="721588" y="611781"/>
                  <a:pt x="721588" y="592609"/>
                </a:cubicBezTo>
                <a:lnTo>
                  <a:pt x="721588" y="226586"/>
                </a:lnTo>
                <a:lnTo>
                  <a:pt x="208285" y="226586"/>
                </a:lnTo>
                <a:close/>
                <a:moveTo>
                  <a:pt x="599581" y="50546"/>
                </a:moveTo>
                <a:lnTo>
                  <a:pt x="657970" y="40088"/>
                </a:lnTo>
                <a:lnTo>
                  <a:pt x="659713" y="50546"/>
                </a:lnTo>
                <a:lnTo>
                  <a:pt x="611781" y="118522"/>
                </a:lnTo>
                <a:lnTo>
                  <a:pt x="543806" y="131594"/>
                </a:lnTo>
                <a:lnTo>
                  <a:pt x="599581" y="50546"/>
                </a:lnTo>
                <a:close/>
                <a:moveTo>
                  <a:pt x="458400" y="75819"/>
                </a:moveTo>
                <a:lnTo>
                  <a:pt x="527247" y="63618"/>
                </a:lnTo>
                <a:lnTo>
                  <a:pt x="470601" y="144666"/>
                </a:lnTo>
                <a:lnTo>
                  <a:pt x="401754" y="156867"/>
                </a:lnTo>
                <a:lnTo>
                  <a:pt x="458400" y="75819"/>
                </a:lnTo>
                <a:close/>
                <a:moveTo>
                  <a:pt x="316348" y="101092"/>
                </a:moveTo>
                <a:lnTo>
                  <a:pt x="385196" y="88891"/>
                </a:lnTo>
                <a:lnTo>
                  <a:pt x="328549" y="169939"/>
                </a:lnTo>
                <a:lnTo>
                  <a:pt x="259702" y="182140"/>
                </a:lnTo>
                <a:lnTo>
                  <a:pt x="316348" y="101092"/>
                </a:lnTo>
                <a:close/>
                <a:moveTo>
                  <a:pt x="175168" y="126365"/>
                </a:moveTo>
                <a:lnTo>
                  <a:pt x="244015" y="114164"/>
                </a:lnTo>
                <a:lnTo>
                  <a:pt x="187369" y="195212"/>
                </a:lnTo>
                <a:lnTo>
                  <a:pt x="118522" y="207413"/>
                </a:lnTo>
                <a:lnTo>
                  <a:pt x="175168" y="126365"/>
                </a:lnTo>
                <a:close/>
                <a:moveTo>
                  <a:pt x="101964" y="139437"/>
                </a:moveTo>
                <a:lnTo>
                  <a:pt x="51418" y="211770"/>
                </a:lnTo>
                <a:lnTo>
                  <a:pt x="40088" y="149895"/>
                </a:lnTo>
                <a:lnTo>
                  <a:pt x="101964" y="139437"/>
                </a:lnTo>
                <a:close/>
                <a:moveTo>
                  <a:pt x="582151" y="444457"/>
                </a:moveTo>
                <a:lnTo>
                  <a:pt x="163839" y="444457"/>
                </a:lnTo>
                <a:lnTo>
                  <a:pt x="163839" y="339879"/>
                </a:lnTo>
                <a:lnTo>
                  <a:pt x="582151" y="339879"/>
                </a:lnTo>
                <a:lnTo>
                  <a:pt x="582151" y="444457"/>
                </a:lnTo>
                <a:close/>
              </a:path>
            </a:pathLst>
          </a:custGeom>
          <a:solidFill>
            <a:srgbClr val="000000"/>
          </a:solidFill>
          <a:ln w="8632" cap="flat">
            <a:noFill/>
            <a:prstDash val="solid"/>
            <a:miter/>
          </a:ln>
        </p:spPr>
        <p:txBody>
          <a:bodyPr rtlCol="0" anchor="ctr"/>
          <a:lstStyle/>
          <a:p>
            <a:endParaRPr lang="en-US">
              <a:solidFill>
                <a:srgbClr val="232F3E"/>
              </a:solidFill>
              <a:latin typeface="Amazon Ember Light"/>
            </a:endParaRPr>
          </a:p>
        </p:txBody>
      </p:sp>
      <p:sp>
        <p:nvSpPr>
          <p:cNvPr id="14" name="TextBox 13">
            <a:extLst>
              <a:ext uri="{FF2B5EF4-FFF2-40B4-BE49-F238E27FC236}">
                <a16:creationId xmlns:a16="http://schemas.microsoft.com/office/drawing/2014/main" id="{79701351-1729-827B-430A-824076D10CEA}"/>
              </a:ext>
            </a:extLst>
          </p:cNvPr>
          <p:cNvSpPr txBox="1"/>
          <p:nvPr/>
        </p:nvSpPr>
        <p:spPr>
          <a:xfrm>
            <a:off x="2641600" y="4228012"/>
            <a:ext cx="893194" cy="369332"/>
          </a:xfrm>
          <a:prstGeom prst="rect">
            <a:avLst/>
          </a:prstGeom>
          <a:noFill/>
        </p:spPr>
        <p:txBody>
          <a:bodyPr wrap="none" rtlCol="0">
            <a:spAutoFit/>
          </a:bodyPr>
          <a:lstStyle/>
          <a:p>
            <a:pPr algn="ctr"/>
            <a:r>
              <a:rPr lang="en-US" dirty="0">
                <a:solidFill>
                  <a:srgbClr val="DF2A5D"/>
                </a:solidFill>
                <a:latin typeface="Amazon Ember Medium"/>
              </a:rPr>
              <a:t>Videos</a:t>
            </a:r>
          </a:p>
        </p:txBody>
      </p:sp>
      <p:cxnSp>
        <p:nvCxnSpPr>
          <p:cNvPr id="15" name="Straight Arrow Connector 14">
            <a:extLst>
              <a:ext uri="{FF2B5EF4-FFF2-40B4-BE49-F238E27FC236}">
                <a16:creationId xmlns:a16="http://schemas.microsoft.com/office/drawing/2014/main" id="{5948A6A8-1178-10A8-93E9-B6A22144A4F8}"/>
              </a:ext>
            </a:extLst>
          </p:cNvPr>
          <p:cNvCxnSpPr>
            <a:cxnSpLocks/>
          </p:cNvCxnSpPr>
          <p:nvPr/>
        </p:nvCxnSpPr>
        <p:spPr>
          <a:xfrm>
            <a:off x="3762708" y="4981519"/>
            <a:ext cx="895520" cy="0"/>
          </a:xfrm>
          <a:prstGeom prst="straightConnector1">
            <a:avLst/>
          </a:prstGeom>
          <a:noFill/>
          <a:ln w="63500" cap="flat" cmpd="sng" algn="ctr">
            <a:solidFill>
              <a:srgbClr val="9F1D7B"/>
            </a:solidFill>
            <a:prstDash val="solid"/>
            <a:miter lim="800000"/>
            <a:tailEnd type="triangle"/>
          </a:ln>
          <a:effectLst/>
        </p:spPr>
      </p:cxnSp>
      <p:cxnSp>
        <p:nvCxnSpPr>
          <p:cNvPr id="16" name="Straight Arrow Connector 15">
            <a:extLst>
              <a:ext uri="{FF2B5EF4-FFF2-40B4-BE49-F238E27FC236}">
                <a16:creationId xmlns:a16="http://schemas.microsoft.com/office/drawing/2014/main" id="{B99D008B-3BEC-B3B4-81DB-93EAD6B5A37D}"/>
              </a:ext>
            </a:extLst>
          </p:cNvPr>
          <p:cNvCxnSpPr>
            <a:cxnSpLocks/>
          </p:cNvCxnSpPr>
          <p:nvPr/>
        </p:nvCxnSpPr>
        <p:spPr>
          <a:xfrm>
            <a:off x="5889958" y="4987757"/>
            <a:ext cx="895520" cy="0"/>
          </a:xfrm>
          <a:prstGeom prst="straightConnector1">
            <a:avLst/>
          </a:prstGeom>
          <a:noFill/>
          <a:ln w="63500" cap="flat" cmpd="sng" algn="ctr">
            <a:solidFill>
              <a:srgbClr val="9F1D7B"/>
            </a:solidFill>
            <a:prstDash val="solid"/>
            <a:miter lim="800000"/>
            <a:tailEnd type="triangle"/>
          </a:ln>
          <a:effectLst/>
        </p:spPr>
      </p:cxnSp>
      <p:sp>
        <p:nvSpPr>
          <p:cNvPr id="17" name="Rounded Rectangle 16">
            <a:extLst>
              <a:ext uri="{FF2B5EF4-FFF2-40B4-BE49-F238E27FC236}">
                <a16:creationId xmlns:a16="http://schemas.microsoft.com/office/drawing/2014/main" id="{D66337CC-F556-8EC2-55C7-8E3D8115E576}"/>
              </a:ext>
            </a:extLst>
          </p:cNvPr>
          <p:cNvSpPr/>
          <p:nvPr/>
        </p:nvSpPr>
        <p:spPr>
          <a:xfrm>
            <a:off x="6785478" y="4612470"/>
            <a:ext cx="2127250" cy="738097"/>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Response</a:t>
            </a:r>
          </a:p>
        </p:txBody>
      </p:sp>
      <p:sp>
        <p:nvSpPr>
          <p:cNvPr id="18" name="Rounded Rectangle 17">
            <a:extLst>
              <a:ext uri="{FF2B5EF4-FFF2-40B4-BE49-F238E27FC236}">
                <a16:creationId xmlns:a16="http://schemas.microsoft.com/office/drawing/2014/main" id="{92224E0E-B721-29ED-F142-42A7979A9588}"/>
              </a:ext>
            </a:extLst>
          </p:cNvPr>
          <p:cNvSpPr/>
          <p:nvPr/>
        </p:nvSpPr>
        <p:spPr>
          <a:xfrm>
            <a:off x="4698578" y="5880848"/>
            <a:ext cx="1119289" cy="278284"/>
          </a:xfrm>
          <a:prstGeom prst="roundRect">
            <a:avLst/>
          </a:prstGeom>
          <a:solidFill>
            <a:srgbClr val="DF2A5D"/>
          </a:solidFill>
          <a:ln w="12700" cap="flat" cmpd="sng" algn="ctr">
            <a:solidFill>
              <a:srgbClr val="7C5AE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mazon Ember Medium"/>
                <a:ea typeface="+mn-ea"/>
                <a:cs typeface="+mn-cs"/>
              </a:rPr>
              <a:t>Prompt</a:t>
            </a: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cxnSp>
        <p:nvCxnSpPr>
          <p:cNvPr id="19" name="Straight Arrow Connector 18">
            <a:extLst>
              <a:ext uri="{FF2B5EF4-FFF2-40B4-BE49-F238E27FC236}">
                <a16:creationId xmlns:a16="http://schemas.microsoft.com/office/drawing/2014/main" id="{CC0DDAA4-8058-1DA2-5599-815C019E464D}"/>
              </a:ext>
            </a:extLst>
          </p:cNvPr>
          <p:cNvCxnSpPr>
            <a:cxnSpLocks/>
            <a:stCxn id="18" idx="0"/>
          </p:cNvCxnSpPr>
          <p:nvPr/>
        </p:nvCxnSpPr>
        <p:spPr>
          <a:xfrm flipV="1">
            <a:off x="5258223" y="5500840"/>
            <a:ext cx="0" cy="380008"/>
          </a:xfrm>
          <a:prstGeom prst="straightConnector1">
            <a:avLst/>
          </a:prstGeom>
          <a:noFill/>
          <a:ln w="63500" cap="flat" cmpd="sng" algn="ctr">
            <a:solidFill>
              <a:srgbClr val="9F1D7B"/>
            </a:solidFill>
            <a:prstDash val="solid"/>
            <a:miter lim="800000"/>
            <a:tailEnd type="triangle"/>
          </a:ln>
          <a:effectLst/>
        </p:spPr>
      </p:cxnSp>
      <p:pic>
        <p:nvPicPr>
          <p:cNvPr id="20" name="Picture 5">
            <a:extLst>
              <a:ext uri="{FF2B5EF4-FFF2-40B4-BE49-F238E27FC236}">
                <a16:creationId xmlns:a16="http://schemas.microsoft.com/office/drawing/2014/main" id="{06FD91D5-72F8-361C-ACF7-548C0E30C02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760047" y="4400825"/>
            <a:ext cx="1024868" cy="1077020"/>
          </a:xfrm>
          <a:prstGeom prst="rect">
            <a:avLst/>
          </a:prstGeom>
          <a:effectLst/>
        </p:spPr>
      </p:pic>
    </p:spTree>
    <p:extLst>
      <p:ext uri="{BB962C8B-B14F-4D97-AF65-F5344CB8AC3E}">
        <p14:creationId xmlns:p14="http://schemas.microsoft.com/office/powerpoint/2010/main" val="172877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3C4A3F-ADE9-50FE-1A9D-C7095450FA5B}"/>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A9CC9194-6F69-0ADB-A514-8ADC28C2C934}"/>
              </a:ext>
            </a:extLst>
          </p:cNvPr>
          <p:cNvSpPr>
            <a:spLocks noGrp="1"/>
          </p:cNvSpPr>
          <p:nvPr>
            <p:ph type="title" idx="1"/>
          </p:nvPr>
        </p:nvSpPr>
        <p:spPr/>
        <p:txBody>
          <a:bodyPr/>
          <a:lstStyle/>
          <a:p>
            <a:r>
              <a:rPr lang="en-US" dirty="0"/>
              <a:t>Customer service applications (1/2)</a:t>
            </a:r>
          </a:p>
        </p:txBody>
      </p:sp>
      <p:sp>
        <p:nvSpPr>
          <p:cNvPr id="4" name="Content Placeholder 3">
            <a:extLst>
              <a:ext uri="{FF2B5EF4-FFF2-40B4-BE49-F238E27FC236}">
                <a16:creationId xmlns:a16="http://schemas.microsoft.com/office/drawing/2014/main" id="{15A6EFDB-D53E-04B1-57B2-0C5126EA0349}"/>
              </a:ext>
            </a:extLst>
          </p:cNvPr>
          <p:cNvSpPr>
            <a:spLocks noGrp="1"/>
          </p:cNvSpPr>
          <p:nvPr>
            <p:ph idx="2"/>
          </p:nvPr>
        </p:nvSpPr>
        <p:spPr>
          <a:xfrm>
            <a:off x="365760" y="1165536"/>
            <a:ext cx="11466576" cy="1821504"/>
          </a:xfrm>
        </p:spPr>
        <p:txBody>
          <a:bodyPr/>
          <a:lstStyle/>
          <a:p>
            <a:r>
              <a:rPr lang="en-US" dirty="0"/>
              <a:t>Describe the issue with text, images, videos, etc.</a:t>
            </a:r>
          </a:p>
          <a:p>
            <a:r>
              <a:rPr lang="en-US" dirty="0"/>
              <a:t>Vector database contains relevant documents for resolution</a:t>
            </a:r>
          </a:p>
          <a:p>
            <a:pPr lvl="1"/>
            <a:r>
              <a:rPr lang="en-US" dirty="0"/>
              <a:t>User manual, FAQs, troubleshooting guide, etc.</a:t>
            </a:r>
          </a:p>
          <a:p>
            <a:endParaRPr lang="en-US" dirty="0"/>
          </a:p>
        </p:txBody>
      </p:sp>
      <p:cxnSp>
        <p:nvCxnSpPr>
          <p:cNvPr id="20" name="Straight Arrow Connector 19">
            <a:extLst>
              <a:ext uri="{FF2B5EF4-FFF2-40B4-BE49-F238E27FC236}">
                <a16:creationId xmlns:a16="http://schemas.microsoft.com/office/drawing/2014/main" id="{7BCFB3A5-DADB-2C96-EBF0-8612E3ED57C1}"/>
              </a:ext>
            </a:extLst>
          </p:cNvPr>
          <p:cNvCxnSpPr>
            <a:cxnSpLocks/>
          </p:cNvCxnSpPr>
          <p:nvPr/>
        </p:nvCxnSpPr>
        <p:spPr>
          <a:xfrm>
            <a:off x="6676192" y="5509530"/>
            <a:ext cx="895520" cy="0"/>
          </a:xfrm>
          <a:prstGeom prst="straightConnector1">
            <a:avLst/>
          </a:prstGeom>
          <a:noFill/>
          <a:ln w="63500" cap="flat" cmpd="sng" algn="ctr">
            <a:solidFill>
              <a:srgbClr val="9F1D7B"/>
            </a:solidFill>
            <a:prstDash val="solid"/>
            <a:miter lim="800000"/>
            <a:tailEnd type="triangle"/>
          </a:ln>
          <a:effectLst/>
        </p:spPr>
      </p:cxnSp>
      <p:sp>
        <p:nvSpPr>
          <p:cNvPr id="21" name="Rounded Rectangle 20">
            <a:extLst>
              <a:ext uri="{FF2B5EF4-FFF2-40B4-BE49-F238E27FC236}">
                <a16:creationId xmlns:a16="http://schemas.microsoft.com/office/drawing/2014/main" id="{A5D697BA-C710-6786-CB28-989424E61B11}"/>
              </a:ext>
            </a:extLst>
          </p:cNvPr>
          <p:cNvSpPr/>
          <p:nvPr/>
        </p:nvSpPr>
        <p:spPr>
          <a:xfrm>
            <a:off x="7571712" y="5134243"/>
            <a:ext cx="2127250" cy="738097"/>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Response</a:t>
            </a:r>
          </a:p>
        </p:txBody>
      </p:sp>
      <p:sp>
        <p:nvSpPr>
          <p:cNvPr id="22" name="Rounded Rectangle 21">
            <a:extLst>
              <a:ext uri="{FF2B5EF4-FFF2-40B4-BE49-F238E27FC236}">
                <a16:creationId xmlns:a16="http://schemas.microsoft.com/office/drawing/2014/main" id="{D2E2DD40-A711-58CB-1392-4292A546E091}"/>
              </a:ext>
            </a:extLst>
          </p:cNvPr>
          <p:cNvSpPr/>
          <p:nvPr/>
        </p:nvSpPr>
        <p:spPr>
          <a:xfrm>
            <a:off x="2665137" y="5872340"/>
            <a:ext cx="1310807" cy="377649"/>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Issue</a:t>
            </a:r>
            <a:endParaRPr kumimoji="0" lang="en-US" sz="2400" b="0" i="0" u="none" strike="noStrike" kern="0" cap="none" spc="0" normalizeH="0" baseline="0" noProof="0" dirty="0">
              <a:ln>
                <a:noFill/>
              </a:ln>
              <a:solidFill>
                <a:srgbClr val="FFFFFF"/>
              </a:solidFill>
              <a:effectLst/>
              <a:uLnTx/>
              <a:uFillTx/>
              <a:latin typeface="Amazon Ember Medium"/>
              <a:ea typeface="+mn-ea"/>
              <a:cs typeface="+mn-cs"/>
            </a:endParaRPr>
          </a:p>
        </p:txBody>
      </p:sp>
      <p:cxnSp>
        <p:nvCxnSpPr>
          <p:cNvPr id="23" name="Straight Arrow Connector 22">
            <a:extLst>
              <a:ext uri="{FF2B5EF4-FFF2-40B4-BE49-F238E27FC236}">
                <a16:creationId xmlns:a16="http://schemas.microsoft.com/office/drawing/2014/main" id="{E3E152F7-C43F-35DD-32A7-88460C8A1ED9}"/>
              </a:ext>
            </a:extLst>
          </p:cNvPr>
          <p:cNvCxnSpPr>
            <a:cxnSpLocks/>
            <a:stCxn id="22" idx="3"/>
          </p:cNvCxnSpPr>
          <p:nvPr/>
        </p:nvCxnSpPr>
        <p:spPr>
          <a:xfrm flipV="1">
            <a:off x="3975944" y="5623703"/>
            <a:ext cx="1604370" cy="437462"/>
          </a:xfrm>
          <a:prstGeom prst="straightConnector1">
            <a:avLst/>
          </a:prstGeom>
          <a:noFill/>
          <a:ln w="63500" cap="flat" cmpd="sng" algn="ctr">
            <a:solidFill>
              <a:srgbClr val="9F1D7B"/>
            </a:solidFill>
            <a:prstDash val="solid"/>
            <a:miter lim="800000"/>
            <a:tailEnd type="triangle"/>
          </a:ln>
          <a:effectLst/>
        </p:spPr>
      </p:cxnSp>
      <p:pic>
        <p:nvPicPr>
          <p:cNvPr id="24" name="Content Placeholder 16">
            <a:extLst>
              <a:ext uri="{FF2B5EF4-FFF2-40B4-BE49-F238E27FC236}">
                <a16:creationId xmlns:a16="http://schemas.microsoft.com/office/drawing/2014/main" id="{6A2AD756-4CA3-01D2-0213-2607B7CF63EA}"/>
              </a:ext>
            </a:extLst>
          </p:cNvPr>
          <p:cNvPicPr>
            <a:picLocks noChangeAspect="1"/>
          </p:cNvPicPr>
          <p:nvPr/>
        </p:nvPicPr>
        <p:blipFill rotWithShape="1">
          <a:blip r:embed="rId3"/>
          <a:srcRect l="14944" t="15228" r="15962" b="17365"/>
          <a:stretch/>
        </p:blipFill>
        <p:spPr>
          <a:xfrm>
            <a:off x="2815231" y="3874573"/>
            <a:ext cx="942887" cy="919865"/>
          </a:xfrm>
          <a:prstGeom prst="rect">
            <a:avLst/>
          </a:prstGeom>
        </p:spPr>
      </p:pic>
      <p:sp>
        <p:nvSpPr>
          <p:cNvPr id="25" name="Graphic 27" descr="Clapper board with solid fill">
            <a:extLst>
              <a:ext uri="{FF2B5EF4-FFF2-40B4-BE49-F238E27FC236}">
                <a16:creationId xmlns:a16="http://schemas.microsoft.com/office/drawing/2014/main" id="{DCD95C0F-3DB4-4A5F-EE7C-D5960F213CE8}"/>
              </a:ext>
            </a:extLst>
          </p:cNvPr>
          <p:cNvSpPr/>
          <p:nvPr/>
        </p:nvSpPr>
        <p:spPr>
          <a:xfrm>
            <a:off x="2877881" y="4905194"/>
            <a:ext cx="880237" cy="718509"/>
          </a:xfrm>
          <a:custGeom>
            <a:avLst/>
            <a:gdLst>
              <a:gd name="connsiteX0" fmla="*/ 208285 w 721588"/>
              <a:gd name="connsiteY0" fmla="*/ 226586 h 627468"/>
              <a:gd name="connsiteX1" fmla="*/ 710259 w 721588"/>
              <a:gd name="connsiteY1" fmla="*/ 137694 h 627468"/>
              <a:gd name="connsiteX2" fmla="*/ 685857 w 721588"/>
              <a:gd name="connsiteY2" fmla="*/ 0 h 627468"/>
              <a:gd name="connsiteX3" fmla="*/ 0 w 721588"/>
              <a:gd name="connsiteY3" fmla="*/ 122008 h 627468"/>
              <a:gd name="connsiteX4" fmla="*/ 22659 w 721588"/>
              <a:gd name="connsiteY4" fmla="*/ 250116 h 627468"/>
              <a:gd name="connsiteX5" fmla="*/ 24402 w 721588"/>
              <a:gd name="connsiteY5" fmla="*/ 592609 h 627468"/>
              <a:gd name="connsiteX6" fmla="*/ 59261 w 721588"/>
              <a:gd name="connsiteY6" fmla="*/ 627468 h 627468"/>
              <a:gd name="connsiteX7" fmla="*/ 686729 w 721588"/>
              <a:gd name="connsiteY7" fmla="*/ 627468 h 627468"/>
              <a:gd name="connsiteX8" fmla="*/ 721588 w 721588"/>
              <a:gd name="connsiteY8" fmla="*/ 592609 h 627468"/>
              <a:gd name="connsiteX9" fmla="*/ 721588 w 721588"/>
              <a:gd name="connsiteY9" fmla="*/ 226586 h 627468"/>
              <a:gd name="connsiteX10" fmla="*/ 208285 w 721588"/>
              <a:gd name="connsiteY10" fmla="*/ 226586 h 627468"/>
              <a:gd name="connsiteX11" fmla="*/ 599581 w 721588"/>
              <a:gd name="connsiteY11" fmla="*/ 50546 h 627468"/>
              <a:gd name="connsiteX12" fmla="*/ 657970 w 721588"/>
              <a:gd name="connsiteY12" fmla="*/ 40088 h 627468"/>
              <a:gd name="connsiteX13" fmla="*/ 659713 w 721588"/>
              <a:gd name="connsiteY13" fmla="*/ 50546 h 627468"/>
              <a:gd name="connsiteX14" fmla="*/ 611781 w 721588"/>
              <a:gd name="connsiteY14" fmla="*/ 118522 h 627468"/>
              <a:gd name="connsiteX15" fmla="*/ 543806 w 721588"/>
              <a:gd name="connsiteY15" fmla="*/ 131594 h 627468"/>
              <a:gd name="connsiteX16" fmla="*/ 599581 w 721588"/>
              <a:gd name="connsiteY16" fmla="*/ 50546 h 627468"/>
              <a:gd name="connsiteX17" fmla="*/ 458400 w 721588"/>
              <a:gd name="connsiteY17" fmla="*/ 75819 h 627468"/>
              <a:gd name="connsiteX18" fmla="*/ 527247 w 721588"/>
              <a:gd name="connsiteY18" fmla="*/ 63618 h 627468"/>
              <a:gd name="connsiteX19" fmla="*/ 470601 w 721588"/>
              <a:gd name="connsiteY19" fmla="*/ 144666 h 627468"/>
              <a:gd name="connsiteX20" fmla="*/ 401754 w 721588"/>
              <a:gd name="connsiteY20" fmla="*/ 156867 h 627468"/>
              <a:gd name="connsiteX21" fmla="*/ 458400 w 721588"/>
              <a:gd name="connsiteY21" fmla="*/ 75819 h 627468"/>
              <a:gd name="connsiteX22" fmla="*/ 316348 w 721588"/>
              <a:gd name="connsiteY22" fmla="*/ 101092 h 627468"/>
              <a:gd name="connsiteX23" fmla="*/ 385196 w 721588"/>
              <a:gd name="connsiteY23" fmla="*/ 88891 h 627468"/>
              <a:gd name="connsiteX24" fmla="*/ 328549 w 721588"/>
              <a:gd name="connsiteY24" fmla="*/ 169939 h 627468"/>
              <a:gd name="connsiteX25" fmla="*/ 259702 w 721588"/>
              <a:gd name="connsiteY25" fmla="*/ 182140 h 627468"/>
              <a:gd name="connsiteX26" fmla="*/ 316348 w 721588"/>
              <a:gd name="connsiteY26" fmla="*/ 101092 h 627468"/>
              <a:gd name="connsiteX27" fmla="*/ 175168 w 721588"/>
              <a:gd name="connsiteY27" fmla="*/ 126365 h 627468"/>
              <a:gd name="connsiteX28" fmla="*/ 244015 w 721588"/>
              <a:gd name="connsiteY28" fmla="*/ 114164 h 627468"/>
              <a:gd name="connsiteX29" fmla="*/ 187369 w 721588"/>
              <a:gd name="connsiteY29" fmla="*/ 195212 h 627468"/>
              <a:gd name="connsiteX30" fmla="*/ 118522 w 721588"/>
              <a:gd name="connsiteY30" fmla="*/ 207413 h 627468"/>
              <a:gd name="connsiteX31" fmla="*/ 175168 w 721588"/>
              <a:gd name="connsiteY31" fmla="*/ 126365 h 627468"/>
              <a:gd name="connsiteX32" fmla="*/ 101964 w 721588"/>
              <a:gd name="connsiteY32" fmla="*/ 139437 h 627468"/>
              <a:gd name="connsiteX33" fmla="*/ 51418 w 721588"/>
              <a:gd name="connsiteY33" fmla="*/ 211770 h 627468"/>
              <a:gd name="connsiteX34" fmla="*/ 40088 w 721588"/>
              <a:gd name="connsiteY34" fmla="*/ 149895 h 627468"/>
              <a:gd name="connsiteX35" fmla="*/ 101964 w 721588"/>
              <a:gd name="connsiteY35" fmla="*/ 139437 h 627468"/>
              <a:gd name="connsiteX36" fmla="*/ 582151 w 721588"/>
              <a:gd name="connsiteY36" fmla="*/ 444457 h 627468"/>
              <a:gd name="connsiteX37" fmla="*/ 163839 w 721588"/>
              <a:gd name="connsiteY37" fmla="*/ 444457 h 627468"/>
              <a:gd name="connsiteX38" fmla="*/ 163839 w 721588"/>
              <a:gd name="connsiteY38" fmla="*/ 339879 h 627468"/>
              <a:gd name="connsiteX39" fmla="*/ 582151 w 721588"/>
              <a:gd name="connsiteY39" fmla="*/ 339879 h 627468"/>
              <a:gd name="connsiteX40" fmla="*/ 582151 w 721588"/>
              <a:gd name="connsiteY40" fmla="*/ 444457 h 62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21588" h="627468">
                <a:moveTo>
                  <a:pt x="208285" y="226586"/>
                </a:moveTo>
                <a:lnTo>
                  <a:pt x="710259" y="137694"/>
                </a:lnTo>
                <a:lnTo>
                  <a:pt x="685857" y="0"/>
                </a:lnTo>
                <a:lnTo>
                  <a:pt x="0" y="122008"/>
                </a:lnTo>
                <a:lnTo>
                  <a:pt x="22659" y="250116"/>
                </a:lnTo>
                <a:lnTo>
                  <a:pt x="24402" y="592609"/>
                </a:lnTo>
                <a:cubicBezTo>
                  <a:pt x="24402" y="611781"/>
                  <a:pt x="40088" y="627468"/>
                  <a:pt x="59261" y="627468"/>
                </a:cubicBezTo>
                <a:lnTo>
                  <a:pt x="686729" y="627468"/>
                </a:lnTo>
                <a:cubicBezTo>
                  <a:pt x="705902" y="627468"/>
                  <a:pt x="721588" y="611781"/>
                  <a:pt x="721588" y="592609"/>
                </a:cubicBezTo>
                <a:lnTo>
                  <a:pt x="721588" y="226586"/>
                </a:lnTo>
                <a:lnTo>
                  <a:pt x="208285" y="226586"/>
                </a:lnTo>
                <a:close/>
                <a:moveTo>
                  <a:pt x="599581" y="50546"/>
                </a:moveTo>
                <a:lnTo>
                  <a:pt x="657970" y="40088"/>
                </a:lnTo>
                <a:lnTo>
                  <a:pt x="659713" y="50546"/>
                </a:lnTo>
                <a:lnTo>
                  <a:pt x="611781" y="118522"/>
                </a:lnTo>
                <a:lnTo>
                  <a:pt x="543806" y="131594"/>
                </a:lnTo>
                <a:lnTo>
                  <a:pt x="599581" y="50546"/>
                </a:lnTo>
                <a:close/>
                <a:moveTo>
                  <a:pt x="458400" y="75819"/>
                </a:moveTo>
                <a:lnTo>
                  <a:pt x="527247" y="63618"/>
                </a:lnTo>
                <a:lnTo>
                  <a:pt x="470601" y="144666"/>
                </a:lnTo>
                <a:lnTo>
                  <a:pt x="401754" y="156867"/>
                </a:lnTo>
                <a:lnTo>
                  <a:pt x="458400" y="75819"/>
                </a:lnTo>
                <a:close/>
                <a:moveTo>
                  <a:pt x="316348" y="101092"/>
                </a:moveTo>
                <a:lnTo>
                  <a:pt x="385196" y="88891"/>
                </a:lnTo>
                <a:lnTo>
                  <a:pt x="328549" y="169939"/>
                </a:lnTo>
                <a:lnTo>
                  <a:pt x="259702" y="182140"/>
                </a:lnTo>
                <a:lnTo>
                  <a:pt x="316348" y="101092"/>
                </a:lnTo>
                <a:close/>
                <a:moveTo>
                  <a:pt x="175168" y="126365"/>
                </a:moveTo>
                <a:lnTo>
                  <a:pt x="244015" y="114164"/>
                </a:lnTo>
                <a:lnTo>
                  <a:pt x="187369" y="195212"/>
                </a:lnTo>
                <a:lnTo>
                  <a:pt x="118522" y="207413"/>
                </a:lnTo>
                <a:lnTo>
                  <a:pt x="175168" y="126365"/>
                </a:lnTo>
                <a:close/>
                <a:moveTo>
                  <a:pt x="101964" y="139437"/>
                </a:moveTo>
                <a:lnTo>
                  <a:pt x="51418" y="211770"/>
                </a:lnTo>
                <a:lnTo>
                  <a:pt x="40088" y="149895"/>
                </a:lnTo>
                <a:lnTo>
                  <a:pt x="101964" y="139437"/>
                </a:lnTo>
                <a:close/>
                <a:moveTo>
                  <a:pt x="582151" y="444457"/>
                </a:moveTo>
                <a:lnTo>
                  <a:pt x="163839" y="444457"/>
                </a:lnTo>
                <a:lnTo>
                  <a:pt x="163839" y="339879"/>
                </a:lnTo>
                <a:lnTo>
                  <a:pt x="582151" y="339879"/>
                </a:lnTo>
                <a:lnTo>
                  <a:pt x="582151" y="444457"/>
                </a:lnTo>
                <a:close/>
              </a:path>
            </a:pathLst>
          </a:custGeom>
          <a:solidFill>
            <a:srgbClr val="000000"/>
          </a:solidFill>
          <a:ln w="8632" cap="flat">
            <a:noFill/>
            <a:prstDash val="solid"/>
            <a:miter/>
          </a:ln>
        </p:spPr>
        <p:txBody>
          <a:bodyPr rtlCol="0" anchor="ctr"/>
          <a:lstStyle/>
          <a:p>
            <a:endParaRPr lang="en-US">
              <a:solidFill>
                <a:srgbClr val="232F3E"/>
              </a:solidFill>
              <a:latin typeface="Amazon Ember Light"/>
            </a:endParaRPr>
          </a:p>
        </p:txBody>
      </p:sp>
      <p:sp>
        <p:nvSpPr>
          <p:cNvPr id="26" name="TextBox 25">
            <a:extLst>
              <a:ext uri="{FF2B5EF4-FFF2-40B4-BE49-F238E27FC236}">
                <a16:creationId xmlns:a16="http://schemas.microsoft.com/office/drawing/2014/main" id="{A72C6A1D-EAE9-2906-B948-1C4501E2041C}"/>
              </a:ext>
            </a:extLst>
          </p:cNvPr>
          <p:cNvSpPr txBox="1"/>
          <p:nvPr/>
        </p:nvSpPr>
        <p:spPr>
          <a:xfrm>
            <a:off x="1824552" y="4167097"/>
            <a:ext cx="942887" cy="369332"/>
          </a:xfrm>
          <a:prstGeom prst="rect">
            <a:avLst/>
          </a:prstGeom>
          <a:noFill/>
        </p:spPr>
        <p:txBody>
          <a:bodyPr wrap="none" rtlCol="0">
            <a:spAutoFit/>
          </a:bodyPr>
          <a:lstStyle/>
          <a:p>
            <a:r>
              <a:rPr lang="en-US" dirty="0">
                <a:solidFill>
                  <a:srgbClr val="DF2A5D"/>
                </a:solidFill>
                <a:latin typeface="Amazon Ember Medium"/>
              </a:rPr>
              <a:t>Images</a:t>
            </a:r>
          </a:p>
        </p:txBody>
      </p:sp>
      <p:sp>
        <p:nvSpPr>
          <p:cNvPr id="27" name="TextBox 26">
            <a:extLst>
              <a:ext uri="{FF2B5EF4-FFF2-40B4-BE49-F238E27FC236}">
                <a16:creationId xmlns:a16="http://schemas.microsoft.com/office/drawing/2014/main" id="{4F29A5E8-9BC3-F68D-FEE1-5251130E2209}"/>
              </a:ext>
            </a:extLst>
          </p:cNvPr>
          <p:cNvSpPr txBox="1"/>
          <p:nvPr/>
        </p:nvSpPr>
        <p:spPr>
          <a:xfrm>
            <a:off x="1849399" y="5148723"/>
            <a:ext cx="893193" cy="369332"/>
          </a:xfrm>
          <a:prstGeom prst="rect">
            <a:avLst/>
          </a:prstGeom>
          <a:noFill/>
        </p:spPr>
        <p:txBody>
          <a:bodyPr wrap="none" rtlCol="0">
            <a:spAutoFit/>
          </a:bodyPr>
          <a:lstStyle/>
          <a:p>
            <a:r>
              <a:rPr lang="en-US" dirty="0">
                <a:solidFill>
                  <a:srgbClr val="DF2A5D"/>
                </a:solidFill>
                <a:latin typeface="Amazon Ember Medium"/>
              </a:rPr>
              <a:t>Videos</a:t>
            </a:r>
          </a:p>
        </p:txBody>
      </p:sp>
      <p:cxnSp>
        <p:nvCxnSpPr>
          <p:cNvPr id="28" name="Straight Arrow Connector 27">
            <a:extLst>
              <a:ext uri="{FF2B5EF4-FFF2-40B4-BE49-F238E27FC236}">
                <a16:creationId xmlns:a16="http://schemas.microsoft.com/office/drawing/2014/main" id="{F6420292-DB04-E70F-E471-FEEDB883FFDA}"/>
              </a:ext>
            </a:extLst>
          </p:cNvPr>
          <p:cNvCxnSpPr>
            <a:cxnSpLocks/>
          </p:cNvCxnSpPr>
          <p:nvPr/>
        </p:nvCxnSpPr>
        <p:spPr>
          <a:xfrm>
            <a:off x="3758118" y="5314468"/>
            <a:ext cx="1751819" cy="116067"/>
          </a:xfrm>
          <a:prstGeom prst="straightConnector1">
            <a:avLst/>
          </a:prstGeom>
          <a:noFill/>
          <a:ln w="63500" cap="flat" cmpd="sng" algn="ctr">
            <a:solidFill>
              <a:srgbClr val="9F1D7B"/>
            </a:solidFill>
            <a:prstDash val="solid"/>
            <a:miter lim="800000"/>
            <a:tailEnd type="triangle"/>
          </a:ln>
          <a:effectLst/>
        </p:spPr>
      </p:cxnSp>
      <p:cxnSp>
        <p:nvCxnSpPr>
          <p:cNvPr id="29" name="Straight Arrow Connector 28">
            <a:extLst>
              <a:ext uri="{FF2B5EF4-FFF2-40B4-BE49-F238E27FC236}">
                <a16:creationId xmlns:a16="http://schemas.microsoft.com/office/drawing/2014/main" id="{B12D548A-B87E-E9C3-0BF0-051032FD7E0E}"/>
              </a:ext>
            </a:extLst>
          </p:cNvPr>
          <p:cNvCxnSpPr>
            <a:cxnSpLocks/>
            <a:stCxn id="24" idx="3"/>
          </p:cNvCxnSpPr>
          <p:nvPr/>
        </p:nvCxnSpPr>
        <p:spPr>
          <a:xfrm>
            <a:off x="3758118" y="4334506"/>
            <a:ext cx="1822196" cy="919865"/>
          </a:xfrm>
          <a:prstGeom prst="straightConnector1">
            <a:avLst/>
          </a:prstGeom>
          <a:noFill/>
          <a:ln w="63500" cap="flat" cmpd="sng" algn="ctr">
            <a:solidFill>
              <a:srgbClr val="9F1D7B"/>
            </a:solidFill>
            <a:prstDash val="solid"/>
            <a:miter lim="800000"/>
            <a:tailEnd type="triangle"/>
          </a:ln>
          <a:effectLst/>
        </p:spPr>
      </p:cxnSp>
      <p:sp>
        <p:nvSpPr>
          <p:cNvPr id="30" name="Rounded Rectangle 29">
            <a:extLst>
              <a:ext uri="{FF2B5EF4-FFF2-40B4-BE49-F238E27FC236}">
                <a16:creationId xmlns:a16="http://schemas.microsoft.com/office/drawing/2014/main" id="{DEFED9A5-4B17-B038-79A9-6C21981EAB04}"/>
              </a:ext>
            </a:extLst>
          </p:cNvPr>
          <p:cNvSpPr/>
          <p:nvPr/>
        </p:nvSpPr>
        <p:spPr>
          <a:xfrm>
            <a:off x="5032375" y="3429000"/>
            <a:ext cx="2127250" cy="738097"/>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Vector Database</a:t>
            </a:r>
          </a:p>
        </p:txBody>
      </p:sp>
      <p:cxnSp>
        <p:nvCxnSpPr>
          <p:cNvPr id="31" name="Straight Arrow Connector 30">
            <a:extLst>
              <a:ext uri="{FF2B5EF4-FFF2-40B4-BE49-F238E27FC236}">
                <a16:creationId xmlns:a16="http://schemas.microsoft.com/office/drawing/2014/main" id="{C90E59EA-0ADA-BAB2-C21E-5ABF3C9A48FF}"/>
              </a:ext>
            </a:extLst>
          </p:cNvPr>
          <p:cNvCxnSpPr>
            <a:cxnSpLocks/>
            <a:stCxn id="30" idx="2"/>
          </p:cNvCxnSpPr>
          <p:nvPr/>
        </p:nvCxnSpPr>
        <p:spPr>
          <a:xfrm>
            <a:off x="6096000" y="4167097"/>
            <a:ext cx="0" cy="820509"/>
          </a:xfrm>
          <a:prstGeom prst="straightConnector1">
            <a:avLst/>
          </a:prstGeom>
          <a:noFill/>
          <a:ln w="63500" cap="flat" cmpd="sng" algn="ctr">
            <a:solidFill>
              <a:srgbClr val="9F1D7B"/>
            </a:solidFill>
            <a:prstDash val="solid"/>
            <a:miter lim="800000"/>
            <a:tailEnd type="triangle"/>
          </a:ln>
          <a:effectLst/>
        </p:spPr>
      </p:cxnSp>
      <p:sp>
        <p:nvSpPr>
          <p:cNvPr id="32" name="TextBox 31">
            <a:extLst>
              <a:ext uri="{FF2B5EF4-FFF2-40B4-BE49-F238E27FC236}">
                <a16:creationId xmlns:a16="http://schemas.microsoft.com/office/drawing/2014/main" id="{1B668367-1AAD-37C1-29B3-41BEF3B04A46}"/>
              </a:ext>
            </a:extLst>
          </p:cNvPr>
          <p:cNvSpPr txBox="1"/>
          <p:nvPr/>
        </p:nvSpPr>
        <p:spPr>
          <a:xfrm>
            <a:off x="6115909" y="4334505"/>
            <a:ext cx="2056973" cy="369332"/>
          </a:xfrm>
          <a:prstGeom prst="rect">
            <a:avLst/>
          </a:prstGeom>
          <a:noFill/>
        </p:spPr>
        <p:txBody>
          <a:bodyPr wrap="none" rtlCol="0">
            <a:spAutoFit/>
          </a:bodyPr>
          <a:lstStyle/>
          <a:p>
            <a:r>
              <a:rPr lang="en-US" dirty="0">
                <a:solidFill>
                  <a:srgbClr val="232F3E"/>
                </a:solidFill>
                <a:latin typeface="Amazon Ember Medium"/>
              </a:rPr>
              <a:t>Retrieved context</a:t>
            </a:r>
          </a:p>
        </p:txBody>
      </p:sp>
      <p:sp>
        <p:nvSpPr>
          <p:cNvPr id="33" name="TextBox 32">
            <a:extLst>
              <a:ext uri="{FF2B5EF4-FFF2-40B4-BE49-F238E27FC236}">
                <a16:creationId xmlns:a16="http://schemas.microsoft.com/office/drawing/2014/main" id="{4A48BA78-74AE-DBCD-FD57-C726A7D64FEF}"/>
              </a:ext>
            </a:extLst>
          </p:cNvPr>
          <p:cNvSpPr txBox="1"/>
          <p:nvPr/>
        </p:nvSpPr>
        <p:spPr>
          <a:xfrm>
            <a:off x="1738528" y="5834312"/>
            <a:ext cx="646331" cy="369332"/>
          </a:xfrm>
          <a:prstGeom prst="rect">
            <a:avLst/>
          </a:prstGeom>
          <a:noFill/>
        </p:spPr>
        <p:txBody>
          <a:bodyPr wrap="none" rtlCol="0">
            <a:spAutoFit/>
          </a:bodyPr>
          <a:lstStyle/>
          <a:p>
            <a:r>
              <a:rPr lang="en-US" dirty="0">
                <a:solidFill>
                  <a:srgbClr val="DF2A5D"/>
                </a:solidFill>
                <a:latin typeface="Amazon Ember Medium"/>
              </a:rPr>
              <a:t>Text</a:t>
            </a:r>
          </a:p>
        </p:txBody>
      </p:sp>
      <p:pic>
        <p:nvPicPr>
          <p:cNvPr id="34" name="Picture 5">
            <a:extLst>
              <a:ext uri="{FF2B5EF4-FFF2-40B4-BE49-F238E27FC236}">
                <a16:creationId xmlns:a16="http://schemas.microsoft.com/office/drawing/2014/main" id="{26C1AE48-094D-59AE-81DE-15F0A3FC62F0}"/>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6905" b="1817"/>
          <a:stretch/>
        </p:blipFill>
        <p:spPr>
          <a:xfrm>
            <a:off x="5580314" y="4909029"/>
            <a:ext cx="1024868" cy="1077020"/>
          </a:xfrm>
          <a:prstGeom prst="rect">
            <a:avLst/>
          </a:prstGeom>
          <a:effectLst/>
        </p:spPr>
      </p:pic>
    </p:spTree>
    <p:extLst>
      <p:ext uri="{BB962C8B-B14F-4D97-AF65-F5344CB8AC3E}">
        <p14:creationId xmlns:p14="http://schemas.microsoft.com/office/powerpoint/2010/main" val="9108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2C8A96-FB3E-CA6C-A055-3EEC2C2782EA}"/>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54F9433D-5EFE-350E-4E6E-048741AC31E7}"/>
              </a:ext>
            </a:extLst>
          </p:cNvPr>
          <p:cNvSpPr>
            <a:spLocks noGrp="1"/>
          </p:cNvSpPr>
          <p:nvPr>
            <p:ph type="title" idx="1"/>
          </p:nvPr>
        </p:nvSpPr>
        <p:spPr/>
        <p:txBody>
          <a:bodyPr/>
          <a:lstStyle/>
          <a:p>
            <a:r>
              <a:rPr lang="en-US" dirty="0"/>
              <a:t>Customer service applications (2/2)</a:t>
            </a:r>
          </a:p>
        </p:txBody>
      </p:sp>
      <p:sp>
        <p:nvSpPr>
          <p:cNvPr id="4" name="Content Placeholder 3">
            <a:extLst>
              <a:ext uri="{FF2B5EF4-FFF2-40B4-BE49-F238E27FC236}">
                <a16:creationId xmlns:a16="http://schemas.microsoft.com/office/drawing/2014/main" id="{7332C4DF-C664-6EF8-95E0-82FBCFFD3E5C}"/>
              </a:ext>
            </a:extLst>
          </p:cNvPr>
          <p:cNvSpPr>
            <a:spLocks noGrp="1"/>
          </p:cNvSpPr>
          <p:nvPr>
            <p:ph idx="2"/>
          </p:nvPr>
        </p:nvSpPr>
        <p:spPr/>
        <p:txBody>
          <a:bodyPr/>
          <a:lstStyle/>
          <a:p>
            <a:pPr>
              <a:spcAft>
                <a:spcPts val="1200"/>
              </a:spcAft>
            </a:pPr>
            <a:r>
              <a:rPr lang="en-US" sz="2400" dirty="0">
                <a:solidFill>
                  <a:schemeClr val="accent6"/>
                </a:solidFill>
              </a:rPr>
              <a:t>Identify and resolve customer complaints</a:t>
            </a:r>
          </a:p>
          <a:p>
            <a:pPr lvl="1">
              <a:spcAft>
                <a:spcPts val="1200"/>
              </a:spcAft>
            </a:pPr>
            <a:r>
              <a:rPr lang="en-US" sz="2000" dirty="0"/>
              <a:t>Using textual feedback</a:t>
            </a:r>
          </a:p>
          <a:p>
            <a:pPr lvl="1">
              <a:spcAft>
                <a:spcPts val="1200"/>
              </a:spcAft>
            </a:pPr>
            <a:r>
              <a:rPr lang="en-US" sz="2000" dirty="0"/>
              <a:t>Using images/videos uploaded by customer</a:t>
            </a:r>
          </a:p>
          <a:p>
            <a:pPr>
              <a:spcAft>
                <a:spcPts val="1200"/>
              </a:spcAft>
            </a:pPr>
            <a:r>
              <a:rPr lang="en-US" sz="2400" dirty="0">
                <a:solidFill>
                  <a:schemeClr val="accent6"/>
                </a:solidFill>
              </a:rPr>
              <a:t>Automated call support using multimodal solutions</a:t>
            </a:r>
          </a:p>
          <a:p>
            <a:pPr lvl="1">
              <a:spcAft>
                <a:spcPts val="1200"/>
              </a:spcAft>
            </a:pPr>
            <a:r>
              <a:rPr lang="en-US" sz="2000" dirty="0"/>
              <a:t>Identify urgency, frustration, etc., from audio and determine if escalation is appropriate</a:t>
            </a:r>
          </a:p>
          <a:p>
            <a:pPr lvl="1">
              <a:spcAft>
                <a:spcPts val="1200"/>
              </a:spcAft>
            </a:pPr>
            <a:r>
              <a:rPr lang="en-US" sz="2000" dirty="0"/>
              <a:t>Guided assistance via video calls</a:t>
            </a:r>
          </a:p>
          <a:p>
            <a:pPr>
              <a:spcAft>
                <a:spcPts val="1200"/>
              </a:spcAft>
            </a:pPr>
            <a:r>
              <a:rPr lang="en-US" sz="2400" dirty="0">
                <a:solidFill>
                  <a:schemeClr val="accent6"/>
                </a:solidFill>
              </a:rPr>
              <a:t> Q&amp;A with videos to resolve issues</a:t>
            </a:r>
          </a:p>
          <a:p>
            <a:pPr lvl="1">
              <a:spcAft>
                <a:spcPts val="1200"/>
              </a:spcAft>
            </a:pPr>
            <a:r>
              <a:rPr lang="en-US" sz="2000" dirty="0"/>
              <a:t>Tutorial videos</a:t>
            </a:r>
          </a:p>
          <a:p>
            <a:pPr lvl="1">
              <a:spcAft>
                <a:spcPts val="1200"/>
              </a:spcAft>
            </a:pPr>
            <a:r>
              <a:rPr lang="en-US" sz="2000" dirty="0">
                <a:solidFill>
                  <a:schemeClr val="accent5"/>
                </a:solidFill>
                <a:latin typeface="+mj-lt"/>
              </a:rPr>
              <a:t>Discussed in the previous section</a:t>
            </a:r>
            <a:endParaRPr lang="en-US" dirty="0">
              <a:solidFill>
                <a:schemeClr val="accent5"/>
              </a:solidFill>
              <a:latin typeface="+mj-lt"/>
            </a:endParaRPr>
          </a:p>
        </p:txBody>
      </p:sp>
    </p:spTree>
    <p:extLst>
      <p:ext uri="{BB962C8B-B14F-4D97-AF65-F5344CB8AC3E}">
        <p14:creationId xmlns:p14="http://schemas.microsoft.com/office/powerpoint/2010/main" val="3286757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347EF7-56A1-CE68-F1CB-3743614D24F9}"/>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F21C66E7-BF95-41BC-75A0-8BCF6CAC42CC}"/>
              </a:ext>
            </a:extLst>
          </p:cNvPr>
          <p:cNvSpPr>
            <a:spLocks noGrp="1"/>
          </p:cNvSpPr>
          <p:nvPr>
            <p:ph type="title" idx="1"/>
          </p:nvPr>
        </p:nvSpPr>
        <p:spPr/>
        <p:txBody>
          <a:bodyPr/>
          <a:lstStyle/>
          <a:p>
            <a:r>
              <a:rPr lang="en-US" dirty="0"/>
              <a:t>E-commerce</a:t>
            </a:r>
          </a:p>
        </p:txBody>
      </p:sp>
      <p:sp>
        <p:nvSpPr>
          <p:cNvPr id="4" name="Content Placeholder 3">
            <a:extLst>
              <a:ext uri="{FF2B5EF4-FFF2-40B4-BE49-F238E27FC236}">
                <a16:creationId xmlns:a16="http://schemas.microsoft.com/office/drawing/2014/main" id="{0B4F6054-2C00-8B41-A328-D0ED2398FB2F}"/>
              </a:ext>
            </a:extLst>
          </p:cNvPr>
          <p:cNvSpPr>
            <a:spLocks noGrp="1"/>
          </p:cNvSpPr>
          <p:nvPr>
            <p:ph idx="2"/>
          </p:nvPr>
        </p:nvSpPr>
        <p:spPr/>
        <p:txBody>
          <a:bodyPr/>
          <a:lstStyle/>
          <a:p>
            <a:r>
              <a:rPr lang="en-US" sz="2400" dirty="0"/>
              <a:t>Multimodal search engines  </a:t>
            </a:r>
          </a:p>
          <a:p>
            <a:r>
              <a:rPr lang="en-US" sz="2400" dirty="0"/>
              <a:t>Find similar products using images, text and videos</a:t>
            </a:r>
          </a:p>
          <a:p>
            <a:r>
              <a:rPr lang="en-US" sz="2400" dirty="0"/>
              <a:t>Generate product listing from images/videos</a:t>
            </a:r>
          </a:p>
          <a:p>
            <a:r>
              <a:rPr lang="en-US" sz="2400" dirty="0"/>
              <a:t>Automatically extract product information from image/label</a:t>
            </a:r>
          </a:p>
          <a:p>
            <a:r>
              <a:rPr lang="en-US" sz="2400" dirty="0"/>
              <a:t>Generate images of products in different scenes</a:t>
            </a:r>
            <a:endParaRPr lang="en-US" dirty="0"/>
          </a:p>
          <a:p>
            <a:pPr lvl="1"/>
            <a:endParaRPr lang="en-US" dirty="0">
              <a:solidFill>
                <a:schemeClr val="accent3"/>
              </a:solidFill>
              <a:latin typeface="+mj-lt"/>
            </a:endParaRPr>
          </a:p>
          <a:p>
            <a:endParaRPr lang="en-US" dirty="0"/>
          </a:p>
        </p:txBody>
      </p:sp>
    </p:spTree>
    <p:extLst>
      <p:ext uri="{BB962C8B-B14F-4D97-AF65-F5344CB8AC3E}">
        <p14:creationId xmlns:p14="http://schemas.microsoft.com/office/powerpoint/2010/main" val="3156128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5C4026-BF7A-9AD2-9C7A-5384656FAE7F}"/>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24239DCB-F0AC-57C1-41B5-3EA40B9440E8}"/>
              </a:ext>
            </a:extLst>
          </p:cNvPr>
          <p:cNvSpPr>
            <a:spLocks noGrp="1"/>
          </p:cNvSpPr>
          <p:nvPr>
            <p:ph type="title" idx="1"/>
          </p:nvPr>
        </p:nvSpPr>
        <p:spPr/>
        <p:txBody>
          <a:bodyPr/>
          <a:lstStyle/>
          <a:p>
            <a:r>
              <a:rPr lang="en-US" dirty="0"/>
              <a:t>Use case: Healthcare</a:t>
            </a:r>
          </a:p>
        </p:txBody>
      </p:sp>
      <p:sp>
        <p:nvSpPr>
          <p:cNvPr id="4" name="Content Placeholder 3">
            <a:extLst>
              <a:ext uri="{FF2B5EF4-FFF2-40B4-BE49-F238E27FC236}">
                <a16:creationId xmlns:a16="http://schemas.microsoft.com/office/drawing/2014/main" id="{AEF10DE8-C390-4169-1ED1-68184D3249B7}"/>
              </a:ext>
            </a:extLst>
          </p:cNvPr>
          <p:cNvSpPr>
            <a:spLocks noGrp="1"/>
          </p:cNvSpPr>
          <p:nvPr>
            <p:ph idx="2"/>
          </p:nvPr>
        </p:nvSpPr>
        <p:spPr/>
        <p:txBody>
          <a:bodyPr/>
          <a:lstStyle/>
          <a:p>
            <a:r>
              <a:rPr lang="en-US" dirty="0"/>
              <a:t>Generate preliminary reports from scans based on patient records</a:t>
            </a:r>
          </a:p>
          <a:p>
            <a:r>
              <a:rPr lang="en-US" dirty="0"/>
              <a:t>Assistance with triaging patients</a:t>
            </a:r>
          </a:p>
          <a:p>
            <a:r>
              <a:rPr lang="en-US" dirty="0"/>
              <a:t>Virtual diagnosis of minor ailments </a:t>
            </a:r>
          </a:p>
          <a:p>
            <a:r>
              <a:rPr lang="en-US" dirty="0"/>
              <a:t>Generate personalized reports for patients</a:t>
            </a:r>
          </a:p>
          <a:p>
            <a:endParaRPr lang="en-US" dirty="0"/>
          </a:p>
        </p:txBody>
      </p:sp>
    </p:spTree>
    <p:extLst>
      <p:ext uri="{BB962C8B-B14F-4D97-AF65-F5344CB8AC3E}">
        <p14:creationId xmlns:p14="http://schemas.microsoft.com/office/powerpoint/2010/main" val="259167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2E63DF-E19E-3742-5A3A-237395E90774}"/>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3D1A44CE-F26C-5753-5522-C466ECA1BE87}"/>
              </a:ext>
            </a:extLst>
          </p:cNvPr>
          <p:cNvSpPr>
            <a:spLocks noGrp="1"/>
          </p:cNvSpPr>
          <p:nvPr>
            <p:ph type="title" idx="1"/>
          </p:nvPr>
        </p:nvSpPr>
        <p:spPr/>
        <p:txBody>
          <a:bodyPr/>
          <a:lstStyle/>
          <a:p>
            <a:r>
              <a:rPr lang="en-US" dirty="0"/>
              <a:t>Use case: Accessibility</a:t>
            </a:r>
          </a:p>
        </p:txBody>
      </p:sp>
      <p:sp>
        <p:nvSpPr>
          <p:cNvPr id="4" name="Content Placeholder 3">
            <a:extLst>
              <a:ext uri="{FF2B5EF4-FFF2-40B4-BE49-F238E27FC236}">
                <a16:creationId xmlns:a16="http://schemas.microsoft.com/office/drawing/2014/main" id="{49D7DFA7-3848-B1EF-0F34-73187DB5E8C0}"/>
              </a:ext>
            </a:extLst>
          </p:cNvPr>
          <p:cNvSpPr>
            <a:spLocks noGrp="1"/>
          </p:cNvSpPr>
          <p:nvPr>
            <p:ph idx="2"/>
          </p:nvPr>
        </p:nvSpPr>
        <p:spPr/>
        <p:txBody>
          <a:bodyPr/>
          <a:lstStyle/>
          <a:p>
            <a:r>
              <a:rPr lang="en-US" sz="2400" dirty="0"/>
              <a:t>Scene descriptions from images/videos</a:t>
            </a:r>
          </a:p>
          <a:p>
            <a:r>
              <a:rPr lang="en-US" sz="2400" dirty="0"/>
              <a:t>ASL content for hearing challenged</a:t>
            </a:r>
          </a:p>
          <a:p>
            <a:r>
              <a:rPr lang="en-US" sz="2400" dirty="0"/>
              <a:t>Multimodal screen readers</a:t>
            </a:r>
          </a:p>
          <a:p>
            <a:r>
              <a:rPr lang="en-US" sz="2400" dirty="0"/>
              <a:t>Fall/hurt detection for the elderly</a:t>
            </a:r>
          </a:p>
          <a:p>
            <a:r>
              <a:rPr lang="en-US" sz="2400" dirty="0"/>
              <a:t>Personalized content generation </a:t>
            </a:r>
          </a:p>
          <a:p>
            <a:pPr lvl="1"/>
            <a:r>
              <a:rPr lang="en-US" sz="2000" dirty="0"/>
              <a:t>Improved inclusivity</a:t>
            </a:r>
          </a:p>
          <a:p>
            <a:pPr lvl="1"/>
            <a:r>
              <a:rPr lang="en-US" sz="2000" dirty="0"/>
              <a:t>Cater to different demographics</a:t>
            </a:r>
          </a:p>
          <a:p>
            <a:r>
              <a:rPr lang="en-US" sz="2400" dirty="0"/>
              <a:t>Analysis of multilingual content</a:t>
            </a:r>
          </a:p>
          <a:p>
            <a:endParaRPr lang="en-US" dirty="0"/>
          </a:p>
        </p:txBody>
      </p:sp>
    </p:spTree>
    <p:extLst>
      <p:ext uri="{BB962C8B-B14F-4D97-AF65-F5344CB8AC3E}">
        <p14:creationId xmlns:p14="http://schemas.microsoft.com/office/powerpoint/2010/main" val="680835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2DF1D-28D5-CA5E-D551-7AFF1CFB80F4}"/>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B52345B8-A46C-E902-99B3-F9E3219B1B05}"/>
              </a:ext>
            </a:extLst>
          </p:cNvPr>
          <p:cNvSpPr>
            <a:spLocks noGrp="1"/>
          </p:cNvSpPr>
          <p:nvPr>
            <p:ph type="title" idx="1"/>
          </p:nvPr>
        </p:nvSpPr>
        <p:spPr/>
        <p:txBody>
          <a:bodyPr/>
          <a:lstStyle/>
          <a:p>
            <a:r>
              <a:rPr lang="en-US" dirty="0"/>
              <a:t>Multimodal Agents</a:t>
            </a:r>
          </a:p>
        </p:txBody>
      </p:sp>
    </p:spTree>
    <p:extLst>
      <p:ext uri="{BB962C8B-B14F-4D97-AF65-F5344CB8AC3E}">
        <p14:creationId xmlns:p14="http://schemas.microsoft.com/office/powerpoint/2010/main" val="271582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A04B8C-5B2F-EE95-8F90-31B3E3DACF25}"/>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404317CB-B7F4-84B4-5511-5D3DE11E3983}"/>
              </a:ext>
            </a:extLst>
          </p:cNvPr>
          <p:cNvSpPr>
            <a:spLocks noGrp="1"/>
          </p:cNvSpPr>
          <p:nvPr>
            <p:ph type="title" idx="1"/>
          </p:nvPr>
        </p:nvSpPr>
        <p:spPr/>
        <p:txBody>
          <a:bodyPr/>
          <a:lstStyle/>
          <a:p>
            <a:r>
              <a:rPr lang="en-US" dirty="0"/>
              <a:t>Review: </a:t>
            </a:r>
            <a:r>
              <a:rPr lang="en-US" dirty="0" err="1"/>
              <a:t>ReAct</a:t>
            </a:r>
            <a:endParaRPr lang="en-US" dirty="0"/>
          </a:p>
        </p:txBody>
      </p:sp>
      <p:sp>
        <p:nvSpPr>
          <p:cNvPr id="4" name="Content Placeholder 3">
            <a:extLst>
              <a:ext uri="{FF2B5EF4-FFF2-40B4-BE49-F238E27FC236}">
                <a16:creationId xmlns:a16="http://schemas.microsoft.com/office/drawing/2014/main" id="{6D2D2F6B-C93A-BE21-468A-794C7090E49E}"/>
              </a:ext>
            </a:extLst>
          </p:cNvPr>
          <p:cNvSpPr>
            <a:spLocks noGrp="1"/>
          </p:cNvSpPr>
          <p:nvPr>
            <p:ph idx="2"/>
          </p:nvPr>
        </p:nvSpPr>
        <p:spPr>
          <a:xfrm>
            <a:off x="365760" y="1165536"/>
            <a:ext cx="11466576" cy="2943168"/>
          </a:xfrm>
        </p:spPr>
        <p:txBody>
          <a:bodyPr/>
          <a:lstStyle/>
          <a:p>
            <a:r>
              <a:rPr lang="en-US" dirty="0"/>
              <a:t>LLMs often demonstrate the ability to </a:t>
            </a:r>
            <a:r>
              <a:rPr lang="en-US" dirty="0">
                <a:latin typeface="+mj-lt"/>
              </a:rPr>
              <a:t>reason</a:t>
            </a:r>
            <a:r>
              <a:rPr lang="en-US" dirty="0"/>
              <a:t> logically.</a:t>
            </a:r>
          </a:p>
          <a:p>
            <a:r>
              <a:rPr lang="en-US" dirty="0">
                <a:solidFill>
                  <a:schemeClr val="tx1"/>
                </a:solidFill>
              </a:rPr>
              <a:t>LLMs are capable of generating </a:t>
            </a:r>
            <a:r>
              <a:rPr lang="en-US" dirty="0">
                <a:solidFill>
                  <a:schemeClr val="tx1"/>
                </a:solidFill>
                <a:latin typeface="+mj-lt"/>
              </a:rPr>
              <a:t>action</a:t>
            </a:r>
            <a:r>
              <a:rPr lang="en-US" dirty="0">
                <a:solidFill>
                  <a:schemeClr val="tx1"/>
                </a:solidFill>
              </a:rPr>
              <a:t> plans.</a:t>
            </a:r>
          </a:p>
          <a:p>
            <a:r>
              <a:rPr lang="en-US" dirty="0">
                <a:solidFill>
                  <a:schemeClr val="tx1"/>
                </a:solidFill>
              </a:rPr>
              <a:t>Combine both!</a:t>
            </a:r>
          </a:p>
          <a:p>
            <a:pPr lvl="1"/>
            <a:r>
              <a:rPr lang="en-US" dirty="0">
                <a:solidFill>
                  <a:schemeClr val="accent6"/>
                </a:solidFill>
                <a:latin typeface="+mj-lt"/>
              </a:rPr>
              <a:t>Reasoning</a:t>
            </a:r>
            <a:r>
              <a:rPr lang="en-US" dirty="0">
                <a:solidFill>
                  <a:schemeClr val="tx1"/>
                </a:solidFill>
              </a:rPr>
              <a:t>: Create, track, and update action plans. Handle errors.</a:t>
            </a:r>
          </a:p>
          <a:p>
            <a:pPr lvl="1"/>
            <a:r>
              <a:rPr lang="en-US" sz="2400" dirty="0">
                <a:solidFill>
                  <a:schemeClr val="accent6"/>
                </a:solidFill>
                <a:latin typeface="+mj-lt"/>
              </a:rPr>
              <a:t>Acting</a:t>
            </a:r>
            <a:r>
              <a:rPr lang="en-US" sz="2400" dirty="0">
                <a:solidFill>
                  <a:schemeClr val="tx1"/>
                </a:solidFill>
              </a:rPr>
              <a:t>: Interface with functions, tools, knowledge bases, or environments.</a:t>
            </a:r>
            <a:endParaRPr lang="en-US" dirty="0">
              <a:solidFill>
                <a:schemeClr val="tx1"/>
              </a:solidFill>
            </a:endParaRPr>
          </a:p>
          <a:p>
            <a:endParaRPr lang="en-US" dirty="0">
              <a:solidFill>
                <a:srgbClr val="C00000"/>
              </a:solidFill>
            </a:endParaRPr>
          </a:p>
          <a:p>
            <a:endParaRPr lang="en-US" dirty="0"/>
          </a:p>
        </p:txBody>
      </p:sp>
      <p:pic>
        <p:nvPicPr>
          <p:cNvPr id="14" name="Picture 5">
            <a:extLst>
              <a:ext uri="{FF2B5EF4-FFF2-40B4-BE49-F238E27FC236}">
                <a16:creationId xmlns:a16="http://schemas.microsoft.com/office/drawing/2014/main" id="{56A7AD19-ECC1-170C-76A4-D5BDB6DCD2E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5270500" y="4500988"/>
            <a:ext cx="1400045" cy="1471288"/>
          </a:xfrm>
          <a:prstGeom prst="rect">
            <a:avLst/>
          </a:prstGeom>
          <a:effectLst/>
        </p:spPr>
      </p:pic>
      <p:sp>
        <p:nvSpPr>
          <p:cNvPr id="15" name="Rounded Rectangle 14">
            <a:extLst>
              <a:ext uri="{FF2B5EF4-FFF2-40B4-BE49-F238E27FC236}">
                <a16:creationId xmlns:a16="http://schemas.microsoft.com/office/drawing/2014/main" id="{7EA98EB9-3182-96EC-B9E8-680E58C076AC}"/>
              </a:ext>
            </a:extLst>
          </p:cNvPr>
          <p:cNvSpPr/>
          <p:nvPr/>
        </p:nvSpPr>
        <p:spPr>
          <a:xfrm>
            <a:off x="1393087" y="4776045"/>
            <a:ext cx="2427012" cy="92117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Reasoning</a:t>
            </a:r>
          </a:p>
        </p:txBody>
      </p:sp>
      <p:sp>
        <p:nvSpPr>
          <p:cNvPr id="16" name="Rounded Rectangle 15">
            <a:extLst>
              <a:ext uri="{FF2B5EF4-FFF2-40B4-BE49-F238E27FC236}">
                <a16:creationId xmlns:a16="http://schemas.microsoft.com/office/drawing/2014/main" id="{F7F0E555-4E22-A198-1A2A-5F9704377AF9}"/>
              </a:ext>
            </a:extLst>
          </p:cNvPr>
          <p:cNvSpPr/>
          <p:nvPr/>
        </p:nvSpPr>
        <p:spPr>
          <a:xfrm>
            <a:off x="8120946" y="4776045"/>
            <a:ext cx="2427012" cy="921174"/>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Environment</a:t>
            </a:r>
          </a:p>
        </p:txBody>
      </p:sp>
      <p:cxnSp>
        <p:nvCxnSpPr>
          <p:cNvPr id="17" name="Straight Arrow Connector 16">
            <a:extLst>
              <a:ext uri="{FF2B5EF4-FFF2-40B4-BE49-F238E27FC236}">
                <a16:creationId xmlns:a16="http://schemas.microsoft.com/office/drawing/2014/main" id="{BAA8B4F1-21A3-686B-983D-86B97B0F6F55}"/>
              </a:ext>
            </a:extLst>
          </p:cNvPr>
          <p:cNvCxnSpPr>
            <a:cxnSpLocks/>
          </p:cNvCxnSpPr>
          <p:nvPr/>
        </p:nvCxnSpPr>
        <p:spPr>
          <a:xfrm>
            <a:off x="3820099" y="5063825"/>
            <a:ext cx="1513901" cy="0"/>
          </a:xfrm>
          <a:prstGeom prst="straightConnector1">
            <a:avLst/>
          </a:prstGeom>
          <a:noFill/>
          <a:ln w="63500" cap="flat" cmpd="sng" algn="ctr">
            <a:solidFill>
              <a:srgbClr val="9F1D7B"/>
            </a:solidFill>
            <a:prstDash val="solid"/>
            <a:miter lim="800000"/>
            <a:tailEnd type="triangle"/>
          </a:ln>
          <a:effectLst/>
        </p:spPr>
      </p:cxnSp>
      <p:cxnSp>
        <p:nvCxnSpPr>
          <p:cNvPr id="18" name="Straight Arrow Connector 17">
            <a:extLst>
              <a:ext uri="{FF2B5EF4-FFF2-40B4-BE49-F238E27FC236}">
                <a16:creationId xmlns:a16="http://schemas.microsoft.com/office/drawing/2014/main" id="{53460E0D-7C3B-8C5D-1E3D-7B527A156CF4}"/>
              </a:ext>
            </a:extLst>
          </p:cNvPr>
          <p:cNvCxnSpPr>
            <a:cxnSpLocks/>
          </p:cNvCxnSpPr>
          <p:nvPr/>
        </p:nvCxnSpPr>
        <p:spPr>
          <a:xfrm>
            <a:off x="6607045" y="5063825"/>
            <a:ext cx="1513901" cy="0"/>
          </a:xfrm>
          <a:prstGeom prst="straightConnector1">
            <a:avLst/>
          </a:prstGeom>
          <a:noFill/>
          <a:ln w="63500" cap="flat" cmpd="sng" algn="ctr">
            <a:solidFill>
              <a:srgbClr val="9F1D7B"/>
            </a:solidFill>
            <a:prstDash val="solid"/>
            <a:miter lim="800000"/>
            <a:tailEnd type="triangle"/>
          </a:ln>
          <a:effectLst/>
        </p:spPr>
      </p:cxnSp>
      <p:cxnSp>
        <p:nvCxnSpPr>
          <p:cNvPr id="19" name="Straight Arrow Connector 18">
            <a:extLst>
              <a:ext uri="{FF2B5EF4-FFF2-40B4-BE49-F238E27FC236}">
                <a16:creationId xmlns:a16="http://schemas.microsoft.com/office/drawing/2014/main" id="{4954C4FE-26E9-96BC-7AE8-A04CAB2E3D77}"/>
              </a:ext>
            </a:extLst>
          </p:cNvPr>
          <p:cNvCxnSpPr>
            <a:cxnSpLocks/>
          </p:cNvCxnSpPr>
          <p:nvPr/>
        </p:nvCxnSpPr>
        <p:spPr>
          <a:xfrm flipH="1">
            <a:off x="3820099" y="5334426"/>
            <a:ext cx="1450401" cy="0"/>
          </a:xfrm>
          <a:prstGeom prst="straightConnector1">
            <a:avLst/>
          </a:prstGeom>
          <a:noFill/>
          <a:ln w="63500" cap="flat" cmpd="sng" algn="ctr">
            <a:solidFill>
              <a:srgbClr val="9F1D7B"/>
            </a:solidFill>
            <a:prstDash val="solid"/>
            <a:miter lim="800000"/>
            <a:tailEnd type="triangle"/>
          </a:ln>
          <a:effectLst/>
        </p:spPr>
      </p:cxnSp>
      <p:cxnSp>
        <p:nvCxnSpPr>
          <p:cNvPr id="20" name="Straight Arrow Connector 19">
            <a:extLst>
              <a:ext uri="{FF2B5EF4-FFF2-40B4-BE49-F238E27FC236}">
                <a16:creationId xmlns:a16="http://schemas.microsoft.com/office/drawing/2014/main" id="{98ED625D-E711-7B88-74E7-A2865D1F803F}"/>
              </a:ext>
            </a:extLst>
          </p:cNvPr>
          <p:cNvCxnSpPr>
            <a:cxnSpLocks/>
          </p:cNvCxnSpPr>
          <p:nvPr/>
        </p:nvCxnSpPr>
        <p:spPr>
          <a:xfrm flipH="1">
            <a:off x="6607045" y="5334426"/>
            <a:ext cx="1513901" cy="0"/>
          </a:xfrm>
          <a:prstGeom prst="straightConnector1">
            <a:avLst/>
          </a:prstGeom>
          <a:noFill/>
          <a:ln w="63500" cap="flat" cmpd="sng" algn="ctr">
            <a:solidFill>
              <a:srgbClr val="9F1D7B"/>
            </a:solidFill>
            <a:prstDash val="solid"/>
            <a:miter lim="800000"/>
            <a:tailEnd type="triangle"/>
          </a:ln>
          <a:effectLst/>
        </p:spPr>
      </p:cxnSp>
      <p:sp>
        <p:nvSpPr>
          <p:cNvPr id="21" name="TextBox 20">
            <a:extLst>
              <a:ext uri="{FF2B5EF4-FFF2-40B4-BE49-F238E27FC236}">
                <a16:creationId xmlns:a16="http://schemas.microsoft.com/office/drawing/2014/main" id="{97BC1970-E909-125F-F640-764A4EDF7F45}"/>
              </a:ext>
            </a:extLst>
          </p:cNvPr>
          <p:cNvSpPr txBox="1"/>
          <p:nvPr/>
        </p:nvSpPr>
        <p:spPr>
          <a:xfrm>
            <a:off x="6818208" y="4655487"/>
            <a:ext cx="968535" cy="369332"/>
          </a:xfrm>
          <a:prstGeom prst="rect">
            <a:avLst/>
          </a:prstGeom>
          <a:noFill/>
        </p:spPr>
        <p:txBody>
          <a:bodyPr wrap="none" rtlCol="0">
            <a:spAutoFit/>
          </a:bodyPr>
          <a:lstStyle/>
          <a:p>
            <a:r>
              <a:rPr lang="en-US" dirty="0">
                <a:solidFill>
                  <a:srgbClr val="232F3E"/>
                </a:solidFill>
                <a:latin typeface="Amazon Ember Medium"/>
              </a:rPr>
              <a:t>Actions</a:t>
            </a:r>
          </a:p>
        </p:txBody>
      </p:sp>
      <p:sp>
        <p:nvSpPr>
          <p:cNvPr id="22" name="TextBox 21">
            <a:extLst>
              <a:ext uri="{FF2B5EF4-FFF2-40B4-BE49-F238E27FC236}">
                <a16:creationId xmlns:a16="http://schemas.microsoft.com/office/drawing/2014/main" id="{C399F9BC-872D-5ADF-EAE6-C96EE8086691}"/>
              </a:ext>
            </a:extLst>
          </p:cNvPr>
          <p:cNvSpPr txBox="1"/>
          <p:nvPr/>
        </p:nvSpPr>
        <p:spPr>
          <a:xfrm>
            <a:off x="6622446" y="5402990"/>
            <a:ext cx="1483098" cy="369332"/>
          </a:xfrm>
          <a:prstGeom prst="rect">
            <a:avLst/>
          </a:prstGeom>
          <a:noFill/>
        </p:spPr>
        <p:txBody>
          <a:bodyPr wrap="none" rtlCol="0">
            <a:spAutoFit/>
          </a:bodyPr>
          <a:lstStyle/>
          <a:p>
            <a:r>
              <a:rPr lang="en-US" dirty="0">
                <a:solidFill>
                  <a:srgbClr val="232F3E"/>
                </a:solidFill>
                <a:latin typeface="Amazon Ember Medium"/>
              </a:rPr>
              <a:t>Observation</a:t>
            </a:r>
          </a:p>
        </p:txBody>
      </p:sp>
    </p:spTree>
    <p:extLst>
      <p:ext uri="{BB962C8B-B14F-4D97-AF65-F5344CB8AC3E}">
        <p14:creationId xmlns:p14="http://schemas.microsoft.com/office/powerpoint/2010/main" val="111493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1"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9F596-5A52-4E9B-51D7-E54B344277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056630-F7C7-B88B-99CA-FFDF999A5CAA}"/>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E287F8AC-F5D8-E21A-4C11-BA3C858925F6}"/>
              </a:ext>
            </a:extLst>
          </p:cNvPr>
          <p:cNvSpPr>
            <a:spLocks noGrp="1"/>
          </p:cNvSpPr>
          <p:nvPr>
            <p:ph type="title" idx="1"/>
          </p:nvPr>
        </p:nvSpPr>
        <p:spPr/>
        <p:txBody>
          <a:bodyPr/>
          <a:lstStyle/>
          <a:p>
            <a:r>
              <a:rPr lang="en-US" dirty="0"/>
              <a:t>Multimodal agents' implementation</a:t>
            </a:r>
          </a:p>
        </p:txBody>
      </p:sp>
      <p:sp>
        <p:nvSpPr>
          <p:cNvPr id="4" name="Content Placeholder 3">
            <a:extLst>
              <a:ext uri="{FF2B5EF4-FFF2-40B4-BE49-F238E27FC236}">
                <a16:creationId xmlns:a16="http://schemas.microsoft.com/office/drawing/2014/main" id="{66B96291-065D-DDF0-31F9-FB1E00FA0B71}"/>
              </a:ext>
            </a:extLst>
          </p:cNvPr>
          <p:cNvSpPr>
            <a:spLocks noGrp="1"/>
          </p:cNvSpPr>
          <p:nvPr>
            <p:ph idx="2"/>
          </p:nvPr>
        </p:nvSpPr>
        <p:spPr/>
        <p:txBody>
          <a:bodyPr/>
          <a:lstStyle/>
          <a:p>
            <a:r>
              <a:rPr lang="en-US" dirty="0" err="1">
                <a:solidFill>
                  <a:schemeClr val="accent6"/>
                </a:solidFill>
                <a:latin typeface="+mj-lt"/>
              </a:rPr>
              <a:t>LangChain</a:t>
            </a:r>
            <a:r>
              <a:rPr lang="en-US" dirty="0">
                <a:solidFill>
                  <a:schemeClr val="accent6"/>
                </a:solidFill>
                <a:latin typeface="+mj-lt"/>
              </a:rPr>
              <a:t> agents </a:t>
            </a:r>
            <a:r>
              <a:rPr lang="en-US" dirty="0"/>
              <a:t>can use </a:t>
            </a:r>
            <a:r>
              <a:rPr lang="en-US" dirty="0" err="1"/>
              <a:t>ReAct</a:t>
            </a:r>
            <a:r>
              <a:rPr lang="en-US" dirty="0"/>
              <a:t> to plan and execute a task.</a:t>
            </a:r>
          </a:p>
          <a:p>
            <a:r>
              <a:rPr lang="en-US" dirty="0"/>
              <a:t>Agents may have </a:t>
            </a:r>
            <a:r>
              <a:rPr lang="en-US" dirty="0">
                <a:solidFill>
                  <a:schemeClr val="accent6"/>
                </a:solidFill>
                <a:latin typeface="+mj-lt"/>
              </a:rPr>
              <a:t>access to tools and APIs</a:t>
            </a:r>
            <a:r>
              <a:rPr lang="en-DE">
                <a:solidFill>
                  <a:schemeClr val="accent6"/>
                </a:solidFill>
              </a:rPr>
              <a:t>.</a:t>
            </a:r>
            <a:endParaRPr lang="en-US" dirty="0">
              <a:solidFill>
                <a:schemeClr val="accent6"/>
              </a:solidFill>
              <a:latin typeface="+mj-lt"/>
            </a:endParaRPr>
          </a:p>
          <a:p>
            <a:pPr lvl="1"/>
            <a:r>
              <a:rPr lang="en-US" dirty="0"/>
              <a:t>Tools need to be described so that the agent is aware of its function.</a:t>
            </a:r>
          </a:p>
          <a:p>
            <a:pPr lvl="1"/>
            <a:r>
              <a:rPr lang="en-US" dirty="0"/>
              <a:t>Important to give the agent access to right tools for a task.</a:t>
            </a:r>
          </a:p>
          <a:p>
            <a:r>
              <a:rPr lang="en-US" dirty="0"/>
              <a:t>Currently, </a:t>
            </a:r>
            <a:r>
              <a:rPr lang="en-US" dirty="0" err="1"/>
              <a:t>LangChain</a:t>
            </a:r>
            <a:r>
              <a:rPr lang="en-US" dirty="0"/>
              <a:t> agents only support text</a:t>
            </a:r>
          </a:p>
          <a:p>
            <a:pPr lvl="1"/>
            <a:r>
              <a:rPr lang="en-US" dirty="0"/>
              <a:t>We will use custom tools to build multimodal agents.</a:t>
            </a:r>
          </a:p>
          <a:p>
            <a:endParaRPr lang="en-US" dirty="0"/>
          </a:p>
        </p:txBody>
      </p:sp>
    </p:spTree>
    <p:extLst>
      <p:ext uri="{BB962C8B-B14F-4D97-AF65-F5344CB8AC3E}">
        <p14:creationId xmlns:p14="http://schemas.microsoft.com/office/powerpoint/2010/main" val="3757693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92E329-9FDB-7CC7-AD28-8769E7299F77}"/>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351EE60A-7214-11D9-FADD-A79050C3B543}"/>
              </a:ext>
            </a:extLst>
          </p:cNvPr>
          <p:cNvSpPr>
            <a:spLocks noGrp="1"/>
          </p:cNvSpPr>
          <p:nvPr>
            <p:ph type="title" idx="1"/>
          </p:nvPr>
        </p:nvSpPr>
        <p:spPr/>
        <p:txBody>
          <a:bodyPr>
            <a:normAutofit fontScale="90000"/>
          </a:bodyPr>
          <a:lstStyle/>
          <a:p>
            <a:r>
              <a:rPr lang="en-US" dirty="0"/>
              <a:t>Example 1: Image generation and description (1/4)</a:t>
            </a:r>
          </a:p>
        </p:txBody>
      </p:sp>
      <p:pic>
        <p:nvPicPr>
          <p:cNvPr id="12" name="Picture 5">
            <a:extLst>
              <a:ext uri="{FF2B5EF4-FFF2-40B4-BE49-F238E27FC236}">
                <a16:creationId xmlns:a16="http://schemas.microsoft.com/office/drawing/2014/main" id="{02280F9E-D973-3BA6-4E66-93B7968AE3EF}"/>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6728951" y="4626558"/>
            <a:ext cx="1400045" cy="1471288"/>
          </a:xfrm>
          <a:prstGeom prst="rect">
            <a:avLst/>
          </a:prstGeom>
          <a:effectLst/>
        </p:spPr>
      </p:pic>
      <p:cxnSp>
        <p:nvCxnSpPr>
          <p:cNvPr id="13" name="Straight Arrow Connector 12">
            <a:extLst>
              <a:ext uri="{FF2B5EF4-FFF2-40B4-BE49-F238E27FC236}">
                <a16:creationId xmlns:a16="http://schemas.microsoft.com/office/drawing/2014/main" id="{C6D54CFC-05E3-F741-7919-9D2F14484EDD}"/>
              </a:ext>
            </a:extLst>
          </p:cNvPr>
          <p:cNvCxnSpPr>
            <a:cxnSpLocks/>
            <a:endCxn id="12" idx="1"/>
          </p:cNvCxnSpPr>
          <p:nvPr/>
        </p:nvCxnSpPr>
        <p:spPr>
          <a:xfrm flipV="1">
            <a:off x="5369537" y="5362202"/>
            <a:ext cx="1359414" cy="7148"/>
          </a:xfrm>
          <a:prstGeom prst="straightConnector1">
            <a:avLst/>
          </a:prstGeom>
          <a:noFill/>
          <a:ln w="63500" cap="flat" cmpd="sng" algn="ctr">
            <a:solidFill>
              <a:srgbClr val="9F1D7B"/>
            </a:solidFill>
            <a:prstDash val="solid"/>
            <a:miter lim="800000"/>
            <a:tailEnd type="triangle"/>
          </a:ln>
          <a:effectLst/>
        </p:spPr>
      </p:cxnSp>
      <p:sp>
        <p:nvSpPr>
          <p:cNvPr id="14" name="Rounded Rectangle 13">
            <a:extLst>
              <a:ext uri="{FF2B5EF4-FFF2-40B4-BE49-F238E27FC236}">
                <a16:creationId xmlns:a16="http://schemas.microsoft.com/office/drawing/2014/main" id="{4CA72D17-524F-544C-495B-6B0E55E6B4CC}"/>
              </a:ext>
            </a:extLst>
          </p:cNvPr>
          <p:cNvSpPr/>
          <p:nvPr/>
        </p:nvSpPr>
        <p:spPr>
          <a:xfrm>
            <a:off x="1674425" y="232793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15" name="Rounded Rectangle 14">
            <a:extLst>
              <a:ext uri="{FF2B5EF4-FFF2-40B4-BE49-F238E27FC236}">
                <a16:creationId xmlns:a16="http://schemas.microsoft.com/office/drawing/2014/main" id="{A4CD00EC-8C35-E3E8-430E-603CFCC243A0}"/>
              </a:ext>
            </a:extLst>
          </p:cNvPr>
          <p:cNvSpPr/>
          <p:nvPr/>
        </p:nvSpPr>
        <p:spPr>
          <a:xfrm>
            <a:off x="1987549" y="289503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generation tool</a:t>
            </a:r>
          </a:p>
        </p:txBody>
      </p:sp>
      <p:sp>
        <p:nvSpPr>
          <p:cNvPr id="16" name="Rounded Rectangle 15">
            <a:extLst>
              <a:ext uri="{FF2B5EF4-FFF2-40B4-BE49-F238E27FC236}">
                <a16:creationId xmlns:a16="http://schemas.microsoft.com/office/drawing/2014/main" id="{C34FFFB7-BBD6-0596-FFBA-8E3F4205B678}"/>
              </a:ext>
            </a:extLst>
          </p:cNvPr>
          <p:cNvSpPr/>
          <p:nvPr/>
        </p:nvSpPr>
        <p:spPr>
          <a:xfrm>
            <a:off x="4384544" y="289503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variation tool</a:t>
            </a:r>
          </a:p>
        </p:txBody>
      </p:sp>
      <p:sp>
        <p:nvSpPr>
          <p:cNvPr id="17" name="Rounded Rectangle 16">
            <a:extLst>
              <a:ext uri="{FF2B5EF4-FFF2-40B4-BE49-F238E27FC236}">
                <a16:creationId xmlns:a16="http://schemas.microsoft.com/office/drawing/2014/main" id="{0286F8BE-280E-4D39-7FB8-9592BDA8F77B}"/>
              </a:ext>
            </a:extLst>
          </p:cNvPr>
          <p:cNvSpPr/>
          <p:nvPr/>
        </p:nvSpPr>
        <p:spPr>
          <a:xfrm>
            <a:off x="6781539" y="289503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Poster-to-story tool</a:t>
            </a:r>
          </a:p>
        </p:txBody>
      </p:sp>
      <p:sp>
        <p:nvSpPr>
          <p:cNvPr id="18" name="Rounded Rectangle 17">
            <a:extLst>
              <a:ext uri="{FF2B5EF4-FFF2-40B4-BE49-F238E27FC236}">
                <a16:creationId xmlns:a16="http://schemas.microsoft.com/office/drawing/2014/main" id="{01EC27EB-E8EA-6E4B-8D6F-FF2BA1EB481B}"/>
              </a:ext>
            </a:extLst>
          </p:cNvPr>
          <p:cNvSpPr/>
          <p:nvPr/>
        </p:nvSpPr>
        <p:spPr>
          <a:xfrm>
            <a:off x="2514473" y="4552740"/>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Create two movie posters and write the plot of the movie</a:t>
            </a:r>
          </a:p>
        </p:txBody>
      </p:sp>
    </p:spTree>
    <p:extLst>
      <p:ext uri="{BB962C8B-B14F-4D97-AF65-F5344CB8AC3E}">
        <p14:creationId xmlns:p14="http://schemas.microsoft.com/office/powerpoint/2010/main" val="46536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9B84E-98FD-E062-AB11-54E21548138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D510D7-44E4-BB51-94E6-B3B41C8AA6D4}"/>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3506BCA4-2C97-1996-085D-0D96E4CE1062}"/>
              </a:ext>
            </a:extLst>
          </p:cNvPr>
          <p:cNvSpPr>
            <a:spLocks noGrp="1"/>
          </p:cNvSpPr>
          <p:nvPr>
            <p:ph type="title" idx="1"/>
          </p:nvPr>
        </p:nvSpPr>
        <p:spPr/>
        <p:txBody>
          <a:bodyPr>
            <a:normAutofit fontScale="90000"/>
          </a:bodyPr>
          <a:lstStyle/>
          <a:p>
            <a:r>
              <a:rPr lang="en-US" dirty="0"/>
              <a:t>Example 1: Image generation and description (2/4)</a:t>
            </a:r>
          </a:p>
        </p:txBody>
      </p:sp>
      <p:pic>
        <p:nvPicPr>
          <p:cNvPr id="4" name="Picture 5">
            <a:extLst>
              <a:ext uri="{FF2B5EF4-FFF2-40B4-BE49-F238E27FC236}">
                <a16:creationId xmlns:a16="http://schemas.microsoft.com/office/drawing/2014/main" id="{D94E0A15-4121-BC2F-0472-6239C1D20A15}"/>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5" name="Straight Arrow Connector 4">
            <a:extLst>
              <a:ext uri="{FF2B5EF4-FFF2-40B4-BE49-F238E27FC236}">
                <a16:creationId xmlns:a16="http://schemas.microsoft.com/office/drawing/2014/main" id="{31DBE28B-A39E-B855-2DC7-1424229AA158}"/>
              </a:ext>
            </a:extLst>
          </p:cNvPr>
          <p:cNvCxnSpPr>
            <a:cxnSpLocks/>
            <a:endCxn id="4"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6" name="Rounded Rectangle 5">
            <a:extLst>
              <a:ext uri="{FF2B5EF4-FFF2-40B4-BE49-F238E27FC236}">
                <a16:creationId xmlns:a16="http://schemas.microsoft.com/office/drawing/2014/main" id="{E3551323-6C77-47D0-218A-DD499B7B6E25}"/>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7" name="Rounded Rectangle 6">
            <a:extLst>
              <a:ext uri="{FF2B5EF4-FFF2-40B4-BE49-F238E27FC236}">
                <a16:creationId xmlns:a16="http://schemas.microsoft.com/office/drawing/2014/main" id="{EA7CD228-3800-A8A8-CFD8-7E71B7484B78}"/>
              </a:ext>
            </a:extLst>
          </p:cNvPr>
          <p:cNvSpPr/>
          <p:nvPr/>
        </p:nvSpPr>
        <p:spPr>
          <a:xfrm>
            <a:off x="200024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generation tool</a:t>
            </a:r>
          </a:p>
        </p:txBody>
      </p:sp>
      <p:sp>
        <p:nvSpPr>
          <p:cNvPr id="8" name="Rounded Rectangle 7">
            <a:extLst>
              <a:ext uri="{FF2B5EF4-FFF2-40B4-BE49-F238E27FC236}">
                <a16:creationId xmlns:a16="http://schemas.microsoft.com/office/drawing/2014/main" id="{F3DFFF15-838E-8891-B917-CC5D9C224FA1}"/>
              </a:ext>
            </a:extLst>
          </p:cNvPr>
          <p:cNvSpPr/>
          <p:nvPr/>
        </p:nvSpPr>
        <p:spPr>
          <a:xfrm>
            <a:off x="4397244"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variation tool</a:t>
            </a:r>
          </a:p>
        </p:txBody>
      </p:sp>
      <p:sp>
        <p:nvSpPr>
          <p:cNvPr id="9" name="Rounded Rectangle 8">
            <a:extLst>
              <a:ext uri="{FF2B5EF4-FFF2-40B4-BE49-F238E27FC236}">
                <a16:creationId xmlns:a16="http://schemas.microsoft.com/office/drawing/2014/main" id="{9270153A-2A13-D0C5-DA58-37D02F356C66}"/>
              </a:ext>
            </a:extLst>
          </p:cNvPr>
          <p:cNvSpPr/>
          <p:nvPr/>
        </p:nvSpPr>
        <p:spPr>
          <a:xfrm>
            <a:off x="679423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Poster-to-story tool</a:t>
            </a:r>
          </a:p>
        </p:txBody>
      </p:sp>
      <p:cxnSp>
        <p:nvCxnSpPr>
          <p:cNvPr id="10" name="Straight Arrow Connector 9">
            <a:extLst>
              <a:ext uri="{FF2B5EF4-FFF2-40B4-BE49-F238E27FC236}">
                <a16:creationId xmlns:a16="http://schemas.microsoft.com/office/drawing/2014/main" id="{7CF2F062-0AF4-DC2A-85AF-067955AFE438}"/>
              </a:ext>
            </a:extLst>
          </p:cNvPr>
          <p:cNvCxnSpPr>
            <a:cxnSpLocks/>
            <a:stCxn id="7" idx="2"/>
          </p:cNvCxnSpPr>
          <p:nvPr/>
        </p:nvCxnSpPr>
        <p:spPr>
          <a:xfrm>
            <a:off x="2978150" y="3212512"/>
            <a:ext cx="2419612" cy="1626188"/>
          </a:xfrm>
          <a:prstGeom prst="straightConnector1">
            <a:avLst/>
          </a:prstGeom>
          <a:noFill/>
          <a:ln w="63500" cap="flat" cmpd="sng" algn="ctr">
            <a:solidFill>
              <a:srgbClr val="330066"/>
            </a:solidFill>
            <a:prstDash val="solid"/>
            <a:miter lim="800000"/>
            <a:tailEnd type="triangle"/>
          </a:ln>
          <a:effectLst/>
        </p:spPr>
      </p:cxnSp>
      <p:sp>
        <p:nvSpPr>
          <p:cNvPr id="11" name="TextBox 10">
            <a:extLst>
              <a:ext uri="{FF2B5EF4-FFF2-40B4-BE49-F238E27FC236}">
                <a16:creationId xmlns:a16="http://schemas.microsoft.com/office/drawing/2014/main" id="{21BF3B9D-3544-E355-2FA4-2B151B1218E9}"/>
              </a:ext>
            </a:extLst>
          </p:cNvPr>
          <p:cNvSpPr txBox="1"/>
          <p:nvPr/>
        </p:nvSpPr>
        <p:spPr>
          <a:xfrm>
            <a:off x="4676982" y="3715259"/>
            <a:ext cx="1792821" cy="646331"/>
          </a:xfrm>
          <a:prstGeom prst="rect">
            <a:avLst/>
          </a:prstGeom>
          <a:noFill/>
        </p:spPr>
        <p:txBody>
          <a:bodyPr wrap="square" rtlCol="0">
            <a:spAutoFit/>
          </a:bodyPr>
          <a:lstStyle/>
          <a:p>
            <a:r>
              <a:rPr lang="en-US" dirty="0">
                <a:solidFill>
                  <a:srgbClr val="232F3E"/>
                </a:solidFill>
                <a:latin typeface="Amazon Ember Medium"/>
              </a:rPr>
              <a:t>Generate a movie poster</a:t>
            </a:r>
          </a:p>
        </p:txBody>
      </p:sp>
      <p:sp>
        <p:nvSpPr>
          <p:cNvPr id="19" name="Rounded Rectangle 18">
            <a:extLst>
              <a:ext uri="{FF2B5EF4-FFF2-40B4-BE49-F238E27FC236}">
                <a16:creationId xmlns:a16="http://schemas.microsoft.com/office/drawing/2014/main" id="{BBE78284-DC19-81D8-2CD1-7051C6C9210E}"/>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Create two movie posters and write the plot of the movie</a:t>
            </a:r>
          </a:p>
        </p:txBody>
      </p:sp>
    </p:spTree>
    <p:extLst>
      <p:ext uri="{BB962C8B-B14F-4D97-AF65-F5344CB8AC3E}">
        <p14:creationId xmlns:p14="http://schemas.microsoft.com/office/powerpoint/2010/main" val="1959596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AC17D-9F2B-E602-AC69-90643C6742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426642-237B-0425-5006-2655245D2011}"/>
              </a:ext>
            </a:extLst>
          </p:cNvPr>
          <p:cNvSpPr>
            <a:spLocks noGrp="1"/>
          </p:cNvSpPr>
          <p:nvPr>
            <p:ph type="title" idx="1"/>
          </p:nvPr>
        </p:nvSpPr>
        <p:spPr/>
        <p:txBody>
          <a:bodyPr>
            <a:normAutofit fontScale="90000"/>
          </a:bodyPr>
          <a:lstStyle/>
          <a:p>
            <a:r>
              <a:rPr lang="en-US" dirty="0"/>
              <a:t>Example 1: Image generation and description (3/4)</a:t>
            </a:r>
          </a:p>
        </p:txBody>
      </p:sp>
      <p:pic>
        <p:nvPicPr>
          <p:cNvPr id="4" name="Picture 5">
            <a:extLst>
              <a:ext uri="{FF2B5EF4-FFF2-40B4-BE49-F238E27FC236}">
                <a16:creationId xmlns:a16="http://schemas.microsoft.com/office/drawing/2014/main" id="{56E69877-1B61-A84B-E8D4-5E8413ABD3E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cxnSp>
        <p:nvCxnSpPr>
          <p:cNvPr id="5" name="Straight Arrow Connector 4">
            <a:extLst>
              <a:ext uri="{FF2B5EF4-FFF2-40B4-BE49-F238E27FC236}">
                <a16:creationId xmlns:a16="http://schemas.microsoft.com/office/drawing/2014/main" id="{E2EE10A0-217D-6F20-DF1E-590EA5C972B4}"/>
              </a:ext>
            </a:extLst>
          </p:cNvPr>
          <p:cNvCxnSpPr>
            <a:cxnSpLocks/>
            <a:endCxn id="4"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6" name="Rounded Rectangle 5">
            <a:extLst>
              <a:ext uri="{FF2B5EF4-FFF2-40B4-BE49-F238E27FC236}">
                <a16:creationId xmlns:a16="http://schemas.microsoft.com/office/drawing/2014/main" id="{5932722D-1F7D-568A-B30B-CD8E3E9C54CC}"/>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7" name="Rounded Rectangle 6">
            <a:extLst>
              <a:ext uri="{FF2B5EF4-FFF2-40B4-BE49-F238E27FC236}">
                <a16:creationId xmlns:a16="http://schemas.microsoft.com/office/drawing/2014/main" id="{AEEEA843-19E8-025A-7B7D-5C49963B6EE3}"/>
              </a:ext>
            </a:extLst>
          </p:cNvPr>
          <p:cNvSpPr/>
          <p:nvPr/>
        </p:nvSpPr>
        <p:spPr>
          <a:xfrm>
            <a:off x="200024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generation tool</a:t>
            </a:r>
          </a:p>
        </p:txBody>
      </p:sp>
      <p:sp>
        <p:nvSpPr>
          <p:cNvPr id="8" name="Rounded Rectangle 7">
            <a:extLst>
              <a:ext uri="{FF2B5EF4-FFF2-40B4-BE49-F238E27FC236}">
                <a16:creationId xmlns:a16="http://schemas.microsoft.com/office/drawing/2014/main" id="{CB1D8E9C-202F-4292-A66C-D5A7E7D6EBFE}"/>
              </a:ext>
            </a:extLst>
          </p:cNvPr>
          <p:cNvSpPr/>
          <p:nvPr/>
        </p:nvSpPr>
        <p:spPr>
          <a:xfrm>
            <a:off x="4397244"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variation tool</a:t>
            </a:r>
          </a:p>
        </p:txBody>
      </p:sp>
      <p:sp>
        <p:nvSpPr>
          <p:cNvPr id="9" name="Rounded Rectangle 8">
            <a:extLst>
              <a:ext uri="{FF2B5EF4-FFF2-40B4-BE49-F238E27FC236}">
                <a16:creationId xmlns:a16="http://schemas.microsoft.com/office/drawing/2014/main" id="{5D95836E-30B2-3B96-F4EF-CA72D0FF47B8}"/>
              </a:ext>
            </a:extLst>
          </p:cNvPr>
          <p:cNvSpPr/>
          <p:nvPr/>
        </p:nvSpPr>
        <p:spPr>
          <a:xfrm>
            <a:off x="679423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Poster-to-story tool</a:t>
            </a:r>
          </a:p>
        </p:txBody>
      </p:sp>
      <p:cxnSp>
        <p:nvCxnSpPr>
          <p:cNvPr id="10" name="Straight Arrow Connector 9">
            <a:extLst>
              <a:ext uri="{FF2B5EF4-FFF2-40B4-BE49-F238E27FC236}">
                <a16:creationId xmlns:a16="http://schemas.microsoft.com/office/drawing/2014/main" id="{27ACED7C-5CB7-6619-1173-1FD13898C376}"/>
              </a:ext>
            </a:extLst>
          </p:cNvPr>
          <p:cNvCxnSpPr>
            <a:cxnSpLocks/>
            <a:stCxn id="8" idx="2"/>
          </p:cNvCxnSpPr>
          <p:nvPr/>
        </p:nvCxnSpPr>
        <p:spPr>
          <a:xfrm>
            <a:off x="5375145" y="3212512"/>
            <a:ext cx="282705" cy="1575388"/>
          </a:xfrm>
          <a:prstGeom prst="straightConnector1">
            <a:avLst/>
          </a:prstGeom>
          <a:noFill/>
          <a:ln w="63500" cap="flat" cmpd="sng" algn="ctr">
            <a:solidFill>
              <a:srgbClr val="330066"/>
            </a:solidFill>
            <a:prstDash val="solid"/>
            <a:miter lim="800000"/>
            <a:tailEnd type="triangle"/>
          </a:ln>
          <a:effectLst/>
        </p:spPr>
      </p:cxnSp>
      <p:sp>
        <p:nvSpPr>
          <p:cNvPr id="11" name="TextBox 10">
            <a:extLst>
              <a:ext uri="{FF2B5EF4-FFF2-40B4-BE49-F238E27FC236}">
                <a16:creationId xmlns:a16="http://schemas.microsoft.com/office/drawing/2014/main" id="{2EA9ADCC-8736-49A1-6A2B-B891B9C6E95B}"/>
              </a:ext>
            </a:extLst>
          </p:cNvPr>
          <p:cNvSpPr txBox="1"/>
          <p:nvPr/>
        </p:nvSpPr>
        <p:spPr>
          <a:xfrm>
            <a:off x="5657850" y="3750429"/>
            <a:ext cx="2222515" cy="646331"/>
          </a:xfrm>
          <a:prstGeom prst="rect">
            <a:avLst/>
          </a:prstGeom>
          <a:noFill/>
        </p:spPr>
        <p:txBody>
          <a:bodyPr wrap="square" rtlCol="0">
            <a:spAutoFit/>
          </a:bodyPr>
          <a:lstStyle/>
          <a:p>
            <a:r>
              <a:rPr lang="en-US" dirty="0">
                <a:solidFill>
                  <a:srgbClr val="232F3E"/>
                </a:solidFill>
                <a:latin typeface="Amazon Ember Medium"/>
              </a:rPr>
              <a:t>Generate a second movie poster</a:t>
            </a:r>
          </a:p>
        </p:txBody>
      </p:sp>
      <p:sp>
        <p:nvSpPr>
          <p:cNvPr id="19" name="Rounded Rectangle 18">
            <a:extLst>
              <a:ext uri="{FF2B5EF4-FFF2-40B4-BE49-F238E27FC236}">
                <a16:creationId xmlns:a16="http://schemas.microsoft.com/office/drawing/2014/main" id="{9E2096B8-7328-9767-4435-C5BED004BA23}"/>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Create two movie posters and write the plot of the movie</a:t>
            </a:r>
          </a:p>
        </p:txBody>
      </p:sp>
    </p:spTree>
    <p:extLst>
      <p:ext uri="{BB962C8B-B14F-4D97-AF65-F5344CB8AC3E}">
        <p14:creationId xmlns:p14="http://schemas.microsoft.com/office/powerpoint/2010/main" val="2345011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12A8-BCE1-0204-4551-7F0CFF2345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5F936E-35D4-22F8-856A-D0993C59FD19}"/>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DFF68B30-825E-CC4F-5D7C-ABF4225DAE2D}"/>
              </a:ext>
            </a:extLst>
          </p:cNvPr>
          <p:cNvSpPr>
            <a:spLocks noGrp="1"/>
          </p:cNvSpPr>
          <p:nvPr>
            <p:ph type="title" idx="1"/>
          </p:nvPr>
        </p:nvSpPr>
        <p:spPr/>
        <p:txBody>
          <a:bodyPr>
            <a:normAutofit fontScale="90000"/>
          </a:bodyPr>
          <a:lstStyle/>
          <a:p>
            <a:r>
              <a:rPr lang="en-US" dirty="0"/>
              <a:t>Example 1: Image generation and description (4/4)</a:t>
            </a:r>
          </a:p>
        </p:txBody>
      </p:sp>
      <p:pic>
        <p:nvPicPr>
          <p:cNvPr id="22" name="Picture 5">
            <a:extLst>
              <a:ext uri="{FF2B5EF4-FFF2-40B4-BE49-F238E27FC236}">
                <a16:creationId xmlns:a16="http://schemas.microsoft.com/office/drawing/2014/main" id="{8969E7A3-CD53-2C60-E026-2340C3BC4606}"/>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sp>
        <p:nvSpPr>
          <p:cNvPr id="23" name="Rounded Rectangle 22">
            <a:extLst>
              <a:ext uri="{FF2B5EF4-FFF2-40B4-BE49-F238E27FC236}">
                <a16:creationId xmlns:a16="http://schemas.microsoft.com/office/drawing/2014/main" id="{693D8974-E2F2-D54F-D51D-E3DB58AB731D}"/>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Create two movie posters and write the plot of the movie</a:t>
            </a:r>
          </a:p>
        </p:txBody>
      </p:sp>
      <p:cxnSp>
        <p:nvCxnSpPr>
          <p:cNvPr id="24" name="Straight Arrow Connector 23">
            <a:extLst>
              <a:ext uri="{FF2B5EF4-FFF2-40B4-BE49-F238E27FC236}">
                <a16:creationId xmlns:a16="http://schemas.microsoft.com/office/drawing/2014/main" id="{CAB813DF-E40D-9F32-91E5-A6CDE5D6D9E1}"/>
              </a:ext>
            </a:extLst>
          </p:cNvPr>
          <p:cNvCxnSpPr>
            <a:cxnSpLocks/>
            <a:stCxn id="23" idx="3"/>
            <a:endCxn id="22"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25" name="Rounded Rectangle 24">
            <a:extLst>
              <a:ext uri="{FF2B5EF4-FFF2-40B4-BE49-F238E27FC236}">
                <a16:creationId xmlns:a16="http://schemas.microsoft.com/office/drawing/2014/main" id="{4931E225-3F39-C04A-1DD3-57FCB33615AB}"/>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6" name="Rounded Rectangle 25">
            <a:extLst>
              <a:ext uri="{FF2B5EF4-FFF2-40B4-BE49-F238E27FC236}">
                <a16:creationId xmlns:a16="http://schemas.microsoft.com/office/drawing/2014/main" id="{45A42A54-5076-A0A0-E1F5-A566C4CDBE9E}"/>
              </a:ext>
            </a:extLst>
          </p:cNvPr>
          <p:cNvSpPr/>
          <p:nvPr/>
        </p:nvSpPr>
        <p:spPr>
          <a:xfrm>
            <a:off x="200024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generation tool</a:t>
            </a:r>
          </a:p>
        </p:txBody>
      </p:sp>
      <p:sp>
        <p:nvSpPr>
          <p:cNvPr id="27" name="Rounded Rectangle 26">
            <a:extLst>
              <a:ext uri="{FF2B5EF4-FFF2-40B4-BE49-F238E27FC236}">
                <a16:creationId xmlns:a16="http://schemas.microsoft.com/office/drawing/2014/main" id="{2F11F21E-1A02-2B44-E92D-A327A95EFC38}"/>
              </a:ext>
            </a:extLst>
          </p:cNvPr>
          <p:cNvSpPr/>
          <p:nvPr/>
        </p:nvSpPr>
        <p:spPr>
          <a:xfrm>
            <a:off x="4397244"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 variation tool</a:t>
            </a:r>
          </a:p>
        </p:txBody>
      </p:sp>
      <p:sp>
        <p:nvSpPr>
          <p:cNvPr id="28" name="Rounded Rectangle 27">
            <a:extLst>
              <a:ext uri="{FF2B5EF4-FFF2-40B4-BE49-F238E27FC236}">
                <a16:creationId xmlns:a16="http://schemas.microsoft.com/office/drawing/2014/main" id="{9AFFEEF2-D270-0428-59BA-B7A6843A6FBC}"/>
              </a:ext>
            </a:extLst>
          </p:cNvPr>
          <p:cNvSpPr/>
          <p:nvPr/>
        </p:nvSpPr>
        <p:spPr>
          <a:xfrm>
            <a:off x="6794239" y="2518928"/>
            <a:ext cx="1955801" cy="693584"/>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Poster-to-story tool</a:t>
            </a:r>
          </a:p>
        </p:txBody>
      </p:sp>
      <p:cxnSp>
        <p:nvCxnSpPr>
          <p:cNvPr id="29" name="Straight Arrow Connector 28">
            <a:extLst>
              <a:ext uri="{FF2B5EF4-FFF2-40B4-BE49-F238E27FC236}">
                <a16:creationId xmlns:a16="http://schemas.microsoft.com/office/drawing/2014/main" id="{8030558C-A0A2-363A-6CF9-6067058EA1E6}"/>
              </a:ext>
            </a:extLst>
          </p:cNvPr>
          <p:cNvCxnSpPr>
            <a:cxnSpLocks/>
            <a:stCxn id="28" idx="2"/>
          </p:cNvCxnSpPr>
          <p:nvPr/>
        </p:nvCxnSpPr>
        <p:spPr>
          <a:xfrm flipH="1">
            <a:off x="5911850" y="3212512"/>
            <a:ext cx="1860290" cy="1613488"/>
          </a:xfrm>
          <a:prstGeom prst="straightConnector1">
            <a:avLst/>
          </a:prstGeom>
          <a:noFill/>
          <a:ln w="63500" cap="flat" cmpd="sng" algn="ctr">
            <a:solidFill>
              <a:srgbClr val="330066"/>
            </a:solidFill>
            <a:prstDash val="solid"/>
            <a:miter lim="800000"/>
            <a:tailEnd type="triangle"/>
          </a:ln>
          <a:effectLst/>
        </p:spPr>
      </p:cxnSp>
      <p:sp>
        <p:nvSpPr>
          <p:cNvPr id="30" name="TextBox 29">
            <a:extLst>
              <a:ext uri="{FF2B5EF4-FFF2-40B4-BE49-F238E27FC236}">
                <a16:creationId xmlns:a16="http://schemas.microsoft.com/office/drawing/2014/main" id="{6994AC58-C40B-7481-E0CF-450FE7E86045}"/>
              </a:ext>
            </a:extLst>
          </p:cNvPr>
          <p:cNvSpPr txBox="1"/>
          <p:nvPr/>
        </p:nvSpPr>
        <p:spPr>
          <a:xfrm>
            <a:off x="6950150" y="3921716"/>
            <a:ext cx="2028955" cy="646331"/>
          </a:xfrm>
          <a:prstGeom prst="rect">
            <a:avLst/>
          </a:prstGeom>
          <a:noFill/>
        </p:spPr>
        <p:txBody>
          <a:bodyPr wrap="square" rtlCol="0">
            <a:spAutoFit/>
          </a:bodyPr>
          <a:lstStyle/>
          <a:p>
            <a:r>
              <a:rPr lang="en-US" dirty="0">
                <a:solidFill>
                  <a:srgbClr val="232F3E"/>
                </a:solidFill>
                <a:latin typeface="Amazon Ember Medium"/>
              </a:rPr>
              <a:t>Write a plot of the movie</a:t>
            </a:r>
          </a:p>
        </p:txBody>
      </p:sp>
      <p:sp>
        <p:nvSpPr>
          <p:cNvPr id="31" name="Rounded Rectangle 30">
            <a:extLst>
              <a:ext uri="{FF2B5EF4-FFF2-40B4-BE49-F238E27FC236}">
                <a16:creationId xmlns:a16="http://schemas.microsoft.com/office/drawing/2014/main" id="{FC7641BD-79BA-AB59-D26B-FB6EA90B3C7C}"/>
              </a:ext>
            </a:extLst>
          </p:cNvPr>
          <p:cNvSpPr/>
          <p:nvPr/>
        </p:nvSpPr>
        <p:spPr>
          <a:xfrm>
            <a:off x="7772139" y="5103378"/>
            <a:ext cx="2127250" cy="738097"/>
          </a:xfrm>
          <a:prstGeom prst="roundRect">
            <a:avLst/>
          </a:prstGeom>
          <a:solidFill>
            <a:srgbClr val="330066"/>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End Response</a:t>
            </a:r>
          </a:p>
        </p:txBody>
      </p:sp>
      <p:cxnSp>
        <p:nvCxnSpPr>
          <p:cNvPr id="32" name="Straight Arrow Connector 31">
            <a:extLst>
              <a:ext uri="{FF2B5EF4-FFF2-40B4-BE49-F238E27FC236}">
                <a16:creationId xmlns:a16="http://schemas.microsoft.com/office/drawing/2014/main" id="{6147963E-486A-3C61-BFC9-FED667EAC877}"/>
              </a:ext>
            </a:extLst>
          </p:cNvPr>
          <p:cNvCxnSpPr>
            <a:cxnSpLocks/>
          </p:cNvCxnSpPr>
          <p:nvPr/>
        </p:nvCxnSpPr>
        <p:spPr>
          <a:xfrm flipV="1">
            <a:off x="6401935" y="5451072"/>
            <a:ext cx="1359415" cy="7148"/>
          </a:xfrm>
          <a:prstGeom prst="straightConnector1">
            <a:avLst/>
          </a:prstGeom>
          <a:noFill/>
          <a:ln w="63500" cap="flat" cmpd="sng" algn="ctr">
            <a:solidFill>
              <a:srgbClr val="9F1D7B"/>
            </a:solidFill>
            <a:prstDash val="solid"/>
            <a:miter lim="800000"/>
            <a:tailEnd type="triangle"/>
          </a:ln>
          <a:effectLst/>
        </p:spPr>
      </p:cxnSp>
    </p:spTree>
    <p:extLst>
      <p:ext uri="{BB962C8B-B14F-4D97-AF65-F5344CB8AC3E}">
        <p14:creationId xmlns:p14="http://schemas.microsoft.com/office/powerpoint/2010/main" val="2401764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A7508D-5955-2063-850F-6BCF8DD57B55}"/>
              </a:ext>
            </a:extLst>
          </p:cNvPr>
          <p:cNvSpPr>
            <a:spLocks noGrp="1"/>
          </p:cNvSpPr>
          <p:nvPr>
            <p:ph type="sldNum" idx="97"/>
          </p:nvPr>
        </p:nvSpPr>
        <p:spPr/>
        <p:txBody>
          <a:bodyPr/>
          <a:lstStyle/>
          <a:p>
            <a:fld id="{86A8BF56-6CB3-514C-9A64-F39D95C9E25B}" type="slidenum">
              <a:rPr lang="en-US" smtClean="0"/>
              <a:t>25</a:t>
            </a:fld>
            <a:endParaRPr lang="en-US"/>
          </a:p>
        </p:txBody>
      </p:sp>
      <p:sp>
        <p:nvSpPr>
          <p:cNvPr id="3" name="Title 2">
            <a:extLst>
              <a:ext uri="{FF2B5EF4-FFF2-40B4-BE49-F238E27FC236}">
                <a16:creationId xmlns:a16="http://schemas.microsoft.com/office/drawing/2014/main" id="{C1F6F3AC-49CC-B05E-1422-5B8F353DA2FF}"/>
              </a:ext>
            </a:extLst>
          </p:cNvPr>
          <p:cNvSpPr>
            <a:spLocks noGrp="1"/>
          </p:cNvSpPr>
          <p:nvPr>
            <p:ph type="title" idx="1"/>
          </p:nvPr>
        </p:nvSpPr>
        <p:spPr/>
        <p:txBody>
          <a:bodyPr>
            <a:noAutofit/>
          </a:bodyPr>
          <a:lstStyle/>
          <a:p>
            <a:r>
              <a:rPr lang="en-US" sz="2800" dirty="0"/>
              <a:t>Example 2: Multimodal agent for retrieval-based responses (1/3)</a:t>
            </a:r>
          </a:p>
        </p:txBody>
      </p:sp>
      <p:pic>
        <p:nvPicPr>
          <p:cNvPr id="5" name="Picture 5">
            <a:extLst>
              <a:ext uri="{FF2B5EF4-FFF2-40B4-BE49-F238E27FC236}">
                <a16:creationId xmlns:a16="http://schemas.microsoft.com/office/drawing/2014/main" id="{CA3C19D8-FCD6-8FD4-50DA-171CDDB57D8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sp>
        <p:nvSpPr>
          <p:cNvPr id="6" name="Rounded Rectangle 5">
            <a:extLst>
              <a:ext uri="{FF2B5EF4-FFF2-40B4-BE49-F238E27FC236}">
                <a16:creationId xmlns:a16="http://schemas.microsoft.com/office/drawing/2014/main" id="{23C62118-1321-C1AA-C893-87CB016A212D}"/>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Check whether the image is original Nike FN5214-131 and where can I buy it?</a:t>
            </a:r>
          </a:p>
        </p:txBody>
      </p:sp>
      <p:cxnSp>
        <p:nvCxnSpPr>
          <p:cNvPr id="7" name="Straight Arrow Connector 6">
            <a:extLst>
              <a:ext uri="{FF2B5EF4-FFF2-40B4-BE49-F238E27FC236}">
                <a16:creationId xmlns:a16="http://schemas.microsoft.com/office/drawing/2014/main" id="{6AFE1AB1-B2B6-52AB-32B8-BF34CC11297B}"/>
              </a:ext>
            </a:extLst>
          </p:cNvPr>
          <p:cNvCxnSpPr>
            <a:cxnSpLocks/>
            <a:stCxn id="6" idx="3"/>
            <a:endCxn id="5"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sp>
        <p:nvSpPr>
          <p:cNvPr id="8" name="Rounded Rectangle 7">
            <a:extLst>
              <a:ext uri="{FF2B5EF4-FFF2-40B4-BE49-F238E27FC236}">
                <a16:creationId xmlns:a16="http://schemas.microsoft.com/office/drawing/2014/main" id="{053A2B8A-EF19-A28E-A2AD-2D51ACB87AEF}"/>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9" name="Rounded Rectangle 8">
            <a:extLst>
              <a:ext uri="{FF2B5EF4-FFF2-40B4-BE49-F238E27FC236}">
                <a16:creationId xmlns:a16="http://schemas.microsoft.com/office/drawing/2014/main" id="{06C1C045-3B6B-E87D-94FF-1C5B8553BEBC}"/>
              </a:ext>
            </a:extLst>
          </p:cNvPr>
          <p:cNvSpPr/>
          <p:nvPr/>
        </p:nvSpPr>
        <p:spPr>
          <a:xfrm>
            <a:off x="2000249"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web search</a:t>
            </a:r>
          </a:p>
        </p:txBody>
      </p:sp>
      <p:cxnSp>
        <p:nvCxnSpPr>
          <p:cNvPr id="10" name="Straight Arrow Connector 9">
            <a:extLst>
              <a:ext uri="{FF2B5EF4-FFF2-40B4-BE49-F238E27FC236}">
                <a16:creationId xmlns:a16="http://schemas.microsoft.com/office/drawing/2014/main" id="{74A7ED7D-1D74-7DCC-DD3A-FCE0EBD6328C}"/>
              </a:ext>
            </a:extLst>
          </p:cNvPr>
          <p:cNvCxnSpPr>
            <a:cxnSpLocks/>
          </p:cNvCxnSpPr>
          <p:nvPr/>
        </p:nvCxnSpPr>
        <p:spPr>
          <a:xfrm>
            <a:off x="2946400" y="3282482"/>
            <a:ext cx="2400300" cy="1581618"/>
          </a:xfrm>
          <a:prstGeom prst="straightConnector1">
            <a:avLst/>
          </a:prstGeom>
          <a:noFill/>
          <a:ln w="63500" cap="flat" cmpd="sng" algn="ctr">
            <a:solidFill>
              <a:srgbClr val="330066"/>
            </a:solidFill>
            <a:prstDash val="solid"/>
            <a:miter lim="800000"/>
            <a:tailEnd type="triangle"/>
          </a:ln>
          <a:effectLst/>
        </p:spPr>
      </p:cxnSp>
      <p:sp>
        <p:nvSpPr>
          <p:cNvPr id="11" name="Rounded Rectangle 10">
            <a:extLst>
              <a:ext uri="{FF2B5EF4-FFF2-40B4-BE49-F238E27FC236}">
                <a16:creationId xmlns:a16="http://schemas.microsoft.com/office/drawing/2014/main" id="{78EBE613-9E30-92C7-8762-FC519CAB6BBB}"/>
              </a:ext>
            </a:extLst>
          </p:cNvPr>
          <p:cNvSpPr/>
          <p:nvPr/>
        </p:nvSpPr>
        <p:spPr>
          <a:xfrm>
            <a:off x="4373431"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comparison tool</a:t>
            </a:r>
          </a:p>
        </p:txBody>
      </p:sp>
      <p:sp>
        <p:nvSpPr>
          <p:cNvPr id="12" name="Rounded Rectangle 11">
            <a:extLst>
              <a:ext uri="{FF2B5EF4-FFF2-40B4-BE49-F238E27FC236}">
                <a16:creationId xmlns:a16="http://schemas.microsoft.com/office/drawing/2014/main" id="{B72A33D9-BBB3-4570-110E-07EFACDFAFAC}"/>
              </a:ext>
            </a:extLst>
          </p:cNvPr>
          <p:cNvSpPr/>
          <p:nvPr/>
        </p:nvSpPr>
        <p:spPr>
          <a:xfrm>
            <a:off x="6746613"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Product web search</a:t>
            </a:r>
          </a:p>
        </p:txBody>
      </p:sp>
      <p:sp>
        <p:nvSpPr>
          <p:cNvPr id="13" name="TextBox 12">
            <a:extLst>
              <a:ext uri="{FF2B5EF4-FFF2-40B4-BE49-F238E27FC236}">
                <a16:creationId xmlns:a16="http://schemas.microsoft.com/office/drawing/2014/main" id="{7496F0B4-C832-ED5C-23F9-69C5A1C0DDF2}"/>
              </a:ext>
            </a:extLst>
          </p:cNvPr>
          <p:cNvSpPr txBox="1"/>
          <p:nvPr/>
        </p:nvSpPr>
        <p:spPr>
          <a:xfrm>
            <a:off x="4546602" y="3720686"/>
            <a:ext cx="2298700" cy="646331"/>
          </a:xfrm>
          <a:prstGeom prst="rect">
            <a:avLst/>
          </a:prstGeom>
          <a:noFill/>
        </p:spPr>
        <p:txBody>
          <a:bodyPr wrap="square">
            <a:spAutoFit/>
          </a:bodyPr>
          <a:lstStyle/>
          <a:p>
            <a:r>
              <a:rPr lang="en-US" dirty="0">
                <a:solidFill>
                  <a:srgbClr val="232F3E"/>
                </a:solidFill>
                <a:latin typeface="Amazon Ember Medium"/>
              </a:rPr>
              <a:t>Search for images of original product</a:t>
            </a:r>
          </a:p>
        </p:txBody>
      </p:sp>
    </p:spTree>
    <p:extLst>
      <p:ext uri="{BB962C8B-B14F-4D97-AF65-F5344CB8AC3E}">
        <p14:creationId xmlns:p14="http://schemas.microsoft.com/office/powerpoint/2010/main" val="231279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ED98F6-753D-2530-93CE-315D6974D102}"/>
              </a:ext>
            </a:extLst>
          </p:cNvPr>
          <p:cNvSpPr>
            <a:spLocks noGrp="1"/>
          </p:cNvSpPr>
          <p:nvPr>
            <p:ph type="sldNum" idx="97"/>
          </p:nvPr>
        </p:nvSpPr>
        <p:spPr/>
        <p:txBody>
          <a:bodyPr/>
          <a:lstStyle/>
          <a:p>
            <a:fld id="{86A8BF56-6CB3-514C-9A64-F39D95C9E25B}" type="slidenum">
              <a:rPr lang="en-US" smtClean="0"/>
              <a:t>26</a:t>
            </a:fld>
            <a:endParaRPr lang="en-US"/>
          </a:p>
        </p:txBody>
      </p:sp>
      <p:sp>
        <p:nvSpPr>
          <p:cNvPr id="3" name="Title 2">
            <a:extLst>
              <a:ext uri="{FF2B5EF4-FFF2-40B4-BE49-F238E27FC236}">
                <a16:creationId xmlns:a16="http://schemas.microsoft.com/office/drawing/2014/main" id="{04873DBA-5073-D7CF-046A-38E37A879566}"/>
              </a:ext>
            </a:extLst>
          </p:cNvPr>
          <p:cNvSpPr>
            <a:spLocks noGrp="1"/>
          </p:cNvSpPr>
          <p:nvPr>
            <p:ph type="title" idx="1"/>
          </p:nvPr>
        </p:nvSpPr>
        <p:spPr/>
        <p:txBody>
          <a:bodyPr>
            <a:noAutofit/>
          </a:bodyPr>
          <a:lstStyle/>
          <a:p>
            <a:r>
              <a:rPr lang="en-US" sz="2800" dirty="0"/>
              <a:t>Example 2: Multimodal agent for retrieval-based responses (2/3)</a:t>
            </a:r>
          </a:p>
        </p:txBody>
      </p:sp>
      <p:pic>
        <p:nvPicPr>
          <p:cNvPr id="14" name="Picture 5">
            <a:extLst>
              <a:ext uri="{FF2B5EF4-FFF2-40B4-BE49-F238E27FC236}">
                <a16:creationId xmlns:a16="http://schemas.microsoft.com/office/drawing/2014/main" id="{4D122F81-D4BC-9612-6361-0F038471BAEC}"/>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sp>
        <p:nvSpPr>
          <p:cNvPr id="15" name="Rounded Rectangle 14">
            <a:extLst>
              <a:ext uri="{FF2B5EF4-FFF2-40B4-BE49-F238E27FC236}">
                <a16:creationId xmlns:a16="http://schemas.microsoft.com/office/drawing/2014/main" id="{EDCEA7DB-0D0F-848F-EA99-99B99DF4AD94}"/>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Check whether the product is original Nike FN5214-131 and where can I buy it?</a:t>
            </a:r>
          </a:p>
        </p:txBody>
      </p:sp>
      <p:cxnSp>
        <p:nvCxnSpPr>
          <p:cNvPr id="16" name="Straight Arrow Connector 15">
            <a:extLst>
              <a:ext uri="{FF2B5EF4-FFF2-40B4-BE49-F238E27FC236}">
                <a16:creationId xmlns:a16="http://schemas.microsoft.com/office/drawing/2014/main" id="{BCF87929-482F-278E-6389-6B26A7B7028C}"/>
              </a:ext>
            </a:extLst>
          </p:cNvPr>
          <p:cNvCxnSpPr>
            <a:cxnSpLocks/>
            <a:stCxn id="15" idx="3"/>
            <a:endCxn id="14"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cxnSp>
        <p:nvCxnSpPr>
          <p:cNvPr id="17" name="Straight Arrow Connector 16">
            <a:extLst>
              <a:ext uri="{FF2B5EF4-FFF2-40B4-BE49-F238E27FC236}">
                <a16:creationId xmlns:a16="http://schemas.microsoft.com/office/drawing/2014/main" id="{F2B55304-A844-44CC-D8A8-27595E087058}"/>
              </a:ext>
            </a:extLst>
          </p:cNvPr>
          <p:cNvCxnSpPr>
            <a:cxnSpLocks/>
          </p:cNvCxnSpPr>
          <p:nvPr/>
        </p:nvCxnSpPr>
        <p:spPr>
          <a:xfrm>
            <a:off x="5418006" y="3319093"/>
            <a:ext cx="273116" cy="1475157"/>
          </a:xfrm>
          <a:prstGeom prst="straightConnector1">
            <a:avLst/>
          </a:prstGeom>
          <a:noFill/>
          <a:ln w="63500" cap="flat" cmpd="sng" algn="ctr">
            <a:solidFill>
              <a:srgbClr val="330066"/>
            </a:solidFill>
            <a:prstDash val="solid"/>
            <a:miter lim="800000"/>
            <a:tailEnd type="triangle"/>
          </a:ln>
          <a:effectLst/>
        </p:spPr>
      </p:cxnSp>
      <p:sp>
        <p:nvSpPr>
          <p:cNvPr id="18" name="TextBox 17">
            <a:extLst>
              <a:ext uri="{FF2B5EF4-FFF2-40B4-BE49-F238E27FC236}">
                <a16:creationId xmlns:a16="http://schemas.microsoft.com/office/drawing/2014/main" id="{076667E8-0DFF-AC49-013A-7498A9D2F25D}"/>
              </a:ext>
            </a:extLst>
          </p:cNvPr>
          <p:cNvSpPr txBox="1"/>
          <p:nvPr/>
        </p:nvSpPr>
        <p:spPr>
          <a:xfrm>
            <a:off x="5691122" y="3681666"/>
            <a:ext cx="2028955" cy="923330"/>
          </a:xfrm>
          <a:prstGeom prst="rect">
            <a:avLst/>
          </a:prstGeom>
          <a:noFill/>
        </p:spPr>
        <p:txBody>
          <a:bodyPr wrap="square" rtlCol="0">
            <a:spAutoFit/>
          </a:bodyPr>
          <a:lstStyle/>
          <a:p>
            <a:r>
              <a:rPr lang="en-US" dirty="0">
                <a:solidFill>
                  <a:srgbClr val="232F3E"/>
                </a:solidFill>
                <a:latin typeface="Amazon Ember Medium"/>
              </a:rPr>
              <a:t>Check whether the given image is a match </a:t>
            </a:r>
          </a:p>
        </p:txBody>
      </p:sp>
      <p:sp>
        <p:nvSpPr>
          <p:cNvPr id="19" name="Rounded Rectangle 11">
            <a:extLst>
              <a:ext uri="{FF2B5EF4-FFF2-40B4-BE49-F238E27FC236}">
                <a16:creationId xmlns:a16="http://schemas.microsoft.com/office/drawing/2014/main" id="{92CEF825-2E2E-B66A-48B3-121AA71E40A3}"/>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0" name="Rounded Rectangle 12">
            <a:extLst>
              <a:ext uri="{FF2B5EF4-FFF2-40B4-BE49-F238E27FC236}">
                <a16:creationId xmlns:a16="http://schemas.microsoft.com/office/drawing/2014/main" id="{FD1106F9-CD24-6366-1C71-65736783FF00}"/>
              </a:ext>
            </a:extLst>
          </p:cNvPr>
          <p:cNvSpPr/>
          <p:nvPr/>
        </p:nvSpPr>
        <p:spPr>
          <a:xfrm>
            <a:off x="2000249"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web search</a:t>
            </a:r>
          </a:p>
        </p:txBody>
      </p:sp>
      <p:sp>
        <p:nvSpPr>
          <p:cNvPr id="21" name="Rounded Rectangle 8">
            <a:extLst>
              <a:ext uri="{FF2B5EF4-FFF2-40B4-BE49-F238E27FC236}">
                <a16:creationId xmlns:a16="http://schemas.microsoft.com/office/drawing/2014/main" id="{6D03BFD5-679A-E951-6A2C-A9857F7609D3}"/>
              </a:ext>
            </a:extLst>
          </p:cNvPr>
          <p:cNvSpPr/>
          <p:nvPr/>
        </p:nvSpPr>
        <p:spPr>
          <a:xfrm>
            <a:off x="4373431"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comparison tool</a:t>
            </a:r>
          </a:p>
        </p:txBody>
      </p:sp>
      <p:sp>
        <p:nvSpPr>
          <p:cNvPr id="22" name="Rounded Rectangle 9">
            <a:extLst>
              <a:ext uri="{FF2B5EF4-FFF2-40B4-BE49-F238E27FC236}">
                <a16:creationId xmlns:a16="http://schemas.microsoft.com/office/drawing/2014/main" id="{982E9D46-77C1-CF1F-8FE7-18B3AE732810}"/>
              </a:ext>
            </a:extLst>
          </p:cNvPr>
          <p:cNvSpPr/>
          <p:nvPr/>
        </p:nvSpPr>
        <p:spPr>
          <a:xfrm>
            <a:off x="6746613"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Product web search</a:t>
            </a:r>
          </a:p>
        </p:txBody>
      </p:sp>
    </p:spTree>
    <p:extLst>
      <p:ext uri="{BB962C8B-B14F-4D97-AF65-F5344CB8AC3E}">
        <p14:creationId xmlns:p14="http://schemas.microsoft.com/office/powerpoint/2010/main" val="1007913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7D0D8-14DE-770B-A349-67235B4EFF8D}"/>
              </a:ext>
            </a:extLst>
          </p:cNvPr>
          <p:cNvSpPr>
            <a:spLocks noGrp="1"/>
          </p:cNvSpPr>
          <p:nvPr>
            <p:ph type="sldNum" idx="97"/>
          </p:nvPr>
        </p:nvSpPr>
        <p:spPr/>
        <p:txBody>
          <a:bodyPr/>
          <a:lstStyle/>
          <a:p>
            <a:fld id="{86A8BF56-6CB3-514C-9A64-F39D95C9E25B}" type="slidenum">
              <a:rPr lang="en-US" smtClean="0"/>
              <a:t>27</a:t>
            </a:fld>
            <a:endParaRPr lang="en-US"/>
          </a:p>
        </p:txBody>
      </p:sp>
      <p:sp>
        <p:nvSpPr>
          <p:cNvPr id="3" name="Title 2">
            <a:extLst>
              <a:ext uri="{FF2B5EF4-FFF2-40B4-BE49-F238E27FC236}">
                <a16:creationId xmlns:a16="http://schemas.microsoft.com/office/drawing/2014/main" id="{2DDF87C1-403D-D5AB-7BE9-50DC8F47573A}"/>
              </a:ext>
            </a:extLst>
          </p:cNvPr>
          <p:cNvSpPr>
            <a:spLocks noGrp="1"/>
          </p:cNvSpPr>
          <p:nvPr>
            <p:ph type="title" idx="1"/>
          </p:nvPr>
        </p:nvSpPr>
        <p:spPr/>
        <p:txBody>
          <a:bodyPr>
            <a:noAutofit/>
          </a:bodyPr>
          <a:lstStyle/>
          <a:p>
            <a:r>
              <a:rPr lang="en-US" sz="2800" dirty="0"/>
              <a:t>Example 2: Multimodal agent for retrieval-based responses (3/3)</a:t>
            </a:r>
          </a:p>
        </p:txBody>
      </p:sp>
      <p:pic>
        <p:nvPicPr>
          <p:cNvPr id="16" name="Picture 5">
            <a:extLst>
              <a:ext uri="{FF2B5EF4-FFF2-40B4-BE49-F238E27FC236}">
                <a16:creationId xmlns:a16="http://schemas.microsoft.com/office/drawing/2014/main" id="{01BBBBE0-5C22-D832-E88A-D891E38E3DB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6905" b="1817"/>
          <a:stretch/>
        </p:blipFill>
        <p:spPr>
          <a:xfrm>
            <a:off x="4991100" y="4700376"/>
            <a:ext cx="1400045" cy="1471288"/>
          </a:xfrm>
          <a:prstGeom prst="rect">
            <a:avLst/>
          </a:prstGeom>
          <a:effectLst/>
        </p:spPr>
      </p:pic>
      <p:sp>
        <p:nvSpPr>
          <p:cNvPr id="17" name="Rounded Rectangle 16">
            <a:extLst>
              <a:ext uri="{FF2B5EF4-FFF2-40B4-BE49-F238E27FC236}">
                <a16:creationId xmlns:a16="http://schemas.microsoft.com/office/drawing/2014/main" id="{D3DDC343-C304-9AA8-BA26-142916A43511}"/>
              </a:ext>
            </a:extLst>
          </p:cNvPr>
          <p:cNvSpPr/>
          <p:nvPr/>
        </p:nvSpPr>
        <p:spPr>
          <a:xfrm>
            <a:off x="776622" y="4626558"/>
            <a:ext cx="2855063" cy="1633219"/>
          </a:xfrm>
          <a:prstGeom prst="roundRect">
            <a:avLst/>
          </a:prstGeom>
          <a:solidFill>
            <a:srgbClr val="9F1D7B"/>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Check whether the product is original Nike FN5214-131 and where can I buy it?</a:t>
            </a:r>
          </a:p>
        </p:txBody>
      </p:sp>
      <p:cxnSp>
        <p:nvCxnSpPr>
          <p:cNvPr id="18" name="Straight Arrow Connector 17">
            <a:extLst>
              <a:ext uri="{FF2B5EF4-FFF2-40B4-BE49-F238E27FC236}">
                <a16:creationId xmlns:a16="http://schemas.microsoft.com/office/drawing/2014/main" id="{0E07E06C-FC41-86CD-7B1C-515B393B83EA}"/>
              </a:ext>
            </a:extLst>
          </p:cNvPr>
          <p:cNvCxnSpPr>
            <a:cxnSpLocks/>
            <a:stCxn id="17" idx="3"/>
            <a:endCxn id="16" idx="1"/>
          </p:cNvCxnSpPr>
          <p:nvPr/>
        </p:nvCxnSpPr>
        <p:spPr>
          <a:xfrm flipV="1">
            <a:off x="3631685" y="5436020"/>
            <a:ext cx="1359415" cy="7148"/>
          </a:xfrm>
          <a:prstGeom prst="straightConnector1">
            <a:avLst/>
          </a:prstGeom>
          <a:noFill/>
          <a:ln w="63500" cap="flat" cmpd="sng" algn="ctr">
            <a:solidFill>
              <a:srgbClr val="9F1D7B"/>
            </a:solidFill>
            <a:prstDash val="solid"/>
            <a:miter lim="800000"/>
            <a:tailEnd type="triangle"/>
          </a:ln>
          <a:effectLst/>
        </p:spPr>
      </p:cxnSp>
      <p:cxnSp>
        <p:nvCxnSpPr>
          <p:cNvPr id="19" name="Straight Arrow Connector 18">
            <a:extLst>
              <a:ext uri="{FF2B5EF4-FFF2-40B4-BE49-F238E27FC236}">
                <a16:creationId xmlns:a16="http://schemas.microsoft.com/office/drawing/2014/main" id="{55E310E2-D2FF-8461-D65F-E6243C6C85E3}"/>
              </a:ext>
            </a:extLst>
          </p:cNvPr>
          <p:cNvCxnSpPr>
            <a:cxnSpLocks/>
          </p:cNvCxnSpPr>
          <p:nvPr/>
        </p:nvCxnSpPr>
        <p:spPr>
          <a:xfrm flipH="1">
            <a:off x="6038850" y="3241707"/>
            <a:ext cx="1752339" cy="1685893"/>
          </a:xfrm>
          <a:prstGeom prst="straightConnector1">
            <a:avLst/>
          </a:prstGeom>
          <a:noFill/>
          <a:ln w="63500" cap="flat" cmpd="sng" algn="ctr">
            <a:solidFill>
              <a:srgbClr val="330066"/>
            </a:solidFill>
            <a:prstDash val="solid"/>
            <a:miter lim="800000"/>
            <a:tailEnd type="triangle"/>
          </a:ln>
          <a:effectLst/>
        </p:spPr>
      </p:cxnSp>
      <p:sp>
        <p:nvSpPr>
          <p:cNvPr id="20" name="TextBox 19">
            <a:extLst>
              <a:ext uri="{FF2B5EF4-FFF2-40B4-BE49-F238E27FC236}">
                <a16:creationId xmlns:a16="http://schemas.microsoft.com/office/drawing/2014/main" id="{CCC356E4-5FCB-58CB-E8E1-125D8E57ED35}"/>
              </a:ext>
            </a:extLst>
          </p:cNvPr>
          <p:cNvSpPr txBox="1"/>
          <p:nvPr/>
        </p:nvSpPr>
        <p:spPr>
          <a:xfrm>
            <a:off x="7188069" y="3844883"/>
            <a:ext cx="2028955" cy="923330"/>
          </a:xfrm>
          <a:prstGeom prst="rect">
            <a:avLst/>
          </a:prstGeom>
          <a:noFill/>
        </p:spPr>
        <p:txBody>
          <a:bodyPr wrap="square" rtlCol="0">
            <a:spAutoFit/>
          </a:bodyPr>
          <a:lstStyle/>
          <a:p>
            <a:r>
              <a:rPr lang="en-US" dirty="0">
                <a:solidFill>
                  <a:srgbClr val="232F3E"/>
                </a:solidFill>
                <a:latin typeface="Amazon Ember Medium"/>
              </a:rPr>
              <a:t>Search the web for where it can it bought.</a:t>
            </a:r>
          </a:p>
        </p:txBody>
      </p:sp>
      <p:sp>
        <p:nvSpPr>
          <p:cNvPr id="21" name="Rounded Rectangle 20">
            <a:extLst>
              <a:ext uri="{FF2B5EF4-FFF2-40B4-BE49-F238E27FC236}">
                <a16:creationId xmlns:a16="http://schemas.microsoft.com/office/drawing/2014/main" id="{D49A95C6-AC17-F20E-6A7A-232D4F4DEFF9}"/>
              </a:ext>
            </a:extLst>
          </p:cNvPr>
          <p:cNvSpPr/>
          <p:nvPr/>
        </p:nvSpPr>
        <p:spPr>
          <a:xfrm>
            <a:off x="7772139" y="5103378"/>
            <a:ext cx="2127250" cy="738097"/>
          </a:xfrm>
          <a:prstGeom prst="roundRect">
            <a:avLst/>
          </a:prstGeom>
          <a:solidFill>
            <a:srgbClr val="330066"/>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End Response</a:t>
            </a:r>
          </a:p>
        </p:txBody>
      </p:sp>
      <p:cxnSp>
        <p:nvCxnSpPr>
          <p:cNvPr id="22" name="Straight Arrow Connector 21">
            <a:extLst>
              <a:ext uri="{FF2B5EF4-FFF2-40B4-BE49-F238E27FC236}">
                <a16:creationId xmlns:a16="http://schemas.microsoft.com/office/drawing/2014/main" id="{D68BDDEE-757B-B5DB-48B6-97971D3FAC05}"/>
              </a:ext>
            </a:extLst>
          </p:cNvPr>
          <p:cNvCxnSpPr>
            <a:cxnSpLocks/>
          </p:cNvCxnSpPr>
          <p:nvPr/>
        </p:nvCxnSpPr>
        <p:spPr>
          <a:xfrm flipV="1">
            <a:off x="6401935" y="5451072"/>
            <a:ext cx="1359415" cy="7148"/>
          </a:xfrm>
          <a:prstGeom prst="straightConnector1">
            <a:avLst/>
          </a:prstGeom>
          <a:noFill/>
          <a:ln w="63500" cap="flat" cmpd="sng" algn="ctr">
            <a:solidFill>
              <a:srgbClr val="9F1D7B"/>
            </a:solidFill>
            <a:prstDash val="solid"/>
            <a:miter lim="800000"/>
            <a:tailEnd type="triangle"/>
          </a:ln>
          <a:effectLst/>
        </p:spPr>
      </p:cxnSp>
      <p:sp>
        <p:nvSpPr>
          <p:cNvPr id="23" name="Rounded Rectangle 11">
            <a:extLst>
              <a:ext uri="{FF2B5EF4-FFF2-40B4-BE49-F238E27FC236}">
                <a16:creationId xmlns:a16="http://schemas.microsoft.com/office/drawing/2014/main" id="{80D91D67-7BA2-3FBB-20FA-3482DCD8FD5E}"/>
              </a:ext>
            </a:extLst>
          </p:cNvPr>
          <p:cNvSpPr/>
          <p:nvPr/>
        </p:nvSpPr>
        <p:spPr>
          <a:xfrm>
            <a:off x="1687125" y="1951827"/>
            <a:ext cx="7463226" cy="1599471"/>
          </a:xfrm>
          <a:prstGeom prst="roundRect">
            <a:avLst/>
          </a:prstGeom>
          <a:solidFill>
            <a:srgbClr val="DF2A5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mazon Ember Medium"/>
                <a:ea typeface="+mn-ea"/>
                <a:cs typeface="+mn-cs"/>
              </a:rPr>
              <a:t>Tools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24" name="Rounded Rectangle 12">
            <a:extLst>
              <a:ext uri="{FF2B5EF4-FFF2-40B4-BE49-F238E27FC236}">
                <a16:creationId xmlns:a16="http://schemas.microsoft.com/office/drawing/2014/main" id="{5EE95AB0-32A6-6385-2743-B649AF03BF80}"/>
              </a:ext>
            </a:extLst>
          </p:cNvPr>
          <p:cNvSpPr/>
          <p:nvPr/>
        </p:nvSpPr>
        <p:spPr>
          <a:xfrm>
            <a:off x="2000249"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web search</a:t>
            </a:r>
          </a:p>
        </p:txBody>
      </p:sp>
      <p:sp>
        <p:nvSpPr>
          <p:cNvPr id="25" name="Rounded Rectangle 8">
            <a:extLst>
              <a:ext uri="{FF2B5EF4-FFF2-40B4-BE49-F238E27FC236}">
                <a16:creationId xmlns:a16="http://schemas.microsoft.com/office/drawing/2014/main" id="{9395E4BE-A43F-4144-CBF2-BA54A0480AB8}"/>
              </a:ext>
            </a:extLst>
          </p:cNvPr>
          <p:cNvSpPr/>
          <p:nvPr/>
        </p:nvSpPr>
        <p:spPr>
          <a:xfrm>
            <a:off x="4373431"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Image comparison tool</a:t>
            </a:r>
          </a:p>
        </p:txBody>
      </p:sp>
      <p:sp>
        <p:nvSpPr>
          <p:cNvPr id="26" name="Rounded Rectangle 9">
            <a:extLst>
              <a:ext uri="{FF2B5EF4-FFF2-40B4-BE49-F238E27FC236}">
                <a16:creationId xmlns:a16="http://schemas.microsoft.com/office/drawing/2014/main" id="{FD4824FE-256C-8EDB-0FB5-3389B1006F69}"/>
              </a:ext>
            </a:extLst>
          </p:cNvPr>
          <p:cNvSpPr/>
          <p:nvPr/>
        </p:nvSpPr>
        <p:spPr>
          <a:xfrm>
            <a:off x="6746613" y="2523472"/>
            <a:ext cx="2089151" cy="738622"/>
          </a:xfrm>
          <a:prstGeom prst="roundRect">
            <a:avLst/>
          </a:prstGeom>
          <a:solidFill>
            <a:srgbClr val="7C5AED"/>
          </a:solidFill>
          <a:ln w="12700" cap="flat" cmpd="sng" algn="ctr">
            <a:solidFill>
              <a:srgbClr val="7C5AE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mazon Ember Light"/>
                <a:ea typeface="+mn-ea"/>
                <a:cs typeface="+mn-cs"/>
              </a:rPr>
              <a:t>Product web search</a:t>
            </a:r>
          </a:p>
        </p:txBody>
      </p:sp>
    </p:spTree>
    <p:extLst>
      <p:ext uri="{BB962C8B-B14F-4D97-AF65-F5344CB8AC3E}">
        <p14:creationId xmlns:p14="http://schemas.microsoft.com/office/powerpoint/2010/main" val="2095406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28</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topics related to </a:t>
            </a:r>
            <a:r>
              <a:rPr lang="en-US"/>
              <a:t>multimodal applications</a:t>
            </a:r>
            <a:endParaRPr lang="en-US" dirty="0"/>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29</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3357</TotalTime>
  <Words>6609</Words>
  <Application>Microsoft Macintosh PowerPoint</Application>
  <PresentationFormat>Widescreen</PresentationFormat>
  <Paragraphs>894</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Amazon Ember Display</vt:lpstr>
      <vt:lpstr>Amazon Ember Display Heavy</vt:lpstr>
      <vt:lpstr>Amazon Ember Heavy</vt:lpstr>
      <vt:lpstr>Amazon Ember Light</vt:lpstr>
      <vt:lpstr>Amazon Ember Medium</vt:lpstr>
      <vt:lpstr>Arial</vt:lpstr>
      <vt:lpstr>Calibri</vt:lpstr>
      <vt:lpstr>Consolas</vt:lpstr>
      <vt:lpstr>Lucida Console</vt:lpstr>
      <vt:lpstr>EEP-GitHub</vt:lpstr>
      <vt:lpstr>Multimodal Applications</vt:lpstr>
      <vt:lpstr>Today’s activities</vt:lpstr>
      <vt:lpstr>Review: Multimodal RAG workflow</vt:lpstr>
      <vt:lpstr>Review: Agents with tools</vt:lpstr>
      <vt:lpstr>How do multimodal applications add value to businesses?</vt:lpstr>
      <vt:lpstr>Examples of multimodal applications</vt:lpstr>
      <vt:lpstr>Personalization</vt:lpstr>
      <vt:lpstr>Personalization: Scene description</vt:lpstr>
      <vt:lpstr>Personalization: Personalized presentations example</vt:lpstr>
      <vt:lpstr>Video Analysis (1/3)</vt:lpstr>
      <vt:lpstr>Video Analysis (2/3)</vt:lpstr>
      <vt:lpstr>Video Analysis (3/3)</vt:lpstr>
      <vt:lpstr>Customer service applications (1/2)</vt:lpstr>
      <vt:lpstr>Customer service applications (2/2)</vt:lpstr>
      <vt:lpstr>E-commerce</vt:lpstr>
      <vt:lpstr>Use case: Healthcare</vt:lpstr>
      <vt:lpstr>Use case: Accessibility</vt:lpstr>
      <vt:lpstr>Multimodal Agents</vt:lpstr>
      <vt:lpstr>Review: ReAct</vt:lpstr>
      <vt:lpstr>Multimodal agents' implementation</vt:lpstr>
      <vt:lpstr>Example 1: Image generation and description (1/4)</vt:lpstr>
      <vt:lpstr>Example 1: Image generation and description (2/4)</vt:lpstr>
      <vt:lpstr>Example 1: Image generation and description (3/4)</vt:lpstr>
      <vt:lpstr>Example 1: Image generation and description (4/4)</vt:lpstr>
      <vt:lpstr>Example 2: Multimodal agent for retrieval-based responses (1/3)</vt:lpstr>
      <vt:lpstr>Example 2: Multimodal agent for retrieval-based responses (2/3)</vt:lpstr>
      <vt:lpstr>Example 2: Multimodal agent for retrieval-based responses (3/3)</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67</cp:revision>
  <dcterms:created xsi:type="dcterms:W3CDTF">2022-11-16T15:46:36Z</dcterms:created>
  <dcterms:modified xsi:type="dcterms:W3CDTF">2025-09-23T17:04:08Z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2025-06-20T22:31:41Z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00567f85-4359-4cfe-8f88-5daf6a1a1deb</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