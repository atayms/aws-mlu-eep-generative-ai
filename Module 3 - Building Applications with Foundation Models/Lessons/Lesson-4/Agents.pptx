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0"/>
  </p:notesMasterIdLst>
  <p:sldIdLst>
    <p:sldId id="256" r:id="rId2"/>
    <p:sldId id="413" r:id="rId3"/>
    <p:sldId id="2147482842" r:id="rId4"/>
    <p:sldId id="385" r:id="rId5"/>
    <p:sldId id="2147482819" r:id="rId6"/>
    <p:sldId id="2147482827" r:id="rId7"/>
    <p:sldId id="2147482821" r:id="rId8"/>
    <p:sldId id="2147482822" r:id="rId9"/>
    <p:sldId id="2147482823" r:id="rId10"/>
    <p:sldId id="2147482828" r:id="rId11"/>
    <p:sldId id="2147482839" r:id="rId12"/>
    <p:sldId id="2147482803" r:id="rId13"/>
    <p:sldId id="2147482820" r:id="rId14"/>
    <p:sldId id="2147482824" r:id="rId15"/>
    <p:sldId id="2147482825" r:id="rId16"/>
    <p:sldId id="2147482826" r:id="rId17"/>
    <p:sldId id="2147482829" r:id="rId18"/>
    <p:sldId id="2147482836" r:id="rId19"/>
    <p:sldId id="2147482837" r:id="rId20"/>
    <p:sldId id="2147482838" r:id="rId21"/>
    <p:sldId id="2147482830" r:id="rId22"/>
    <p:sldId id="2147482831" r:id="rId23"/>
    <p:sldId id="2147482832" r:id="rId24"/>
    <p:sldId id="2147482833" r:id="rId25"/>
    <p:sldId id="2147482834" r:id="rId26"/>
    <p:sldId id="2147482835" r:id="rId27"/>
    <p:sldId id="4042" r:id="rId28"/>
    <p:sldId id="26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p:restoredTop sz="59315" autoAdjust="0"/>
  </p:normalViewPr>
  <p:slideViewPr>
    <p:cSldViewPr snapToGrid="0">
      <p:cViewPr varScale="1">
        <p:scale>
          <a:sx n="72" d="100"/>
          <a:sy n="72" d="100"/>
        </p:scale>
        <p:origin x="1496"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10/1/25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MAIN COMPONENTS AND FLOW:</a:t>
            </a:r>
          </a:p>
          <a:p>
            <a:r>
              <a:rPr lang="en-US" dirty="0"/>
              <a:t>1. Query Generation</a:t>
            </a:r>
          </a:p>
          <a:p>
            <a:r>
              <a:rPr lang="en-US" dirty="0"/>
              <a:t>- Starting point of the process</a:t>
            </a:r>
          </a:p>
          <a:p>
            <a:r>
              <a:rPr lang="en-US" dirty="0"/>
              <a:t>- Receives initial user prompt/question</a:t>
            </a:r>
          </a:p>
          <a:p>
            <a:endParaRPr lang="en-US" dirty="0"/>
          </a:p>
          <a:p>
            <a:r>
              <a:rPr lang="en-US" dirty="0"/>
              <a:t>2. Embedding Conversion</a:t>
            </a:r>
          </a:p>
          <a:p>
            <a:r>
              <a:rPr lang="en-US" dirty="0"/>
              <a:t>- Converts query into vector embeddings</a:t>
            </a:r>
          </a:p>
          <a:p>
            <a:r>
              <a:rPr lang="en-US" dirty="0"/>
              <a:t>- Uses embedding model for transformation</a:t>
            </a:r>
          </a:p>
          <a:p>
            <a:endParaRPr lang="en-US" dirty="0"/>
          </a:p>
          <a:p>
            <a:r>
              <a:rPr lang="en-US" dirty="0"/>
              <a:t>3. Vector Database Retrieval</a:t>
            </a:r>
          </a:p>
          <a:p>
            <a:r>
              <a:rPr lang="en-US" dirty="0"/>
              <a:t>- Searches through vector database</a:t>
            </a:r>
          </a:p>
          <a:p>
            <a:r>
              <a:rPr lang="en-US" dirty="0"/>
              <a:t>- Retrieves relevant information based on query embeddings</a:t>
            </a:r>
          </a:p>
          <a:p>
            <a:endParaRPr lang="en-US" dirty="0"/>
          </a:p>
          <a:p>
            <a:r>
              <a:rPr lang="en-US" dirty="0"/>
              <a:t>4. Context Augmentation</a:t>
            </a:r>
          </a:p>
          <a:p>
            <a:r>
              <a:rPr lang="en-US" dirty="0"/>
              <a:t>- Combines retrieved results with original prompt</a:t>
            </a:r>
          </a:p>
          <a:p>
            <a:r>
              <a:rPr lang="en-US" dirty="0"/>
              <a:t>- Creates enhanced context for response generation</a:t>
            </a:r>
          </a:p>
          <a:p>
            <a:endParaRPr lang="en-US" dirty="0"/>
          </a:p>
          <a:p>
            <a:r>
              <a:rPr lang="en-US" dirty="0"/>
              <a:t>5. LLM Response Generation</a:t>
            </a:r>
          </a:p>
          <a:p>
            <a:r>
              <a:rPr lang="en-US" dirty="0"/>
              <a:t>- Final step using the augmented prompt</a:t>
            </a:r>
          </a:p>
          <a:p>
            <a:r>
              <a:rPr lang="en-US" dirty="0"/>
              <a:t>- Generates appropriate response using all available context</a:t>
            </a:r>
          </a:p>
          <a:p>
            <a:endParaRPr lang="en-US" dirty="0"/>
          </a:p>
          <a:p>
            <a:r>
              <a:rPr lang="en-US" dirty="0"/>
              <a:t>EXAMPLE WORKFLOW:</a:t>
            </a:r>
          </a:p>
          <a:p>
            <a:r>
              <a:rPr lang="en-US" dirty="0"/>
              <a:t>- User Question: "What is the company's return policy?"</a:t>
            </a:r>
          </a:p>
          <a:p>
            <a:r>
              <a:rPr lang="en-US" dirty="0"/>
              <a:t>- System retrieves relevant document (Amazon's return policy in USA)</a:t>
            </a:r>
          </a:p>
          <a:p>
            <a:r>
              <a:rPr lang="en-US" dirty="0"/>
              <a:t>- Combines context with query</a:t>
            </a:r>
          </a:p>
          <a:p>
            <a:r>
              <a:rPr lang="en-US" dirty="0"/>
              <a:t>- Generates response: "Return policy: 15 days after purchase..."</a:t>
            </a:r>
          </a:p>
          <a:p>
            <a:endParaRPr lang="en-US" dirty="0"/>
          </a:p>
          <a:p>
            <a:r>
              <a:rPr lang="en-US" b="1" dirty="0"/>
              <a:t>EDUCATOR NOTES:</a:t>
            </a:r>
          </a:p>
          <a:p>
            <a:endParaRPr lang="en-US" dirty="0"/>
          </a:p>
          <a:p>
            <a:r>
              <a:rPr lang="en-US" dirty="0"/>
              <a:t>”Let’s recall, from the previous lesson, RAG architecture, a powerful approach that enhances AI responses by combining retrieval with generation. The key advantage of RAG is its ability to ground responses in factual, retrieved information rather than relying solely on the model's training data.</a:t>
            </a:r>
          </a:p>
          <a:p>
            <a:endParaRPr lang="en-US" dirty="0"/>
          </a:p>
          <a:p>
            <a:r>
              <a:rPr lang="en-US" dirty="0"/>
              <a:t>When presenting this slide, emphasize how each component builds upon the previous one, creating a seamless flow from user query to final response. The example shown demonstrates a practical application using Amazon's return policy, but you can adapt this to any domain-specific use case.”</a:t>
            </a:r>
          </a:p>
          <a:p>
            <a:endParaRPr lang="en-US" dirty="0"/>
          </a:p>
          <a:p>
            <a:r>
              <a:rPr lang="en-US" dirty="0"/>
              <a:t>Remember to highlight that RAG helps reduce hallucinations and improves response accuracy by incorporating real-time data retrieval into the generation process. This is particularly valuable for enterprise applications where accuracy and up-to-date information are crucial.</a:t>
            </a:r>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2825417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ANSWERS TO THE QUESTIONS:</a:t>
            </a:r>
          </a:p>
          <a:p>
            <a:r>
              <a:rPr lang="en-US" dirty="0"/>
              <a:t>Can LLMs do "more" than producing language? </a:t>
            </a:r>
          </a:p>
          <a:p>
            <a:r>
              <a:rPr lang="en-US" dirty="0"/>
              <a:t>Yes, LLMs can:</a:t>
            </a:r>
          </a:p>
          <a:p>
            <a:pPr marL="171450" indent="-171450">
              <a:buFont typeface="Arial" panose="020B0604020202020204" pitchFamily="34" charset="0"/>
              <a:buChar char="•"/>
            </a:pPr>
            <a:r>
              <a:rPr lang="en-US" dirty="0"/>
              <a:t>Process and analyze images (in multimodal models)</a:t>
            </a:r>
          </a:p>
          <a:p>
            <a:pPr marL="171450" indent="-171450">
              <a:buFont typeface="Arial" panose="020B0604020202020204" pitchFamily="34" charset="0"/>
              <a:buChar char="•"/>
            </a:pPr>
            <a:r>
              <a:rPr lang="en-US" dirty="0"/>
              <a:t>Understand and generate code</a:t>
            </a:r>
          </a:p>
          <a:p>
            <a:pPr marL="171450" indent="-171450">
              <a:buFont typeface="Arial" panose="020B0604020202020204" pitchFamily="34" charset="0"/>
              <a:buChar char="•"/>
            </a:pPr>
            <a:r>
              <a:rPr lang="en-US" dirty="0"/>
              <a:t>Assist in decision-making</a:t>
            </a:r>
          </a:p>
          <a:p>
            <a:pPr marL="171450" indent="-171450">
              <a:buFont typeface="Arial" panose="020B0604020202020204" pitchFamily="34" charset="0"/>
              <a:buChar char="•"/>
            </a:pPr>
            <a:r>
              <a:rPr lang="en-US" dirty="0"/>
              <a:t>Perform reasoning tasks</a:t>
            </a:r>
          </a:p>
          <a:p>
            <a:pPr marL="171450" indent="-171450">
              <a:buFont typeface="Arial" panose="020B0604020202020204" pitchFamily="34" charset="0"/>
              <a:buChar char="•"/>
            </a:pPr>
            <a:r>
              <a:rPr lang="en-US" dirty="0"/>
              <a:t>Generate creative content</a:t>
            </a:r>
          </a:p>
          <a:p>
            <a:pPr marL="171450" indent="-171450">
              <a:buFont typeface="Arial" panose="020B0604020202020204" pitchFamily="34" charset="0"/>
              <a:buChar char="•"/>
            </a:pPr>
            <a:r>
              <a:rPr lang="en-US" dirty="0"/>
              <a:t>Help with pattern recognition</a:t>
            </a:r>
          </a:p>
          <a:p>
            <a:r>
              <a:rPr lang="en-US" dirty="0"/>
              <a:t>Math and Database Queries with LLMs: Math capabilities:</a:t>
            </a:r>
          </a:p>
          <a:p>
            <a:pPr marL="171450" indent="-171450">
              <a:buFont typeface="Arial" panose="020B0604020202020204" pitchFamily="34" charset="0"/>
              <a:buChar char="•"/>
            </a:pPr>
            <a:r>
              <a:rPr lang="en-US" dirty="0"/>
              <a:t>Basic to complex calculations</a:t>
            </a:r>
          </a:p>
          <a:p>
            <a:pPr marL="171450" indent="-171450">
              <a:buFont typeface="Arial" panose="020B0604020202020204" pitchFamily="34" charset="0"/>
              <a:buChar char="•"/>
            </a:pPr>
            <a:r>
              <a:rPr lang="en-US" dirty="0"/>
              <a:t>Statistical analysis</a:t>
            </a:r>
          </a:p>
          <a:p>
            <a:pPr marL="171450" indent="-171450">
              <a:buFont typeface="Arial" panose="020B0604020202020204" pitchFamily="34" charset="0"/>
              <a:buChar char="•"/>
            </a:pPr>
            <a:r>
              <a:rPr lang="en-US" dirty="0"/>
              <a:t>Mathematical reasoning</a:t>
            </a:r>
          </a:p>
          <a:p>
            <a:pPr marL="171450" indent="-171450">
              <a:buFont typeface="Arial" panose="020B0604020202020204" pitchFamily="34" charset="0"/>
              <a:buChar char="•"/>
            </a:pPr>
            <a:r>
              <a:rPr lang="en-US" dirty="0"/>
              <a:t>Formula understanding</a:t>
            </a:r>
          </a:p>
          <a:p>
            <a:pPr marL="171450" indent="-171450">
              <a:buFont typeface="Arial" panose="020B0604020202020204" pitchFamily="34" charset="0"/>
              <a:buChar char="•"/>
            </a:pPr>
            <a:r>
              <a:rPr lang="en-US" dirty="0"/>
              <a:t>Database Queries:</a:t>
            </a:r>
          </a:p>
          <a:p>
            <a:pPr marL="171450" indent="-171450">
              <a:buFont typeface="Arial" panose="020B0604020202020204" pitchFamily="34" charset="0"/>
              <a:buChar char="•"/>
            </a:pPr>
            <a:r>
              <a:rPr lang="en-US" dirty="0"/>
              <a:t>Natural language to SQL conversion</a:t>
            </a:r>
          </a:p>
          <a:p>
            <a:pPr marL="171450" indent="-171450">
              <a:buFont typeface="Arial" panose="020B0604020202020204" pitchFamily="34" charset="0"/>
              <a:buChar char="•"/>
            </a:pPr>
            <a:r>
              <a:rPr lang="en-US" dirty="0"/>
              <a:t>Query optimization suggestions</a:t>
            </a:r>
          </a:p>
          <a:p>
            <a:pPr marL="171450" indent="-171450">
              <a:buFont typeface="Arial" panose="020B0604020202020204" pitchFamily="34" charset="0"/>
              <a:buChar char="•"/>
            </a:pPr>
            <a:r>
              <a:rPr lang="en-US" dirty="0"/>
              <a:t>Data structure understanding</a:t>
            </a:r>
          </a:p>
          <a:p>
            <a:pPr marL="171450" indent="-171450">
              <a:buFont typeface="Arial" panose="020B0604020202020204" pitchFamily="34" charset="0"/>
              <a:buChar char="•"/>
            </a:pPr>
            <a:r>
              <a:rPr lang="en-US" dirty="0"/>
              <a:t>Schema interpretation</a:t>
            </a:r>
          </a:p>
          <a:p>
            <a:r>
              <a:rPr lang="en-US" dirty="0"/>
              <a:t>Combining LLMs with other systems: Yes, it's possible through:</a:t>
            </a:r>
          </a:p>
          <a:p>
            <a:pPr marL="171450" indent="-171450">
              <a:buFont typeface="Arial" panose="020B0604020202020204" pitchFamily="34" charset="0"/>
              <a:buChar char="•"/>
            </a:pPr>
            <a:r>
              <a:rPr lang="en-US" dirty="0"/>
              <a:t>API integration</a:t>
            </a:r>
          </a:p>
          <a:p>
            <a:pPr marL="171450" indent="-171450">
              <a:buFont typeface="Arial" panose="020B0604020202020204" pitchFamily="34" charset="0"/>
              <a:buChar char="•"/>
            </a:pPr>
            <a:r>
              <a:rPr lang="en-US" dirty="0"/>
              <a:t>Custom plugins</a:t>
            </a:r>
          </a:p>
          <a:p>
            <a:pPr marL="171450" indent="-171450">
              <a:buFont typeface="Arial" panose="020B0604020202020204" pitchFamily="34" charset="0"/>
              <a:buChar char="•"/>
            </a:pPr>
            <a:r>
              <a:rPr lang="en-US" dirty="0"/>
              <a:t>Framework implementation</a:t>
            </a:r>
          </a:p>
          <a:p>
            <a:pPr marL="171450" indent="-171450">
              <a:buFont typeface="Arial" panose="020B0604020202020204" pitchFamily="34" charset="0"/>
              <a:buChar char="•"/>
            </a:pPr>
            <a:r>
              <a:rPr lang="en-US" dirty="0"/>
              <a:t>Microservices architecture</a:t>
            </a:r>
          </a:p>
          <a:p>
            <a:pPr marL="171450" indent="-171450">
              <a:buFont typeface="Arial" panose="020B0604020202020204" pitchFamily="34" charset="0"/>
              <a:buChar char="•"/>
            </a:pPr>
            <a:r>
              <a:rPr lang="en-US" dirty="0"/>
              <a:t>Specialized tools integration</a:t>
            </a:r>
          </a:p>
          <a:p>
            <a:endParaRPr lang="en-US" dirty="0"/>
          </a:p>
          <a:p>
            <a:r>
              <a:rPr lang="en-US" b="1" dirty="0"/>
              <a:t>EDUCATOR NOTES:</a:t>
            </a:r>
          </a:p>
          <a:p>
            <a:endParaRPr lang="en-US" dirty="0"/>
          </a:p>
          <a:p>
            <a:r>
              <a:rPr lang="en-US" dirty="0"/>
              <a:t>"Today we're addressing crucial questions about expanding LLM capabilities beyond traditional language processing. The key focus is on three main areas: First, how we can extend LLM functionality beyond pure language generation; second, implementing mathematical operations and database queries through LLMs; and third, the potential for system integration to enhance overall capabilities. These questions are fundamental to developing more versatile and powerful AI systems that can handle complex, multi-faceted tasks. The red highlighted terms - 'more,' 'math,' 'query,' and 'combine' - emphasize the critical aspects of this evolution in LLM applications. As we move forward, the ability to seamlessly integrate these capabilities will define the next generation of AI solutions."</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1298212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Evolution of AI Approaches</a:t>
            </a:r>
          </a:p>
          <a:p>
            <a:r>
              <a:rPr lang="en-US" dirty="0"/>
              <a:t>- Starting with basic methods</a:t>
            </a:r>
          </a:p>
          <a:p>
            <a:r>
              <a:rPr lang="en-US" dirty="0"/>
              <a:t>- Moving towards more sophisticated agent-based systems</a:t>
            </a:r>
          </a:p>
          <a:p>
            <a:endParaRPr lang="en-US" dirty="0"/>
          </a:p>
          <a:p>
            <a:r>
              <a:rPr lang="en-US" dirty="0"/>
              <a:t>2. Current Methods:</a:t>
            </a:r>
          </a:p>
          <a:p>
            <a:r>
              <a:rPr lang="en-US" dirty="0"/>
              <a:t>   a) Prompting</a:t>
            </a:r>
          </a:p>
          <a:p>
            <a:r>
              <a:rPr lang="en-US" dirty="0"/>
              <a:t>   - Focuses on single step inference</a:t>
            </a:r>
          </a:p>
          <a:p>
            <a:r>
              <a:rPr lang="en-US" dirty="0"/>
              <a:t>   - Direct question-answer interactions</a:t>
            </a:r>
          </a:p>
          <a:p>
            <a:r>
              <a:rPr lang="en-US" dirty="0"/>
              <a:t>   </a:t>
            </a:r>
          </a:p>
          <a:p>
            <a:r>
              <a:rPr lang="en-US" dirty="0"/>
              <a:t>   b) Chains</a:t>
            </a:r>
          </a:p>
          <a:p>
            <a:r>
              <a:rPr lang="en-US" dirty="0"/>
              <a:t>   - Uses pre-defined sequence of predictions</a:t>
            </a:r>
          </a:p>
          <a:p>
            <a:r>
              <a:rPr lang="en-US" dirty="0"/>
              <a:t>   - Structured approach to problem-solving</a:t>
            </a:r>
          </a:p>
          <a:p>
            <a:endParaRPr lang="en-US" dirty="0"/>
          </a:p>
          <a:p>
            <a:r>
              <a:rPr lang="en-US" dirty="0"/>
              <a:t>3. Agents</a:t>
            </a:r>
          </a:p>
          <a:p>
            <a:r>
              <a:rPr lang="en-US" dirty="0"/>
              <a:t>   - Represents the next step in AI evolution</a:t>
            </a:r>
          </a:p>
          <a:p>
            <a:r>
              <a:rPr lang="en-US" dirty="0"/>
              <a:t>   - Two key characteristics:</a:t>
            </a:r>
          </a:p>
          <a:p>
            <a:r>
              <a:rPr lang="en-US" dirty="0"/>
              <a:t>     * Ability to automatically infer action sequences</a:t>
            </a:r>
          </a:p>
          <a:p>
            <a:r>
              <a:rPr lang="en-US" dirty="0"/>
              <a:t>     * Utilizes LLMs as reasoning engines</a:t>
            </a:r>
          </a:p>
          <a:p>
            <a:r>
              <a:rPr lang="en-US" dirty="0"/>
              <a:t>   - More autonomous and adaptive compared to previous approaches</a:t>
            </a:r>
          </a:p>
          <a:p>
            <a:endParaRPr lang="en-US" dirty="0"/>
          </a:p>
          <a:p>
            <a:r>
              <a:rPr lang="en-US" b="1" dirty="0"/>
              <a:t>EDUCATOR NOTES:</a:t>
            </a:r>
          </a:p>
          <a:p>
            <a:endParaRPr lang="en-US" dirty="0"/>
          </a:p>
          <a:p>
            <a:r>
              <a:rPr lang="en-US" dirty="0"/>
              <a:t>"In our journey towards more sophisticated AI systems, we've seen an evolution from simple prompting to chains, and now towards agents. While prompting gives us single-step inference capabilities, and chains provide structured sequences of predictions, agents represent a significant leap forward. They can automatically determine what actions to take and leverage Large Language Models as their reasoning engines. This progression shows how we're moving from rigid, predefined approaches to more flexible and autonomous systems that can better adapt to complex tasks and situations. The key difference with agents is their ability to make independent decisions about the next steps rather than following predetermined paths."</a:t>
            </a:r>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616885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 Definition of AI Agents:</a:t>
            </a:r>
          </a:p>
          <a:p>
            <a:r>
              <a:rPr lang="en-US" dirty="0"/>
              <a:t>- AI systems with autonomous problem-solving capabilities</a:t>
            </a:r>
          </a:p>
          <a:p>
            <a:r>
              <a:rPr lang="en-US" dirty="0"/>
              <a:t>- Automatically determine optimal solutions for user-given tasks</a:t>
            </a:r>
          </a:p>
          <a:p>
            <a:endParaRPr lang="en-US" dirty="0"/>
          </a:p>
          <a:p>
            <a:r>
              <a:rPr lang="en-US" dirty="0"/>
              <a:t>• Technical Foundation:</a:t>
            </a:r>
          </a:p>
          <a:p>
            <a:r>
              <a:rPr lang="en-US" dirty="0"/>
              <a:t>- Core: Large Language Models (LLMs) serve as the reasoning engine</a:t>
            </a:r>
          </a:p>
          <a:p>
            <a:r>
              <a:rPr lang="en-US" dirty="0"/>
              <a:t>- Enhanced functionality through additional tools</a:t>
            </a:r>
          </a:p>
          <a:p>
            <a:r>
              <a:rPr lang="en-US" dirty="0"/>
              <a:t>- Integration of tools expands capabilities beyond base LLM functions</a:t>
            </a:r>
          </a:p>
          <a:p>
            <a:endParaRPr lang="en-US" dirty="0"/>
          </a:p>
          <a:p>
            <a:r>
              <a:rPr lang="en-US" dirty="0"/>
              <a:t>• Purpose and Impact:</a:t>
            </a:r>
          </a:p>
          <a:p>
            <a:r>
              <a:rPr lang="en-US" dirty="0"/>
              <a:t>- Accelerates AI development lifecycle</a:t>
            </a:r>
          </a:p>
          <a:p>
            <a:r>
              <a:rPr lang="en-US" dirty="0"/>
              <a:t>- Streamlines creation of generative AI applications</a:t>
            </a:r>
          </a:p>
          <a:p>
            <a:r>
              <a:rPr lang="en-US" dirty="0"/>
              <a:t>- Bridges gap between user requirements and AI solutions</a:t>
            </a:r>
          </a:p>
          <a:p>
            <a:endParaRPr lang="en-US" dirty="0"/>
          </a:p>
          <a:p>
            <a:r>
              <a:rPr lang="en-US" b="1" dirty="0"/>
              <a:t>EDUCATOR NOTES:</a:t>
            </a:r>
          </a:p>
          <a:p>
            <a:endParaRPr lang="en-US" dirty="0"/>
          </a:p>
          <a:p>
            <a:r>
              <a:rPr lang="en-US" dirty="0"/>
              <a:t>”Now we're discussing AI Agents, which represent a significant advancement in artificial intelligence technology. These agents are essentially AI systems that can independently determine the best approach to solving tasks that users present to them. </a:t>
            </a:r>
          </a:p>
          <a:p>
            <a:endParaRPr lang="en-US" dirty="0"/>
          </a:p>
          <a:p>
            <a:r>
              <a:rPr lang="en-US" dirty="0"/>
              <a:t>What makes them particularly powerful is their foundation in Large Language Models, or LLMs, combined with specialized tools that enhance their capabilities. Think of LLMs as the brain and the tools as additional skills they can leverage.</a:t>
            </a:r>
          </a:p>
          <a:p>
            <a:endParaRPr lang="en-US" dirty="0"/>
          </a:p>
          <a:p>
            <a:r>
              <a:rPr lang="en-US" dirty="0"/>
              <a:t>One of the most exciting aspects of agents is how they're revolutionizing AI development. They're dramatically speeding up both the development process and the practical application of generative AI technologies. This means faster deployment and more efficient implementation of AI solutions in real-world scenarios.</a:t>
            </a:r>
          </a:p>
          <a:p>
            <a:endParaRPr lang="en-US" dirty="0"/>
          </a:p>
          <a:p>
            <a:r>
              <a:rPr lang="en-US" dirty="0"/>
              <a:t>Remember to emphasize how agents represent a shift from passive AI systems to more proactive, autonomous problem-solvers that can adapt to various user needs."</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3587326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Definition of Tools</a:t>
            </a:r>
          </a:p>
          <a:p>
            <a:r>
              <a:rPr lang="en-US" dirty="0"/>
              <a:t>- Functions or interfaces that agents can interact with</a:t>
            </a:r>
          </a:p>
          <a:p>
            <a:r>
              <a:rPr lang="en-US" dirty="0"/>
              <a:t>- Various forms including APIs, document loaders, functions, and other agents</a:t>
            </a:r>
          </a:p>
          <a:p>
            <a:endParaRPr lang="en-US" dirty="0"/>
          </a:p>
          <a:p>
            <a:r>
              <a:rPr lang="en-US" dirty="0"/>
              <a:t>2. Tool Dependencies</a:t>
            </a:r>
          </a:p>
          <a:p>
            <a:r>
              <a:rPr lang="en-US" dirty="0"/>
              <a:t>- Tools may or may not require an LLM (Language Learning Model)</a:t>
            </a:r>
          </a:p>
          <a:p>
            <a:r>
              <a:rPr lang="en-US" dirty="0"/>
              <a:t>- Flexibility in implementation and functionality</a:t>
            </a:r>
          </a:p>
          <a:p>
            <a:endParaRPr lang="en-US" dirty="0"/>
          </a:p>
          <a:p>
            <a:r>
              <a:rPr lang="en-US" dirty="0"/>
              <a:t>3. Examples of Tools:</a:t>
            </a:r>
          </a:p>
          <a:p>
            <a:r>
              <a:rPr lang="en-US" dirty="0"/>
              <a:t>a) Knowledge Base Tools</a:t>
            </a:r>
          </a:p>
          <a:p>
            <a:r>
              <a:rPr lang="en-US" dirty="0"/>
              <a:t>- RAG (Retrieval-Augmented Generation) systems</a:t>
            </a:r>
          </a:p>
          <a:p>
            <a:r>
              <a:rPr lang="en-US" dirty="0"/>
              <a:t>- Company document management</a:t>
            </a:r>
          </a:p>
          <a:p>
            <a:endParaRPr lang="en-US" dirty="0"/>
          </a:p>
          <a:p>
            <a:r>
              <a:rPr lang="en-US" dirty="0"/>
              <a:t>b) Utility Tools</a:t>
            </a:r>
          </a:p>
          <a:p>
            <a:r>
              <a:rPr lang="en-US" dirty="0"/>
              <a:t>- Calculator/math tools for arithmetic operations</a:t>
            </a:r>
          </a:p>
          <a:p>
            <a:r>
              <a:rPr lang="en-US" dirty="0"/>
              <a:t>- Basic computational functions</a:t>
            </a:r>
          </a:p>
          <a:p>
            <a:endParaRPr lang="en-US" dirty="0"/>
          </a:p>
          <a:p>
            <a:r>
              <a:rPr lang="en-US" dirty="0"/>
              <a:t>c) External API Tools</a:t>
            </a:r>
          </a:p>
          <a:p>
            <a:r>
              <a:rPr lang="en-US" dirty="0"/>
              <a:t>- Weather information retrieval</a:t>
            </a:r>
          </a:p>
          <a:p>
            <a:r>
              <a:rPr lang="en-US" dirty="0"/>
              <a:t>- Integration with external data sources</a:t>
            </a:r>
          </a:p>
          <a:p>
            <a:endParaRPr lang="en-US" dirty="0"/>
          </a:p>
          <a:p>
            <a:r>
              <a:rPr lang="en-US" dirty="0"/>
              <a:t>d) Information Retrieval Tools</a:t>
            </a:r>
          </a:p>
          <a:p>
            <a:r>
              <a:rPr lang="en-US" dirty="0"/>
              <a:t>- Wikipedia search functionality</a:t>
            </a:r>
          </a:p>
          <a:p>
            <a:r>
              <a:rPr lang="en-US" dirty="0"/>
              <a:t>- Fact-checking capabilities</a:t>
            </a:r>
          </a:p>
          <a:p>
            <a:endParaRPr lang="en-US" dirty="0"/>
          </a:p>
          <a:p>
            <a:r>
              <a:rPr lang="en-US" b="1" dirty="0"/>
              <a:t>EDUCATOR NOTES:</a:t>
            </a:r>
          </a:p>
          <a:p>
            <a:endParaRPr lang="en-US" dirty="0"/>
          </a:p>
          <a:p>
            <a:r>
              <a:rPr lang="en-US" dirty="0"/>
              <a:t>"In this slide, we're discussing the concept of tools in AI systems. Tools are essentially the functional components that allow AI agents to perform specific tasks or access particular resources. Think of them as the Swiss Army knife for AI agents - each tool serves a specific purpose.</a:t>
            </a:r>
          </a:p>
          <a:p>
            <a:endParaRPr lang="en-US" dirty="0"/>
          </a:p>
          <a:p>
            <a:r>
              <a:rPr lang="en-US" dirty="0"/>
              <a:t>Remember to emphasize that tools can be both simple and complex - from basic calculators to sophisticated knowledge retrieval systems. A key point to highlight is that not all tools require an LLM to function, which makes them versatile and resource-efficient when appropriate.</a:t>
            </a:r>
          </a:p>
          <a:p>
            <a:endParaRPr lang="en-US" dirty="0"/>
          </a:p>
          <a:p>
            <a:r>
              <a:rPr lang="en-US" dirty="0"/>
              <a:t>When presenting the examples, it's helpful to relate them to real-world applications. For instance, the RAG system is particularly relevant for enterprises managing large document repositories, while weather APIs demonstrate how AI systems can interact with external data sources.</a:t>
            </a:r>
          </a:p>
          <a:p>
            <a:endParaRPr lang="en-US" dirty="0"/>
          </a:p>
          <a:p>
            <a:r>
              <a:rPr lang="en-US" dirty="0"/>
              <a:t>Make sure to engage the students by asking if they can think of other potential tools that could be useful in their specific domains or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2553048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What Can Agents Do?</a:t>
            </a:r>
          </a:p>
          <a:p>
            <a:endParaRPr lang="en-US" dirty="0"/>
          </a:p>
          <a:p>
            <a:r>
              <a:rPr lang="en-US" dirty="0"/>
              <a:t>1. Understanding Capabilities</a:t>
            </a:r>
          </a:p>
          <a:p>
            <a:r>
              <a:rPr lang="en-US" dirty="0"/>
              <a:t>- Utilize Large Language Models (LLMs) to comprehend natural language requests</a:t>
            </a:r>
          </a:p>
          <a:p>
            <a:r>
              <a:rPr lang="en-US" dirty="0"/>
              <a:t>- Process and interpret user inputs effectively</a:t>
            </a:r>
          </a:p>
          <a:p>
            <a:endParaRPr lang="en-US" dirty="0"/>
          </a:p>
          <a:p>
            <a:r>
              <a:rPr lang="en-US" dirty="0"/>
              <a:t>2. Planning Process</a:t>
            </a:r>
          </a:p>
          <a:p>
            <a:r>
              <a:rPr lang="en-US" dirty="0"/>
              <a:t>- Employ prompting techniques</a:t>
            </a:r>
          </a:p>
          <a:p>
            <a:r>
              <a:rPr lang="en-US" dirty="0"/>
              <a:t>- Implement chain-of-thought methodology</a:t>
            </a:r>
          </a:p>
          <a:p>
            <a:r>
              <a:rPr lang="en-US" dirty="0"/>
              <a:t>- Create structured approach to problem-solving</a:t>
            </a:r>
          </a:p>
          <a:p>
            <a:endParaRPr lang="en-US" dirty="0"/>
          </a:p>
          <a:p>
            <a:r>
              <a:rPr lang="en-US" dirty="0"/>
              <a:t>3. Resource Identification</a:t>
            </a:r>
          </a:p>
          <a:p>
            <a:r>
              <a:rPr lang="en-US" dirty="0"/>
              <a:t>- Determine necessary APIs</a:t>
            </a:r>
          </a:p>
          <a:p>
            <a:r>
              <a:rPr lang="en-US" dirty="0"/>
              <a:t>- Identify relevant data sources</a:t>
            </a:r>
          </a:p>
          <a:p>
            <a:r>
              <a:rPr lang="en-US" dirty="0"/>
              <a:t>- Select appropriate tools for task completion</a:t>
            </a:r>
          </a:p>
          <a:p>
            <a:endParaRPr lang="en-US" dirty="0"/>
          </a:p>
          <a:p>
            <a:r>
              <a:rPr lang="en-US" dirty="0"/>
              <a:t>4. Execution Phase</a:t>
            </a:r>
          </a:p>
          <a:p>
            <a:r>
              <a:rPr lang="en-US" dirty="0"/>
              <a:t>- Implement the developed plan</a:t>
            </a:r>
          </a:p>
          <a:p>
            <a:r>
              <a:rPr lang="en-US" dirty="0"/>
              <a:t>- Invoke required APIs</a:t>
            </a:r>
          </a:p>
          <a:p>
            <a:r>
              <a:rPr lang="en-US" dirty="0"/>
              <a:t>- Utilize selected tools effectively</a:t>
            </a:r>
          </a:p>
          <a:p>
            <a:endParaRPr lang="en-US" dirty="0"/>
          </a:p>
          <a:p>
            <a:r>
              <a:rPr lang="en-US" dirty="0"/>
              <a:t>5. Problem Resolution</a:t>
            </a:r>
          </a:p>
          <a:p>
            <a:r>
              <a:rPr lang="en-US" dirty="0"/>
              <a:t>- Handle obstacles through retry mechanisms</a:t>
            </a:r>
          </a:p>
          <a:p>
            <a:r>
              <a:rPr lang="en-US" dirty="0"/>
              <a:t>- Adapt to challenges</a:t>
            </a:r>
          </a:p>
          <a:p>
            <a:r>
              <a:rPr lang="en-US" dirty="0"/>
              <a:t>- Ensure task completion</a:t>
            </a:r>
          </a:p>
          <a:p>
            <a:endParaRPr lang="en-US" dirty="0"/>
          </a:p>
          <a:p>
            <a:r>
              <a:rPr lang="en-US" b="1" dirty="0"/>
              <a:t>EDUCATOR NOTES:</a:t>
            </a:r>
          </a:p>
          <a:p>
            <a:endParaRPr lang="en-US" dirty="0"/>
          </a:p>
          <a:p>
            <a:r>
              <a:rPr lang="en-US" dirty="0"/>
              <a:t>”Now we're discussing the key capabilities of agents and how they function in an automated environment. Our agents are designed with five core competencies that work together seamlessly.</a:t>
            </a:r>
          </a:p>
          <a:p>
            <a:endParaRPr lang="en-US" dirty="0"/>
          </a:p>
          <a:p>
            <a:r>
              <a:rPr lang="en-US" dirty="0"/>
              <a:t>First, they can understand natural language requests using LLMs, making them highly accessible to users. </a:t>
            </a:r>
          </a:p>
          <a:p>
            <a:r>
              <a:rPr lang="en-US" dirty="0"/>
              <a:t>Then, they generate well-thought-out plans using sophisticated prompting techniques. The identification phase is crucial - agents can determine exactly what resources they'll need for the task.</a:t>
            </a:r>
          </a:p>
          <a:p>
            <a:endParaRPr lang="en-US" dirty="0"/>
          </a:p>
          <a:p>
            <a:r>
              <a:rPr lang="en-US" dirty="0"/>
              <a:t>In the execution phase, they put everything into action, and importantly, they're resilient - capable of overcoming obstacles through retry mechanisms. This creates a robust system that can handle real-world challenges effectively.</a:t>
            </a:r>
          </a:p>
          <a:p>
            <a:endParaRPr lang="en-US" dirty="0"/>
          </a:p>
          <a:p>
            <a:r>
              <a:rPr lang="en-US" dirty="0"/>
              <a:t>Remember to emphasize to your students that these capabilities work in concert to create a powerful, automated solution that can handle complex tasks while maintaining reliability and efficiency.</a:t>
            </a:r>
          </a:p>
          <a:p>
            <a:endParaRPr lang="en-US" dirty="0"/>
          </a:p>
          <a:p>
            <a:r>
              <a:rPr lang="en-US" dirty="0"/>
              <a:t>Any questions about these core capabilities?"</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606308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and Core Concepts</a:t>
            </a:r>
          </a:p>
          <a:p>
            <a:r>
              <a:rPr lang="en-US" dirty="0"/>
              <a:t>- </a:t>
            </a:r>
            <a:r>
              <a:rPr lang="en-US" dirty="0" err="1"/>
              <a:t>ReAct</a:t>
            </a:r>
            <a:r>
              <a:rPr lang="en-US" dirty="0"/>
              <a:t> is a framework combining reasoning and action capabilities</a:t>
            </a:r>
          </a:p>
          <a:p>
            <a:r>
              <a:rPr lang="en-US" dirty="0"/>
              <a:t>- Name breakdown: Re(</a:t>
            </a:r>
            <a:r>
              <a:rPr lang="en-US" dirty="0" err="1"/>
              <a:t>ason</a:t>
            </a:r>
            <a:r>
              <a:rPr lang="en-US" dirty="0"/>
              <a:t>) + Act = </a:t>
            </a:r>
            <a:r>
              <a:rPr lang="en-US" dirty="0" err="1"/>
              <a:t>ReAct</a:t>
            </a:r>
            <a:endParaRPr lang="en-US" dirty="0"/>
          </a:p>
          <a:p>
            <a:endParaRPr lang="en-US" dirty="0"/>
          </a:p>
          <a:p>
            <a:r>
              <a:rPr lang="en-US" dirty="0"/>
              <a:t>2. Key Components</a:t>
            </a:r>
          </a:p>
          <a:p>
            <a:r>
              <a:rPr lang="en-US" dirty="0"/>
              <a:t>a) Reasoning Capabilities</a:t>
            </a:r>
          </a:p>
          <a:p>
            <a:r>
              <a:rPr lang="en-US" dirty="0"/>
              <a:t>- LLMs demonstrate logical reasoning abilities</a:t>
            </a:r>
          </a:p>
          <a:p>
            <a:r>
              <a:rPr lang="en-US" dirty="0"/>
              <a:t>- Used to create and manage action plans</a:t>
            </a:r>
          </a:p>
          <a:p>
            <a:r>
              <a:rPr lang="en-US" dirty="0"/>
              <a:t>- Handles error cases and unexpected scenarios</a:t>
            </a:r>
          </a:p>
          <a:p>
            <a:r>
              <a:rPr lang="en-US" dirty="0"/>
              <a:t>- Tracks and updates plans as needed</a:t>
            </a:r>
          </a:p>
          <a:p>
            <a:endParaRPr lang="en-US" dirty="0"/>
          </a:p>
          <a:p>
            <a:r>
              <a:rPr lang="en-US" dirty="0"/>
              <a:t>b) Action Capabilities</a:t>
            </a:r>
          </a:p>
          <a:p>
            <a:r>
              <a:rPr lang="en-US" dirty="0"/>
              <a:t>- LLMs can generate concrete action plans</a:t>
            </a:r>
          </a:p>
          <a:p>
            <a:r>
              <a:rPr lang="en-US" dirty="0"/>
              <a:t>- Interfaces with external tools and systems</a:t>
            </a:r>
          </a:p>
          <a:p>
            <a:r>
              <a:rPr lang="en-US" dirty="0"/>
              <a:t>- Connects with knowledge bases</a:t>
            </a:r>
          </a:p>
          <a:p>
            <a:r>
              <a:rPr lang="en-US" dirty="0"/>
              <a:t>- Interacts with various environments</a:t>
            </a:r>
          </a:p>
          <a:p>
            <a:endParaRPr lang="en-US" dirty="0"/>
          </a:p>
          <a:p>
            <a:r>
              <a:rPr lang="en-US" dirty="0"/>
              <a:t>3. Process Flow</a:t>
            </a:r>
          </a:p>
          <a:p>
            <a:r>
              <a:rPr lang="en-US" dirty="0"/>
              <a:t>- Reasoning/Chain of Thought → Actions → Environment</a:t>
            </a:r>
          </a:p>
          <a:p>
            <a:r>
              <a:rPr lang="en-US" dirty="0"/>
              <a:t>- Environment provides feedback through Observation</a:t>
            </a:r>
          </a:p>
          <a:p>
            <a:r>
              <a:rPr lang="en-US" dirty="0"/>
              <a:t>- Continuous loop of reasoning and acting based on observations</a:t>
            </a:r>
          </a:p>
          <a:p>
            <a:endParaRPr lang="en-US" dirty="0"/>
          </a:p>
          <a:p>
            <a:r>
              <a:rPr lang="en-US" b="1" dirty="0"/>
              <a:t>EDUCATOR NOTES:</a:t>
            </a:r>
          </a:p>
          <a:p>
            <a:endParaRPr lang="en-US" dirty="0"/>
          </a:p>
          <a:p>
            <a:r>
              <a:rPr lang="en-US" dirty="0"/>
              <a:t>”Now we're discussing </a:t>
            </a:r>
            <a:r>
              <a:rPr lang="en-US" dirty="0" err="1"/>
              <a:t>ReAct</a:t>
            </a:r>
            <a:r>
              <a:rPr lang="en-US" dirty="0"/>
              <a:t>, a powerful framework that combines two essential capabilities of Large Language Models: reasoning and acting.</a:t>
            </a:r>
          </a:p>
          <a:p>
            <a:endParaRPr lang="en-US" dirty="0"/>
          </a:p>
          <a:p>
            <a:r>
              <a:rPr lang="en-US" dirty="0"/>
              <a:t>When presenting this slide, emphasize these key points:</a:t>
            </a:r>
          </a:p>
          <a:p>
            <a:r>
              <a:rPr lang="en-US" dirty="0"/>
              <a:t>- Start by explaining how </a:t>
            </a:r>
            <a:r>
              <a:rPr lang="en-US" dirty="0" err="1"/>
              <a:t>ReAct</a:t>
            </a:r>
            <a:r>
              <a:rPr lang="en-US" dirty="0"/>
              <a:t> is more than just a clever name - it represents the synthesis of two crucial AI capabilities</a:t>
            </a:r>
          </a:p>
          <a:p>
            <a:r>
              <a:rPr lang="en-US" dirty="0"/>
              <a:t>- Use the diagram to walk through the cyclical nature of the process: reasoning leads to actions, which affect the environment, which provides observations that inform further reasoning</a:t>
            </a:r>
          </a:p>
          <a:p>
            <a:r>
              <a:rPr lang="en-US" dirty="0"/>
              <a:t>- Provide real-world examples of how this combination of reasoning and acting can be applied</a:t>
            </a:r>
          </a:p>
          <a:p>
            <a:r>
              <a:rPr lang="en-US" dirty="0"/>
              <a:t>- Highlight how error handling and plan adaptation are built into the reasoning component</a:t>
            </a:r>
          </a:p>
          <a:p>
            <a:r>
              <a:rPr lang="en-US" dirty="0"/>
              <a:t>- Stress the practical applications through the action component's ability to interface with various tools and environments</a:t>
            </a:r>
          </a:p>
          <a:p>
            <a:endParaRPr lang="en-US" dirty="0"/>
          </a:p>
          <a:p>
            <a:r>
              <a:rPr lang="en-US" dirty="0"/>
              <a:t>Remember to emphasize that this is not just theoretical - it's a practical approach to making AI systems more effective and reliable in real-world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2508889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Knowledge-intensive tasks</a:t>
            </a:r>
          </a:p>
          <a:p>
            <a:r>
              <a:rPr lang="en-US" dirty="0"/>
              <a:t>- Main challenge: Simple prompting leads to fact hallucination</a:t>
            </a:r>
          </a:p>
          <a:p>
            <a:r>
              <a:rPr lang="en-US" dirty="0"/>
              <a:t>- Solution: Agents have capability to:</a:t>
            </a:r>
          </a:p>
          <a:p>
            <a:r>
              <a:rPr lang="en-US" dirty="0"/>
              <a:t>  * Identify data sources</a:t>
            </a:r>
          </a:p>
          <a:p>
            <a:r>
              <a:rPr lang="en-US" dirty="0"/>
              <a:t>  * Write queries</a:t>
            </a:r>
          </a:p>
          <a:p>
            <a:r>
              <a:rPr lang="en-US" dirty="0"/>
              <a:t>  * Retrieve relevant data effectively</a:t>
            </a:r>
          </a:p>
          <a:p>
            <a:endParaRPr lang="en-US" dirty="0"/>
          </a:p>
          <a:p>
            <a:r>
              <a:rPr lang="en-US" dirty="0"/>
              <a:t>2. Decision-making tasks</a:t>
            </a:r>
          </a:p>
          <a:p>
            <a:r>
              <a:rPr lang="en-US" dirty="0"/>
              <a:t>- Enhancement: LLM planning capabilities improved through custom tools</a:t>
            </a:r>
          </a:p>
          <a:p>
            <a:r>
              <a:rPr lang="en-US" dirty="0"/>
              <a:t>- Key aspect: Ability to select appropriate tools for task execution</a:t>
            </a:r>
          </a:p>
          <a:p>
            <a:r>
              <a:rPr lang="en-US" dirty="0"/>
              <a:t>- Current limitation: Performance gap between AI and expert humans remains significant</a:t>
            </a:r>
          </a:p>
          <a:p>
            <a:endParaRPr lang="en-US" dirty="0"/>
          </a:p>
          <a:p>
            <a:r>
              <a:rPr lang="en-US" b="1" dirty="0"/>
              <a:t>EDUCATOR NOTES:</a:t>
            </a:r>
          </a:p>
          <a:p>
            <a:endParaRPr lang="en-US" dirty="0"/>
          </a:p>
          <a:p>
            <a:r>
              <a:rPr lang="en-US" dirty="0"/>
              <a:t>”Now we'll be discussing two major categories of agentic tasks and their current state.</a:t>
            </a:r>
          </a:p>
          <a:p>
            <a:endParaRPr lang="en-US" dirty="0"/>
          </a:p>
          <a:p>
            <a:r>
              <a:rPr lang="en-US" dirty="0"/>
              <a:t>When discussing knowledge-intensive tasks, it's crucial to highlight that while simple prompting can lead to fact hallucination, we've made significant progress through agents that can autonomously work with data sources. This represents a major step forward in ensuring accuracy and reliability.</a:t>
            </a:r>
          </a:p>
          <a:p>
            <a:endParaRPr lang="en-US" dirty="0"/>
          </a:p>
          <a:p>
            <a:r>
              <a:rPr lang="en-US" dirty="0"/>
              <a:t>Moving to decision-making tasks, I want to emphasize that while we've seen impressive improvements through custom tools and enhanced LLM planning capabilities, we must remain realistic about current limitations. The gap between AI performance and expert human decision-making is still substantial, which presents both challenges and opportunities for future development.</a:t>
            </a:r>
          </a:p>
          <a:p>
            <a:endParaRPr lang="en-US" dirty="0"/>
          </a:p>
          <a:p>
            <a:r>
              <a:rPr lang="en-US" dirty="0"/>
              <a:t>Remember to engage your audience by asking for their experiences with AI tools and their perspectives on these limitations. This can lead to valuable discussions about real-world applications and challenges."</a:t>
            </a:r>
          </a:p>
          <a:p>
            <a:endParaRPr lang="en-US" dirty="0"/>
          </a:p>
          <a:p>
            <a:r>
              <a:rPr lang="en-US" dirty="0"/>
              <a:t>[Delivery tip: Use concrete examples when explaining each task type to make the concepts more relatable to your audience.]</a:t>
            </a:r>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1572962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Notes on </a:t>
            </a:r>
            <a:r>
              <a:rPr lang="en-US" dirty="0" err="1"/>
              <a:t>LangChain</a:t>
            </a:r>
            <a:r>
              <a:rPr lang="en-US" dirty="0"/>
              <a:t> Tools:</a:t>
            </a:r>
          </a:p>
          <a:p>
            <a:endParaRPr lang="en-US" dirty="0"/>
          </a:p>
          <a:p>
            <a:r>
              <a:rPr lang="en-US" dirty="0"/>
              <a:t>1. Functions and Interfaces</a:t>
            </a:r>
          </a:p>
          <a:p>
            <a:r>
              <a:rPr lang="en-US" dirty="0"/>
              <a:t>- </a:t>
            </a:r>
            <a:r>
              <a:rPr lang="en-US" dirty="0" err="1"/>
              <a:t>LangChain</a:t>
            </a:r>
            <a:r>
              <a:rPr lang="en-US" dirty="0"/>
              <a:t> tools are essentially functions or interfaces that agents can interact with</a:t>
            </a:r>
          </a:p>
          <a:p>
            <a:r>
              <a:rPr lang="en-US" dirty="0"/>
              <a:t>- These tools can take various forms:</a:t>
            </a:r>
          </a:p>
          <a:p>
            <a:r>
              <a:rPr lang="en-US" dirty="0"/>
              <a:t>  * APIs</a:t>
            </a:r>
          </a:p>
          <a:p>
            <a:r>
              <a:rPr lang="en-US" dirty="0"/>
              <a:t>  * Loaders</a:t>
            </a:r>
          </a:p>
          <a:p>
            <a:r>
              <a:rPr lang="en-US" dirty="0"/>
              <a:t>  * Functions</a:t>
            </a:r>
          </a:p>
          <a:p>
            <a:r>
              <a:rPr lang="en-US" dirty="0"/>
              <a:t>  * Other chains</a:t>
            </a:r>
          </a:p>
          <a:p>
            <a:r>
              <a:rPr lang="en-US" dirty="0"/>
              <a:t>  * Agents</a:t>
            </a:r>
          </a:p>
          <a:p>
            <a:endParaRPr lang="en-US" dirty="0"/>
          </a:p>
          <a:p>
            <a:r>
              <a:rPr lang="en-US" dirty="0"/>
              <a:t>2. LLM Dependency</a:t>
            </a:r>
          </a:p>
          <a:p>
            <a:r>
              <a:rPr lang="en-US" dirty="0"/>
              <a:t>- Tools have flexible dependency on Large Language Models (LLMs)</a:t>
            </a:r>
          </a:p>
          <a:p>
            <a:r>
              <a:rPr lang="en-US" dirty="0"/>
              <a:t>- Not all tools require an LLM to function</a:t>
            </a:r>
          </a:p>
          <a:p>
            <a:r>
              <a:rPr lang="en-US" dirty="0"/>
              <a:t>- Example provided: Math tool leverages LLM capabilities for solving mathematical problems</a:t>
            </a:r>
          </a:p>
          <a:p>
            <a:endParaRPr lang="en-US" dirty="0"/>
          </a:p>
          <a:p>
            <a:r>
              <a:rPr lang="en-US" dirty="0"/>
              <a:t>3. Integration Capabilities</a:t>
            </a:r>
          </a:p>
          <a:p>
            <a:r>
              <a:rPr lang="en-US" dirty="0"/>
              <a:t>- </a:t>
            </a:r>
            <a:r>
              <a:rPr lang="en-US" dirty="0" err="1"/>
              <a:t>LangChain</a:t>
            </a:r>
            <a:r>
              <a:rPr lang="en-US" dirty="0"/>
              <a:t> offers support for third-party integrations</a:t>
            </a:r>
          </a:p>
          <a:p>
            <a:r>
              <a:rPr lang="en-US" dirty="0"/>
              <a:t>- Implementation shown through code snippet:</a:t>
            </a:r>
          </a:p>
          <a:p>
            <a:r>
              <a:rPr lang="en-US" dirty="0"/>
              <a:t>  ```python</a:t>
            </a:r>
          </a:p>
          <a:p>
            <a:r>
              <a:rPr lang="en-US" dirty="0"/>
              <a:t>  # Define tool names in a list</a:t>
            </a:r>
          </a:p>
          <a:p>
            <a:r>
              <a:rPr lang="en-US" dirty="0"/>
              <a:t>  </a:t>
            </a:r>
            <a:r>
              <a:rPr lang="en-US" dirty="0" err="1"/>
              <a:t>tool_names</a:t>
            </a:r>
            <a:r>
              <a:rPr lang="en-US" dirty="0"/>
              <a:t> = [...]</a:t>
            </a:r>
          </a:p>
          <a:p>
            <a:r>
              <a:rPr lang="en-US" dirty="0"/>
              <a:t>  </a:t>
            </a:r>
          </a:p>
          <a:p>
            <a:r>
              <a:rPr lang="en-US" dirty="0"/>
              <a:t>  # Load tools with specified LLM</a:t>
            </a:r>
          </a:p>
          <a:p>
            <a:r>
              <a:rPr lang="en-US" dirty="0"/>
              <a:t>  tools = </a:t>
            </a:r>
            <a:r>
              <a:rPr lang="en-US" dirty="0" err="1"/>
              <a:t>load_tools</a:t>
            </a:r>
            <a:r>
              <a:rPr lang="en-US" dirty="0"/>
              <a:t>(</a:t>
            </a:r>
            <a:r>
              <a:rPr lang="en-US" dirty="0" err="1"/>
              <a:t>tool_names</a:t>
            </a:r>
            <a:r>
              <a:rPr lang="en-US" dirty="0"/>
              <a:t>, </a:t>
            </a:r>
            <a:r>
              <a:rPr lang="en-US" dirty="0" err="1"/>
              <a:t>llm</a:t>
            </a:r>
            <a:r>
              <a:rPr lang="en-US" dirty="0"/>
              <a:t>)</a:t>
            </a:r>
          </a:p>
          <a:p>
            <a:r>
              <a:rPr lang="en-US" dirty="0"/>
              <a:t>  ```</a:t>
            </a:r>
          </a:p>
          <a:p>
            <a:endParaRPr lang="en-US" dirty="0"/>
          </a:p>
          <a:p>
            <a:r>
              <a:rPr lang="en-US" b="1" dirty="0"/>
              <a:t>EDUCATOR NOTES:</a:t>
            </a:r>
          </a:p>
          <a:p>
            <a:endParaRPr lang="en-US" dirty="0"/>
          </a:p>
          <a:p>
            <a:r>
              <a:rPr lang="en-US" dirty="0"/>
              <a:t>”Let’s discuss about </a:t>
            </a:r>
            <a:r>
              <a:rPr lang="en-US" dirty="0" err="1"/>
              <a:t>LangChain</a:t>
            </a:r>
            <a:r>
              <a:rPr lang="en-US" dirty="0"/>
              <a:t> tools. Emphasizing their versatility and flexibility. These tools serve as the building blocks for agent interactions, whether through APIs, functions, or other mechanisms. A key point to remember is that while some tools are LLM-dependent, others can operate independently. The math tool example demonstrates how LLMs can enhance tool functionality when needed. Finally, the code snippet illustrates the straightforward process of implementing these tools, showcasing </a:t>
            </a:r>
            <a:r>
              <a:rPr lang="en-US" dirty="0" err="1"/>
              <a:t>LangChain's</a:t>
            </a:r>
            <a:r>
              <a:rPr lang="en-US" dirty="0"/>
              <a:t> commitment to easy integration with third-party services. Remember, the power of </a:t>
            </a:r>
            <a:r>
              <a:rPr lang="en-US" dirty="0" err="1"/>
              <a:t>LangChain</a:t>
            </a:r>
            <a:r>
              <a:rPr lang="en-US" dirty="0"/>
              <a:t> lies in its adaptability to various use cases and requirements."</a:t>
            </a:r>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2458353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a:t>
            </a:r>
            <a:r>
              <a:rPr lang="en-US" dirty="0" err="1"/>
              <a:t>LangChain</a:t>
            </a:r>
            <a:r>
              <a:rPr lang="en-US" dirty="0"/>
              <a:t> Toolkits</a:t>
            </a:r>
          </a:p>
          <a:p>
            <a:r>
              <a:rPr lang="en-US" dirty="0"/>
              <a:t>- Defined as pre-configured sets of tools</a:t>
            </a:r>
          </a:p>
          <a:p>
            <a:r>
              <a:rPr lang="en-US" dirty="0"/>
              <a:t>- Purpose: To achieve specific tasks and objectives</a:t>
            </a:r>
          </a:p>
          <a:p>
            <a:r>
              <a:rPr lang="en-US" dirty="0"/>
              <a:t>- Provides structured approach to different integrations</a:t>
            </a:r>
          </a:p>
          <a:p>
            <a:endParaRPr lang="en-US" dirty="0"/>
          </a:p>
          <a:p>
            <a:r>
              <a:rPr lang="en-US" dirty="0"/>
              <a:t>2. Key Toolkit Integrations:</a:t>
            </a:r>
          </a:p>
          <a:p>
            <a:r>
              <a:rPr lang="en-US" dirty="0"/>
              <a:t>a) </a:t>
            </a:r>
            <a:r>
              <a:rPr lang="en-US" dirty="0" err="1"/>
              <a:t>GitHubToolkit</a:t>
            </a:r>
            <a:endParaRPr lang="en-US" dirty="0"/>
          </a:p>
          <a:p>
            <a:r>
              <a:rPr lang="en-US" dirty="0"/>
              <a:t>- Primary function: GitHub repository interaction</a:t>
            </a:r>
          </a:p>
          <a:p>
            <a:r>
              <a:rPr lang="en-US" dirty="0"/>
              <a:t>- Helps manage and interact with code repositories</a:t>
            </a:r>
          </a:p>
          <a:p>
            <a:endParaRPr lang="en-US" dirty="0"/>
          </a:p>
          <a:p>
            <a:r>
              <a:rPr lang="en-US" dirty="0"/>
              <a:t>b) JSON Toolkit</a:t>
            </a:r>
          </a:p>
          <a:p>
            <a:r>
              <a:rPr lang="en-US" dirty="0"/>
              <a:t>- Purpose: Handling JSON and dictionary objects</a:t>
            </a:r>
          </a:p>
          <a:p>
            <a:r>
              <a:rPr lang="en-US" dirty="0"/>
              <a:t>- Facilitates data structure manipulation</a:t>
            </a:r>
          </a:p>
          <a:p>
            <a:endParaRPr lang="en-US" dirty="0"/>
          </a:p>
          <a:p>
            <a:r>
              <a:rPr lang="en-US" dirty="0"/>
              <a:t>c) </a:t>
            </a:r>
            <a:r>
              <a:rPr lang="en-US" dirty="0" err="1"/>
              <a:t>PowerBI</a:t>
            </a:r>
            <a:r>
              <a:rPr lang="en-US" dirty="0"/>
              <a:t> Toolkit</a:t>
            </a:r>
          </a:p>
          <a:p>
            <a:r>
              <a:rPr lang="en-US" dirty="0"/>
              <a:t>- Focus: </a:t>
            </a:r>
            <a:r>
              <a:rPr lang="en-US" dirty="0" err="1"/>
              <a:t>PowerBI</a:t>
            </a:r>
            <a:r>
              <a:rPr lang="en-US" dirty="0"/>
              <a:t> dataset interaction</a:t>
            </a:r>
          </a:p>
          <a:p>
            <a:r>
              <a:rPr lang="en-US" dirty="0"/>
              <a:t>- Enables data analysis and visualization capabilities</a:t>
            </a:r>
          </a:p>
          <a:p>
            <a:endParaRPr lang="en-US" dirty="0"/>
          </a:p>
          <a:p>
            <a:r>
              <a:rPr lang="en-US" dirty="0"/>
              <a:t>d) </a:t>
            </a:r>
            <a:r>
              <a:rPr lang="en-US" dirty="0" err="1"/>
              <a:t>PythonREPL</a:t>
            </a:r>
            <a:endParaRPr lang="en-US" dirty="0"/>
          </a:p>
          <a:p>
            <a:r>
              <a:rPr lang="en-US" dirty="0"/>
              <a:t>- Function: Python code execution environment</a:t>
            </a:r>
          </a:p>
          <a:p>
            <a:r>
              <a:rPr lang="en-US" dirty="0"/>
              <a:t>- Allows writing and running Python code directly</a:t>
            </a:r>
          </a:p>
          <a:p>
            <a:endParaRPr lang="en-US" dirty="0"/>
          </a:p>
          <a:p>
            <a:r>
              <a:rPr lang="en-US" dirty="0"/>
              <a:t>e) </a:t>
            </a:r>
            <a:r>
              <a:rPr lang="en-US" dirty="0" err="1"/>
              <a:t>SparkSQL</a:t>
            </a:r>
            <a:r>
              <a:rPr lang="en-US" dirty="0"/>
              <a:t> Toolkit</a:t>
            </a:r>
          </a:p>
          <a:p>
            <a:r>
              <a:rPr lang="en-US" dirty="0"/>
              <a:t>- Purpose: Managing Spark SQL queries</a:t>
            </a:r>
          </a:p>
          <a:p>
            <a:r>
              <a:rPr lang="en-US" dirty="0"/>
              <a:t>- Handles general database inquiries</a:t>
            </a:r>
          </a:p>
          <a:p>
            <a:endParaRPr lang="en-US" dirty="0"/>
          </a:p>
          <a:p>
            <a:r>
              <a:rPr lang="en-US" dirty="0"/>
              <a:t>f) Jira Toolkit</a:t>
            </a:r>
          </a:p>
          <a:p>
            <a:r>
              <a:rPr lang="en-US" dirty="0"/>
              <a:t>- Function: Jira instance interaction</a:t>
            </a:r>
          </a:p>
          <a:p>
            <a:r>
              <a:rPr lang="en-US" dirty="0"/>
              <a:t>- Facilitates project management tasks</a:t>
            </a:r>
          </a:p>
          <a:p>
            <a:endParaRPr lang="en-US" dirty="0"/>
          </a:p>
          <a:p>
            <a:r>
              <a:rPr lang="en-US" b="1" dirty="0"/>
              <a:t>EDUCATOR NOTES:</a:t>
            </a:r>
          </a:p>
          <a:p>
            <a:endParaRPr lang="en-US" dirty="0"/>
          </a:p>
          <a:p>
            <a:r>
              <a:rPr lang="en-US" dirty="0"/>
              <a:t>”Now, we'll be discussing </a:t>
            </a:r>
            <a:r>
              <a:rPr lang="en-US" dirty="0" err="1"/>
              <a:t>LangChain</a:t>
            </a:r>
            <a:r>
              <a:rPr lang="en-US" dirty="0"/>
              <a:t> Toolkits, which are essential components that streamline various development and integration processes. These toolkits are pre-configured to save you time and ensure consistency in your implementations. Whether you're working with GitHub repositories, handling JSON data, or managing </a:t>
            </a:r>
            <a:r>
              <a:rPr lang="en-US" dirty="0" err="1"/>
              <a:t>PowerBI</a:t>
            </a:r>
            <a:r>
              <a:rPr lang="en-US" dirty="0"/>
              <a:t> datasets, these toolkits provide the necessary functionality right out of the box. Each toolkit is specialized for its specific use case, making it easier to integrate different services and platforms into your workflow. Understanding these toolkits is crucial for maximizing efficiency in your development process and maintaining robust integrations across different platforms."</a:t>
            </a:r>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3434227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Core Functionality of </a:t>
            </a:r>
            <a:r>
              <a:rPr lang="en-US" dirty="0" err="1"/>
              <a:t>LangChain</a:t>
            </a:r>
            <a:r>
              <a:rPr lang="en-US" dirty="0"/>
              <a:t> Agents</a:t>
            </a:r>
          </a:p>
          <a:p>
            <a:r>
              <a:rPr lang="en-US" dirty="0"/>
              <a:t>- Primary responsibility: Decision-making and action execution</a:t>
            </a:r>
          </a:p>
          <a:p>
            <a:r>
              <a:rPr lang="en-US" dirty="0"/>
              <a:t>- Autonomous decision-making capabilities</a:t>
            </a:r>
          </a:p>
          <a:p>
            <a:r>
              <a:rPr lang="en-US" dirty="0"/>
              <a:t>- Action implementation based on determined course</a:t>
            </a:r>
          </a:p>
          <a:p>
            <a:endParaRPr lang="en-US" dirty="0"/>
          </a:p>
          <a:p>
            <a:r>
              <a:rPr lang="en-US" dirty="0"/>
              <a:t>2. Tools Integration</a:t>
            </a:r>
          </a:p>
          <a:p>
            <a:r>
              <a:rPr lang="en-US" dirty="0"/>
              <a:t>- Agents can be equipped with various tools</a:t>
            </a:r>
          </a:p>
          <a:p>
            <a:r>
              <a:rPr lang="en-US" dirty="0"/>
              <a:t>- Tool functionality must be clearly defined</a:t>
            </a:r>
          </a:p>
          <a:p>
            <a:r>
              <a:rPr lang="en-US" dirty="0"/>
              <a:t>- Tool selection is task-dependent</a:t>
            </a:r>
          </a:p>
          <a:p>
            <a:r>
              <a:rPr lang="en-US" dirty="0"/>
              <a:t>- Critical to match appropriate tools with specific tasks</a:t>
            </a:r>
          </a:p>
          <a:p>
            <a:endParaRPr lang="en-US" dirty="0"/>
          </a:p>
          <a:p>
            <a:r>
              <a:rPr lang="en-US" dirty="0"/>
              <a:t>3. Agent Runtime Environment</a:t>
            </a:r>
          </a:p>
          <a:p>
            <a:r>
              <a:rPr lang="en-US" dirty="0"/>
              <a:t>- Functions as the execution framework</a:t>
            </a:r>
          </a:p>
          <a:p>
            <a:r>
              <a:rPr lang="en-US" dirty="0"/>
              <a:t>- Manages agent calls and action execution</a:t>
            </a:r>
          </a:p>
          <a:p>
            <a:r>
              <a:rPr lang="en-US" dirty="0"/>
              <a:t>- </a:t>
            </a:r>
            <a:r>
              <a:rPr lang="en-US" dirty="0" err="1"/>
              <a:t>AgentExecutor</a:t>
            </a:r>
            <a:r>
              <a:rPr lang="en-US" dirty="0"/>
              <a:t> is a commonly used runtime</a:t>
            </a:r>
          </a:p>
          <a:p>
            <a:r>
              <a:rPr lang="en-US" dirty="0"/>
              <a:t>- Handles the operational aspects of agent functioning</a:t>
            </a:r>
          </a:p>
          <a:p>
            <a:endParaRPr lang="en-US" b="1" dirty="0"/>
          </a:p>
          <a:p>
            <a:r>
              <a:rPr lang="en-US" b="1" dirty="0"/>
              <a:t>EDUCATOR NOTES:</a:t>
            </a:r>
          </a:p>
          <a:p>
            <a:endParaRPr lang="en-US" dirty="0"/>
          </a:p>
          <a:p>
            <a:r>
              <a:rPr lang="en-US" dirty="0"/>
              <a:t>”Now we're discussing </a:t>
            </a:r>
            <a:r>
              <a:rPr lang="en-US" dirty="0" err="1"/>
              <a:t>LangChain</a:t>
            </a:r>
            <a:r>
              <a:rPr lang="en-US" dirty="0"/>
              <a:t> Agents, which are key components in autonomous AI systems. Think of agents as decision-makers with the ability to act. Just like how a human worker needs to understand their tools, our agents need clear descriptions of their available tools to function effectively.</a:t>
            </a:r>
          </a:p>
          <a:p>
            <a:endParaRPr lang="en-US" dirty="0"/>
          </a:p>
          <a:p>
            <a:r>
              <a:rPr lang="en-US" dirty="0"/>
              <a:t>A crucial point to emphasize is tool selection - you wouldn't give a carpenter a paintbrush to build a cabinet, right? Similarly, we need to be strategic about which tools we give our agents.</a:t>
            </a:r>
          </a:p>
          <a:p>
            <a:endParaRPr lang="en-US" dirty="0"/>
          </a:p>
          <a:p>
            <a:r>
              <a:rPr lang="en-US" dirty="0"/>
              <a:t>The Agent runtime, particularly the </a:t>
            </a:r>
            <a:r>
              <a:rPr lang="en-US" dirty="0" err="1"/>
              <a:t>AgentExecutor</a:t>
            </a:r>
            <a:r>
              <a:rPr lang="en-US" dirty="0"/>
              <a:t>, acts like an operating system for our agents. It's the environment that makes everything work together smoothly.</a:t>
            </a:r>
          </a:p>
          <a:p>
            <a:endParaRPr lang="en-US" dirty="0"/>
          </a:p>
          <a:p>
            <a:r>
              <a:rPr lang="en-US" dirty="0"/>
              <a:t>Remember: The success of an agent often depends on how well we set up these three elements: clear decision-making capabilities, appropriate tools, and a well-configured runtime environment."</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190726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Agent’s limitations</a:t>
            </a:r>
          </a:p>
          <a:p>
            <a:endParaRPr lang="en-US" dirty="0"/>
          </a:p>
          <a:p>
            <a:r>
              <a:rPr lang="en-US" dirty="0"/>
              <a:t>1. Complex Model Requirements</a:t>
            </a:r>
          </a:p>
          <a:p>
            <a:r>
              <a:rPr lang="en-US" dirty="0"/>
              <a:t>- Agents need sophisticated models with strong reasoning abilities</a:t>
            </a:r>
          </a:p>
          <a:p>
            <a:r>
              <a:rPr lang="en-US" dirty="0"/>
              <a:t>- Performance issues arise with smaller/less powerful LLMs</a:t>
            </a:r>
          </a:p>
          <a:p>
            <a:r>
              <a:rPr lang="en-US" dirty="0"/>
              <a:t>- Cost implications for using advanced models</a:t>
            </a:r>
          </a:p>
          <a:p>
            <a:endParaRPr lang="en-US" dirty="0"/>
          </a:p>
          <a:p>
            <a:r>
              <a:rPr lang="en-US" dirty="0"/>
              <a:t>2. Abstraction Challenges</a:t>
            </a:r>
          </a:p>
          <a:p>
            <a:r>
              <a:rPr lang="en-US" dirty="0"/>
              <a:t>- Higher abstraction levels create complexity</a:t>
            </a:r>
          </a:p>
          <a:p>
            <a:r>
              <a:rPr lang="en-US" dirty="0"/>
              <a:t>- Intermediate steps are difficult to fix/adjust</a:t>
            </a:r>
          </a:p>
          <a:p>
            <a:r>
              <a:rPr lang="en-US" dirty="0"/>
              <a:t>- Debugging becomes more complicated due to abstraction layers</a:t>
            </a:r>
          </a:p>
          <a:p>
            <a:endParaRPr lang="en-US" dirty="0"/>
          </a:p>
          <a:p>
            <a:r>
              <a:rPr lang="en-US" dirty="0"/>
              <a:t>3. Security Concerns</a:t>
            </a:r>
          </a:p>
          <a:p>
            <a:r>
              <a:rPr lang="en-US" dirty="0"/>
              <a:t>- Vulnerable to adversarial attacks</a:t>
            </a:r>
          </a:p>
          <a:p>
            <a:r>
              <a:rPr lang="en-US" dirty="0"/>
              <a:t>- Edge cases can expose weaknesses</a:t>
            </a:r>
          </a:p>
          <a:p>
            <a:r>
              <a:rPr lang="en-US" dirty="0"/>
              <a:t>- Potential security risks need careful consideration</a:t>
            </a:r>
          </a:p>
          <a:p>
            <a:endParaRPr lang="en-US" dirty="0"/>
          </a:p>
          <a:p>
            <a:r>
              <a:rPr lang="en-US" dirty="0"/>
              <a:t>4. Efficiency Issues</a:t>
            </a:r>
          </a:p>
          <a:p>
            <a:r>
              <a:rPr lang="en-US" dirty="0"/>
              <a:t>- Risk of overcomplicating simple tasks</a:t>
            </a:r>
          </a:p>
          <a:p>
            <a:r>
              <a:rPr lang="en-US" dirty="0"/>
              <a:t>- May add unnecessary complexity to straightforward processes</a:t>
            </a:r>
          </a:p>
          <a:p>
            <a:endParaRPr lang="en-US" dirty="0"/>
          </a:p>
          <a:p>
            <a:r>
              <a:rPr lang="en-US" b="1" dirty="0"/>
              <a:t>EDUCATOR NOTES:</a:t>
            </a:r>
          </a:p>
          <a:p>
            <a:endParaRPr lang="en-US" dirty="0"/>
          </a:p>
          <a:p>
            <a:r>
              <a:rPr lang="en-US" dirty="0"/>
              <a:t>”Now, we'll explore the key limitations of AI agents that developers and organizations need to consider. The first major challenge is the requirement for complex models - you can't simply use basic LLMs and expect optimal performance. This leads to higher costs and resource requirements.</a:t>
            </a:r>
          </a:p>
          <a:p>
            <a:endParaRPr lang="en-US" dirty="0"/>
          </a:p>
          <a:p>
            <a:r>
              <a:rPr lang="en-US" dirty="0"/>
              <a:t>We also face significant challenges with abstraction levels. While abstraction can be helpful, it makes troubleshooting and debugging much more difficult. Think of it like trying to fix a car engine when you can't see all the moving parts.</a:t>
            </a:r>
          </a:p>
          <a:p>
            <a:endParaRPr lang="en-US" dirty="0"/>
          </a:p>
          <a:p>
            <a:r>
              <a:rPr lang="en-US" dirty="0"/>
              <a:t>Security is another crucial concern. Our agents can be vulnerable to adversarial examples, which could potentially compromise system security. This is particularly important in production environments.</a:t>
            </a:r>
          </a:p>
          <a:p>
            <a:endParaRPr lang="en-US" dirty="0"/>
          </a:p>
          <a:p>
            <a:r>
              <a:rPr lang="en-US" dirty="0"/>
              <a:t>Finally, there's the irony that agents might actually overcomplicate simple tasks. Sometimes, a straightforward solution is better than an agent-based approach.</a:t>
            </a:r>
          </a:p>
          <a:p>
            <a:endParaRPr lang="en-US" dirty="0"/>
          </a:p>
          <a:p>
            <a:r>
              <a:rPr lang="en-US" dirty="0"/>
              <a:t>Remember, understanding these limitations is crucial for making informed decisions about when and how to implement agent-based solutions."</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1450801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5AF8-783C-36A6-EB95-1E921F7E9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81AAA-E924-3246-CBFF-93D134F4D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55E06-3B80-428C-561B-41086484B3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22962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Breaking Down a Question-Answering Process</a:t>
            </a:r>
          </a:p>
          <a:p>
            <a:r>
              <a:rPr lang="en-US" dirty="0"/>
              <a:t>Sample Question: "What is the age of the current U.S. president today?"</a:t>
            </a:r>
          </a:p>
          <a:p>
            <a:endParaRPr lang="en-US" dirty="0"/>
          </a:p>
          <a:p>
            <a:r>
              <a:rPr lang="en-US" dirty="0"/>
              <a:t>Step-by-Step Process:</a:t>
            </a:r>
          </a:p>
          <a:p>
            <a:r>
              <a:rPr lang="en-US" dirty="0"/>
              <a:t>1. Date Identification</a:t>
            </a:r>
          </a:p>
          <a:p>
            <a:r>
              <a:rPr lang="en-US" dirty="0"/>
              <a:t>   - First action: Determine current date</a:t>
            </a:r>
          </a:p>
          <a:p>
            <a:r>
              <a:rPr lang="en-US" dirty="0"/>
              <a:t>   - Critical for age calculation accuracy</a:t>
            </a:r>
          </a:p>
          <a:p>
            <a:endParaRPr lang="en-US" dirty="0"/>
          </a:p>
          <a:p>
            <a:r>
              <a:rPr lang="en-US" dirty="0"/>
              <a:t>2. President Identification</a:t>
            </a:r>
          </a:p>
          <a:p>
            <a:r>
              <a:rPr lang="en-US" dirty="0"/>
              <a:t>   - Identify current U.S. president</a:t>
            </a:r>
          </a:p>
          <a:p>
            <a:r>
              <a:rPr lang="en-US" dirty="0"/>
              <a:t>   - Verify against current date</a:t>
            </a:r>
          </a:p>
          <a:p>
            <a:endParaRPr lang="en-US" dirty="0"/>
          </a:p>
          <a:p>
            <a:r>
              <a:rPr lang="en-US" dirty="0"/>
              <a:t>3. Birth Date Research</a:t>
            </a:r>
          </a:p>
          <a:p>
            <a:r>
              <a:rPr lang="en-US" dirty="0"/>
              <a:t>   - Locate president's date of birth</a:t>
            </a:r>
          </a:p>
          <a:p>
            <a:r>
              <a:rPr lang="en-US" dirty="0"/>
              <a:t>   - Ensure accuracy of your source document. </a:t>
            </a:r>
          </a:p>
          <a:p>
            <a:r>
              <a:rPr lang="en-US" dirty="0"/>
              <a:t>   - Age Calculation: Calculate time difference from birth date to present</a:t>
            </a:r>
          </a:p>
          <a:p>
            <a:endParaRPr lang="en-US" dirty="0"/>
          </a:p>
          <a:p>
            <a:r>
              <a:rPr lang="en-US" dirty="0"/>
              <a:t>5. Format Conversion</a:t>
            </a:r>
          </a:p>
          <a:p>
            <a:r>
              <a:rPr lang="en-US" dirty="0"/>
              <a:t>   - Convert raw calculation</a:t>
            </a:r>
          </a:p>
          <a:p>
            <a:r>
              <a:rPr lang="en-US" dirty="0"/>
              <a:t>   - Express in years, months, and days</a:t>
            </a:r>
          </a:p>
          <a:p>
            <a:endParaRPr lang="en-US" dirty="0"/>
          </a:p>
          <a:p>
            <a:r>
              <a:rPr lang="en-US" dirty="0"/>
              <a:t>6. Response Formulation</a:t>
            </a:r>
          </a:p>
          <a:p>
            <a:r>
              <a:rPr lang="en-US" dirty="0"/>
              <a:t>   - Construct clear answer</a:t>
            </a:r>
          </a:p>
          <a:p>
            <a:r>
              <a:rPr lang="en-US" dirty="0"/>
              <a:t>   - Provide to questioner</a:t>
            </a:r>
          </a:p>
          <a:p>
            <a:endParaRPr lang="en-US" dirty="0"/>
          </a:p>
          <a:p>
            <a:r>
              <a:rPr lang="en-US" b="1" dirty="0"/>
              <a:t>EDUCATOR NOTES:</a:t>
            </a:r>
          </a:p>
          <a:p>
            <a:endParaRPr lang="en-US" dirty="0"/>
          </a:p>
          <a:p>
            <a:r>
              <a:rPr lang="en-US" dirty="0"/>
              <a:t>"When presenting this slide, emphasize how this systematic approach ensures accuracy and completeness in answering questions. Point out that this methodology can be applied to various types of factual queries, not just age-related questions. Highlight the importance of each step and how skipping any step could lead to incomplete or incorrect answers. You might want to demonstrate this process with a live example to show its practical application. Remember to mention that verification of information sources is crucial for maintaining accuracy."</a:t>
            </a:r>
          </a:p>
          <a:p>
            <a:endParaRPr lang="en-US" dirty="0"/>
          </a:p>
          <a:p>
            <a:r>
              <a:rPr lang="en-US" dirty="0"/>
              <a:t>This structured approach helps demonstrate professional question-answering methodology in a clear, organized manner.</a:t>
            </a:r>
          </a:p>
          <a:p>
            <a:endParaRPr lang="en-US" dirty="0"/>
          </a:p>
          <a:p>
            <a:r>
              <a:rPr lang="en-US" dirty="0"/>
              <a:t>Discuss with your students how a traditional LLM would solve this.</a:t>
            </a:r>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1763569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"Example: WITHOUT agents"</a:t>
            </a:r>
          </a:p>
          <a:p>
            <a:endParaRPr lang="en-US" dirty="0"/>
          </a:p>
          <a:p>
            <a:r>
              <a:rPr lang="en-US" dirty="0"/>
              <a:t>Key Points:</a:t>
            </a:r>
          </a:p>
          <a:p>
            <a:r>
              <a:rPr lang="en-US" dirty="0"/>
              <a:t>1. Limitations of Standard LLMs</a:t>
            </a:r>
          </a:p>
          <a:p>
            <a:r>
              <a:rPr lang="en-US" dirty="0"/>
              <a:t>- Traditional LLM responses tend to be inaccurate/not useful for certain queries</a:t>
            </a:r>
          </a:p>
          <a:p>
            <a:endParaRPr lang="en-US" dirty="0"/>
          </a:p>
          <a:p>
            <a:r>
              <a:rPr lang="en-US" dirty="0"/>
              <a:t>2. Alternative Testing Approach</a:t>
            </a:r>
          </a:p>
          <a:p>
            <a:r>
              <a:rPr lang="en-US" dirty="0"/>
              <a:t>- Recommendation to test questions using alternative LLMs</a:t>
            </a:r>
          </a:p>
          <a:p>
            <a:r>
              <a:rPr lang="en-US" dirty="0"/>
              <a:t>- Specifically mentions: Mistral, Llama, Claude</a:t>
            </a:r>
          </a:p>
          <a:p>
            <a:r>
              <a:rPr lang="en-US" dirty="0"/>
              <a:t>- Testing platform: Amazon Bedrock Chat</a:t>
            </a:r>
          </a:p>
          <a:p>
            <a:endParaRPr lang="en-US" dirty="0"/>
          </a:p>
          <a:p>
            <a:r>
              <a:rPr lang="en-US" dirty="0"/>
              <a:t>3. Case Study</a:t>
            </a:r>
          </a:p>
          <a:p>
            <a:r>
              <a:rPr lang="en-US" dirty="0"/>
              <a:t>- Shows Mistral Large's response from October 2024</a:t>
            </a:r>
          </a:p>
          <a:p>
            <a:r>
              <a:rPr lang="en-US" dirty="0"/>
              <a:t>- Demonstrates model's self-awareness of limitations</a:t>
            </a:r>
          </a:p>
          <a:p>
            <a:r>
              <a:rPr lang="en-US" dirty="0"/>
              <a:t>- Highlights how the model acknowledges its inability to provide real-time data</a:t>
            </a:r>
          </a:p>
          <a:p>
            <a:endParaRPr lang="en-US" b="1" dirty="0"/>
          </a:p>
          <a:p>
            <a:r>
              <a:rPr lang="en-US" b="1" dirty="0"/>
              <a:t>EDUCATOR NOTES:</a:t>
            </a:r>
          </a:p>
          <a:p>
            <a:endParaRPr lang="en-US" dirty="0"/>
          </a:p>
          <a:p>
            <a:r>
              <a:rPr lang="en-US" dirty="0"/>
              <a:t>"In this slide, we're examining a key example of LLM behavior without agents. What's particularly interesting here is how standard LLMs often struggle with certain types of questions, producing responses that may not be helpful or accurate. </a:t>
            </a:r>
          </a:p>
          <a:p>
            <a:endParaRPr lang="en-US" dirty="0"/>
          </a:p>
          <a:p>
            <a:r>
              <a:rPr lang="en-US" dirty="0"/>
              <a:t>The slide demonstrates this through a real example from Mistral Large, where the model openly acknowledges its limitations regarding real-time data. This transparency is actually a positive feature - it's better for an AI to admit its limitations than to provide potentially incorrect information.</a:t>
            </a:r>
          </a:p>
          <a:p>
            <a:endParaRPr lang="en-US" dirty="0"/>
          </a:p>
          <a:p>
            <a:r>
              <a:rPr lang="en-US" dirty="0"/>
              <a:t>When presenting this slide, emphasize how this example shows both the current limitations of LLMs and the importance of understanding these limitations when implementing AI solutions. It's also worth noting that the suggestion to try different models through Amazon Bedrock Chat represents a practical approach to testing and comparing LLM capabilities.</a:t>
            </a:r>
          </a:p>
          <a:p>
            <a:endParaRPr lang="en-US" dirty="0"/>
          </a:p>
          <a:p>
            <a:r>
              <a:rPr lang="en-US" dirty="0"/>
              <a:t>Remember to highlight that this is precisely why we need to consider different approaches and potentially look at agent-based solutions for more accurate and real-time responses."</a:t>
            </a:r>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3771800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Previous slide:</a:t>
            </a:r>
          </a:p>
          <a:p>
            <a:r>
              <a:rPr lang="en-US" dirty="0"/>
              <a:t>1. WITHOUT Agents:</a:t>
            </a:r>
          </a:p>
          <a:p>
            <a:r>
              <a:rPr lang="en-US" dirty="0"/>
              <a:t>- Standard LLMs produce inaccurate/non-useful answers</a:t>
            </a:r>
          </a:p>
          <a:p>
            <a:r>
              <a:rPr lang="en-US" dirty="0"/>
              <a:t>- Testing suggested with various LLMs (Mistral, Llama, Claude) via Amazon Bedrock Chat</a:t>
            </a:r>
          </a:p>
          <a:p>
            <a:r>
              <a:rPr lang="en-US" dirty="0"/>
              <a:t>- Example shows Mistral Large acknowledging its limitations with real-time data</a:t>
            </a:r>
          </a:p>
          <a:p>
            <a:r>
              <a:rPr lang="en-US" dirty="0"/>
              <a:t>- Current limitation: Cannot provide dynamic/real-time calculations</a:t>
            </a:r>
          </a:p>
          <a:p>
            <a:endParaRPr lang="en-US" dirty="0"/>
          </a:p>
          <a:p>
            <a:r>
              <a:rPr lang="en-US" dirty="0"/>
              <a:t>Current slide:</a:t>
            </a:r>
          </a:p>
          <a:p>
            <a:r>
              <a:rPr lang="en-US" dirty="0"/>
              <a:t>2. WITH Agents:</a:t>
            </a:r>
          </a:p>
          <a:p>
            <a:r>
              <a:rPr lang="en-US" dirty="0"/>
              <a:t>- Introduces </a:t>
            </a:r>
            <a:r>
              <a:rPr lang="en-US" dirty="0" err="1"/>
              <a:t>ReAct</a:t>
            </a:r>
            <a:r>
              <a:rPr lang="en-US" dirty="0"/>
              <a:t> technique implementation</a:t>
            </a:r>
          </a:p>
          <a:p>
            <a:r>
              <a:rPr lang="en-US" dirty="0"/>
              <a:t>- Process includes:</a:t>
            </a:r>
          </a:p>
          <a:p>
            <a:r>
              <a:rPr lang="en-US" dirty="0"/>
              <a:t>  * Automated plan generation</a:t>
            </a:r>
          </a:p>
          <a:p>
            <a:r>
              <a:rPr lang="en-US" dirty="0"/>
              <a:t>  * Systematic plan execution</a:t>
            </a:r>
          </a:p>
          <a:p>
            <a:r>
              <a:rPr lang="en-US" dirty="0"/>
              <a:t>  * Real-time accurate responses</a:t>
            </a:r>
          </a:p>
          <a:p>
            <a:r>
              <a:rPr lang="en-US" dirty="0"/>
              <a:t>- Key advantage: No need for additional code/training/deployment</a:t>
            </a:r>
          </a:p>
          <a:p>
            <a:r>
              <a:rPr lang="en-US" dirty="0"/>
              <a:t>- Capable of handling dynamic date-based queries</a:t>
            </a:r>
          </a:p>
          <a:p>
            <a:endParaRPr lang="en-US" dirty="0"/>
          </a:p>
          <a:p>
            <a:r>
              <a:rPr lang="en-US" dirty="0"/>
              <a:t>Comparison Points:</a:t>
            </a:r>
          </a:p>
          <a:p>
            <a:r>
              <a:rPr lang="en-US" dirty="0"/>
              <a:t>- Without agents: Static responses with acknowledged limitations</a:t>
            </a:r>
          </a:p>
          <a:p>
            <a:r>
              <a:rPr lang="en-US" dirty="0"/>
              <a:t>- With agents: Dynamic, adaptive responses with real-time processing capability</a:t>
            </a:r>
          </a:p>
          <a:p>
            <a:endParaRPr lang="en-US" dirty="0"/>
          </a:p>
          <a:p>
            <a:r>
              <a:rPr lang="en-US" dirty="0"/>
              <a:t>EDUCATOR NOTES:</a:t>
            </a:r>
          </a:p>
          <a:p>
            <a:r>
              <a:rPr lang="en-US" dirty="0"/>
              <a:t>"These couple of slides present a compelling contrast between LLM implementations with and without agents. </a:t>
            </a:r>
          </a:p>
          <a:p>
            <a:endParaRPr lang="en-US" dirty="0"/>
          </a:p>
          <a:p>
            <a:r>
              <a:rPr lang="en-US" dirty="0"/>
              <a:t>When recalling the first slide, emphasize how traditional LLMs openly acknowledge their limitations - as shown in the Mistral example. This transparency, while honest, highlights a significant limitation in real-world applications.</a:t>
            </a:r>
          </a:p>
          <a:p>
            <a:endParaRPr lang="en-US" dirty="0"/>
          </a:p>
          <a:p>
            <a:r>
              <a:rPr lang="en-US" dirty="0"/>
              <a:t>For the second slide, focus on how the </a:t>
            </a:r>
            <a:r>
              <a:rPr lang="en-US" dirty="0" err="1"/>
              <a:t>ReAct</a:t>
            </a:r>
            <a:r>
              <a:rPr lang="en-US" dirty="0"/>
              <a:t> technique transforms this limitation into a strength. The key message here is that agents provide a systematic approach to problem-solving that traditional LLMs can't match. The ability to generate and execute plans automatically makes this solution particularly powerful for real-time queries.</a:t>
            </a:r>
          </a:p>
          <a:p>
            <a:endParaRPr lang="en-US" dirty="0"/>
          </a:p>
          <a:p>
            <a:r>
              <a:rPr lang="en-US" dirty="0"/>
              <a:t>A crucial point to emphasize is the practical implication: while traditional LLMs might suggest using external tools like calculators or search engines, agent-based systems can handle these calculations internally and automatically update responses based on current dates.</a:t>
            </a:r>
          </a:p>
          <a:p>
            <a:endParaRPr lang="en-US" dirty="0"/>
          </a:p>
          <a:p>
            <a:r>
              <a:rPr lang="en-US" dirty="0"/>
              <a:t>Remember to highlight that this isn't just about technical capability - it's about providing better, more accurate user experiences without requiring constant updates or modifications to the underlying system. The agent-based approach represents a more sustainable and scalable solution for dynamic content handling."</a:t>
            </a:r>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1297085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Tools Available:</a:t>
            </a:r>
          </a:p>
          <a:p>
            <a:r>
              <a:rPr lang="en-US" dirty="0"/>
              <a:t>   - Wikipedia tool</a:t>
            </a:r>
          </a:p>
          <a:p>
            <a:r>
              <a:rPr lang="en-US" dirty="0"/>
              <a:t>   - Web search tool</a:t>
            </a:r>
          </a:p>
          <a:p>
            <a:r>
              <a:rPr lang="en-US" dirty="0"/>
              <a:t>   - Date tool (today())</a:t>
            </a:r>
          </a:p>
          <a:p>
            <a:r>
              <a:rPr lang="en-US" dirty="0"/>
              <a:t>   - Calculator tool</a:t>
            </a:r>
          </a:p>
          <a:p>
            <a:r>
              <a:rPr lang="en-US" dirty="0"/>
              <a:t>   - Python interpreter tool</a:t>
            </a:r>
          </a:p>
          <a:p>
            <a:endParaRPr lang="en-US" dirty="0"/>
          </a:p>
          <a:p>
            <a:r>
              <a:rPr lang="en-US" dirty="0"/>
              <a:t>2. Functional Structure:</a:t>
            </a:r>
          </a:p>
          <a:p>
            <a:r>
              <a:rPr lang="en-US" dirty="0"/>
              <a:t>   - All tools connect to a central "Search and select tool" component</a:t>
            </a:r>
          </a:p>
          <a:p>
            <a:r>
              <a:rPr lang="en-US" dirty="0"/>
              <a:t>   - The tools are used to answer specific queries</a:t>
            </a:r>
          </a:p>
          <a:p>
            <a:r>
              <a:rPr lang="en-US" dirty="0"/>
              <a:t>   - Example question shown: "What is the age of the current U.S. president today?"</a:t>
            </a:r>
          </a:p>
          <a:p>
            <a:endParaRPr lang="en-US" dirty="0"/>
          </a:p>
          <a:p>
            <a:r>
              <a:rPr lang="en-US" dirty="0"/>
              <a:t>3. Tool Integration:</a:t>
            </a:r>
          </a:p>
          <a:p>
            <a:r>
              <a:rPr lang="en-US" dirty="0"/>
              <a:t>   - Tools work in conjunction with each other</a:t>
            </a:r>
          </a:p>
          <a:p>
            <a:r>
              <a:rPr lang="en-US" dirty="0"/>
              <a:t>   - Organized in a top-down flow diagram</a:t>
            </a:r>
          </a:p>
          <a:p>
            <a:r>
              <a:rPr lang="en-US" dirty="0"/>
              <a:t>   - Demonstrates practical application through a real-world question</a:t>
            </a:r>
          </a:p>
          <a:p>
            <a:endParaRPr lang="en-US" b="1" dirty="0"/>
          </a:p>
          <a:p>
            <a:r>
              <a:rPr lang="en-US" b="1" dirty="0"/>
              <a:t>EDUCATOR NOTES: </a:t>
            </a:r>
          </a:p>
          <a:p>
            <a:endParaRPr lang="en-US" b="1" dirty="0"/>
          </a:p>
          <a:p>
            <a:r>
              <a:rPr lang="en-US" dirty="0"/>
              <a:t>"In this first slide, we're introducing the concept of AI agents equipped with various tools. We can see five primary tools that an agent can utilize to process and respond to queries. The diagram shows how these tools are coordinated through a central search and select mechanism, which helps choose the most appropriate tool(s) for answering specific questions. The example question about the U.S. president's age demonstrates how these tools might work together - potentially using the web search tool for birth date information, the date tool for current date, and the calculator for age computation. This represents the foundation of how AI agents can leverage multiple tools to provide accurate and up-to-date information."</a:t>
            </a:r>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3059216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Central Tool Selection Change:</a:t>
            </a:r>
          </a:p>
          <a:p>
            <a:r>
              <a:rPr lang="en-US" dirty="0"/>
              <a:t>   - "Search and select tool" has been replaced with "Date search"</a:t>
            </a:r>
          </a:p>
          <a:p>
            <a:r>
              <a:rPr lang="en-US" dirty="0"/>
              <a:t>   - This indicates the agent has determined that date-related information is needed first</a:t>
            </a:r>
          </a:p>
          <a:p>
            <a:endParaRPr lang="en-US" dirty="0"/>
          </a:p>
          <a:p>
            <a:r>
              <a:rPr lang="en-US" dirty="0"/>
              <a:t>2. Agent Thought Process:</a:t>
            </a:r>
          </a:p>
          <a:p>
            <a:r>
              <a:rPr lang="en-US" dirty="0"/>
              <a:t>   - A thought bubble has been added showing "Today is..."</a:t>
            </a:r>
          </a:p>
          <a:p>
            <a:r>
              <a:rPr lang="en-US" dirty="0"/>
              <a:t>   - This visualization demonstrates that the agent is beginning its problem-solving process by establishing the current date</a:t>
            </a:r>
          </a:p>
          <a:p>
            <a:endParaRPr lang="en-US" dirty="0"/>
          </a:p>
          <a:p>
            <a:r>
              <a:rPr lang="en-US" dirty="0"/>
              <a:t>3. Visual Flow Evolution:</a:t>
            </a:r>
          </a:p>
          <a:p>
            <a:r>
              <a:rPr lang="en-US" dirty="0"/>
              <a:t>   - The basic structure remains the same</a:t>
            </a:r>
          </a:p>
          <a:p>
            <a:r>
              <a:rPr lang="en-US" dirty="0"/>
              <a:t>   - The Date tool (today()) is highlighted in a different color (pink instead of purple)</a:t>
            </a:r>
          </a:p>
          <a:p>
            <a:r>
              <a:rPr lang="en-US" dirty="0"/>
              <a:t>   - This suggests the agent has selected this specific tool for the first step</a:t>
            </a:r>
          </a:p>
          <a:p>
            <a:endParaRPr lang="en-US" dirty="0"/>
          </a:p>
          <a:p>
            <a:r>
              <a:rPr lang="en-US" dirty="0"/>
              <a:t>This slide shows the first logical step in solving the age calculation problem - determining today's date before proceeding with other required information gathering.</a:t>
            </a:r>
          </a:p>
          <a:p>
            <a:endParaRPr lang="en-US" dirty="0"/>
          </a:p>
          <a:p>
            <a:r>
              <a:rPr lang="en-US" b="1" dirty="0"/>
              <a:t>EDUCATOR NOTES:</a:t>
            </a:r>
          </a:p>
          <a:p>
            <a:endParaRPr lang="en-US" b="1" dirty="0"/>
          </a:p>
          <a:p>
            <a:r>
              <a:rPr lang="en-US" b="0" dirty="0"/>
              <a:t>"In this second slide, we can see how the agent begins to break down the problem methodically. The first step in calculating someone's age is to establish today's date as our reference point. Notice how the central component has changed from a general 'Search and select tool' to specifically 'Date search,' showing the agent's focused approach to solving the problem.</a:t>
            </a:r>
          </a:p>
          <a:p>
            <a:endParaRPr lang="en-US" b="0" dirty="0"/>
          </a:p>
          <a:p>
            <a:r>
              <a:rPr lang="en-US" b="0" dirty="0"/>
              <a:t>The Date tool is now highlighted in pink, indicating it's the active tool being used at this stage. You can see the agent's thought process visualized through the thought bubble containing 'Today is...' - this represents the first logical step in our calculation.</a:t>
            </a:r>
          </a:p>
          <a:p>
            <a:endParaRPr lang="en-US" b="0" dirty="0"/>
          </a:p>
          <a:p>
            <a:r>
              <a:rPr lang="en-US" b="0" dirty="0"/>
              <a:t>This step-by-step approach demonstrates how AI agents don't just jump to conclusions but rather break down complex questions into manageable components. In this case, before we can calculate the president's age, we need two pieces of information: today's date and their birth date. We're seeing the agent tackle the first of these requirements.</a:t>
            </a:r>
          </a:p>
          <a:p>
            <a:endParaRPr lang="en-US" b="0" dirty="0"/>
          </a:p>
          <a:p>
            <a:r>
              <a:rPr lang="en-US" b="0" dirty="0"/>
              <a:t>The other tools remain available but inactive at this stage, as they'll be needed for subsequent steps in the problem-solving process. This methodical approach ensures accuracy and reliability in the agent's response."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1678473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Central Tool Change:</a:t>
            </a:r>
          </a:p>
          <a:p>
            <a:r>
              <a:rPr lang="en-US" dirty="0"/>
              <a:t>   - "Date search" has been replaced with "Web tool"</a:t>
            </a:r>
          </a:p>
          <a:p>
            <a:r>
              <a:rPr lang="en-US" dirty="0"/>
              <a:t>   - The agent has moved to the next logical step in the process</a:t>
            </a:r>
          </a:p>
          <a:p>
            <a:endParaRPr lang="en-US" dirty="0"/>
          </a:p>
          <a:p>
            <a:r>
              <a:rPr lang="en-US" dirty="0"/>
              <a:t>2. Tool Highlighting:</a:t>
            </a:r>
          </a:p>
          <a:p>
            <a:r>
              <a:rPr lang="en-US" dirty="0"/>
              <a:t>   - Web search tool is now highlighted in pink</a:t>
            </a:r>
          </a:p>
          <a:p>
            <a:r>
              <a:rPr lang="en-US" dirty="0"/>
              <a:t>   - Date tool has returned to its original purple color</a:t>
            </a:r>
          </a:p>
          <a:p>
            <a:r>
              <a:rPr lang="en-US" dirty="0"/>
              <a:t>   - Indicates the shift in active tool being used</a:t>
            </a:r>
          </a:p>
          <a:p>
            <a:endParaRPr lang="en-US" dirty="0"/>
          </a:p>
          <a:p>
            <a:r>
              <a:rPr lang="en-US" dirty="0"/>
              <a:t>3. Agent Thought Process Evolution:</a:t>
            </a:r>
          </a:p>
          <a:p>
            <a:r>
              <a:rPr lang="en-US" dirty="0"/>
              <a:t>   - Thought bubble content has changed from "Today is..." to "President of the USA today is..."</a:t>
            </a:r>
          </a:p>
          <a:p>
            <a:r>
              <a:rPr lang="en-US" dirty="0"/>
              <a:t>   - Shows progression in information gathering</a:t>
            </a:r>
          </a:p>
          <a:p>
            <a:r>
              <a:rPr lang="en-US" dirty="0"/>
              <a:t>   - Demonstrates the agent is now seeking to identify the current president</a:t>
            </a:r>
          </a:p>
          <a:p>
            <a:endParaRPr lang="en-US" dirty="0"/>
          </a:p>
          <a:p>
            <a:r>
              <a:rPr lang="en-US" dirty="0"/>
              <a:t>Changes in Information Flow:</a:t>
            </a:r>
          </a:p>
          <a:p>
            <a:r>
              <a:rPr lang="en-US" dirty="0"/>
              <a:t>- After establishing the current date, the agent is now working to identify who currently holds the presidential office</a:t>
            </a:r>
          </a:p>
          <a:p>
            <a:r>
              <a:rPr lang="en-US" dirty="0"/>
              <a:t>- This represents the second key piece of information needed before birth date can be determined</a:t>
            </a:r>
          </a:p>
          <a:p>
            <a:endParaRPr lang="en-US" dirty="0"/>
          </a:p>
          <a:p>
            <a:r>
              <a:rPr lang="en-US" b="1" dirty="0"/>
              <a:t>EDUCATOR NOTES:</a:t>
            </a:r>
          </a:p>
          <a:p>
            <a:endParaRPr lang="en-US" dirty="0"/>
          </a:p>
          <a:p>
            <a:r>
              <a:rPr lang="en-US" dirty="0"/>
              <a:t>"Moving to our third slide, we can see the agent progressing to the next logical step in solving our question. Having established today's date, the agent now needs to identify who the current U.S. President is. Notice how the Web search tool is now highlighted in pink, indicating it's the active tool for this stage.</a:t>
            </a:r>
          </a:p>
          <a:p>
            <a:endParaRPr lang="en-US" dirty="0"/>
          </a:p>
          <a:p>
            <a:r>
              <a:rPr lang="en-US" dirty="0"/>
              <a:t>The agent's thought process, shown in the bubble, has evolved from determining the date to identifying the current president. This is a crucial intermediate step - we need to know who the president is before we can find their birth date. The Web tool has been selected as the most appropriate tool for this task, as it can provide the most up-to-date information about the current presidency.</a:t>
            </a:r>
          </a:p>
          <a:p>
            <a:endParaRPr lang="en-US" dirty="0"/>
          </a:p>
          <a:p>
            <a:r>
              <a:rPr lang="en-US" dirty="0"/>
              <a:t>This sequential approach continues to demonstrate how AI agents break down complex queries into manageable steps, ensuring accuracy in the final response. The other tools remain available but inactive, waiting for potential use in subsequent steps of the problem-solving process."</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357479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Central Tool Change:</a:t>
            </a:r>
          </a:p>
          <a:p>
            <a:r>
              <a:rPr lang="en-US" dirty="0"/>
              <a:t>   - "Web tool" has been replaced with "Wikipedia search"</a:t>
            </a:r>
          </a:p>
          <a:p>
            <a:r>
              <a:rPr lang="en-US" dirty="0"/>
              <a:t>   - Shows progression to a more specific source of information</a:t>
            </a:r>
          </a:p>
          <a:p>
            <a:endParaRPr lang="en-US" dirty="0"/>
          </a:p>
          <a:p>
            <a:r>
              <a:rPr lang="en-US" dirty="0"/>
              <a:t>2. Tool Highlighting:</a:t>
            </a:r>
          </a:p>
          <a:p>
            <a:r>
              <a:rPr lang="en-US" dirty="0"/>
              <a:t>   - Wikipedia tool is now highlighted in pink</a:t>
            </a:r>
          </a:p>
          <a:p>
            <a:r>
              <a:rPr lang="en-US" dirty="0"/>
              <a:t>   - Web search tool has returned to purple</a:t>
            </a:r>
          </a:p>
          <a:p>
            <a:r>
              <a:rPr lang="en-US" dirty="0"/>
              <a:t>   - Indicates transition to using Wikipedia as the primary tool</a:t>
            </a:r>
          </a:p>
          <a:p>
            <a:endParaRPr lang="en-US" dirty="0"/>
          </a:p>
          <a:p>
            <a:r>
              <a:rPr lang="en-US" dirty="0"/>
              <a:t>3. Agent Thought Process Evolution:</a:t>
            </a:r>
          </a:p>
          <a:p>
            <a:r>
              <a:rPr lang="en-US" dirty="0"/>
              <a:t>   - Thought bubble content has changed from "President of the USA today is..." to "That person was born on..."</a:t>
            </a:r>
          </a:p>
          <a:p>
            <a:r>
              <a:rPr lang="en-US" dirty="0"/>
              <a:t>   - Shows the agent is now searching for birth date information</a:t>
            </a:r>
          </a:p>
          <a:p>
            <a:r>
              <a:rPr lang="en-US" dirty="0"/>
              <a:t>   - Indicates successful identification of current president and moving to next data point</a:t>
            </a:r>
          </a:p>
          <a:p>
            <a:endParaRPr lang="en-US" dirty="0"/>
          </a:p>
          <a:p>
            <a:r>
              <a:rPr lang="en-US" dirty="0"/>
              <a:t>4. Sequential Logic:</a:t>
            </a:r>
          </a:p>
          <a:p>
            <a:r>
              <a:rPr lang="en-US" dirty="0"/>
              <a:t>   - After identifying the current president via web search</a:t>
            </a:r>
          </a:p>
          <a:p>
            <a:r>
              <a:rPr lang="en-US" dirty="0"/>
              <a:t>   - Moving to Wikipedia for detailed biographical information</a:t>
            </a:r>
          </a:p>
          <a:p>
            <a:r>
              <a:rPr lang="en-US" dirty="0"/>
              <a:t>   - Specifically seeking birth date information</a:t>
            </a:r>
          </a:p>
          <a:p>
            <a:endParaRPr lang="en-US" dirty="0"/>
          </a:p>
          <a:p>
            <a:r>
              <a:rPr lang="en-US" b="1" dirty="0"/>
              <a:t>EDUCATOR NOTES:</a:t>
            </a:r>
          </a:p>
          <a:p>
            <a:endParaRPr lang="en-US" dirty="0"/>
          </a:p>
          <a:p>
            <a:r>
              <a:rPr lang="en-US" dirty="0"/>
              <a:t>"In this fourth slide, we see the agent moving to the next logical step in our age calculation process. Having identified the current president through the web search tool, the agent now turns to Wikipedia as a reliable source for biographical information, specifically the president's birth date.</a:t>
            </a:r>
          </a:p>
          <a:p>
            <a:endParaRPr lang="en-US" dirty="0"/>
          </a:p>
          <a:p>
            <a:r>
              <a:rPr lang="en-US" dirty="0"/>
              <a:t>Notice how the Wikipedia tool is now highlighted in pink, indicating it's the active tool. This is a strategic choice - while the web search tool was best for confirming current information, Wikipedia is ideal for established biographical data like birth dates. The agent's thought bubble shows it's specifically seeking birth date information, which is the last piece of data needed before we can calculate the age.</a:t>
            </a:r>
          </a:p>
          <a:p>
            <a:endParaRPr lang="en-US" dirty="0"/>
          </a:p>
          <a:p>
            <a:r>
              <a:rPr lang="en-US" dirty="0"/>
              <a:t>This demonstrates the agent's ability to not only select the appropriate tool for each task but also to build upon previously gathered information in a logical sequence. We're now just one step away from having all the necessary data points for our age calculation."</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1895810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Central Tool Change:</a:t>
            </a:r>
          </a:p>
          <a:p>
            <a:r>
              <a:rPr lang="en-US" dirty="0"/>
              <a:t>   - "Wikipedia search" has changed to ”Age calculation"</a:t>
            </a:r>
          </a:p>
          <a:p>
            <a:r>
              <a:rPr lang="en-US" dirty="0"/>
              <a:t>   - Suggests using tools for calculation purposes</a:t>
            </a:r>
          </a:p>
          <a:p>
            <a:endParaRPr lang="en-US" dirty="0"/>
          </a:p>
          <a:p>
            <a:r>
              <a:rPr lang="en-US" dirty="0"/>
              <a:t>2. Tool Highlighting:</a:t>
            </a:r>
          </a:p>
          <a:p>
            <a:r>
              <a:rPr lang="en-US" dirty="0"/>
              <a:t>   - Calculator tool is now highlighted in pink</a:t>
            </a:r>
          </a:p>
          <a:p>
            <a:r>
              <a:rPr lang="en-US" dirty="0"/>
              <a:t>   - Wikipedia tool has returned to purple</a:t>
            </a:r>
          </a:p>
          <a:p>
            <a:r>
              <a:rPr lang="en-US" dirty="0"/>
              <a:t>   - Shows transition to calculation phase</a:t>
            </a:r>
          </a:p>
          <a:p>
            <a:endParaRPr lang="en-US" dirty="0"/>
          </a:p>
          <a:p>
            <a:r>
              <a:rPr lang="en-US" dirty="0"/>
              <a:t>3. Agent Thought Process Evolution:</a:t>
            </a:r>
          </a:p>
          <a:p>
            <a:r>
              <a:rPr lang="en-US" dirty="0"/>
              <a:t>   - Thought bubble now shows "20XX - 19XX in years, months, days is..."</a:t>
            </a:r>
          </a:p>
          <a:p>
            <a:r>
              <a:rPr lang="en-US" dirty="0"/>
              <a:t>   - Indicates the agent is performing the final age calculation</a:t>
            </a:r>
          </a:p>
          <a:p>
            <a:r>
              <a:rPr lang="en-US" dirty="0"/>
              <a:t>   - Using the birth date and current date information gathered previously</a:t>
            </a:r>
          </a:p>
          <a:p>
            <a:endParaRPr lang="en-US" dirty="0"/>
          </a:p>
          <a:p>
            <a:r>
              <a:rPr lang="en-US" dirty="0"/>
              <a:t>4. Calculation Focus:</a:t>
            </a:r>
          </a:p>
          <a:p>
            <a:r>
              <a:rPr lang="en-US" dirty="0"/>
              <a:t>   - Moving from data gathering to actual computation</a:t>
            </a:r>
          </a:p>
          <a:p>
            <a:r>
              <a:rPr lang="en-US" dirty="0"/>
              <a:t>   - Preparing to calculate the precise age including years, months, and days</a:t>
            </a:r>
          </a:p>
          <a:p>
            <a:r>
              <a:rPr lang="en-US" dirty="0"/>
              <a:t>   - Shows detailed level of accuracy in the planned response</a:t>
            </a:r>
          </a:p>
          <a:p>
            <a:endParaRPr lang="en-US" dirty="0"/>
          </a:p>
          <a:p>
            <a:r>
              <a:rPr lang="en-US" b="1" dirty="0"/>
              <a:t>EDUCATOR NOTES:</a:t>
            </a:r>
          </a:p>
          <a:p>
            <a:endParaRPr lang="en-US" dirty="0"/>
          </a:p>
          <a:p>
            <a:r>
              <a:rPr lang="en-US" dirty="0"/>
              <a:t>"In this fifth slide, we see the agent entering the final computational phase of our question. Having gathered all necessary data - today's date and the president's birth date - the agent is now preparing to calculate the exact age. Notice how the Calculator tool is highlighted in pink, indicating it's now the active tool for this phase.</a:t>
            </a:r>
          </a:p>
          <a:p>
            <a:endParaRPr lang="en-US" dirty="0"/>
          </a:p>
          <a:p>
            <a:r>
              <a:rPr lang="en-US" dirty="0"/>
              <a:t>The thought bubble shows the agent is preparing to perform a detailed calculation, not just in years, but including months and days for precise accuracy. This level of detail demonstrates how AI agents can provide comprehensive answers that go beyond simple calculations.”</a:t>
            </a:r>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2338988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In this final slide (6/6), the key addition is the "Assemble final answer" step and the inclusion of a response box showing "The answer to your question is X years, Y months, Z days" as the formatted output. This represents the culmination of the agent's process where it combines all the previously gathered information to provide a structured age calculation.</a:t>
            </a:r>
          </a:p>
          <a:p>
            <a:endParaRPr lang="en-US" dirty="0"/>
          </a:p>
          <a:p>
            <a:r>
              <a:rPr lang="en-US" dirty="0"/>
              <a:t>This differs from the previous slides which showed the progressive steps of:</a:t>
            </a:r>
          </a:p>
          <a:p>
            <a:r>
              <a:rPr lang="en-US" dirty="0"/>
              <a:t>1. Initial tool selection</a:t>
            </a:r>
          </a:p>
          <a:p>
            <a:r>
              <a:rPr lang="en-US" dirty="0"/>
              <a:t>2. Date checking</a:t>
            </a:r>
          </a:p>
          <a:p>
            <a:r>
              <a:rPr lang="en-US" dirty="0"/>
              <a:t>3. Web searching for current president</a:t>
            </a:r>
          </a:p>
          <a:p>
            <a:r>
              <a:rPr lang="en-US" dirty="0"/>
              <a:t>4. Wikipedia searching for birth date</a:t>
            </a:r>
          </a:p>
          <a:p>
            <a:r>
              <a:rPr lang="en-US" dirty="0"/>
              <a:t>5. Web searching for date calculations</a:t>
            </a:r>
          </a:p>
          <a:p>
            <a:endParaRPr lang="en-US" dirty="0"/>
          </a:p>
          <a:p>
            <a:r>
              <a:rPr lang="en-US" dirty="0"/>
              <a:t>The final slide demonstrates how the agent synthesizes all the collected data into a formatted response with specific year, month, and day values for the president's current age.</a:t>
            </a:r>
          </a:p>
          <a:p>
            <a:endParaRPr lang="en-US" b="1" dirty="0"/>
          </a:p>
          <a:p>
            <a:r>
              <a:rPr lang="en-US" b="1" dirty="0"/>
              <a:t>EDUCATOR NOTES: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final slide demonstrates how the agent synthesizes all the collected data into a formatted response with specific year, month, and day values for the president's current age.”</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20430143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react-lm.github.io/"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Agents</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3 – Lesson 4</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a:t>
            </a:r>
            <a:r>
              <a:rPr lang="en-US"/>
              <a:t>lesson 3</a:t>
            </a:r>
            <a:endParaRPr lang="en-US" dirty="0"/>
          </a:p>
          <a:p>
            <a:r>
              <a:rPr lang="en-US" dirty="0"/>
              <a:t>Tools and Agents</a:t>
            </a:r>
          </a:p>
          <a:p>
            <a:r>
              <a:rPr lang="en-US" dirty="0" err="1"/>
              <a:t>LangChain</a:t>
            </a:r>
            <a:r>
              <a:rPr lang="en-US" dirty="0"/>
              <a:t> Agents</a:t>
            </a:r>
          </a:p>
          <a:p>
            <a:r>
              <a:rPr lang="en-US" dirty="0"/>
              <a:t>Agentic workflow</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9D0E96-1D66-3331-7EC3-2B37718740F4}"/>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FC71A8F3-EDCC-3DA1-784B-4F66F9996B7A}"/>
              </a:ext>
            </a:extLst>
          </p:cNvPr>
          <p:cNvSpPr>
            <a:spLocks noGrp="1"/>
          </p:cNvSpPr>
          <p:nvPr>
            <p:ph type="title" idx="1"/>
          </p:nvPr>
        </p:nvSpPr>
        <p:spPr/>
        <p:txBody>
          <a:bodyPr/>
          <a:lstStyle/>
          <a:p>
            <a:r>
              <a:rPr lang="en-US" dirty="0"/>
              <a:t>Review: RAG architecture</a:t>
            </a:r>
          </a:p>
        </p:txBody>
      </p:sp>
      <p:pic>
        <p:nvPicPr>
          <p:cNvPr id="5" name="person" descr="Icon representing the user of the RAG system">
            <a:extLst>
              <a:ext uri="{FF2B5EF4-FFF2-40B4-BE49-F238E27FC236}">
                <a16:creationId xmlns:a16="http://schemas.microsoft.com/office/drawing/2014/main" id="{FEAF2F66-42D2-B7B5-139C-7DE8F85289F3}"/>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6" name="Group 5" descr="Query: Query from the user.">
            <a:extLst>
              <a:ext uri="{FF2B5EF4-FFF2-40B4-BE49-F238E27FC236}">
                <a16:creationId xmlns:a16="http://schemas.microsoft.com/office/drawing/2014/main" id="{E9A16840-DE82-B23A-C425-E54C44EF6416}"/>
              </a:ext>
            </a:extLst>
          </p:cNvPr>
          <p:cNvGrpSpPr/>
          <p:nvPr/>
        </p:nvGrpSpPr>
        <p:grpSpPr>
          <a:xfrm>
            <a:off x="300646" y="1597291"/>
            <a:ext cx="2126751" cy="1846318"/>
            <a:chOff x="300646" y="1597291"/>
            <a:chExt cx="2126751" cy="1846318"/>
          </a:xfrm>
        </p:grpSpPr>
        <p:sp>
          <p:nvSpPr>
            <p:cNvPr id="7" name="Rounded Rectangle 6" descr="This box appears above &quot;Query&quot; in the diagram.">
              <a:extLst>
                <a:ext uri="{FF2B5EF4-FFF2-40B4-BE49-F238E27FC236}">
                  <a16:creationId xmlns:a16="http://schemas.microsoft.com/office/drawing/2014/main" id="{D631B60A-E661-A816-41EE-C075DBF6C16E}"/>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8" name="Rounded Rectangle 7">
              <a:extLst>
                <a:ext uri="{FF2B5EF4-FFF2-40B4-BE49-F238E27FC236}">
                  <a16:creationId xmlns:a16="http://schemas.microsoft.com/office/drawing/2014/main" id="{B41C8283-8408-865B-4C02-18D27837D851}"/>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grpSp>
        <p:nvGrpSpPr>
          <p:cNvPr id="9" name="Group 8" descr="Embedding model: Convert query to embedding">
            <a:extLst>
              <a:ext uri="{FF2B5EF4-FFF2-40B4-BE49-F238E27FC236}">
                <a16:creationId xmlns:a16="http://schemas.microsoft.com/office/drawing/2014/main" id="{14AAABA8-7027-3E5E-D59D-D23A18481BE2}"/>
              </a:ext>
            </a:extLst>
          </p:cNvPr>
          <p:cNvGrpSpPr/>
          <p:nvPr/>
        </p:nvGrpSpPr>
        <p:grpSpPr>
          <a:xfrm>
            <a:off x="2548366" y="1597291"/>
            <a:ext cx="2126751" cy="1936762"/>
            <a:chOff x="2548366" y="1597291"/>
            <a:chExt cx="2126751" cy="1936762"/>
          </a:xfrm>
        </p:grpSpPr>
        <p:sp>
          <p:nvSpPr>
            <p:cNvPr id="10" name="Rounded Rectangle 9" descr="This box appears above &quot;Embedding Model&quot; in the diagram.">
              <a:extLst>
                <a:ext uri="{FF2B5EF4-FFF2-40B4-BE49-F238E27FC236}">
                  <a16:creationId xmlns:a16="http://schemas.microsoft.com/office/drawing/2014/main" id="{40F7A73F-F3CE-6AD9-2647-558DD729C8A9}"/>
                </a:ext>
              </a:extLst>
            </p:cNvPr>
            <p:cNvSpPr/>
            <p:nvPr/>
          </p:nvSpPr>
          <p:spPr>
            <a:xfrm>
              <a:off x="254836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Convert query to embedding</a:t>
              </a:r>
            </a:p>
          </p:txBody>
        </p:sp>
        <p:sp>
          <p:nvSpPr>
            <p:cNvPr id="11" name="Rounded Rectangle 10">
              <a:extLst>
                <a:ext uri="{FF2B5EF4-FFF2-40B4-BE49-F238E27FC236}">
                  <a16:creationId xmlns:a16="http://schemas.microsoft.com/office/drawing/2014/main" id="{E326CAA4-EB76-8645-ACF3-B98EC1D8B3EF}"/>
                </a:ext>
              </a:extLst>
            </p:cNvPr>
            <p:cNvSpPr/>
            <p:nvPr/>
          </p:nvSpPr>
          <p:spPr>
            <a:xfrm>
              <a:off x="2626996" y="2695026"/>
              <a:ext cx="1969490" cy="839027"/>
            </a:xfrm>
            <a:prstGeom prst="roundRect">
              <a:avLst/>
            </a:prstGeom>
            <a:solidFill>
              <a:srgbClr val="9F1D7B"/>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Embedding model</a:t>
              </a:r>
            </a:p>
          </p:txBody>
        </p:sp>
      </p:grpSp>
      <p:grpSp>
        <p:nvGrpSpPr>
          <p:cNvPr id="12" name="Group 11" descr="Depiction of a vector database containing documents such as the Return policy: 15 days after purchase...: Retrieve relevant info from a vector database.">
            <a:extLst>
              <a:ext uri="{FF2B5EF4-FFF2-40B4-BE49-F238E27FC236}">
                <a16:creationId xmlns:a16="http://schemas.microsoft.com/office/drawing/2014/main" id="{6AEC4840-B45D-1C2B-86E1-FBA71F20814B}"/>
              </a:ext>
            </a:extLst>
          </p:cNvPr>
          <p:cNvGrpSpPr/>
          <p:nvPr/>
        </p:nvGrpSpPr>
        <p:grpSpPr>
          <a:xfrm>
            <a:off x="4663032" y="1597291"/>
            <a:ext cx="2765942" cy="4027480"/>
            <a:chOff x="4663032" y="1597291"/>
            <a:chExt cx="2765942" cy="4027480"/>
          </a:xfrm>
        </p:grpSpPr>
        <p:sp>
          <p:nvSpPr>
            <p:cNvPr id="13" name="Rounded Rectangle 12" descr="This box appears above Vector Database in the diagram.">
              <a:extLst>
                <a:ext uri="{FF2B5EF4-FFF2-40B4-BE49-F238E27FC236}">
                  <a16:creationId xmlns:a16="http://schemas.microsoft.com/office/drawing/2014/main" id="{C4F37393-E1E1-1E06-1D8C-7B14197D5191}"/>
                </a:ext>
              </a:extLst>
            </p:cNvPr>
            <p:cNvSpPr/>
            <p:nvPr/>
          </p:nvSpPr>
          <p:spPr>
            <a:xfrm>
              <a:off x="4859151"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Retrieve relevant info from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vector database</a:t>
              </a:r>
            </a:p>
          </p:txBody>
        </p:sp>
        <p:pic>
          <p:nvPicPr>
            <p:cNvPr id="14" name="Graphic 13" descr="Icon representing a Vector Database">
              <a:extLst>
                <a:ext uri="{FF2B5EF4-FFF2-40B4-BE49-F238E27FC236}">
                  <a16:creationId xmlns:a16="http://schemas.microsoft.com/office/drawing/2014/main" id="{5C2E52FE-FA3E-15AD-B026-A6C9C55E69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2605" y="2622313"/>
              <a:ext cx="1396113" cy="1396113"/>
            </a:xfrm>
            <a:prstGeom prst="rect">
              <a:avLst/>
            </a:prstGeom>
          </p:spPr>
        </p:pic>
        <p:pic>
          <p:nvPicPr>
            <p:cNvPr id="15" name="Graphic 14" descr="Icon representing a Document for the RAG system">
              <a:extLst>
                <a:ext uri="{FF2B5EF4-FFF2-40B4-BE49-F238E27FC236}">
                  <a16:creationId xmlns:a16="http://schemas.microsoft.com/office/drawing/2014/main" id="{8968B4E1-CE0A-5B13-83C8-5AB4102791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16533" y="3939323"/>
              <a:ext cx="1008857" cy="1008857"/>
            </a:xfrm>
            <a:prstGeom prst="rect">
              <a:avLst/>
            </a:prstGeom>
          </p:spPr>
        </p:pic>
        <p:sp>
          <p:nvSpPr>
            <p:cNvPr id="16" name="TextBox 15">
              <a:extLst>
                <a:ext uri="{FF2B5EF4-FFF2-40B4-BE49-F238E27FC236}">
                  <a16:creationId xmlns:a16="http://schemas.microsoft.com/office/drawing/2014/main" id="{2603A5A7-012C-5297-A6AB-84211D670F07}"/>
                </a:ext>
              </a:extLst>
            </p:cNvPr>
            <p:cNvSpPr txBox="1"/>
            <p:nvPr/>
          </p:nvSpPr>
          <p:spPr>
            <a:xfrm>
              <a:off x="4663032" y="4916885"/>
              <a:ext cx="2765942" cy="70788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srgbClr val="232F3E"/>
                  </a:solidFill>
                  <a:effectLst/>
                  <a:uLnTx/>
                  <a:uFillTx/>
                  <a:latin typeface="Amazon Ember Light"/>
                </a:rPr>
                <a:t>“Return policy: 15 days after purchase…”</a:t>
              </a:r>
            </a:p>
          </p:txBody>
        </p:sp>
      </p:grpSp>
      <p:grpSp>
        <p:nvGrpSpPr>
          <p:cNvPr id="17" name="Group 16" descr="Query + Context: Augment prompt with retrieved results.">
            <a:extLst>
              <a:ext uri="{FF2B5EF4-FFF2-40B4-BE49-F238E27FC236}">
                <a16:creationId xmlns:a16="http://schemas.microsoft.com/office/drawing/2014/main" id="{C8D3E51E-FC87-6D58-CD6A-85928C3B27DB}"/>
              </a:ext>
            </a:extLst>
          </p:cNvPr>
          <p:cNvGrpSpPr/>
          <p:nvPr/>
        </p:nvGrpSpPr>
        <p:grpSpPr>
          <a:xfrm>
            <a:off x="7197787" y="1597291"/>
            <a:ext cx="2126751" cy="2771607"/>
            <a:chOff x="7197787" y="1597291"/>
            <a:chExt cx="2126751" cy="2771607"/>
          </a:xfrm>
        </p:grpSpPr>
        <p:grpSp>
          <p:nvGrpSpPr>
            <p:cNvPr id="18" name="Group 17" descr="Query + Context: Augment prompt with retrieved results.">
              <a:extLst>
                <a:ext uri="{FF2B5EF4-FFF2-40B4-BE49-F238E27FC236}">
                  <a16:creationId xmlns:a16="http://schemas.microsoft.com/office/drawing/2014/main" id="{B2C3EBBB-E4D2-010B-6C57-5CE5B46D81CD}"/>
                </a:ext>
              </a:extLst>
            </p:cNvPr>
            <p:cNvGrpSpPr/>
            <p:nvPr/>
          </p:nvGrpSpPr>
          <p:grpSpPr>
            <a:xfrm>
              <a:off x="7197787" y="1597291"/>
              <a:ext cx="2126751" cy="1923494"/>
              <a:chOff x="7197787" y="1597291"/>
              <a:chExt cx="2126751" cy="1923494"/>
            </a:xfrm>
          </p:grpSpPr>
          <p:sp>
            <p:nvSpPr>
              <p:cNvPr id="20" name="Rounded Rectangle 19" descr="This box appears above Query &amp; Context in the original diagram.">
                <a:extLst>
                  <a:ext uri="{FF2B5EF4-FFF2-40B4-BE49-F238E27FC236}">
                    <a16:creationId xmlns:a16="http://schemas.microsoft.com/office/drawing/2014/main" id="{B971A205-C0CA-E7BF-D57C-4A950A27B1D5}"/>
                  </a:ext>
                </a:extLst>
              </p:cNvPr>
              <p:cNvSpPr/>
              <p:nvPr/>
            </p:nvSpPr>
            <p:spPr>
              <a:xfrm>
                <a:off x="7197787"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Augment prompt with retrieved results</a:t>
                </a:r>
              </a:p>
            </p:txBody>
          </p:sp>
          <p:pic>
            <p:nvPicPr>
              <p:cNvPr id="21" name="Graphic 20" descr="Document with solid fill">
                <a:extLst>
                  <a:ext uri="{FF2B5EF4-FFF2-40B4-BE49-F238E27FC236}">
                    <a16:creationId xmlns:a16="http://schemas.microsoft.com/office/drawing/2014/main" id="{9185E0A0-6C5D-D4FE-ADCB-1897E909B2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3131" y="2585486"/>
                <a:ext cx="935299" cy="935299"/>
              </a:xfrm>
              <a:prstGeom prst="rect">
                <a:avLst/>
              </a:prstGeom>
            </p:spPr>
          </p:pic>
        </p:grpSp>
        <p:sp>
          <p:nvSpPr>
            <p:cNvPr id="19" name="Rounded Rectangle 18">
              <a:extLst>
                <a:ext uri="{FF2B5EF4-FFF2-40B4-BE49-F238E27FC236}">
                  <a16:creationId xmlns:a16="http://schemas.microsoft.com/office/drawing/2014/main" id="{D9FC7A35-E845-5FD3-1156-356A84AEDBA5}"/>
                </a:ext>
              </a:extLst>
            </p:cNvPr>
            <p:cNvSpPr/>
            <p:nvPr/>
          </p:nvSpPr>
          <p:spPr>
            <a:xfrm>
              <a:off x="7523757" y="3520531"/>
              <a:ext cx="1652956" cy="848367"/>
            </a:xfrm>
            <a:prstGeom prst="roundRect">
              <a:avLst/>
            </a:prstGeom>
            <a:solidFill>
              <a:srgbClr val="330066"/>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mazon Ember Light"/>
                  <a:ea typeface="+mn-ea"/>
                  <a:cs typeface="+mn-cs"/>
                </a:rPr>
                <a:t>Prompt</a:t>
              </a:r>
              <a:r>
                <a:rPr kumimoji="0" lang="en-DE" sz="2400" b="1" i="0" u="none" strike="noStrike" kern="0" cap="none" spc="0" normalizeH="0" baseline="0" noProof="0">
                  <a:ln>
                    <a:noFill/>
                  </a:ln>
                  <a:solidFill>
                    <a:srgbClr val="FFFFFF"/>
                  </a:solidFill>
                  <a:effectLst/>
                  <a:uLnTx/>
                  <a:uFillTx/>
                  <a:latin typeface="Amazon Ember Light"/>
                  <a:ea typeface="+mn-ea"/>
                  <a:cs typeface="+mn-cs"/>
                </a:rPr>
                <a:t> </a:t>
              </a:r>
              <a:r>
                <a:rPr kumimoji="0" lang="en-DE" sz="2400" b="1" i="0" u="none" strike="noStrike" kern="0" cap="none" spc="0" normalizeH="0" baseline="0" noProof="0" dirty="0">
                  <a:ln>
                    <a:noFill/>
                  </a:ln>
                  <a:solidFill>
                    <a:srgbClr val="FFFFFF"/>
                  </a:solidFill>
                  <a:effectLst/>
                  <a:uLnTx/>
                  <a:uFillTx/>
                  <a:latin typeface="Amazon Ember Light"/>
                  <a:ea typeface="+mn-ea"/>
                  <a:cs typeface="+mn-cs"/>
                </a:rPr>
                <a:t>+ Context</a:t>
              </a:r>
            </a:p>
          </p:txBody>
        </p:sp>
      </p:grpSp>
      <p:sp>
        <p:nvSpPr>
          <p:cNvPr id="22" name="Rounded Rectangle 21" descr="This box appears above the LLM in the original diagram.">
            <a:extLst>
              <a:ext uri="{FF2B5EF4-FFF2-40B4-BE49-F238E27FC236}">
                <a16:creationId xmlns:a16="http://schemas.microsoft.com/office/drawing/2014/main" id="{942455E6-EFDF-B632-DEC3-D4FEF5327B8F}"/>
              </a:ext>
            </a:extLst>
          </p:cNvPr>
          <p:cNvSpPr/>
          <p:nvPr/>
        </p:nvSpPr>
        <p:spPr>
          <a:xfrm>
            <a:off x="9536423"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Generate response with the LLM</a:t>
            </a:r>
          </a:p>
        </p:txBody>
      </p:sp>
      <p:sp>
        <p:nvSpPr>
          <p:cNvPr id="23" name="Rounded Rectangular Callout 22">
            <a:extLst>
              <a:ext uri="{FF2B5EF4-FFF2-40B4-BE49-F238E27FC236}">
                <a16:creationId xmlns:a16="http://schemas.microsoft.com/office/drawing/2014/main" id="{8A7F6D26-B42E-5342-87E1-B1C6684814E2}"/>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24" name="Rounded Rectangle 23">
            <a:extLst>
              <a:ext uri="{FF2B5EF4-FFF2-40B4-BE49-F238E27FC236}">
                <a16:creationId xmlns:a16="http://schemas.microsoft.com/office/drawing/2014/main" id="{26F34B5F-E094-A33E-FCA8-8C78392FE46B}"/>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25" name="Elbow Connector 24">
            <a:extLst>
              <a:ext uri="{FF2B5EF4-FFF2-40B4-BE49-F238E27FC236}">
                <a16:creationId xmlns:a16="http://schemas.microsoft.com/office/drawing/2014/main" id="{8A0113ED-C03B-8623-3F54-56BFE2232D24}"/>
              </a:ext>
            </a:extLst>
          </p:cNvPr>
          <p:cNvCxnSpPr>
            <a:stCxn id="23" idx="1"/>
            <a:endCxn id="24"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26" name="TextBox 25">
            <a:extLst>
              <a:ext uri="{FF2B5EF4-FFF2-40B4-BE49-F238E27FC236}">
                <a16:creationId xmlns:a16="http://schemas.microsoft.com/office/drawing/2014/main" id="{C53E6260-C108-0D0E-AE67-F349DA19C87B}"/>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27" name="Elbow Connector 26">
            <a:extLst>
              <a:ext uri="{FF2B5EF4-FFF2-40B4-BE49-F238E27FC236}">
                <a16:creationId xmlns:a16="http://schemas.microsoft.com/office/drawing/2014/main" id="{AF4354F2-1960-0F36-45CC-4FF1D62B61E7}"/>
              </a:ext>
            </a:extLst>
          </p:cNvPr>
          <p:cNvCxnSpPr>
            <a:cxnSpLocks/>
            <a:stCxn id="24" idx="0"/>
            <a:endCxn id="8"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cxnSp>
        <p:nvCxnSpPr>
          <p:cNvPr id="28" name="Straight Arrow Connector 27">
            <a:extLst>
              <a:ext uri="{FF2B5EF4-FFF2-40B4-BE49-F238E27FC236}">
                <a16:creationId xmlns:a16="http://schemas.microsoft.com/office/drawing/2014/main" id="{48261673-E0C3-EC9F-E035-3F0F6BC603D2}"/>
              </a:ext>
            </a:extLst>
          </p:cNvPr>
          <p:cNvCxnSpPr>
            <a:stCxn id="8" idx="3"/>
            <a:endCxn id="11" idx="1"/>
          </p:cNvCxnSpPr>
          <p:nvPr/>
        </p:nvCxnSpPr>
        <p:spPr>
          <a:xfrm flipV="1">
            <a:off x="2114579" y="3114540"/>
            <a:ext cx="512417" cy="455"/>
          </a:xfrm>
          <a:prstGeom prst="straightConnector1">
            <a:avLst/>
          </a:prstGeom>
          <a:noFill/>
          <a:ln w="63500" cap="flat" cmpd="sng" algn="ctr">
            <a:solidFill>
              <a:srgbClr val="DF2A5D"/>
            </a:solidFill>
            <a:prstDash val="solid"/>
            <a:miter lim="800000"/>
            <a:tailEnd type="triangle"/>
          </a:ln>
          <a:effectLst/>
        </p:spPr>
      </p:cxnSp>
      <p:cxnSp>
        <p:nvCxnSpPr>
          <p:cNvPr id="29" name="Straight Arrow Connector 28">
            <a:extLst>
              <a:ext uri="{FF2B5EF4-FFF2-40B4-BE49-F238E27FC236}">
                <a16:creationId xmlns:a16="http://schemas.microsoft.com/office/drawing/2014/main" id="{074DE236-9535-A63A-19DA-A73049230D29}"/>
              </a:ext>
            </a:extLst>
          </p:cNvPr>
          <p:cNvCxnSpPr>
            <a:cxnSpLocks/>
            <a:stCxn id="11" idx="3"/>
          </p:cNvCxnSpPr>
          <p:nvPr/>
        </p:nvCxnSpPr>
        <p:spPr>
          <a:xfrm>
            <a:off x="4596486" y="3114540"/>
            <a:ext cx="922949" cy="0"/>
          </a:xfrm>
          <a:prstGeom prst="straightConnector1">
            <a:avLst/>
          </a:prstGeom>
          <a:noFill/>
          <a:ln w="63500" cap="flat" cmpd="sng" algn="ctr">
            <a:solidFill>
              <a:srgbClr val="DF2A5D"/>
            </a:solidFill>
            <a:prstDash val="solid"/>
            <a:miter lim="800000"/>
            <a:tailEnd type="triangle"/>
          </a:ln>
          <a:effectLst/>
        </p:spPr>
      </p:cxnSp>
      <p:cxnSp>
        <p:nvCxnSpPr>
          <p:cNvPr id="30" name="Straight Arrow Connector 29">
            <a:extLst>
              <a:ext uri="{FF2B5EF4-FFF2-40B4-BE49-F238E27FC236}">
                <a16:creationId xmlns:a16="http://schemas.microsoft.com/office/drawing/2014/main" id="{F53C22F8-5F9E-E9BB-A69D-4DAF5B899AD1}"/>
              </a:ext>
            </a:extLst>
          </p:cNvPr>
          <p:cNvCxnSpPr>
            <a:cxnSpLocks/>
          </p:cNvCxnSpPr>
          <p:nvPr/>
        </p:nvCxnSpPr>
        <p:spPr>
          <a:xfrm>
            <a:off x="6426926" y="3114539"/>
            <a:ext cx="1386205" cy="0"/>
          </a:xfrm>
          <a:prstGeom prst="straightConnector1">
            <a:avLst/>
          </a:prstGeom>
          <a:noFill/>
          <a:ln w="63500" cap="flat" cmpd="sng" algn="ctr">
            <a:solidFill>
              <a:srgbClr val="DF2A5D"/>
            </a:solidFill>
            <a:prstDash val="solid"/>
            <a:miter lim="800000"/>
            <a:tailEnd type="triangle"/>
          </a:ln>
          <a:effectLst/>
        </p:spPr>
      </p:cxnSp>
      <p:cxnSp>
        <p:nvCxnSpPr>
          <p:cNvPr id="31" name="Straight Arrow Connector 30">
            <a:extLst>
              <a:ext uri="{FF2B5EF4-FFF2-40B4-BE49-F238E27FC236}">
                <a16:creationId xmlns:a16="http://schemas.microsoft.com/office/drawing/2014/main" id="{DFD7EDE8-ABD9-D296-4D70-8CA907B4CC5C}"/>
              </a:ext>
            </a:extLst>
          </p:cNvPr>
          <p:cNvCxnSpPr>
            <a:cxnSpLocks/>
            <a:stCxn id="21" idx="3"/>
          </p:cNvCxnSpPr>
          <p:nvPr/>
        </p:nvCxnSpPr>
        <p:spPr>
          <a:xfrm>
            <a:off x="8748430" y="3053136"/>
            <a:ext cx="1328991" cy="5063"/>
          </a:xfrm>
          <a:prstGeom prst="straightConnector1">
            <a:avLst/>
          </a:prstGeom>
          <a:noFill/>
          <a:ln w="63500" cap="flat" cmpd="sng" algn="ctr">
            <a:solidFill>
              <a:srgbClr val="DF2A5D"/>
            </a:solidFill>
            <a:prstDash val="solid"/>
            <a:miter lim="800000"/>
            <a:tailEnd type="triangle"/>
          </a:ln>
          <a:effectLst/>
        </p:spPr>
      </p:cxnSp>
      <p:cxnSp>
        <p:nvCxnSpPr>
          <p:cNvPr id="32" name="Straight Arrow Connector 31">
            <a:extLst>
              <a:ext uri="{FF2B5EF4-FFF2-40B4-BE49-F238E27FC236}">
                <a16:creationId xmlns:a16="http://schemas.microsoft.com/office/drawing/2014/main" id="{B4C09C76-71D6-63D9-5234-D9CAF466A0FE}"/>
              </a:ext>
            </a:extLst>
          </p:cNvPr>
          <p:cNvCxnSpPr>
            <a:cxnSpLocks/>
            <a:stCxn id="23" idx="0"/>
            <a:endCxn id="19" idx="2"/>
          </p:cNvCxnSpPr>
          <p:nvPr/>
        </p:nvCxnSpPr>
        <p:spPr>
          <a:xfrm flipH="1" flipV="1">
            <a:off x="8350235" y="4368898"/>
            <a:ext cx="444498" cy="1036385"/>
          </a:xfrm>
          <a:prstGeom prst="straightConnector1">
            <a:avLst/>
          </a:prstGeom>
          <a:noFill/>
          <a:ln w="63500" cap="flat" cmpd="sng" algn="ctr">
            <a:solidFill>
              <a:srgbClr val="DF2A5D"/>
            </a:solidFill>
            <a:prstDash val="solid"/>
            <a:miter lim="800000"/>
            <a:tailEnd type="triangle"/>
          </a:ln>
          <a:effectLst/>
        </p:spPr>
      </p:cxnSp>
      <p:cxnSp>
        <p:nvCxnSpPr>
          <p:cNvPr id="34" name="Straight Arrow Connector 33">
            <a:extLst>
              <a:ext uri="{FF2B5EF4-FFF2-40B4-BE49-F238E27FC236}">
                <a16:creationId xmlns:a16="http://schemas.microsoft.com/office/drawing/2014/main" id="{2B5FEB22-9398-EFCF-56E8-F26128978EE8}"/>
              </a:ext>
            </a:extLst>
          </p:cNvPr>
          <p:cNvCxnSpPr>
            <a:cxnSpLocks/>
            <a:endCxn id="5" idx="0"/>
          </p:cNvCxnSpPr>
          <p:nvPr/>
        </p:nvCxnSpPr>
        <p:spPr>
          <a:xfrm>
            <a:off x="10605566" y="3639355"/>
            <a:ext cx="147186" cy="1799223"/>
          </a:xfrm>
          <a:prstGeom prst="straightConnector1">
            <a:avLst/>
          </a:prstGeom>
          <a:noFill/>
          <a:ln w="63500" cap="flat" cmpd="sng" algn="ctr">
            <a:solidFill>
              <a:srgbClr val="DF2A5D"/>
            </a:solidFill>
            <a:prstDash val="solid"/>
            <a:miter lim="800000"/>
            <a:tailEnd type="triangle"/>
          </a:ln>
          <a:effectLst/>
        </p:spPr>
      </p:cxnSp>
      <p:sp>
        <p:nvSpPr>
          <p:cNvPr id="35" name="TextBox 34">
            <a:extLst>
              <a:ext uri="{FF2B5EF4-FFF2-40B4-BE49-F238E27FC236}">
                <a16:creationId xmlns:a16="http://schemas.microsoft.com/office/drawing/2014/main" id="{8953A428-A0C6-C990-7264-64EA4B3358DC}"/>
              </a:ext>
            </a:extLst>
          </p:cNvPr>
          <p:cNvSpPr txBox="1"/>
          <p:nvPr/>
        </p:nvSpPr>
        <p:spPr>
          <a:xfrm>
            <a:off x="10799190" y="433891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Response</a:t>
            </a:r>
          </a:p>
        </p:txBody>
      </p:sp>
      <p:sp>
        <p:nvSpPr>
          <p:cNvPr id="36" name="TextBox 35">
            <a:extLst>
              <a:ext uri="{FF2B5EF4-FFF2-40B4-BE49-F238E27FC236}">
                <a16:creationId xmlns:a16="http://schemas.microsoft.com/office/drawing/2014/main" id="{C1119254-F081-AD1B-EC8F-458659531F41}"/>
              </a:ext>
            </a:extLst>
          </p:cNvPr>
          <p:cNvSpPr txBox="1"/>
          <p:nvPr/>
        </p:nvSpPr>
        <p:spPr>
          <a:xfrm>
            <a:off x="8211646" y="646652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Prompt</a:t>
            </a:r>
          </a:p>
        </p:txBody>
      </p:sp>
      <p:pic>
        <p:nvPicPr>
          <p:cNvPr id="4" name="Picture 7">
            <a:extLst>
              <a:ext uri="{FF2B5EF4-FFF2-40B4-BE49-F238E27FC236}">
                <a16:creationId xmlns:a16="http://schemas.microsoft.com/office/drawing/2014/main" id="{6E6AC675-FEE0-B761-E6A6-3FECCF774882}"/>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046" b="1275"/>
          <a:stretch/>
        </p:blipFill>
        <p:spPr>
          <a:xfrm>
            <a:off x="10035230" y="2548463"/>
            <a:ext cx="1129135" cy="11265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152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4</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Tools and Agents</a:t>
            </a:r>
          </a:p>
        </p:txBody>
      </p:sp>
    </p:spTree>
    <p:extLst>
      <p:ext uri="{BB962C8B-B14F-4D97-AF65-F5344CB8AC3E}">
        <p14:creationId xmlns:p14="http://schemas.microsoft.com/office/powerpoint/2010/main" val="129158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Key questions</a:t>
            </a:r>
          </a:p>
        </p:txBody>
      </p:sp>
      <p:sp>
        <p:nvSpPr>
          <p:cNvPr id="4" name="Content Placeholder 3">
            <a:extLst>
              <a:ext uri="{FF2B5EF4-FFF2-40B4-BE49-F238E27FC236}">
                <a16:creationId xmlns:a16="http://schemas.microsoft.com/office/drawing/2014/main" id="{0E5B8E16-5803-9B1F-FD9D-E7B429EE86B2}"/>
              </a:ext>
            </a:extLst>
          </p:cNvPr>
          <p:cNvSpPr>
            <a:spLocks noGrp="1"/>
          </p:cNvSpPr>
          <p:nvPr>
            <p:ph idx="2"/>
          </p:nvPr>
        </p:nvSpPr>
        <p:spPr/>
        <p:txBody>
          <a:bodyPr/>
          <a:lstStyle/>
          <a:p>
            <a:r>
              <a:rPr lang="en-US" dirty="0"/>
              <a:t>Can I use an LLM to do </a:t>
            </a:r>
            <a:r>
              <a:rPr lang="en-US" b="1" dirty="0">
                <a:solidFill>
                  <a:schemeClr val="accent1"/>
                </a:solidFill>
              </a:rPr>
              <a:t>“</a:t>
            </a:r>
            <a:r>
              <a:rPr lang="en-US" b="1" dirty="0">
                <a:solidFill>
                  <a:schemeClr val="accent6"/>
                </a:solidFill>
              </a:rPr>
              <a:t>more</a:t>
            </a:r>
            <a:r>
              <a:rPr lang="en-US" b="1" dirty="0">
                <a:solidFill>
                  <a:schemeClr val="accent1"/>
                </a:solidFill>
              </a:rPr>
              <a:t>” </a:t>
            </a:r>
            <a:r>
              <a:rPr lang="en-US" dirty="0"/>
              <a:t>than producing language?</a:t>
            </a:r>
          </a:p>
          <a:p>
            <a:r>
              <a:rPr lang="en-US" dirty="0"/>
              <a:t>How to do </a:t>
            </a:r>
            <a:r>
              <a:rPr lang="en-US" b="1" dirty="0">
                <a:solidFill>
                  <a:schemeClr val="accent6"/>
                </a:solidFill>
              </a:rPr>
              <a:t>math</a:t>
            </a:r>
            <a:r>
              <a:rPr lang="en-US" b="1" dirty="0">
                <a:solidFill>
                  <a:schemeClr val="accent1"/>
                </a:solidFill>
              </a:rPr>
              <a:t> </a:t>
            </a:r>
            <a:r>
              <a:rPr lang="en-US" dirty="0"/>
              <a:t>with an LLM? How to </a:t>
            </a:r>
            <a:r>
              <a:rPr lang="en-US" b="1" dirty="0">
                <a:solidFill>
                  <a:schemeClr val="accent6"/>
                </a:solidFill>
              </a:rPr>
              <a:t>query</a:t>
            </a:r>
            <a:r>
              <a:rPr lang="en-US" dirty="0"/>
              <a:t> a database with LLMs?</a:t>
            </a:r>
          </a:p>
          <a:p>
            <a:r>
              <a:rPr lang="en-US" dirty="0"/>
              <a:t>Is it possible to </a:t>
            </a:r>
            <a:r>
              <a:rPr lang="en-US" b="1" dirty="0">
                <a:solidFill>
                  <a:schemeClr val="accent6"/>
                </a:solidFill>
              </a:rPr>
              <a:t>combine</a:t>
            </a:r>
            <a:r>
              <a:rPr lang="en-US" dirty="0"/>
              <a:t> the LLM with further systems and enhance the model’s capabilities?</a:t>
            </a:r>
          </a:p>
          <a:p>
            <a:endParaRPr lang="en-US" dirty="0"/>
          </a:p>
        </p:txBody>
      </p:sp>
    </p:spTree>
    <p:extLst>
      <p:ext uri="{BB962C8B-B14F-4D97-AF65-F5344CB8AC3E}">
        <p14:creationId xmlns:p14="http://schemas.microsoft.com/office/powerpoint/2010/main" val="1555340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BC3DA6-2E91-0C10-E459-2BAED385EDD0}"/>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CF1BB897-4ABC-8815-9694-E25CE6528163}"/>
              </a:ext>
            </a:extLst>
          </p:cNvPr>
          <p:cNvSpPr>
            <a:spLocks noGrp="1"/>
          </p:cNvSpPr>
          <p:nvPr>
            <p:ph type="title" idx="1"/>
          </p:nvPr>
        </p:nvSpPr>
        <p:spPr/>
        <p:txBody>
          <a:bodyPr/>
          <a:lstStyle/>
          <a:p>
            <a:r>
              <a:rPr lang="en-US" dirty="0"/>
              <a:t>Towards agents</a:t>
            </a:r>
          </a:p>
        </p:txBody>
      </p:sp>
      <p:sp>
        <p:nvSpPr>
          <p:cNvPr id="4" name="Content Placeholder 3">
            <a:extLst>
              <a:ext uri="{FF2B5EF4-FFF2-40B4-BE49-F238E27FC236}">
                <a16:creationId xmlns:a16="http://schemas.microsoft.com/office/drawing/2014/main" id="{53BB2A43-3E15-6E18-875E-13B00413EBC0}"/>
              </a:ext>
            </a:extLst>
          </p:cNvPr>
          <p:cNvSpPr>
            <a:spLocks noGrp="1"/>
          </p:cNvSpPr>
          <p:nvPr>
            <p:ph idx="2"/>
          </p:nvPr>
        </p:nvSpPr>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So far:</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chemeClr val="accent6"/>
                </a:solidFill>
                <a:effectLst/>
                <a:uLnTx/>
                <a:uFillTx/>
                <a:latin typeface="Amazon Ember Medium"/>
              </a:rPr>
              <a:t>Prompting</a:t>
            </a: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 Single step inference</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chemeClr val="accent6"/>
                </a:solidFill>
                <a:effectLst/>
                <a:uLnTx/>
                <a:uFillTx/>
                <a:latin typeface="Amazon Ember Medium"/>
              </a:rPr>
              <a:t>Chains</a:t>
            </a: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 Pre-defined sequence of predictions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DF2A5D"/>
                </a:solidFill>
                <a:effectLst/>
                <a:uLnTx/>
                <a:uFillTx/>
                <a:latin typeface="Amazon Ember Medium"/>
              </a:rPr>
              <a:t>Agents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Automatically infer the sequence of actions to take</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LLMs as reasoning engines</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332541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102D88-27E8-23BE-F35C-39D3D8D23DCE}"/>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D1044D2C-5CE1-2B60-0095-B377D56DFF1A}"/>
              </a:ext>
            </a:extLst>
          </p:cNvPr>
          <p:cNvSpPr>
            <a:spLocks noGrp="1"/>
          </p:cNvSpPr>
          <p:nvPr>
            <p:ph type="title" idx="1"/>
          </p:nvPr>
        </p:nvSpPr>
        <p:spPr/>
        <p:txBody>
          <a:bodyPr/>
          <a:lstStyle/>
          <a:p>
            <a:r>
              <a:rPr lang="en-US" dirty="0"/>
              <a:t>Agents</a:t>
            </a:r>
          </a:p>
        </p:txBody>
      </p:sp>
      <p:sp>
        <p:nvSpPr>
          <p:cNvPr id="4" name="Content Placeholder 3">
            <a:extLst>
              <a:ext uri="{FF2B5EF4-FFF2-40B4-BE49-F238E27FC236}">
                <a16:creationId xmlns:a16="http://schemas.microsoft.com/office/drawing/2014/main" id="{BEC460BA-A276-1490-542F-E486EA5C85B5}"/>
              </a:ext>
            </a:extLst>
          </p:cNvPr>
          <p:cNvSpPr>
            <a:spLocks noGrp="1"/>
          </p:cNvSpPr>
          <p:nvPr>
            <p:ph idx="2"/>
          </p:nvPr>
        </p:nvSpPr>
        <p:spPr/>
        <p:txBody>
          <a:bodyPr/>
          <a:lstStyle/>
          <a:p>
            <a:pPr marL="344488" indent="-344488" defTabSz="91440">
              <a:lnSpc>
                <a:spcPct val="100000"/>
              </a:lnSpc>
              <a:spcBef>
                <a:spcPts val="0"/>
              </a:spcBef>
              <a:spcAft>
                <a:spcPts val="600"/>
              </a:spcAft>
              <a:buClr>
                <a:srgbClr val="1D212E"/>
              </a:buClr>
              <a:buSzPct val="100000"/>
              <a:tabLst>
                <a:tab pos="227013" algn="l"/>
              </a:tabLst>
            </a:pPr>
            <a:r>
              <a:rPr lang="en-US" sz="2800" dirty="0">
                <a:latin typeface="+mn-lt"/>
                <a:ea typeface="Amazon Ember" panose="020B0603020204020204" pitchFamily="34" charset="0"/>
                <a:cs typeface="Amazon Ember" panose="020B0603020204020204" pitchFamily="34" charset="0"/>
              </a:rPr>
              <a:t>AI systems that </a:t>
            </a:r>
            <a:r>
              <a:rPr lang="en-US" sz="2800" b="1" dirty="0">
                <a:solidFill>
                  <a:schemeClr val="accent6"/>
                </a:solidFill>
                <a:latin typeface="+mn-lt"/>
                <a:ea typeface="Amazon Ember" panose="020B0603020204020204" pitchFamily="34" charset="0"/>
                <a:cs typeface="Amazon Ember" panose="020B0603020204020204" pitchFamily="34" charset="0"/>
              </a:rPr>
              <a:t>automatically figure out how to best solve tasks</a:t>
            </a:r>
            <a:r>
              <a:rPr lang="en-US" sz="2800" dirty="0">
                <a:solidFill>
                  <a:schemeClr val="accent6"/>
                </a:solidFill>
                <a:latin typeface="+mn-lt"/>
                <a:ea typeface="Amazon Ember" panose="020B0603020204020204" pitchFamily="34" charset="0"/>
                <a:cs typeface="Amazon Ember" panose="020B0603020204020204" pitchFamily="34" charset="0"/>
              </a:rPr>
              <a:t> </a:t>
            </a:r>
            <a:r>
              <a:rPr lang="en-US" sz="2800" dirty="0">
                <a:latin typeface="+mn-lt"/>
                <a:ea typeface="Amazon Ember" panose="020B0603020204020204" pitchFamily="34" charset="0"/>
                <a:cs typeface="Amazon Ember" panose="020B0603020204020204" pitchFamily="34" charset="0"/>
              </a:rPr>
              <a:t>posed by the user</a:t>
            </a:r>
          </a:p>
          <a:p>
            <a:pPr marL="0" indent="0" defTabSz="91440">
              <a:lnSpc>
                <a:spcPct val="100000"/>
              </a:lnSpc>
              <a:spcBef>
                <a:spcPts val="0"/>
              </a:spcBef>
              <a:spcAft>
                <a:spcPts val="600"/>
              </a:spcAft>
              <a:buClr>
                <a:srgbClr val="1D212E"/>
              </a:buClr>
              <a:buSzPct val="100000"/>
              <a:buNone/>
              <a:tabLst>
                <a:tab pos="227013" algn="l"/>
              </a:tabLst>
            </a:pPr>
            <a:endParaRPr lang="en-US" sz="2800" dirty="0">
              <a:solidFill>
                <a:srgbClr val="FF0066"/>
              </a:solidFill>
              <a:latin typeface="+mn-lt"/>
              <a:ea typeface="Amazon Ember" panose="020B0603020204020204" pitchFamily="34" charset="0"/>
              <a:cs typeface="Amazon Ember" panose="020B0603020204020204" pitchFamily="34" charset="0"/>
            </a:endParaRPr>
          </a:p>
          <a:p>
            <a:pPr marL="344488" indent="-344488" defTabSz="91440">
              <a:lnSpc>
                <a:spcPct val="100000"/>
              </a:lnSpc>
              <a:spcBef>
                <a:spcPts val="0"/>
              </a:spcBef>
              <a:spcAft>
                <a:spcPts val="600"/>
              </a:spcAft>
              <a:buClr>
                <a:srgbClr val="1D212E"/>
              </a:buClr>
              <a:buSzPct val="100000"/>
              <a:tabLst>
                <a:tab pos="227013" algn="l"/>
              </a:tabLst>
            </a:pPr>
            <a:r>
              <a:rPr lang="en-US" sz="2800" dirty="0">
                <a:latin typeface="+mn-lt"/>
                <a:ea typeface="Amazon Ember" panose="020B0603020204020204" pitchFamily="34" charset="0"/>
                <a:cs typeface="Amazon Ember" panose="020B0603020204020204" pitchFamily="34" charset="0"/>
              </a:rPr>
              <a:t>Powered by </a:t>
            </a:r>
            <a:r>
              <a:rPr lang="en-US" sz="2800" b="1" dirty="0">
                <a:solidFill>
                  <a:schemeClr val="accent6"/>
                </a:solidFill>
                <a:latin typeface="+mn-lt"/>
                <a:ea typeface="Amazon Ember" panose="020B0603020204020204" pitchFamily="34" charset="0"/>
                <a:cs typeface="Amazon Ember" panose="020B0603020204020204" pitchFamily="34" charset="0"/>
              </a:rPr>
              <a:t>LLMs</a:t>
            </a:r>
            <a:r>
              <a:rPr lang="en-US" sz="2800" dirty="0">
                <a:latin typeface="+mn-lt"/>
                <a:ea typeface="Amazon Ember" panose="020B0603020204020204" pitchFamily="34" charset="0"/>
                <a:cs typeface="Amazon Ember" panose="020B0603020204020204" pitchFamily="34" charset="0"/>
              </a:rPr>
              <a:t> as their reasoning engine whose capabilities are enhanced with </a:t>
            </a:r>
            <a:r>
              <a:rPr lang="en-US" sz="2800" b="1" dirty="0">
                <a:solidFill>
                  <a:schemeClr val="accent6"/>
                </a:solidFill>
                <a:latin typeface="+mn-lt"/>
                <a:ea typeface="Amazon Ember" panose="020B0603020204020204" pitchFamily="34" charset="0"/>
                <a:cs typeface="Amazon Ember" panose="020B0603020204020204" pitchFamily="34" charset="0"/>
              </a:rPr>
              <a:t>tools</a:t>
            </a:r>
          </a:p>
          <a:p>
            <a:pPr marL="0" indent="0" defTabSz="91440">
              <a:lnSpc>
                <a:spcPct val="100000"/>
              </a:lnSpc>
              <a:spcBef>
                <a:spcPts val="0"/>
              </a:spcBef>
              <a:spcAft>
                <a:spcPts val="600"/>
              </a:spcAft>
              <a:buClr>
                <a:srgbClr val="1D212E"/>
              </a:buClr>
              <a:buSzPct val="100000"/>
              <a:buNone/>
              <a:tabLst>
                <a:tab pos="227013" algn="l"/>
              </a:tabLst>
            </a:pPr>
            <a:endParaRPr lang="en-US" sz="2800" dirty="0">
              <a:latin typeface="+mn-lt"/>
              <a:ea typeface="Amazon Ember" panose="020B0603020204020204" pitchFamily="34" charset="0"/>
              <a:cs typeface="Amazon Ember" panose="020B0603020204020204" pitchFamily="34" charset="0"/>
            </a:endParaRPr>
          </a:p>
          <a:p>
            <a:pPr marL="344488" indent="-344488" defTabSz="91440">
              <a:lnSpc>
                <a:spcPct val="100000"/>
              </a:lnSpc>
              <a:spcBef>
                <a:spcPts val="0"/>
              </a:spcBef>
              <a:spcAft>
                <a:spcPts val="600"/>
              </a:spcAft>
              <a:buClr>
                <a:srgbClr val="1D212E"/>
              </a:buClr>
              <a:buSzPct val="100000"/>
              <a:tabLst>
                <a:tab pos="227013" algn="l"/>
              </a:tabLst>
            </a:pPr>
            <a:r>
              <a:rPr lang="en-US" sz="2800" dirty="0">
                <a:latin typeface="+mn-lt"/>
                <a:ea typeface="Amazon Ember" panose="020B0603020204020204" pitchFamily="34" charset="0"/>
                <a:cs typeface="Amazon Ember" panose="020B0603020204020204" pitchFamily="34" charset="0"/>
              </a:rPr>
              <a:t>Used to greatly </a:t>
            </a:r>
            <a:r>
              <a:rPr lang="en-US" sz="2800" b="1" dirty="0">
                <a:solidFill>
                  <a:schemeClr val="accent6"/>
                </a:solidFill>
                <a:latin typeface="+mn-lt"/>
                <a:ea typeface="Amazon Ember" panose="020B0603020204020204" pitchFamily="34" charset="0"/>
                <a:cs typeface="Amazon Ember" panose="020B0603020204020204" pitchFamily="34" charset="0"/>
              </a:rPr>
              <a:t>accelerate development and application</a:t>
            </a:r>
            <a:r>
              <a:rPr lang="en-US" sz="2800" dirty="0">
                <a:solidFill>
                  <a:schemeClr val="accent6"/>
                </a:solidFill>
                <a:latin typeface="+mn-lt"/>
                <a:ea typeface="Amazon Ember" panose="020B0603020204020204" pitchFamily="34" charset="0"/>
                <a:cs typeface="Amazon Ember" panose="020B0603020204020204" pitchFamily="34" charset="0"/>
              </a:rPr>
              <a:t> </a:t>
            </a:r>
            <a:r>
              <a:rPr lang="en-US" sz="2800" dirty="0">
                <a:latin typeface="+mn-lt"/>
                <a:ea typeface="Amazon Ember" panose="020B0603020204020204" pitchFamily="34" charset="0"/>
                <a:cs typeface="Amazon Ember" panose="020B0603020204020204" pitchFamily="34" charset="0"/>
              </a:rPr>
              <a:t>of generative AI applications</a:t>
            </a:r>
          </a:p>
          <a:p>
            <a:endParaRPr lang="en-DE"/>
          </a:p>
          <a:p>
            <a:endParaRPr lang="en-US" dirty="0"/>
          </a:p>
        </p:txBody>
      </p:sp>
    </p:spTree>
    <p:extLst>
      <p:ext uri="{BB962C8B-B14F-4D97-AF65-F5344CB8AC3E}">
        <p14:creationId xmlns:p14="http://schemas.microsoft.com/office/powerpoint/2010/main" val="2791565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8636E7-44D6-A21E-5A47-96B655FC5BA9}"/>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B6FC9074-FF4F-8214-F49B-DA4A606F0549}"/>
              </a:ext>
            </a:extLst>
          </p:cNvPr>
          <p:cNvSpPr>
            <a:spLocks noGrp="1"/>
          </p:cNvSpPr>
          <p:nvPr>
            <p:ph type="title" idx="1"/>
          </p:nvPr>
        </p:nvSpPr>
        <p:spPr/>
        <p:txBody>
          <a:bodyPr/>
          <a:lstStyle/>
          <a:p>
            <a:r>
              <a:rPr lang="en-US" dirty="0"/>
              <a:t>Tools</a:t>
            </a:r>
          </a:p>
        </p:txBody>
      </p:sp>
      <p:sp>
        <p:nvSpPr>
          <p:cNvPr id="4" name="Content Placeholder 3">
            <a:extLst>
              <a:ext uri="{FF2B5EF4-FFF2-40B4-BE49-F238E27FC236}">
                <a16:creationId xmlns:a16="http://schemas.microsoft.com/office/drawing/2014/main" id="{4B84745C-781A-F7FD-50E6-1CE00E9AB044}"/>
              </a:ext>
            </a:extLst>
          </p:cNvPr>
          <p:cNvSpPr>
            <a:spLocks noGrp="1"/>
          </p:cNvSpPr>
          <p:nvPr>
            <p:ph idx="2"/>
          </p:nvPr>
        </p:nvSpPr>
        <p:spPr/>
        <p:txBody>
          <a:bodyPr/>
          <a:lstStyle/>
          <a:p>
            <a:r>
              <a:rPr lang="en-US" dirty="0"/>
              <a:t>Functions or interfaces that </a:t>
            </a:r>
            <a:r>
              <a:rPr lang="en-US" b="1" dirty="0">
                <a:solidFill>
                  <a:schemeClr val="accent6"/>
                </a:solidFill>
                <a:latin typeface="+mn-lt"/>
              </a:rPr>
              <a:t>the agent can interact with</a:t>
            </a:r>
          </a:p>
          <a:p>
            <a:pPr lvl="1"/>
            <a:r>
              <a:rPr lang="en-US" dirty="0"/>
              <a:t>Can be APIs, document loaders, functions, other agents…</a:t>
            </a:r>
          </a:p>
          <a:p>
            <a:pPr lvl="1"/>
            <a:endParaRPr lang="en-US" dirty="0"/>
          </a:p>
          <a:p>
            <a:r>
              <a:rPr lang="en-US" dirty="0"/>
              <a:t>Tools </a:t>
            </a:r>
            <a:r>
              <a:rPr lang="en-US" b="1" dirty="0">
                <a:solidFill>
                  <a:schemeClr val="accent6"/>
                </a:solidFill>
                <a:latin typeface="+mn-lt"/>
              </a:rPr>
              <a:t>may or may not </a:t>
            </a:r>
            <a:r>
              <a:rPr lang="en-US" dirty="0"/>
              <a:t>depend on an LLM</a:t>
            </a:r>
          </a:p>
          <a:p>
            <a:pPr lvl="1"/>
            <a:r>
              <a:rPr lang="en-US" dirty="0"/>
              <a:t>Example: Knowledge base containing company documents (RAG)</a:t>
            </a:r>
          </a:p>
          <a:p>
            <a:pPr lvl="1"/>
            <a:r>
              <a:rPr lang="en-US" dirty="0"/>
              <a:t>Example: Calculator / math tool to perform arithmetic operations</a:t>
            </a:r>
          </a:p>
          <a:p>
            <a:pPr lvl="1"/>
            <a:r>
              <a:rPr lang="en-US" dirty="0"/>
              <a:t>Example: API call to retrieve weather information</a:t>
            </a:r>
          </a:p>
          <a:p>
            <a:pPr lvl="1"/>
            <a:r>
              <a:rPr lang="en-US" dirty="0"/>
              <a:t>Example: Wikipedia tool to search for facts</a:t>
            </a:r>
          </a:p>
          <a:p>
            <a:endParaRPr lang="en-US" dirty="0"/>
          </a:p>
        </p:txBody>
      </p:sp>
    </p:spTree>
    <p:extLst>
      <p:ext uri="{BB962C8B-B14F-4D97-AF65-F5344CB8AC3E}">
        <p14:creationId xmlns:p14="http://schemas.microsoft.com/office/powerpoint/2010/main" val="837880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F8D14F-5953-FA18-B32C-AA0961239E39}"/>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2877FA0A-583A-7CB3-3184-9CFD1F56E2B0}"/>
              </a:ext>
            </a:extLst>
          </p:cNvPr>
          <p:cNvSpPr>
            <a:spLocks noGrp="1"/>
          </p:cNvSpPr>
          <p:nvPr>
            <p:ph type="title" idx="1"/>
          </p:nvPr>
        </p:nvSpPr>
        <p:spPr/>
        <p:txBody>
          <a:bodyPr/>
          <a:lstStyle/>
          <a:p>
            <a:r>
              <a:rPr lang="en-US" dirty="0"/>
              <a:t>What can agents do?</a:t>
            </a:r>
          </a:p>
        </p:txBody>
      </p:sp>
      <p:sp>
        <p:nvSpPr>
          <p:cNvPr id="4" name="Content Placeholder 3">
            <a:extLst>
              <a:ext uri="{FF2B5EF4-FFF2-40B4-BE49-F238E27FC236}">
                <a16:creationId xmlns:a16="http://schemas.microsoft.com/office/drawing/2014/main" id="{DCF5D726-3FB7-61A8-9BFD-05F7145AA4EA}"/>
              </a:ext>
            </a:extLst>
          </p:cNvPr>
          <p:cNvSpPr>
            <a:spLocks noGrp="1"/>
          </p:cNvSpPr>
          <p:nvPr>
            <p:ph idx="2"/>
          </p:nvPr>
        </p:nvSpPr>
        <p:spPr/>
        <p:txBody>
          <a:bodyPr/>
          <a:lstStyle/>
          <a:p>
            <a:r>
              <a:rPr lang="en-US" b="1" dirty="0">
                <a:solidFill>
                  <a:schemeClr val="accent6"/>
                </a:solidFill>
                <a:latin typeface="+mn-lt"/>
                <a:ea typeface="Amazon Ember" panose="020B0603020204020204" pitchFamily="34" charset="0"/>
                <a:cs typeface="Amazon Ember" panose="020B0603020204020204" pitchFamily="34" charset="0"/>
              </a:rPr>
              <a:t>Understand</a:t>
            </a:r>
            <a:r>
              <a:rPr lang="en-US" dirty="0">
                <a:latin typeface="+mn-lt"/>
                <a:ea typeface="Amazon Ember" panose="020B0603020204020204" pitchFamily="34" charset="0"/>
                <a:cs typeface="Amazon Ember" panose="020B0603020204020204" pitchFamily="34" charset="0"/>
              </a:rPr>
              <a:t> the request in natural language text using LLMs</a:t>
            </a:r>
          </a:p>
          <a:p>
            <a:r>
              <a:rPr lang="en-US" b="1" dirty="0">
                <a:solidFill>
                  <a:schemeClr val="accent6"/>
                </a:solidFill>
                <a:latin typeface="+mn-lt"/>
                <a:ea typeface="Amazon Ember" panose="020B0603020204020204" pitchFamily="34" charset="0"/>
                <a:cs typeface="Amazon Ember" panose="020B0603020204020204" pitchFamily="34" charset="0"/>
              </a:rPr>
              <a:t>Generate</a:t>
            </a:r>
            <a:r>
              <a:rPr lang="en-US" dirty="0">
                <a:latin typeface="+mn-lt"/>
                <a:ea typeface="Amazon Ember" panose="020B0603020204020204" pitchFamily="34" charset="0"/>
                <a:cs typeface="Amazon Ember" panose="020B0603020204020204" pitchFamily="34" charset="0"/>
              </a:rPr>
              <a:t> a plan using prompting techniques such as chain-of-thought</a:t>
            </a:r>
          </a:p>
          <a:p>
            <a:r>
              <a:rPr lang="en-US" b="1" dirty="0">
                <a:solidFill>
                  <a:schemeClr val="accent6"/>
                </a:solidFill>
                <a:latin typeface="+mn-lt"/>
                <a:ea typeface="Amazon Ember" panose="020B0603020204020204" pitchFamily="34" charset="0"/>
                <a:cs typeface="Amazon Ember" panose="020B0603020204020204" pitchFamily="34" charset="0"/>
              </a:rPr>
              <a:t>Identify</a:t>
            </a:r>
            <a:r>
              <a:rPr lang="en-US" dirty="0">
                <a:latin typeface="+mn-lt"/>
                <a:ea typeface="Amazon Ember" panose="020B0603020204020204" pitchFamily="34" charset="0"/>
                <a:cs typeface="Amazon Ember" panose="020B0603020204020204" pitchFamily="34" charset="0"/>
              </a:rPr>
              <a:t> required resources (like APIs, data sources, tools)</a:t>
            </a:r>
          </a:p>
          <a:p>
            <a:r>
              <a:rPr lang="en-US" b="1" dirty="0">
                <a:solidFill>
                  <a:schemeClr val="accent6"/>
                </a:solidFill>
                <a:latin typeface="+mn-lt"/>
                <a:ea typeface="Amazon Ember" panose="020B0603020204020204" pitchFamily="34" charset="0"/>
                <a:cs typeface="Amazon Ember" panose="020B0603020204020204" pitchFamily="34" charset="0"/>
              </a:rPr>
              <a:t>Execute</a:t>
            </a:r>
            <a:r>
              <a:rPr lang="en-US" dirty="0">
                <a:latin typeface="+mn-lt"/>
                <a:ea typeface="Amazon Ember" panose="020B0603020204020204" pitchFamily="34" charset="0"/>
                <a:cs typeface="Amazon Ember" panose="020B0603020204020204" pitchFamily="34" charset="0"/>
              </a:rPr>
              <a:t> the plan (API and tools invocation)</a:t>
            </a:r>
          </a:p>
          <a:p>
            <a:r>
              <a:rPr lang="en-US" b="1" dirty="0">
                <a:solidFill>
                  <a:schemeClr val="accent6"/>
                </a:solidFill>
                <a:latin typeface="+mn-lt"/>
                <a:ea typeface="Amazon Ember" panose="020B0603020204020204" pitchFamily="34" charset="0"/>
                <a:cs typeface="Amazon Ember" panose="020B0603020204020204" pitchFamily="34" charset="0"/>
              </a:rPr>
              <a:t>Overcome</a:t>
            </a:r>
            <a:r>
              <a:rPr lang="en-US" dirty="0">
                <a:latin typeface="+mn-lt"/>
                <a:ea typeface="Amazon Ember" panose="020B0603020204020204" pitchFamily="34" charset="0"/>
                <a:cs typeface="Amazon Ember" panose="020B0603020204020204" pitchFamily="34" charset="0"/>
              </a:rPr>
              <a:t> obstacles (Retry)</a:t>
            </a:r>
          </a:p>
          <a:p>
            <a:pPr marL="0" indent="0">
              <a:buNone/>
            </a:pPr>
            <a:endParaRPr lang="en-DE">
              <a:latin typeface="+mn-lt"/>
            </a:endParaRPr>
          </a:p>
          <a:p>
            <a:endParaRPr lang="en-US" dirty="0"/>
          </a:p>
        </p:txBody>
      </p:sp>
    </p:spTree>
    <p:extLst>
      <p:ext uri="{BB962C8B-B14F-4D97-AF65-F5344CB8AC3E}">
        <p14:creationId xmlns:p14="http://schemas.microsoft.com/office/powerpoint/2010/main" val="2859607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FFC8F1-F4AF-5EA0-9592-F9CD20205E8B}"/>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C6654BE1-AA38-F4C5-3F77-BB3631838BEE}"/>
              </a:ext>
            </a:extLst>
          </p:cNvPr>
          <p:cNvSpPr>
            <a:spLocks noGrp="1"/>
          </p:cNvSpPr>
          <p:nvPr>
            <p:ph type="title" idx="1"/>
          </p:nvPr>
        </p:nvSpPr>
        <p:spPr/>
        <p:txBody>
          <a:bodyPr/>
          <a:lstStyle/>
          <a:p>
            <a:r>
              <a:rPr lang="en-US" dirty="0" err="1"/>
              <a:t>ReAct</a:t>
            </a:r>
            <a:r>
              <a:rPr lang="en-US" dirty="0"/>
              <a:t>: Reason + Act</a:t>
            </a:r>
          </a:p>
        </p:txBody>
      </p:sp>
      <p:sp>
        <p:nvSpPr>
          <p:cNvPr id="4" name="Content Placeholder 3">
            <a:extLst>
              <a:ext uri="{FF2B5EF4-FFF2-40B4-BE49-F238E27FC236}">
                <a16:creationId xmlns:a16="http://schemas.microsoft.com/office/drawing/2014/main" id="{D89461D5-B2B4-D498-9772-E8DAA42E1224}"/>
              </a:ext>
            </a:extLst>
          </p:cNvPr>
          <p:cNvSpPr>
            <a:spLocks noGrp="1"/>
          </p:cNvSpPr>
          <p:nvPr>
            <p:ph idx="2"/>
          </p:nvPr>
        </p:nvSpPr>
        <p:spPr/>
        <p:txBody>
          <a:bodyPr/>
          <a:lstStyle/>
          <a:p>
            <a:r>
              <a:rPr lang="en-US" dirty="0"/>
              <a:t>LLMs often demonstrate the ability to </a:t>
            </a:r>
            <a:r>
              <a:rPr lang="en-US" dirty="0">
                <a:solidFill>
                  <a:schemeClr val="accent6"/>
                </a:solidFill>
                <a:latin typeface="+mj-lt"/>
              </a:rPr>
              <a:t>reason</a:t>
            </a:r>
            <a:r>
              <a:rPr lang="en-US" dirty="0"/>
              <a:t> logically.</a:t>
            </a:r>
          </a:p>
          <a:p>
            <a:r>
              <a:rPr lang="en-US" dirty="0">
                <a:solidFill>
                  <a:schemeClr val="tx1"/>
                </a:solidFill>
              </a:rPr>
              <a:t>LLMs are capable of generating </a:t>
            </a:r>
            <a:r>
              <a:rPr lang="en-US" dirty="0">
                <a:solidFill>
                  <a:schemeClr val="accent6"/>
                </a:solidFill>
                <a:latin typeface="+mj-lt"/>
              </a:rPr>
              <a:t>action</a:t>
            </a:r>
            <a:r>
              <a:rPr lang="en-US" dirty="0">
                <a:solidFill>
                  <a:schemeClr val="tx1"/>
                </a:solidFill>
              </a:rPr>
              <a:t> plans.</a:t>
            </a:r>
          </a:p>
          <a:p>
            <a:r>
              <a:rPr lang="en-US" dirty="0">
                <a:solidFill>
                  <a:schemeClr val="tx1"/>
                </a:solidFill>
              </a:rPr>
              <a:t>Combine both!</a:t>
            </a:r>
          </a:p>
          <a:p>
            <a:pPr lvl="1"/>
            <a:r>
              <a:rPr lang="en-US" dirty="0">
                <a:solidFill>
                  <a:schemeClr val="accent6"/>
                </a:solidFill>
                <a:latin typeface="+mj-lt"/>
              </a:rPr>
              <a:t>Reasoning</a:t>
            </a:r>
            <a:r>
              <a:rPr lang="en-US" dirty="0">
                <a:solidFill>
                  <a:schemeClr val="tx1"/>
                </a:solidFill>
              </a:rPr>
              <a:t>: Create, track, and update action plans. Handle errors.</a:t>
            </a:r>
          </a:p>
          <a:p>
            <a:pPr lvl="1"/>
            <a:r>
              <a:rPr lang="en-US" sz="2400" dirty="0">
                <a:solidFill>
                  <a:schemeClr val="accent6"/>
                </a:solidFill>
                <a:latin typeface="+mj-lt"/>
              </a:rPr>
              <a:t>Acting</a:t>
            </a:r>
            <a:r>
              <a:rPr lang="en-US" sz="2400" dirty="0">
                <a:solidFill>
                  <a:schemeClr val="tx1"/>
                </a:solidFill>
              </a:rPr>
              <a:t>: Interface with functions, tools, knowledge bases, or environments</a:t>
            </a:r>
            <a:endParaRPr lang="en-US" dirty="0"/>
          </a:p>
          <a:p>
            <a:endParaRPr lang="en-US" dirty="0"/>
          </a:p>
        </p:txBody>
      </p:sp>
      <p:grpSp>
        <p:nvGrpSpPr>
          <p:cNvPr id="18" name="Group 17">
            <a:extLst>
              <a:ext uri="{FF2B5EF4-FFF2-40B4-BE49-F238E27FC236}">
                <a16:creationId xmlns:a16="http://schemas.microsoft.com/office/drawing/2014/main" id="{2948842E-25A2-1025-AFD1-565BFDC8275B}"/>
              </a:ext>
            </a:extLst>
          </p:cNvPr>
          <p:cNvGrpSpPr/>
          <p:nvPr/>
        </p:nvGrpSpPr>
        <p:grpSpPr>
          <a:xfrm>
            <a:off x="1529769" y="4697731"/>
            <a:ext cx="9132461" cy="1366639"/>
            <a:chOff x="1611985" y="4221003"/>
            <a:chExt cx="9132461" cy="1366639"/>
          </a:xfrm>
          <a:solidFill>
            <a:srgbClr val="330066">
              <a:lumMod val="20000"/>
              <a:lumOff val="80000"/>
            </a:srgbClr>
          </a:solidFill>
        </p:grpSpPr>
        <p:sp>
          <p:nvSpPr>
            <p:cNvPr id="19" name="Rounded Rectangle 18">
              <a:extLst>
                <a:ext uri="{FF2B5EF4-FFF2-40B4-BE49-F238E27FC236}">
                  <a16:creationId xmlns:a16="http://schemas.microsoft.com/office/drawing/2014/main" id="{F2D849D7-8CE5-4890-76DA-9369A2C215E1}"/>
                </a:ext>
              </a:extLst>
            </p:cNvPr>
            <p:cNvSpPr/>
            <p:nvPr/>
          </p:nvSpPr>
          <p:spPr>
            <a:xfrm>
              <a:off x="8617695" y="4402003"/>
              <a:ext cx="2126751" cy="1055670"/>
            </a:xfrm>
            <a:prstGeom prst="roundRect">
              <a:avLst/>
            </a:prstGeom>
            <a:solidFill>
              <a:srgbClr val="DF2A5D">
                <a:lumMod val="40000"/>
                <a:lumOff val="6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Environment</a:t>
              </a:r>
            </a:p>
          </p:txBody>
        </p:sp>
        <p:sp>
          <p:nvSpPr>
            <p:cNvPr id="20" name="Rounded Rectangle 19">
              <a:extLst>
                <a:ext uri="{FF2B5EF4-FFF2-40B4-BE49-F238E27FC236}">
                  <a16:creationId xmlns:a16="http://schemas.microsoft.com/office/drawing/2014/main" id="{E454A58B-F125-59CD-4235-D071DEDC85A1}"/>
                </a:ext>
              </a:extLst>
            </p:cNvPr>
            <p:cNvSpPr/>
            <p:nvPr/>
          </p:nvSpPr>
          <p:spPr>
            <a:xfrm>
              <a:off x="1611985" y="4402004"/>
              <a:ext cx="2126751" cy="1055670"/>
            </a:xfrm>
            <a:prstGeom prst="roundRect">
              <a:avLst/>
            </a:prstGeom>
            <a:grp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Reasoning / Chain of Thought</a:t>
              </a:r>
            </a:p>
          </p:txBody>
        </p:sp>
        <p:cxnSp>
          <p:nvCxnSpPr>
            <p:cNvPr id="21" name="Straight Arrow Connector 20">
              <a:extLst>
                <a:ext uri="{FF2B5EF4-FFF2-40B4-BE49-F238E27FC236}">
                  <a16:creationId xmlns:a16="http://schemas.microsoft.com/office/drawing/2014/main" id="{3D353941-49D7-EF63-577E-66EA7216AD89}"/>
                </a:ext>
              </a:extLst>
            </p:cNvPr>
            <p:cNvCxnSpPr>
              <a:cxnSpLocks/>
            </p:cNvCxnSpPr>
            <p:nvPr/>
          </p:nvCxnSpPr>
          <p:spPr>
            <a:xfrm>
              <a:off x="3738736" y="4694170"/>
              <a:ext cx="1451467" cy="0"/>
            </a:xfrm>
            <a:prstGeom prst="straightConnector1">
              <a:avLst/>
            </a:prstGeom>
            <a:grpFill/>
            <a:ln w="63500" cap="flat" cmpd="sng" algn="ctr">
              <a:solidFill>
                <a:srgbClr val="232F3E"/>
              </a:solidFill>
              <a:prstDash val="solid"/>
              <a:miter lim="800000"/>
              <a:tailEnd type="triangle"/>
            </a:ln>
            <a:effectLst/>
          </p:spPr>
        </p:cxnSp>
        <p:cxnSp>
          <p:nvCxnSpPr>
            <p:cNvPr id="22" name="Straight Arrow Connector 21">
              <a:extLst>
                <a:ext uri="{FF2B5EF4-FFF2-40B4-BE49-F238E27FC236}">
                  <a16:creationId xmlns:a16="http://schemas.microsoft.com/office/drawing/2014/main" id="{F0D80661-FB3A-7F76-9662-D72920670FC9}"/>
                </a:ext>
              </a:extLst>
            </p:cNvPr>
            <p:cNvCxnSpPr>
              <a:cxnSpLocks/>
            </p:cNvCxnSpPr>
            <p:nvPr/>
          </p:nvCxnSpPr>
          <p:spPr>
            <a:xfrm>
              <a:off x="6800907" y="4685936"/>
              <a:ext cx="1816788" cy="8234"/>
            </a:xfrm>
            <a:prstGeom prst="straightConnector1">
              <a:avLst/>
            </a:prstGeom>
            <a:grpFill/>
            <a:ln w="63500" cap="flat" cmpd="sng" algn="ctr">
              <a:solidFill>
                <a:srgbClr val="232F3E"/>
              </a:solidFill>
              <a:prstDash val="solid"/>
              <a:miter lim="800000"/>
              <a:tailEnd type="triangle"/>
            </a:ln>
            <a:effectLst/>
          </p:spPr>
        </p:cxnSp>
        <p:cxnSp>
          <p:nvCxnSpPr>
            <p:cNvPr id="23" name="Straight Arrow Connector 22">
              <a:extLst>
                <a:ext uri="{FF2B5EF4-FFF2-40B4-BE49-F238E27FC236}">
                  <a16:creationId xmlns:a16="http://schemas.microsoft.com/office/drawing/2014/main" id="{729BA103-A46B-6483-4868-ACA0E5C9A8BE}"/>
                </a:ext>
              </a:extLst>
            </p:cNvPr>
            <p:cNvCxnSpPr>
              <a:cxnSpLocks/>
            </p:cNvCxnSpPr>
            <p:nvPr/>
          </p:nvCxnSpPr>
          <p:spPr>
            <a:xfrm flipH="1">
              <a:off x="6800906" y="5139993"/>
              <a:ext cx="1816789" cy="0"/>
            </a:xfrm>
            <a:prstGeom prst="straightConnector1">
              <a:avLst/>
            </a:prstGeom>
            <a:grpFill/>
            <a:ln w="63500" cap="flat" cmpd="sng" algn="ctr">
              <a:solidFill>
                <a:srgbClr val="232F3E"/>
              </a:solidFill>
              <a:prstDash val="solid"/>
              <a:miter lim="800000"/>
              <a:tailEnd type="triangle"/>
            </a:ln>
            <a:effectLst/>
          </p:spPr>
        </p:cxnSp>
        <p:cxnSp>
          <p:nvCxnSpPr>
            <p:cNvPr id="24" name="Straight Arrow Connector 23">
              <a:extLst>
                <a:ext uri="{FF2B5EF4-FFF2-40B4-BE49-F238E27FC236}">
                  <a16:creationId xmlns:a16="http://schemas.microsoft.com/office/drawing/2014/main" id="{5F2F5558-CD94-87E0-9D49-3D68BB019470}"/>
                </a:ext>
              </a:extLst>
            </p:cNvPr>
            <p:cNvCxnSpPr>
              <a:cxnSpLocks/>
            </p:cNvCxnSpPr>
            <p:nvPr/>
          </p:nvCxnSpPr>
          <p:spPr>
            <a:xfrm flipH="1">
              <a:off x="3738735" y="5139993"/>
              <a:ext cx="1451467" cy="0"/>
            </a:xfrm>
            <a:prstGeom prst="straightConnector1">
              <a:avLst/>
            </a:prstGeom>
            <a:grpFill/>
            <a:ln w="63500" cap="flat" cmpd="sng" algn="ctr">
              <a:solidFill>
                <a:srgbClr val="232F3E"/>
              </a:solidFill>
              <a:prstDash val="solid"/>
              <a:miter lim="800000"/>
              <a:tailEnd type="triangle"/>
            </a:ln>
            <a:effectLst/>
          </p:spPr>
        </p:cxnSp>
        <p:sp>
          <p:nvSpPr>
            <p:cNvPr id="25" name="TextBox 24">
              <a:extLst>
                <a:ext uri="{FF2B5EF4-FFF2-40B4-BE49-F238E27FC236}">
                  <a16:creationId xmlns:a16="http://schemas.microsoft.com/office/drawing/2014/main" id="{87A12E5B-DB4B-1BEE-878A-ADA4F4DC31B4}"/>
                </a:ext>
              </a:extLst>
            </p:cNvPr>
            <p:cNvSpPr txBox="1"/>
            <p:nvPr/>
          </p:nvSpPr>
          <p:spPr>
            <a:xfrm>
              <a:off x="7183354" y="4221003"/>
              <a:ext cx="1051891"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Actions</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26" name="TextBox 25">
              <a:extLst>
                <a:ext uri="{FF2B5EF4-FFF2-40B4-BE49-F238E27FC236}">
                  <a16:creationId xmlns:a16="http://schemas.microsoft.com/office/drawing/2014/main" id="{16EEE174-192F-F44C-CE30-CB0D56ACC4F4}"/>
                </a:ext>
              </a:extLst>
            </p:cNvPr>
            <p:cNvSpPr txBox="1"/>
            <p:nvPr/>
          </p:nvSpPr>
          <p:spPr>
            <a:xfrm>
              <a:off x="6898021" y="5187532"/>
              <a:ext cx="1622560"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Observation</a:t>
              </a:r>
              <a:endParaRPr kumimoji="0" lang="en-US" sz="1800" b="0" i="0" u="none" strike="noStrike" kern="0" cap="none" spc="0" normalizeH="0" baseline="0" noProof="0" dirty="0">
                <a:ln>
                  <a:noFill/>
                </a:ln>
                <a:solidFill>
                  <a:srgbClr val="232F3E"/>
                </a:solidFill>
                <a:effectLst/>
                <a:uLnTx/>
                <a:uFillTx/>
                <a:latin typeface="Amazon Ember Medium"/>
              </a:endParaRPr>
            </a:p>
          </p:txBody>
        </p:sp>
      </p:grpSp>
      <p:sp>
        <p:nvSpPr>
          <p:cNvPr id="27" name="TextBox 26">
            <a:extLst>
              <a:ext uri="{FF2B5EF4-FFF2-40B4-BE49-F238E27FC236}">
                <a16:creationId xmlns:a16="http://schemas.microsoft.com/office/drawing/2014/main" id="{E4A03AB1-73BE-3AF3-56E5-012F2ED10063}"/>
              </a:ext>
            </a:extLst>
          </p:cNvPr>
          <p:cNvSpPr txBox="1"/>
          <p:nvPr/>
        </p:nvSpPr>
        <p:spPr>
          <a:xfrm>
            <a:off x="4264409" y="6111908"/>
            <a:ext cx="3663182" cy="523220"/>
          </a:xfrm>
          <a:prstGeom prst="rect">
            <a:avLst/>
          </a:prstGeom>
          <a:noFill/>
        </p:spPr>
        <p:txBody>
          <a:bodyPr wrap="none" rtlCol="0">
            <a:spAutoFit/>
          </a:bodyPr>
          <a:lstStyle/>
          <a:p>
            <a:r>
              <a:rPr lang="en-US" sz="2800" dirty="0" err="1">
                <a:solidFill>
                  <a:srgbClr val="DF2A5D"/>
                </a:solidFill>
                <a:latin typeface="Amazon Ember Medium"/>
              </a:rPr>
              <a:t>ReAct</a:t>
            </a:r>
            <a:r>
              <a:rPr lang="en-US" sz="2800" dirty="0">
                <a:solidFill>
                  <a:srgbClr val="DF2A5D"/>
                </a:solidFill>
                <a:latin typeface="Amazon Ember Medium"/>
              </a:rPr>
              <a:t> = Reason + Act</a:t>
            </a:r>
            <a:endParaRPr lang="en-US" sz="2400" dirty="0">
              <a:solidFill>
                <a:srgbClr val="DF2A5D"/>
              </a:solidFill>
              <a:latin typeface="Amazon Ember Medium"/>
            </a:endParaRPr>
          </a:p>
        </p:txBody>
      </p:sp>
      <p:pic>
        <p:nvPicPr>
          <p:cNvPr id="5" name="Picture 7">
            <a:extLst>
              <a:ext uri="{FF2B5EF4-FFF2-40B4-BE49-F238E27FC236}">
                <a16:creationId xmlns:a16="http://schemas.microsoft.com/office/drawing/2014/main" id="{2F3C4E06-F229-BD35-D832-D0E9AF60E3E6}"/>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5290020" y="4627017"/>
            <a:ext cx="1416476" cy="14132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09900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9463BF-FDF4-21A3-0BB7-5DAA2AB5A151}"/>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F77DF253-8C7D-7FFA-B6A5-B9660FFCD4EA}"/>
              </a:ext>
            </a:extLst>
          </p:cNvPr>
          <p:cNvSpPr>
            <a:spLocks noGrp="1"/>
          </p:cNvSpPr>
          <p:nvPr>
            <p:ph type="title" idx="1"/>
          </p:nvPr>
        </p:nvSpPr>
        <p:spPr/>
        <p:txBody>
          <a:bodyPr/>
          <a:lstStyle/>
          <a:p>
            <a:r>
              <a:rPr lang="en-US" dirty="0"/>
              <a:t>Agentic tasks</a:t>
            </a:r>
          </a:p>
        </p:txBody>
      </p:sp>
      <p:sp>
        <p:nvSpPr>
          <p:cNvPr id="4" name="Content Placeholder 3">
            <a:extLst>
              <a:ext uri="{FF2B5EF4-FFF2-40B4-BE49-F238E27FC236}">
                <a16:creationId xmlns:a16="http://schemas.microsoft.com/office/drawing/2014/main" id="{FB330A8C-8141-F172-B0E8-74A9B4B44C96}"/>
              </a:ext>
            </a:extLst>
          </p:cNvPr>
          <p:cNvSpPr>
            <a:spLocks noGrp="1"/>
          </p:cNvSpPr>
          <p:nvPr>
            <p:ph idx="2"/>
          </p:nvPr>
        </p:nvSpPr>
        <p:spPr/>
        <p:txBody>
          <a:bodyPr/>
          <a:lstStyle/>
          <a:p>
            <a:r>
              <a:rPr lang="en-US" dirty="0">
                <a:solidFill>
                  <a:schemeClr val="accent6"/>
                </a:solidFill>
                <a:latin typeface="+mj-lt"/>
              </a:rPr>
              <a:t>Knowledge-intensive tasks</a:t>
            </a:r>
          </a:p>
          <a:p>
            <a:pPr lvl="1"/>
            <a:r>
              <a:rPr lang="en-US" dirty="0"/>
              <a:t>Simple prompting suffers from fact hallucination</a:t>
            </a:r>
          </a:p>
          <a:p>
            <a:pPr lvl="1"/>
            <a:r>
              <a:rPr lang="en-US" dirty="0"/>
              <a:t>Agents can identify the data sources, write queries and retrieve relevant data</a:t>
            </a:r>
          </a:p>
          <a:p>
            <a:r>
              <a:rPr lang="en-US" dirty="0">
                <a:solidFill>
                  <a:schemeClr val="accent6"/>
                </a:solidFill>
                <a:latin typeface="+mj-lt"/>
              </a:rPr>
              <a:t>Decision-making tasks</a:t>
            </a:r>
          </a:p>
          <a:p>
            <a:pPr lvl="1"/>
            <a:r>
              <a:rPr lang="en-US" dirty="0"/>
              <a:t>LLM planning capabilities are enhanced by custom tools</a:t>
            </a:r>
          </a:p>
          <a:p>
            <a:pPr lvl="1"/>
            <a:r>
              <a:rPr lang="en-US" dirty="0"/>
              <a:t>Selecting appropriate tools to execute tasks</a:t>
            </a:r>
          </a:p>
          <a:p>
            <a:pPr lvl="1"/>
            <a:r>
              <a:rPr lang="en-US" dirty="0"/>
              <a:t>However, it’s still far from the performance of expert humans</a:t>
            </a:r>
          </a:p>
          <a:p>
            <a:endParaRPr lang="en-US" dirty="0"/>
          </a:p>
        </p:txBody>
      </p:sp>
    </p:spTree>
    <p:extLst>
      <p:ext uri="{BB962C8B-B14F-4D97-AF65-F5344CB8AC3E}">
        <p14:creationId xmlns:p14="http://schemas.microsoft.com/office/powerpoint/2010/main" val="35865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12</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err="1"/>
              <a:t>LangChain</a:t>
            </a:r>
            <a:r>
              <a:rPr lang="en-US" dirty="0"/>
              <a:t> Agents</a:t>
            </a:r>
          </a:p>
        </p:txBody>
      </p:sp>
    </p:spTree>
    <p:extLst>
      <p:ext uri="{BB962C8B-B14F-4D97-AF65-F5344CB8AC3E}">
        <p14:creationId xmlns:p14="http://schemas.microsoft.com/office/powerpoint/2010/main" val="36598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US" dirty="0" err="1"/>
              <a:t>LangChain</a:t>
            </a:r>
            <a:r>
              <a:rPr lang="en-US" dirty="0"/>
              <a:t> tools</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a:xfrm>
            <a:off x="365760" y="1165536"/>
            <a:ext cx="11466576" cy="3491808"/>
          </a:xfrm>
        </p:spPr>
        <p:txBody>
          <a:bodyPr/>
          <a:lstStyle/>
          <a:p>
            <a:r>
              <a:rPr lang="en-US" dirty="0">
                <a:solidFill>
                  <a:schemeClr val="accent6"/>
                </a:solidFill>
              </a:rPr>
              <a:t>Functions or interfaces </a:t>
            </a:r>
            <a:r>
              <a:rPr lang="en-US" dirty="0"/>
              <a:t>the agent can interact with</a:t>
            </a:r>
          </a:p>
          <a:p>
            <a:pPr lvl="1"/>
            <a:r>
              <a:rPr lang="en-US" dirty="0"/>
              <a:t>Can be APIs, loaders, functions, other chains or agents</a:t>
            </a:r>
          </a:p>
          <a:p>
            <a:pPr lvl="1"/>
            <a:endParaRPr lang="en-US" dirty="0"/>
          </a:p>
          <a:p>
            <a:r>
              <a:rPr lang="en-US" dirty="0"/>
              <a:t>Tools may or may not depend on an LLM</a:t>
            </a:r>
          </a:p>
          <a:p>
            <a:pPr lvl="1"/>
            <a:r>
              <a:rPr lang="en-US" dirty="0"/>
              <a:t>Example: Math tool uses an LLM for answering math questions</a:t>
            </a:r>
          </a:p>
          <a:p>
            <a:r>
              <a:rPr lang="en-US" dirty="0" err="1"/>
              <a:t>LangChains</a:t>
            </a:r>
            <a:r>
              <a:rPr lang="en-US" dirty="0"/>
              <a:t> supports third party integrations</a:t>
            </a:r>
          </a:p>
          <a:p>
            <a:endParaRPr lang="en-US" dirty="0"/>
          </a:p>
        </p:txBody>
      </p:sp>
      <p:sp>
        <p:nvSpPr>
          <p:cNvPr id="5" name="Rectangle 4">
            <a:extLst>
              <a:ext uri="{FF2B5EF4-FFF2-40B4-BE49-F238E27FC236}">
                <a16:creationId xmlns:a16="http://schemas.microsoft.com/office/drawing/2014/main" id="{9FE2B26C-BA9F-CF33-AF04-5290306CBBDC}"/>
              </a:ext>
            </a:extLst>
          </p:cNvPr>
          <p:cNvSpPr/>
          <p:nvPr/>
        </p:nvSpPr>
        <p:spPr>
          <a:xfrm>
            <a:off x="3347880" y="4879538"/>
            <a:ext cx="5274058" cy="1477328"/>
          </a:xfrm>
          <a:prstGeom prst="rect">
            <a:avLst/>
          </a:prstGeom>
          <a:solidFill>
            <a:srgbClr val="FFFFFF"/>
          </a:solidFill>
          <a:ln>
            <a:solidFill>
              <a:srgbClr val="DF2A5D"/>
            </a:solidFill>
          </a:ln>
          <a:effectLst>
            <a:outerShdw blurRad="50800" dist="38100" dir="2700000" algn="tl" rotWithShape="0">
              <a:prstClr val="black">
                <a:alpha val="40000"/>
              </a:prst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List of tool names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tool_names</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Load tools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tools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load_tools</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tool_names</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llm</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11434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3AAD60-7983-A8EA-AC16-706BB891E711}"/>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BD1840A4-18A8-A5CE-BE61-C5CA39F12E48}"/>
              </a:ext>
            </a:extLst>
          </p:cNvPr>
          <p:cNvSpPr>
            <a:spLocks noGrp="1"/>
          </p:cNvSpPr>
          <p:nvPr>
            <p:ph type="title" idx="1"/>
          </p:nvPr>
        </p:nvSpPr>
        <p:spPr/>
        <p:txBody>
          <a:bodyPr/>
          <a:lstStyle/>
          <a:p>
            <a:r>
              <a:rPr lang="en-US" dirty="0" err="1"/>
              <a:t>LangChain</a:t>
            </a:r>
            <a:r>
              <a:rPr lang="en-US" dirty="0"/>
              <a:t> Toolkits</a:t>
            </a:r>
          </a:p>
        </p:txBody>
      </p:sp>
      <p:sp>
        <p:nvSpPr>
          <p:cNvPr id="4" name="Content Placeholder 3">
            <a:extLst>
              <a:ext uri="{FF2B5EF4-FFF2-40B4-BE49-F238E27FC236}">
                <a16:creationId xmlns:a16="http://schemas.microsoft.com/office/drawing/2014/main" id="{95AAA283-9AFC-CAE2-D038-86B3F78785B0}"/>
              </a:ext>
            </a:extLst>
          </p:cNvPr>
          <p:cNvSpPr>
            <a:spLocks noGrp="1"/>
          </p:cNvSpPr>
          <p:nvPr>
            <p:ph idx="2"/>
          </p:nvPr>
        </p:nvSpPr>
        <p:spPr/>
        <p:txBody>
          <a:bodyPr/>
          <a:lstStyle/>
          <a:p>
            <a:r>
              <a:rPr lang="en-US" dirty="0">
                <a:solidFill>
                  <a:schemeClr val="tx1"/>
                </a:solidFill>
                <a:latin typeface="+mn-lt"/>
              </a:rPr>
              <a:t>Pre-defined set of tools</a:t>
            </a:r>
          </a:p>
          <a:p>
            <a:pPr lvl="1"/>
            <a:r>
              <a:rPr lang="en-US" dirty="0">
                <a:solidFill>
                  <a:schemeClr val="tx1"/>
                </a:solidFill>
                <a:latin typeface="+mn-lt"/>
              </a:rPr>
              <a:t>Accomplish specific objectives</a:t>
            </a:r>
          </a:p>
          <a:p>
            <a:pPr lvl="1"/>
            <a:endParaRPr lang="en-US" dirty="0">
              <a:solidFill>
                <a:schemeClr val="tx1"/>
              </a:solidFill>
              <a:latin typeface="+mj-lt"/>
            </a:endParaRPr>
          </a:p>
          <a:p>
            <a:r>
              <a:rPr lang="en-US" dirty="0">
                <a:solidFill>
                  <a:schemeClr val="tx1"/>
                </a:solidFill>
                <a:latin typeface="+mn-lt"/>
              </a:rPr>
              <a:t>Some toolkits Integrations: </a:t>
            </a:r>
          </a:p>
          <a:p>
            <a:pPr lvl="1"/>
            <a:r>
              <a:rPr lang="en-US" dirty="0" err="1">
                <a:solidFill>
                  <a:schemeClr val="accent5"/>
                </a:solidFill>
                <a:latin typeface="+mj-lt"/>
              </a:rPr>
              <a:t>GitHubToolkit</a:t>
            </a:r>
            <a:r>
              <a:rPr lang="en-US" dirty="0">
                <a:solidFill>
                  <a:schemeClr val="tx1"/>
                </a:solidFill>
              </a:rPr>
              <a:t>: Interact with </a:t>
            </a:r>
            <a:r>
              <a:rPr lang="en-US" dirty="0" err="1">
                <a:solidFill>
                  <a:schemeClr val="tx1"/>
                </a:solidFill>
              </a:rPr>
              <a:t>Github</a:t>
            </a:r>
            <a:r>
              <a:rPr lang="en-US" dirty="0">
                <a:solidFill>
                  <a:schemeClr val="tx1"/>
                </a:solidFill>
              </a:rPr>
              <a:t> repository</a:t>
            </a:r>
          </a:p>
          <a:p>
            <a:pPr lvl="1"/>
            <a:r>
              <a:rPr lang="en-US" dirty="0">
                <a:solidFill>
                  <a:schemeClr val="accent5"/>
                </a:solidFill>
                <a:latin typeface="+mj-lt"/>
              </a:rPr>
              <a:t>JSON Toolkit</a:t>
            </a:r>
            <a:r>
              <a:rPr lang="en-US" dirty="0">
                <a:solidFill>
                  <a:schemeClr val="tx1"/>
                </a:solidFill>
              </a:rPr>
              <a:t>: Interacting with JSON or </a:t>
            </a:r>
            <a:r>
              <a:rPr lang="en-US" dirty="0" err="1">
                <a:solidFill>
                  <a:schemeClr val="tx1"/>
                </a:solidFill>
              </a:rPr>
              <a:t>dict</a:t>
            </a:r>
            <a:r>
              <a:rPr lang="en-US" dirty="0">
                <a:solidFill>
                  <a:schemeClr val="tx1"/>
                </a:solidFill>
              </a:rPr>
              <a:t> objects</a:t>
            </a:r>
          </a:p>
          <a:p>
            <a:pPr lvl="1"/>
            <a:r>
              <a:rPr lang="en-US" dirty="0" err="1">
                <a:solidFill>
                  <a:schemeClr val="accent5"/>
                </a:solidFill>
                <a:latin typeface="+mj-lt"/>
              </a:rPr>
              <a:t>PowerBI</a:t>
            </a:r>
            <a:r>
              <a:rPr lang="en-US" dirty="0">
                <a:solidFill>
                  <a:schemeClr val="accent5"/>
                </a:solidFill>
                <a:latin typeface="+mj-lt"/>
              </a:rPr>
              <a:t> Toolkit</a:t>
            </a:r>
            <a:r>
              <a:rPr lang="en-US" dirty="0">
                <a:solidFill>
                  <a:schemeClr val="tx1"/>
                </a:solidFill>
              </a:rPr>
              <a:t>: Interact with Power BI dataset</a:t>
            </a:r>
          </a:p>
          <a:p>
            <a:pPr lvl="1"/>
            <a:r>
              <a:rPr lang="en-US" dirty="0" err="1">
                <a:solidFill>
                  <a:schemeClr val="accent5"/>
                </a:solidFill>
                <a:latin typeface="+mj-lt"/>
              </a:rPr>
              <a:t>PythonREPL</a:t>
            </a:r>
            <a:r>
              <a:rPr lang="en-US" dirty="0">
                <a:solidFill>
                  <a:schemeClr val="tx1"/>
                </a:solidFill>
              </a:rPr>
              <a:t> : Write and execute Python code</a:t>
            </a:r>
          </a:p>
          <a:p>
            <a:pPr lvl="1"/>
            <a:r>
              <a:rPr lang="en-US" dirty="0" err="1">
                <a:solidFill>
                  <a:schemeClr val="accent5"/>
                </a:solidFill>
                <a:effectLst/>
                <a:latin typeface="+mj-lt"/>
              </a:rPr>
              <a:t>SparkSQL</a:t>
            </a:r>
            <a:r>
              <a:rPr lang="en-US" dirty="0">
                <a:solidFill>
                  <a:schemeClr val="accent5"/>
                </a:solidFill>
                <a:effectLst/>
                <a:latin typeface="+mj-lt"/>
              </a:rPr>
              <a:t> Toolkit</a:t>
            </a:r>
            <a:r>
              <a:rPr lang="en-US" dirty="0">
                <a:solidFill>
                  <a:schemeClr val="accent5"/>
                </a:solidFill>
                <a:effectLst/>
              </a:rPr>
              <a:t> </a:t>
            </a:r>
            <a:r>
              <a:rPr lang="en-US" dirty="0">
                <a:solidFill>
                  <a:schemeClr val="tx1"/>
                </a:solidFill>
                <a:effectLst/>
              </a:rPr>
              <a:t>: General inquiries about Spark SQL</a:t>
            </a:r>
          </a:p>
          <a:p>
            <a:pPr lvl="1"/>
            <a:r>
              <a:rPr lang="en-US" dirty="0">
                <a:solidFill>
                  <a:schemeClr val="accent5"/>
                </a:solidFill>
                <a:latin typeface="+mj-lt"/>
              </a:rPr>
              <a:t>Jira Toolkit</a:t>
            </a:r>
            <a:r>
              <a:rPr lang="en-US" dirty="0">
                <a:solidFill>
                  <a:schemeClr val="tx1"/>
                </a:solidFill>
              </a:rPr>
              <a:t>: Interact with Jira instance</a:t>
            </a:r>
          </a:p>
          <a:p>
            <a:endParaRPr lang="en-US" dirty="0"/>
          </a:p>
        </p:txBody>
      </p:sp>
      <p:pic>
        <p:nvPicPr>
          <p:cNvPr id="5" name="Content Placeholder 5">
            <a:extLst>
              <a:ext uri="{FF2B5EF4-FFF2-40B4-BE49-F238E27FC236}">
                <a16:creationId xmlns:a16="http://schemas.microsoft.com/office/drawing/2014/main" id="{41CCCD89-DD41-39CA-5FC1-29D87B98F785}"/>
              </a:ext>
            </a:extLst>
          </p:cNvPr>
          <p:cNvPicPr>
            <a:picLocks noChangeAspect="1"/>
          </p:cNvPicPr>
          <p:nvPr/>
        </p:nvPicPr>
        <p:blipFill>
          <a:blip r:embed="rId3"/>
          <a:stretch>
            <a:fillRect/>
          </a:stretch>
        </p:blipFill>
        <p:spPr>
          <a:xfrm>
            <a:off x="9498285" y="1654589"/>
            <a:ext cx="2379489" cy="2379489"/>
          </a:xfrm>
          <a:prstGeom prst="rect">
            <a:avLst/>
          </a:prstGeom>
        </p:spPr>
      </p:pic>
    </p:spTree>
    <p:extLst>
      <p:ext uri="{BB962C8B-B14F-4D97-AF65-F5344CB8AC3E}">
        <p14:creationId xmlns:p14="http://schemas.microsoft.com/office/powerpoint/2010/main" val="500658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46133-D43E-AC49-A67C-36B7AB5B307C}"/>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E12BCEF8-824D-4FA9-7853-8D74735BD7DB}"/>
              </a:ext>
            </a:extLst>
          </p:cNvPr>
          <p:cNvSpPr>
            <a:spLocks noGrp="1"/>
          </p:cNvSpPr>
          <p:nvPr>
            <p:ph type="title" idx="1"/>
          </p:nvPr>
        </p:nvSpPr>
        <p:spPr/>
        <p:txBody>
          <a:bodyPr/>
          <a:lstStyle/>
          <a:p>
            <a:r>
              <a:rPr lang="en-US" dirty="0" err="1"/>
              <a:t>LangChain</a:t>
            </a:r>
            <a:r>
              <a:rPr lang="en-US" dirty="0"/>
              <a:t> Agents</a:t>
            </a:r>
          </a:p>
        </p:txBody>
      </p:sp>
      <p:sp>
        <p:nvSpPr>
          <p:cNvPr id="4" name="Content Placeholder 3">
            <a:extLst>
              <a:ext uri="{FF2B5EF4-FFF2-40B4-BE49-F238E27FC236}">
                <a16:creationId xmlns:a16="http://schemas.microsoft.com/office/drawing/2014/main" id="{181C36ED-D135-0FB7-E7BE-FCDFE9580198}"/>
              </a:ext>
            </a:extLst>
          </p:cNvPr>
          <p:cNvSpPr>
            <a:spLocks noGrp="1"/>
          </p:cNvSpPr>
          <p:nvPr>
            <p:ph idx="2"/>
          </p:nvPr>
        </p:nvSpPr>
        <p:spPr/>
        <p:txBody>
          <a:bodyPr/>
          <a:lstStyle/>
          <a:p>
            <a:r>
              <a:rPr lang="en-US" dirty="0"/>
              <a:t>Responsible for deciding the actions to take and then execute them</a:t>
            </a:r>
          </a:p>
          <a:p>
            <a:r>
              <a:rPr lang="en-US" dirty="0"/>
              <a:t>Agents may have access to tools </a:t>
            </a:r>
          </a:p>
          <a:p>
            <a:pPr lvl="1"/>
            <a:r>
              <a:rPr lang="en-US" dirty="0"/>
              <a:t>Tools need to be described so that the agent is aware of its function</a:t>
            </a:r>
          </a:p>
          <a:p>
            <a:pPr lvl="1"/>
            <a:r>
              <a:rPr lang="en-US" dirty="0"/>
              <a:t>Important to give the agent access to right tools for a task</a:t>
            </a:r>
          </a:p>
          <a:p>
            <a:pPr lvl="1"/>
            <a:endParaRPr lang="en-US" dirty="0"/>
          </a:p>
          <a:p>
            <a:r>
              <a:rPr lang="en-US" dirty="0">
                <a:solidFill>
                  <a:schemeClr val="accent6"/>
                </a:solidFill>
                <a:latin typeface="+mj-lt"/>
              </a:rPr>
              <a:t>Agent runtimes</a:t>
            </a:r>
            <a:r>
              <a:rPr lang="en-US" dirty="0">
                <a:solidFill>
                  <a:schemeClr val="accent6"/>
                </a:solidFill>
              </a:rPr>
              <a:t> </a:t>
            </a:r>
            <a:r>
              <a:rPr lang="en-US" dirty="0"/>
              <a:t>are responsible for calling the agent and executing the actions</a:t>
            </a:r>
          </a:p>
          <a:p>
            <a:pPr lvl="1"/>
            <a:r>
              <a:rPr lang="en-US" dirty="0"/>
              <a:t>A common one is the </a:t>
            </a:r>
            <a:r>
              <a:rPr lang="en-US" dirty="0" err="1">
                <a:solidFill>
                  <a:schemeClr val="accent6"/>
                </a:solidFill>
                <a:latin typeface="+mj-lt"/>
              </a:rPr>
              <a:t>AgentExecutor</a:t>
            </a:r>
            <a:endParaRPr lang="en-US" dirty="0">
              <a:solidFill>
                <a:schemeClr val="accent6"/>
              </a:solidFill>
              <a:latin typeface="+mj-lt"/>
            </a:endParaRPr>
          </a:p>
          <a:p>
            <a:pPr lvl="1"/>
            <a:endParaRPr lang="en-US" dirty="0"/>
          </a:p>
          <a:p>
            <a:endParaRPr lang="en-US" dirty="0"/>
          </a:p>
        </p:txBody>
      </p:sp>
    </p:spTree>
    <p:extLst>
      <p:ext uri="{BB962C8B-B14F-4D97-AF65-F5344CB8AC3E}">
        <p14:creationId xmlns:p14="http://schemas.microsoft.com/office/powerpoint/2010/main" val="105391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B86374-546F-3100-6A51-66CD969891DF}"/>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A25E9AB6-173C-0E54-9550-E74701552BC8}"/>
              </a:ext>
            </a:extLst>
          </p:cNvPr>
          <p:cNvSpPr>
            <a:spLocks noGrp="1"/>
          </p:cNvSpPr>
          <p:nvPr>
            <p:ph type="title" idx="1"/>
          </p:nvPr>
        </p:nvSpPr>
        <p:spPr/>
        <p:txBody>
          <a:bodyPr/>
          <a:lstStyle/>
          <a:p>
            <a:r>
              <a:rPr lang="en-US" dirty="0"/>
              <a:t>Limitations of agents</a:t>
            </a:r>
          </a:p>
        </p:txBody>
      </p:sp>
      <p:sp>
        <p:nvSpPr>
          <p:cNvPr id="4" name="Content Placeholder 3">
            <a:extLst>
              <a:ext uri="{FF2B5EF4-FFF2-40B4-BE49-F238E27FC236}">
                <a16:creationId xmlns:a16="http://schemas.microsoft.com/office/drawing/2014/main" id="{D618AEE2-086D-129F-8564-061C96FD3540}"/>
              </a:ext>
            </a:extLst>
          </p:cNvPr>
          <p:cNvSpPr>
            <a:spLocks noGrp="1"/>
          </p:cNvSpPr>
          <p:nvPr>
            <p:ph idx="2"/>
          </p:nvPr>
        </p:nvSpPr>
        <p:spPr/>
        <p:txBody>
          <a:bodyPr/>
          <a:lstStyle/>
          <a:p>
            <a:r>
              <a:rPr lang="en-US" dirty="0"/>
              <a:t>Agents require </a:t>
            </a:r>
            <a:r>
              <a:rPr lang="en-US" dirty="0">
                <a:solidFill>
                  <a:schemeClr val="accent6"/>
                </a:solidFill>
                <a:latin typeface="+mj-lt"/>
              </a:rPr>
              <a:t>complex models</a:t>
            </a:r>
            <a:r>
              <a:rPr lang="en-US" dirty="0">
                <a:solidFill>
                  <a:schemeClr val="accent6"/>
                </a:solidFill>
              </a:rPr>
              <a:t> </a:t>
            </a:r>
            <a:r>
              <a:rPr lang="en-US" dirty="0"/>
              <a:t>with reasoning capabilities</a:t>
            </a:r>
          </a:p>
          <a:p>
            <a:pPr lvl="1"/>
            <a:r>
              <a:rPr lang="en-US" dirty="0"/>
              <a:t>Often fails when using smaller or cheaper LLMs</a:t>
            </a:r>
          </a:p>
          <a:p>
            <a:r>
              <a:rPr lang="en-US" dirty="0"/>
              <a:t>Higher level of </a:t>
            </a:r>
            <a:r>
              <a:rPr lang="en-US" dirty="0">
                <a:solidFill>
                  <a:schemeClr val="accent6"/>
                </a:solidFill>
                <a:latin typeface="+mj-lt"/>
              </a:rPr>
              <a:t>abstraction</a:t>
            </a:r>
          </a:p>
          <a:p>
            <a:pPr lvl="1"/>
            <a:r>
              <a:rPr lang="en-US" dirty="0"/>
              <a:t>Challenging to rectify the intermediate steps</a:t>
            </a:r>
          </a:p>
          <a:p>
            <a:pPr lvl="1"/>
            <a:r>
              <a:rPr lang="en-US" dirty="0"/>
              <a:t>Difficult to debug</a:t>
            </a:r>
          </a:p>
          <a:p>
            <a:r>
              <a:rPr lang="en-US" dirty="0">
                <a:solidFill>
                  <a:schemeClr val="accent6"/>
                </a:solidFill>
                <a:latin typeface="+mj-lt"/>
              </a:rPr>
              <a:t>Sensitive to adversarial </a:t>
            </a:r>
            <a:r>
              <a:rPr lang="en-US" dirty="0"/>
              <a:t>examples and edge cases</a:t>
            </a:r>
          </a:p>
          <a:p>
            <a:pPr lvl="1"/>
            <a:r>
              <a:rPr lang="en-US" dirty="0"/>
              <a:t>Can pose security risks</a:t>
            </a:r>
          </a:p>
          <a:p>
            <a:r>
              <a:rPr lang="en-US" dirty="0"/>
              <a:t>Agents can make simple tasks unnecessarily complex</a:t>
            </a:r>
          </a:p>
          <a:p>
            <a:endParaRPr lang="en-US" dirty="0"/>
          </a:p>
          <a:p>
            <a:endParaRPr lang="en-US" dirty="0"/>
          </a:p>
        </p:txBody>
      </p:sp>
    </p:spTree>
    <p:extLst>
      <p:ext uri="{BB962C8B-B14F-4D97-AF65-F5344CB8AC3E}">
        <p14:creationId xmlns:p14="http://schemas.microsoft.com/office/powerpoint/2010/main" val="3386171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2052-C3BC-E256-191F-A57A3B2CB25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1EB05C-0D86-B6F0-5F14-3C596AD79AE4}"/>
              </a:ext>
            </a:extLst>
          </p:cNvPr>
          <p:cNvSpPr>
            <a:spLocks noGrp="1"/>
          </p:cNvSpPr>
          <p:nvPr>
            <p:ph type="sldNum" idx="97"/>
          </p:nvPr>
        </p:nvSpPr>
        <p:spPr/>
        <p:txBody>
          <a:bodyPr/>
          <a:lstStyle/>
          <a:p>
            <a:fld id="{86A8BF56-6CB3-514C-9A64-F39D95C9E25B}" type="slidenum">
              <a:rPr lang="en-US" smtClean="0"/>
              <a:pPr/>
              <a:t>17</a:t>
            </a:fld>
            <a:endParaRPr lang="en-US" dirty="0"/>
          </a:p>
        </p:txBody>
      </p:sp>
      <p:sp>
        <p:nvSpPr>
          <p:cNvPr id="2" name="Title 1">
            <a:extLst>
              <a:ext uri="{FF2B5EF4-FFF2-40B4-BE49-F238E27FC236}">
                <a16:creationId xmlns:a16="http://schemas.microsoft.com/office/drawing/2014/main" id="{17D17530-43A7-83FF-50E6-D05EB68E5937}"/>
              </a:ext>
            </a:extLst>
          </p:cNvPr>
          <p:cNvSpPr>
            <a:spLocks noGrp="1"/>
          </p:cNvSpPr>
          <p:nvPr>
            <p:ph type="title" idx="1"/>
          </p:nvPr>
        </p:nvSpPr>
        <p:spPr/>
        <p:txBody>
          <a:bodyPr/>
          <a:lstStyle/>
          <a:p>
            <a:r>
              <a:rPr lang="en-US" dirty="0"/>
              <a:t>Agentic workflow</a:t>
            </a:r>
          </a:p>
        </p:txBody>
      </p:sp>
    </p:spTree>
    <p:extLst>
      <p:ext uri="{BB962C8B-B14F-4D97-AF65-F5344CB8AC3E}">
        <p14:creationId xmlns:p14="http://schemas.microsoft.com/office/powerpoint/2010/main" val="708812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54D7EC-1647-6692-D24A-E88FBCEA47E2}"/>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A58EED0E-9F48-F18D-BCC9-04AB53A21790}"/>
              </a:ext>
            </a:extLst>
          </p:cNvPr>
          <p:cNvSpPr>
            <a:spLocks noGrp="1"/>
          </p:cNvSpPr>
          <p:nvPr>
            <p:ph type="title" idx="1"/>
          </p:nvPr>
        </p:nvSpPr>
        <p:spPr/>
        <p:txBody>
          <a:bodyPr/>
          <a:lstStyle/>
          <a:p>
            <a:r>
              <a:rPr lang="en-US" dirty="0"/>
              <a:t>Example: Q&amp;A task</a:t>
            </a:r>
          </a:p>
        </p:txBody>
      </p:sp>
      <p:sp>
        <p:nvSpPr>
          <p:cNvPr id="4" name="Content Placeholder 3">
            <a:extLst>
              <a:ext uri="{FF2B5EF4-FFF2-40B4-BE49-F238E27FC236}">
                <a16:creationId xmlns:a16="http://schemas.microsoft.com/office/drawing/2014/main" id="{57120E38-5FC9-A1D3-CAE3-A9A98DF577A1}"/>
              </a:ext>
            </a:extLst>
          </p:cNvPr>
          <p:cNvSpPr>
            <a:spLocks noGrp="1"/>
          </p:cNvSpPr>
          <p:nvPr>
            <p:ph idx="2"/>
          </p:nvPr>
        </p:nvSpPr>
        <p:spPr>
          <a:xfrm>
            <a:off x="365760" y="1033272"/>
            <a:ext cx="11466576" cy="5262696"/>
          </a:xfrm>
        </p:spPr>
        <p:txBody>
          <a:bodyPr/>
          <a:lstStyle/>
          <a:p>
            <a:pPr marL="0" indent="0">
              <a:spcAft>
                <a:spcPts val="1200"/>
              </a:spcAft>
              <a:buNone/>
            </a:pPr>
            <a:r>
              <a:rPr lang="en-US" dirty="0">
                <a:latin typeface="+mn-lt"/>
                <a:ea typeface="Amazon Ember" panose="020B0603020204020204" pitchFamily="34" charset="0"/>
                <a:cs typeface="Amazon Ember" panose="020B0603020204020204" pitchFamily="34" charset="0"/>
              </a:rPr>
              <a:t>Query: </a:t>
            </a:r>
            <a:r>
              <a:rPr lang="en-US" b="1" i="1" dirty="0">
                <a:latin typeface="+mn-lt"/>
                <a:ea typeface="Amazon Ember" panose="020B0603020204020204" pitchFamily="34" charset="0"/>
                <a:cs typeface="Amazon Ember" panose="020B0603020204020204" pitchFamily="34" charset="0"/>
              </a:rPr>
              <a:t>“</a:t>
            </a:r>
            <a:r>
              <a:rPr lang="en-US" b="1" i="1" dirty="0">
                <a:solidFill>
                  <a:schemeClr val="accent5"/>
                </a:solidFill>
                <a:latin typeface="+mn-lt"/>
                <a:ea typeface="Amazon Ember" panose="020B0603020204020204" pitchFamily="34" charset="0"/>
                <a:cs typeface="Amazon Ember" panose="020B0603020204020204" pitchFamily="34" charset="0"/>
              </a:rPr>
              <a:t>What is the age of the current U.S. president today?</a:t>
            </a:r>
            <a:r>
              <a:rPr lang="en-US" b="1" i="1" dirty="0">
                <a:latin typeface="+mn-lt"/>
                <a:ea typeface="Amazon Ember" panose="020B0603020204020204" pitchFamily="34" charset="0"/>
                <a:cs typeface="Amazon Ember" panose="020B0603020204020204" pitchFamily="34" charset="0"/>
              </a:rPr>
              <a:t>” </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Find today’s date</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Find who is the U.S. president on that date (today)</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Find that person’s date of birth</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Calculate the date difference between today’s date and their date of birth</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Convert answer in step 4 to a format specifying years, months, and days </a:t>
            </a:r>
          </a:p>
          <a:p>
            <a:pPr marL="914400" indent="-514350">
              <a:spcAft>
                <a:spcPts val="1200"/>
              </a:spcAft>
              <a:buFont typeface="+mj-lt"/>
              <a:buAutoNum type="arabicPeriod"/>
            </a:pPr>
            <a:r>
              <a:rPr lang="en-US" sz="2400" dirty="0">
                <a:latin typeface="+mn-lt"/>
                <a:ea typeface="Amazon Ember" panose="020B0603020204020204" pitchFamily="34" charset="0"/>
                <a:cs typeface="Amazon Ember" panose="020B0603020204020204" pitchFamily="34" charset="0"/>
              </a:rPr>
              <a:t>Construct and send response to customer</a:t>
            </a:r>
          </a:p>
          <a:p>
            <a:pPr marL="0" indent="0" algn="ctr">
              <a:spcAft>
                <a:spcPts val="1200"/>
              </a:spcAft>
              <a:buNone/>
            </a:pPr>
            <a:r>
              <a:rPr lang="en-US" sz="2400" dirty="0">
                <a:solidFill>
                  <a:srgbClr val="FF0066"/>
                </a:solidFill>
                <a:latin typeface="Amazon Ember" panose="020B0603020204020204" pitchFamily="34" charset="0"/>
                <a:ea typeface="Amazon Ember" panose="020B0603020204020204" pitchFamily="34" charset="0"/>
                <a:cs typeface="Amazon Ember" panose="020B0603020204020204" pitchFamily="34" charset="0"/>
              </a:rPr>
              <a:t>How would a traditional LLM solve this?</a:t>
            </a:r>
          </a:p>
          <a:p>
            <a:pPr marL="400050" indent="0">
              <a:spcAft>
                <a:spcPts val="1200"/>
              </a:spcAft>
              <a:buNone/>
            </a:pP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pPr marL="0" indent="0">
              <a:buNone/>
            </a:pP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endParaRPr lang="en-US" dirty="0"/>
          </a:p>
        </p:txBody>
      </p:sp>
    </p:spTree>
    <p:extLst>
      <p:ext uri="{BB962C8B-B14F-4D97-AF65-F5344CB8AC3E}">
        <p14:creationId xmlns:p14="http://schemas.microsoft.com/office/powerpoint/2010/main" val="4103394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87B36-60CC-5C7F-FA0F-330D56E300A3}"/>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D73AB07B-08A8-E232-77AB-D3309397E937}"/>
              </a:ext>
            </a:extLst>
          </p:cNvPr>
          <p:cNvSpPr>
            <a:spLocks noGrp="1"/>
          </p:cNvSpPr>
          <p:nvPr>
            <p:ph type="title" idx="1"/>
          </p:nvPr>
        </p:nvSpPr>
        <p:spPr/>
        <p:txBody>
          <a:bodyPr/>
          <a:lstStyle/>
          <a:p>
            <a:r>
              <a:rPr lang="en-US" dirty="0"/>
              <a:t>Example: WITHOUT agents</a:t>
            </a:r>
          </a:p>
        </p:txBody>
      </p:sp>
      <p:sp>
        <p:nvSpPr>
          <p:cNvPr id="4" name="Content Placeholder 3">
            <a:extLst>
              <a:ext uri="{FF2B5EF4-FFF2-40B4-BE49-F238E27FC236}">
                <a16:creationId xmlns:a16="http://schemas.microsoft.com/office/drawing/2014/main" id="{2F8892C1-E2AC-ACC8-74DE-1FA2EF84294A}"/>
              </a:ext>
            </a:extLst>
          </p:cNvPr>
          <p:cNvSpPr>
            <a:spLocks noGrp="1"/>
          </p:cNvSpPr>
          <p:nvPr>
            <p:ph idx="2"/>
          </p:nvPr>
        </p:nvSpPr>
        <p:spPr/>
        <p:txBody>
          <a:bodyPr/>
          <a:lstStyle/>
          <a:p>
            <a:pPr>
              <a:spcAft>
                <a:spcPts val="1800"/>
              </a:spcAft>
            </a:pPr>
            <a:r>
              <a:rPr lang="en-US" sz="2400" dirty="0"/>
              <a:t>Typical LLM answers to this question are inaccurate/not useful</a:t>
            </a:r>
            <a:endParaRPr lang="en-US" sz="2400" dirty="0">
              <a:solidFill>
                <a:schemeClr val="accent1"/>
              </a:solidFill>
            </a:endParaRPr>
          </a:p>
          <a:p>
            <a:pPr>
              <a:spcAft>
                <a:spcPts val="1800"/>
              </a:spcAft>
            </a:pPr>
            <a:r>
              <a:rPr lang="en-US" sz="2400" dirty="0"/>
              <a:t>Try out the question with out-of-the-box LLMs like Mistral, Llama, Claude and others using Amazon Bedrock Chat:</a:t>
            </a:r>
            <a:endParaRPr lang="en-US" sz="2400" dirty="0">
              <a:solidFill>
                <a:schemeClr val="accent1"/>
              </a:solidFill>
            </a:endParaRPr>
          </a:p>
          <a:p>
            <a:pPr lvl="1">
              <a:spcAft>
                <a:spcPts val="1800"/>
              </a:spcAft>
            </a:pPr>
            <a:r>
              <a:rPr lang="en-US" sz="2400" dirty="0"/>
              <a:t>Example Mistral Large response (October 2024):</a:t>
            </a:r>
          </a:p>
          <a:p>
            <a:pPr marL="749300" lvl="2" indent="0">
              <a:spcAft>
                <a:spcPts val="1800"/>
              </a:spcAft>
              <a:buNone/>
            </a:pPr>
            <a:r>
              <a:rPr lang="en-US" sz="2400" i="1" dirty="0"/>
              <a:t>As of today, the current U.S. President, Joe Biden, was born on November 20, 1942. To calculate his age, we would subtract his birth date from today's date and then convert that number into years. However, </a:t>
            </a:r>
            <a:r>
              <a:rPr lang="en-US" sz="2400" b="1" i="1" dirty="0">
                <a:solidFill>
                  <a:srgbClr val="FF0066"/>
                </a:solidFill>
              </a:rPr>
              <a:t>since I'm an AI and don't have real-time capabilities,</a:t>
            </a:r>
            <a:r>
              <a:rPr lang="en-US" sz="2400" b="1" i="1" dirty="0"/>
              <a:t> </a:t>
            </a:r>
            <a:r>
              <a:rPr lang="en-US" sz="2400" b="1" i="1" dirty="0">
                <a:solidFill>
                  <a:srgbClr val="FF0066"/>
                </a:solidFill>
              </a:rPr>
              <a:t>I can't provide the exact age right now</a:t>
            </a:r>
            <a:r>
              <a:rPr lang="en-US" sz="2400" i="1" dirty="0"/>
              <a:t>.</a:t>
            </a:r>
            <a:r>
              <a:rPr lang="en-US" sz="2400" i="1" dirty="0">
                <a:solidFill>
                  <a:schemeClr val="tx2"/>
                </a:solidFill>
              </a:rPr>
              <a:t> </a:t>
            </a:r>
            <a:r>
              <a:rPr lang="en-US" sz="2400" i="1" dirty="0"/>
              <a:t>You can use a date calculator or simply search for "Joe Biden's age" in a search engine to get the most accurate and up-to-date information.</a:t>
            </a:r>
          </a:p>
          <a:p>
            <a:endParaRPr lang="en-DE"/>
          </a:p>
        </p:txBody>
      </p:sp>
    </p:spTree>
    <p:extLst>
      <p:ext uri="{BB962C8B-B14F-4D97-AF65-F5344CB8AC3E}">
        <p14:creationId xmlns:p14="http://schemas.microsoft.com/office/powerpoint/2010/main" val="415867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5FDC7D-8044-8947-0C0D-2F526E31E72E}"/>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24C76DD4-2A46-5452-D805-3257D03BFBDE}"/>
              </a:ext>
            </a:extLst>
          </p:cNvPr>
          <p:cNvSpPr>
            <a:spLocks noGrp="1"/>
          </p:cNvSpPr>
          <p:nvPr>
            <p:ph type="title" idx="1"/>
          </p:nvPr>
        </p:nvSpPr>
        <p:spPr/>
        <p:txBody>
          <a:bodyPr/>
          <a:lstStyle/>
          <a:p>
            <a:r>
              <a:rPr lang="en-US" dirty="0"/>
              <a:t>Example: WITH agents</a:t>
            </a:r>
          </a:p>
        </p:txBody>
      </p:sp>
      <p:sp>
        <p:nvSpPr>
          <p:cNvPr id="4" name="Content Placeholder 3">
            <a:extLst>
              <a:ext uri="{FF2B5EF4-FFF2-40B4-BE49-F238E27FC236}">
                <a16:creationId xmlns:a16="http://schemas.microsoft.com/office/drawing/2014/main" id="{1D12B725-E5C5-EE45-1914-94121A5ED0EA}"/>
              </a:ext>
            </a:extLst>
          </p:cNvPr>
          <p:cNvSpPr>
            <a:spLocks noGrp="1"/>
          </p:cNvSpPr>
          <p:nvPr>
            <p:ph idx="2"/>
          </p:nvPr>
        </p:nvSpPr>
        <p:spPr/>
        <p:txBody>
          <a:bodyPr/>
          <a:lstStyle/>
          <a:p>
            <a:r>
              <a:rPr lang="en-US" sz="2800" dirty="0"/>
              <a:t>With Agents, using something like the </a:t>
            </a:r>
            <a:r>
              <a:rPr lang="en-US" sz="2800" b="1" dirty="0">
                <a:solidFill>
                  <a:schemeClr val="accent6"/>
                </a:solidFill>
                <a:hlinkClick r:id="rId3">
                  <a:extLst>
                    <a:ext uri="{A12FA001-AC4F-418D-AE19-62706E023703}">
                      <ahyp:hlinkClr xmlns:ahyp="http://schemas.microsoft.com/office/drawing/2018/hyperlinkcolor" val="tx"/>
                    </a:ext>
                  </a:extLst>
                </a:hlinkClick>
              </a:rPr>
              <a:t>ReAct</a:t>
            </a:r>
            <a:r>
              <a:rPr lang="en-US" sz="2800" dirty="0"/>
              <a:t> technique:</a:t>
            </a:r>
          </a:p>
          <a:p>
            <a:pPr marL="0" indent="0">
              <a:buNone/>
            </a:pPr>
            <a:endParaRPr lang="en-US" sz="2800" dirty="0"/>
          </a:p>
          <a:p>
            <a:pPr lvl="1"/>
            <a:r>
              <a:rPr lang="en-US" sz="2800" dirty="0"/>
              <a:t>A plan will be generated </a:t>
            </a:r>
          </a:p>
          <a:p>
            <a:pPr lvl="1"/>
            <a:r>
              <a:rPr lang="en-US" sz="2800" dirty="0"/>
              <a:t>Step-by-step execution of that plan will be performed </a:t>
            </a:r>
          </a:p>
          <a:p>
            <a:pPr lvl="1"/>
            <a:r>
              <a:rPr lang="en-US" sz="2800" dirty="0"/>
              <a:t>The model will give an accurate answer everyday with no additional code/training/deployment</a:t>
            </a:r>
          </a:p>
          <a:p>
            <a:pPr lvl="1"/>
            <a:r>
              <a:rPr lang="en-US" sz="2800" dirty="0"/>
              <a:t>Remember, today’s date in the user question will change everyday</a:t>
            </a:r>
          </a:p>
          <a:p>
            <a:pPr marL="0" indent="0">
              <a:buNone/>
            </a:pP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endParaRPr lang="en-DE"/>
          </a:p>
          <a:p>
            <a:endParaRPr lang="en-US" dirty="0"/>
          </a:p>
        </p:txBody>
      </p:sp>
    </p:spTree>
    <p:extLst>
      <p:ext uri="{BB962C8B-B14F-4D97-AF65-F5344CB8AC3E}">
        <p14:creationId xmlns:p14="http://schemas.microsoft.com/office/powerpoint/2010/main" val="1947925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5F3828-F93A-611F-2088-9C026F8645B6}"/>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655C1D30-3B9C-9523-EED3-70F3B16B0A65}"/>
              </a:ext>
            </a:extLst>
          </p:cNvPr>
          <p:cNvSpPr>
            <a:spLocks noGrp="1"/>
          </p:cNvSpPr>
          <p:nvPr>
            <p:ph type="title" idx="1"/>
          </p:nvPr>
        </p:nvSpPr>
        <p:spPr/>
        <p:txBody>
          <a:bodyPr/>
          <a:lstStyle/>
          <a:p>
            <a:r>
              <a:rPr lang="en-DE"/>
              <a:t>Agents with </a:t>
            </a:r>
            <a:r>
              <a:rPr lang="en-US" dirty="0"/>
              <a:t>t</a:t>
            </a:r>
            <a:r>
              <a:rPr lang="en-DE"/>
              <a:t>ools</a:t>
            </a:r>
            <a:r>
              <a:rPr lang="en-US" dirty="0"/>
              <a:t> (1/6)</a:t>
            </a:r>
          </a:p>
        </p:txBody>
      </p:sp>
      <p:pic>
        <p:nvPicPr>
          <p:cNvPr id="21" name="Picture 5">
            <a:extLst>
              <a:ext uri="{FF2B5EF4-FFF2-40B4-BE49-F238E27FC236}">
                <a16:creationId xmlns:a16="http://schemas.microsoft.com/office/drawing/2014/main" id="{A4D33786-8AD3-49BE-E90D-B9017E025066}"/>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22" name="Straight Arrow Connector 21">
            <a:extLst>
              <a:ext uri="{FF2B5EF4-FFF2-40B4-BE49-F238E27FC236}">
                <a16:creationId xmlns:a16="http://schemas.microsoft.com/office/drawing/2014/main" id="{5921873A-28A9-5F4A-CFEF-1A37A43BA998}"/>
              </a:ext>
              <a:ext uri="{C183D7F6-B498-43B3-948B-1728B52AA6E4}">
                <adec:decorative xmlns:adec="http://schemas.microsoft.com/office/drawing/2017/decorative" val="1"/>
              </a:ext>
            </a:extLst>
          </p:cNvPr>
          <p:cNvCxnSpPr>
            <a:cxnSpLocks/>
            <a:endCxn id="21"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3" name="Rounded Rectangle 22">
            <a:extLst>
              <a:ext uri="{FF2B5EF4-FFF2-40B4-BE49-F238E27FC236}">
                <a16:creationId xmlns:a16="http://schemas.microsoft.com/office/drawing/2014/main" id="{B7FFC1C8-B776-9A99-80E6-CF79743B9445}"/>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4" name="Rounded Rectangle 23">
            <a:extLst>
              <a:ext uri="{FF2B5EF4-FFF2-40B4-BE49-F238E27FC236}">
                <a16:creationId xmlns:a16="http://schemas.microsoft.com/office/drawing/2014/main" id="{19CB4C8E-EC39-20D0-DF3E-5A6EC9F7FBD2}"/>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25" name="Rounded Rectangle 24">
            <a:extLst>
              <a:ext uri="{FF2B5EF4-FFF2-40B4-BE49-F238E27FC236}">
                <a16:creationId xmlns:a16="http://schemas.microsoft.com/office/drawing/2014/main" id="{4E378F25-5688-5383-16D5-AFEE6A17199E}"/>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26" name="Rounded Rectangle 25">
            <a:extLst>
              <a:ext uri="{FF2B5EF4-FFF2-40B4-BE49-F238E27FC236}">
                <a16:creationId xmlns:a16="http://schemas.microsoft.com/office/drawing/2014/main" id="{11F2901E-C578-A841-5E62-A03B562181E1}"/>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27" name="Straight Arrow Connector 26">
            <a:extLst>
              <a:ext uri="{FF2B5EF4-FFF2-40B4-BE49-F238E27FC236}">
                <a16:creationId xmlns:a16="http://schemas.microsoft.com/office/drawing/2014/main" id="{52DD6171-1452-14FF-ADA0-975A7DC8EE23}"/>
              </a:ext>
              <a:ext uri="{C183D7F6-B498-43B3-948B-1728B52AA6E4}">
                <adec:decorative xmlns:adec="http://schemas.microsoft.com/office/drawing/2017/decorative" val="1"/>
              </a:ext>
            </a:extLst>
          </p:cNvPr>
          <p:cNvCxnSpPr>
            <a:cxnSpLocks/>
            <a:stCxn id="24" idx="2"/>
            <a:endCxn id="21"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28" name="Rounded Rectangle 27">
            <a:extLst>
              <a:ext uri="{FF2B5EF4-FFF2-40B4-BE49-F238E27FC236}">
                <a16:creationId xmlns:a16="http://schemas.microsoft.com/office/drawing/2014/main" id="{3A03F3C5-86B2-CB20-1ED0-B8F43E3A1156}"/>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29" name="Rounded Rectangle 28">
            <a:extLst>
              <a:ext uri="{FF2B5EF4-FFF2-40B4-BE49-F238E27FC236}">
                <a16:creationId xmlns:a16="http://schemas.microsoft.com/office/drawing/2014/main" id="{6A149533-17A2-B80D-ED07-117659FD0743}"/>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30" name="Rounded Rectangle 29">
            <a:extLst>
              <a:ext uri="{FF2B5EF4-FFF2-40B4-BE49-F238E27FC236}">
                <a16:creationId xmlns:a16="http://schemas.microsoft.com/office/drawing/2014/main" id="{F6E547F6-1A0B-A1EE-B4E4-2D62C40F0DBE}"/>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31" name="TextBox 30">
            <a:extLst>
              <a:ext uri="{FF2B5EF4-FFF2-40B4-BE49-F238E27FC236}">
                <a16:creationId xmlns:a16="http://schemas.microsoft.com/office/drawing/2014/main" id="{97DDDF49-C02C-86FE-F394-447AB73E8D6B}"/>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32" name="Straight Arrow Connector 31">
            <a:extLst>
              <a:ext uri="{FF2B5EF4-FFF2-40B4-BE49-F238E27FC236}">
                <a16:creationId xmlns:a16="http://schemas.microsoft.com/office/drawing/2014/main" id="{CC731239-2DAD-A3EE-7129-284C45FB2211}"/>
              </a:ext>
              <a:ext uri="{C183D7F6-B498-43B3-948B-1728B52AA6E4}">
                <adec:decorative xmlns:adec="http://schemas.microsoft.com/office/drawing/2017/decorative" val="1"/>
              </a:ext>
            </a:extLst>
          </p:cNvPr>
          <p:cNvCxnSpPr>
            <a:cxnSpLocks/>
            <a:stCxn id="25"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3" name="Straight Arrow Connector 32">
            <a:extLst>
              <a:ext uri="{FF2B5EF4-FFF2-40B4-BE49-F238E27FC236}">
                <a16:creationId xmlns:a16="http://schemas.microsoft.com/office/drawing/2014/main" id="{F44C1A25-309B-1305-C33A-A9C29170DA75}"/>
              </a:ext>
              <a:ext uri="{C183D7F6-B498-43B3-948B-1728B52AA6E4}">
                <adec:decorative xmlns:adec="http://schemas.microsoft.com/office/drawing/2017/decorative" val="1"/>
              </a:ext>
            </a:extLst>
          </p:cNvPr>
          <p:cNvCxnSpPr>
            <a:cxnSpLocks/>
            <a:stCxn id="26"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4" name="Straight Arrow Connector 33">
            <a:extLst>
              <a:ext uri="{FF2B5EF4-FFF2-40B4-BE49-F238E27FC236}">
                <a16:creationId xmlns:a16="http://schemas.microsoft.com/office/drawing/2014/main" id="{FDABC3DB-4EBB-4509-5C2E-0C7B1DFD5CA3}"/>
              </a:ext>
              <a:ext uri="{C183D7F6-B498-43B3-948B-1728B52AA6E4}">
                <adec:decorative xmlns:adec="http://schemas.microsoft.com/office/drawing/2017/decorative" val="1"/>
              </a:ext>
            </a:extLst>
          </p:cNvPr>
          <p:cNvCxnSpPr>
            <a:cxnSpLocks/>
            <a:stCxn id="29"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5" name="Straight Arrow Connector 34">
            <a:extLst>
              <a:ext uri="{FF2B5EF4-FFF2-40B4-BE49-F238E27FC236}">
                <a16:creationId xmlns:a16="http://schemas.microsoft.com/office/drawing/2014/main" id="{985F67A7-4A75-21FB-FF99-3C6D2E72E3EA}"/>
              </a:ext>
              <a:ext uri="{C183D7F6-B498-43B3-948B-1728B52AA6E4}">
                <adec:decorative xmlns:adec="http://schemas.microsoft.com/office/drawing/2017/decorative" val="1"/>
              </a:ext>
            </a:extLst>
          </p:cNvPr>
          <p:cNvCxnSpPr>
            <a:cxnSpLocks/>
            <a:stCxn id="30"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6" name="Rounded Rectangle 35">
            <a:extLst>
              <a:ext uri="{FF2B5EF4-FFF2-40B4-BE49-F238E27FC236}">
                <a16:creationId xmlns:a16="http://schemas.microsoft.com/office/drawing/2014/main" id="{A23084A0-B691-7155-9755-633E3CA30750}"/>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Search and select tool</a:t>
            </a:r>
          </a:p>
        </p:txBody>
      </p:sp>
    </p:spTree>
    <p:extLst>
      <p:ext uri="{BB962C8B-B14F-4D97-AF65-F5344CB8AC3E}">
        <p14:creationId xmlns:p14="http://schemas.microsoft.com/office/powerpoint/2010/main" val="2915215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13128E-C5C8-3364-29DE-FBBDD3B2C6FD}"/>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93A516B2-E3DD-238F-891F-A1735B65C290}"/>
              </a:ext>
            </a:extLst>
          </p:cNvPr>
          <p:cNvSpPr>
            <a:spLocks noGrp="1"/>
          </p:cNvSpPr>
          <p:nvPr>
            <p:ph type="title" idx="1"/>
          </p:nvPr>
        </p:nvSpPr>
        <p:spPr/>
        <p:txBody>
          <a:bodyPr/>
          <a:lstStyle/>
          <a:p>
            <a:r>
              <a:rPr lang="en-DE"/>
              <a:t>Agents with </a:t>
            </a:r>
            <a:r>
              <a:rPr lang="en-US" dirty="0"/>
              <a:t>t</a:t>
            </a:r>
            <a:r>
              <a:rPr lang="en-DE"/>
              <a:t>ools</a:t>
            </a:r>
            <a:r>
              <a:rPr lang="en-US" dirty="0"/>
              <a:t> (2/6)</a:t>
            </a:r>
          </a:p>
        </p:txBody>
      </p:sp>
      <p:pic>
        <p:nvPicPr>
          <p:cNvPr id="22" name="Picture 5">
            <a:extLst>
              <a:ext uri="{FF2B5EF4-FFF2-40B4-BE49-F238E27FC236}">
                <a16:creationId xmlns:a16="http://schemas.microsoft.com/office/drawing/2014/main" id="{03ECE0D5-9B08-D471-AECA-662A092AFF00}"/>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23" name="Straight Arrow Connector 22">
            <a:extLst>
              <a:ext uri="{FF2B5EF4-FFF2-40B4-BE49-F238E27FC236}">
                <a16:creationId xmlns:a16="http://schemas.microsoft.com/office/drawing/2014/main" id="{BB2DF569-51BB-B463-EFD5-433187EC01BE}"/>
              </a:ext>
              <a:ext uri="{C183D7F6-B498-43B3-948B-1728B52AA6E4}">
                <adec:decorative xmlns:adec="http://schemas.microsoft.com/office/drawing/2017/decorative" val="1"/>
              </a:ext>
            </a:extLst>
          </p:cNvPr>
          <p:cNvCxnSpPr>
            <a:cxnSpLocks/>
            <a:endCxn id="22"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4" name="Rounded Rectangle 23">
            <a:extLst>
              <a:ext uri="{FF2B5EF4-FFF2-40B4-BE49-F238E27FC236}">
                <a16:creationId xmlns:a16="http://schemas.microsoft.com/office/drawing/2014/main" id="{24109C36-DDF8-C520-1F61-A017B5CE63B5}"/>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5" name="Rounded Rectangle 24">
            <a:extLst>
              <a:ext uri="{FF2B5EF4-FFF2-40B4-BE49-F238E27FC236}">
                <a16:creationId xmlns:a16="http://schemas.microsoft.com/office/drawing/2014/main" id="{5CF8FB49-8117-F71E-7FD1-1D5994346AE8}"/>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26" name="Rounded Rectangle 25">
            <a:extLst>
              <a:ext uri="{FF2B5EF4-FFF2-40B4-BE49-F238E27FC236}">
                <a16:creationId xmlns:a16="http://schemas.microsoft.com/office/drawing/2014/main" id="{D58E1D09-5E0B-56C8-99F0-852C41626E2B}"/>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27" name="Rounded Rectangle 26">
            <a:extLst>
              <a:ext uri="{FF2B5EF4-FFF2-40B4-BE49-F238E27FC236}">
                <a16:creationId xmlns:a16="http://schemas.microsoft.com/office/drawing/2014/main" id="{8C4950CE-245B-8911-0F77-07EE61B1C7B6}"/>
              </a:ext>
            </a:extLst>
          </p:cNvPr>
          <p:cNvSpPr/>
          <p:nvPr/>
        </p:nvSpPr>
        <p:spPr>
          <a:xfrm>
            <a:off x="5023702" y="2041818"/>
            <a:ext cx="1955801" cy="693584"/>
          </a:xfrm>
          <a:prstGeom prst="roundRect">
            <a:avLst/>
          </a:prstGeom>
          <a:solidFill>
            <a:srgbClr val="F46EB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28" name="Straight Arrow Connector 27">
            <a:extLst>
              <a:ext uri="{FF2B5EF4-FFF2-40B4-BE49-F238E27FC236}">
                <a16:creationId xmlns:a16="http://schemas.microsoft.com/office/drawing/2014/main" id="{F7ECBE85-EF8A-9D9C-3A5F-5F4080027F01}"/>
              </a:ext>
              <a:ext uri="{C183D7F6-B498-43B3-948B-1728B52AA6E4}">
                <adec:decorative xmlns:adec="http://schemas.microsoft.com/office/drawing/2017/decorative" val="1"/>
              </a:ext>
            </a:extLst>
          </p:cNvPr>
          <p:cNvCxnSpPr>
            <a:cxnSpLocks/>
            <a:stCxn id="25" idx="2"/>
            <a:endCxn id="22"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29" name="Rounded Rectangle 28">
            <a:extLst>
              <a:ext uri="{FF2B5EF4-FFF2-40B4-BE49-F238E27FC236}">
                <a16:creationId xmlns:a16="http://schemas.microsoft.com/office/drawing/2014/main" id="{11CA71E4-42DE-F1C1-25A4-3674D63BA254}"/>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30" name="Rounded Rectangle 29">
            <a:extLst>
              <a:ext uri="{FF2B5EF4-FFF2-40B4-BE49-F238E27FC236}">
                <a16:creationId xmlns:a16="http://schemas.microsoft.com/office/drawing/2014/main" id="{F69481CC-7611-5078-A88D-79DFA7BC1AE2}"/>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31" name="Rounded Rectangle 30">
            <a:extLst>
              <a:ext uri="{FF2B5EF4-FFF2-40B4-BE49-F238E27FC236}">
                <a16:creationId xmlns:a16="http://schemas.microsoft.com/office/drawing/2014/main" id="{668817D2-F24B-9F3E-2EF4-82C736CB99A1}"/>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32" name="TextBox 31">
            <a:extLst>
              <a:ext uri="{FF2B5EF4-FFF2-40B4-BE49-F238E27FC236}">
                <a16:creationId xmlns:a16="http://schemas.microsoft.com/office/drawing/2014/main" id="{C2E4E00E-DBE7-77E2-4578-A860DB72B3E0}"/>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33" name="Straight Arrow Connector 32">
            <a:extLst>
              <a:ext uri="{FF2B5EF4-FFF2-40B4-BE49-F238E27FC236}">
                <a16:creationId xmlns:a16="http://schemas.microsoft.com/office/drawing/2014/main" id="{3E0BEAEC-F630-50C6-2EFB-693FE0817325}"/>
              </a:ext>
              <a:ext uri="{C183D7F6-B498-43B3-948B-1728B52AA6E4}">
                <adec:decorative xmlns:adec="http://schemas.microsoft.com/office/drawing/2017/decorative" val="1"/>
              </a:ext>
            </a:extLst>
          </p:cNvPr>
          <p:cNvCxnSpPr>
            <a:cxnSpLocks/>
            <a:stCxn id="26"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4" name="Straight Arrow Connector 33">
            <a:extLst>
              <a:ext uri="{FF2B5EF4-FFF2-40B4-BE49-F238E27FC236}">
                <a16:creationId xmlns:a16="http://schemas.microsoft.com/office/drawing/2014/main" id="{24185B70-06F1-2F4A-32F5-C12B844ED853}"/>
              </a:ext>
              <a:ext uri="{C183D7F6-B498-43B3-948B-1728B52AA6E4}">
                <adec:decorative xmlns:adec="http://schemas.microsoft.com/office/drawing/2017/decorative" val="1"/>
              </a:ext>
            </a:extLst>
          </p:cNvPr>
          <p:cNvCxnSpPr>
            <a:cxnSpLocks/>
            <a:stCxn id="27"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5" name="Straight Arrow Connector 34">
            <a:extLst>
              <a:ext uri="{FF2B5EF4-FFF2-40B4-BE49-F238E27FC236}">
                <a16:creationId xmlns:a16="http://schemas.microsoft.com/office/drawing/2014/main" id="{7C83BDC6-BEB7-75CB-4F2C-B48CF8AFA998}"/>
              </a:ext>
              <a:ext uri="{C183D7F6-B498-43B3-948B-1728B52AA6E4}">
                <adec:decorative xmlns:adec="http://schemas.microsoft.com/office/drawing/2017/decorative" val="1"/>
              </a:ext>
            </a:extLst>
          </p:cNvPr>
          <p:cNvCxnSpPr>
            <a:cxnSpLocks/>
            <a:stCxn id="30"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6" name="Straight Arrow Connector 35">
            <a:extLst>
              <a:ext uri="{FF2B5EF4-FFF2-40B4-BE49-F238E27FC236}">
                <a16:creationId xmlns:a16="http://schemas.microsoft.com/office/drawing/2014/main" id="{7B742418-1BE9-9C47-B400-6E16A46E9A43}"/>
              </a:ext>
              <a:ext uri="{C183D7F6-B498-43B3-948B-1728B52AA6E4}">
                <adec:decorative xmlns:adec="http://schemas.microsoft.com/office/drawing/2017/decorative" val="1"/>
              </a:ext>
            </a:extLst>
          </p:cNvPr>
          <p:cNvCxnSpPr>
            <a:cxnSpLocks/>
            <a:stCxn id="31"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7" name="Rounded Rectangle 36">
            <a:extLst>
              <a:ext uri="{FF2B5EF4-FFF2-40B4-BE49-F238E27FC236}">
                <a16:creationId xmlns:a16="http://schemas.microsoft.com/office/drawing/2014/main" id="{436245F8-FE8E-65F4-7D61-7D5B0FA9A791}"/>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Date search</a:t>
            </a:r>
          </a:p>
        </p:txBody>
      </p:sp>
      <p:sp>
        <p:nvSpPr>
          <p:cNvPr id="38" name="Cloud Callout 37">
            <a:extLst>
              <a:ext uri="{FF2B5EF4-FFF2-40B4-BE49-F238E27FC236}">
                <a16:creationId xmlns:a16="http://schemas.microsoft.com/office/drawing/2014/main" id="{48850002-CA37-821F-B89A-41CBF65C25E9}"/>
              </a:ext>
            </a:extLst>
          </p:cNvPr>
          <p:cNvSpPr/>
          <p:nvPr/>
        </p:nvSpPr>
        <p:spPr>
          <a:xfrm>
            <a:off x="7136064" y="4225366"/>
            <a:ext cx="2776943" cy="1205613"/>
          </a:xfrm>
          <a:prstGeom prst="cloudCallout">
            <a:avLst>
              <a:gd name="adj1" fmla="val -71002"/>
              <a:gd name="adj2" fmla="val 57422"/>
            </a:avLst>
          </a:prstGeom>
          <a:solidFill>
            <a:srgbClr val="FFFFFF">
              <a:lumMod val="85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1800" b="0" i="1" u="none" strike="noStrike" kern="0" cap="none" spc="0" normalizeH="0" baseline="0" noProof="0" dirty="0">
                <a:ln>
                  <a:noFill/>
                </a:ln>
                <a:solidFill>
                  <a:sysClr val="windowText" lastClr="000000"/>
                </a:solidFill>
                <a:effectLst/>
                <a:uLnTx/>
                <a:uFillTx/>
                <a:latin typeface="Amazon Ember Light"/>
                <a:ea typeface="+mn-ea"/>
                <a:cs typeface="+mn-cs"/>
              </a:rPr>
              <a:t>Today is…</a:t>
            </a:r>
          </a:p>
        </p:txBody>
      </p:sp>
    </p:spTree>
    <p:extLst>
      <p:ext uri="{BB962C8B-B14F-4D97-AF65-F5344CB8AC3E}">
        <p14:creationId xmlns:p14="http://schemas.microsoft.com/office/powerpoint/2010/main" val="2610423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D68C5D-51ED-B315-09CE-F1567529E2B5}"/>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D7350926-5E5B-503F-F08F-95FE65A841DA}"/>
              </a:ext>
            </a:extLst>
          </p:cNvPr>
          <p:cNvSpPr>
            <a:spLocks noGrp="1"/>
          </p:cNvSpPr>
          <p:nvPr>
            <p:ph type="title" idx="1"/>
          </p:nvPr>
        </p:nvSpPr>
        <p:spPr/>
        <p:txBody>
          <a:bodyPr/>
          <a:lstStyle/>
          <a:p>
            <a:r>
              <a:rPr lang="en-DE"/>
              <a:t>Agents with </a:t>
            </a:r>
            <a:r>
              <a:rPr lang="en-US" dirty="0"/>
              <a:t>t</a:t>
            </a:r>
            <a:r>
              <a:rPr lang="en-DE"/>
              <a:t>ools</a:t>
            </a:r>
            <a:r>
              <a:rPr lang="en-US" dirty="0"/>
              <a:t> (3/6)</a:t>
            </a:r>
          </a:p>
        </p:txBody>
      </p:sp>
      <p:pic>
        <p:nvPicPr>
          <p:cNvPr id="5" name="Picture 5">
            <a:extLst>
              <a:ext uri="{FF2B5EF4-FFF2-40B4-BE49-F238E27FC236}">
                <a16:creationId xmlns:a16="http://schemas.microsoft.com/office/drawing/2014/main" id="{75EDC55D-D8A4-C4F0-04C9-0DEC8856A807}"/>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6" name="Straight Arrow Connector 5">
            <a:extLst>
              <a:ext uri="{FF2B5EF4-FFF2-40B4-BE49-F238E27FC236}">
                <a16:creationId xmlns:a16="http://schemas.microsoft.com/office/drawing/2014/main" id="{25CB5338-57C4-EDA3-B6F8-2CC1B8551218}"/>
              </a:ext>
              <a:ext uri="{C183D7F6-B498-43B3-948B-1728B52AA6E4}">
                <adec:decorative xmlns:adec="http://schemas.microsoft.com/office/drawing/2017/decorative" val="1"/>
              </a:ext>
            </a:extLst>
          </p:cNvPr>
          <p:cNvCxnSpPr>
            <a:cxnSpLocks/>
            <a:endCxn id="5"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7" name="Rounded Rectangle 6">
            <a:extLst>
              <a:ext uri="{FF2B5EF4-FFF2-40B4-BE49-F238E27FC236}">
                <a16:creationId xmlns:a16="http://schemas.microsoft.com/office/drawing/2014/main" id="{C3FDB9FC-2E26-C8CA-E151-CA14E270E82F}"/>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8" name="Rounded Rectangle 7">
            <a:extLst>
              <a:ext uri="{FF2B5EF4-FFF2-40B4-BE49-F238E27FC236}">
                <a16:creationId xmlns:a16="http://schemas.microsoft.com/office/drawing/2014/main" id="{C14ADC8A-4DC9-7BE8-F229-8CA800F32205}"/>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9" name="Rounded Rectangle 8">
            <a:extLst>
              <a:ext uri="{FF2B5EF4-FFF2-40B4-BE49-F238E27FC236}">
                <a16:creationId xmlns:a16="http://schemas.microsoft.com/office/drawing/2014/main" id="{F85305FF-60A7-BD2E-1F8D-C8972A253B54}"/>
              </a:ext>
            </a:extLst>
          </p:cNvPr>
          <p:cNvSpPr/>
          <p:nvPr/>
        </p:nvSpPr>
        <p:spPr>
          <a:xfrm>
            <a:off x="2911339" y="2041818"/>
            <a:ext cx="1955801" cy="693584"/>
          </a:xfrm>
          <a:prstGeom prst="roundRect">
            <a:avLst/>
          </a:prstGeom>
          <a:solidFill>
            <a:srgbClr val="F46EB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10" name="Rounded Rectangle 9">
            <a:extLst>
              <a:ext uri="{FF2B5EF4-FFF2-40B4-BE49-F238E27FC236}">
                <a16:creationId xmlns:a16="http://schemas.microsoft.com/office/drawing/2014/main" id="{6704E9E1-082C-BEFA-A498-35FB78B088CE}"/>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11" name="Straight Arrow Connector 10">
            <a:extLst>
              <a:ext uri="{FF2B5EF4-FFF2-40B4-BE49-F238E27FC236}">
                <a16:creationId xmlns:a16="http://schemas.microsoft.com/office/drawing/2014/main" id="{82C2E39A-AB7D-EC10-19CF-55A82BB35CA0}"/>
              </a:ext>
              <a:ext uri="{C183D7F6-B498-43B3-948B-1728B52AA6E4}">
                <adec:decorative xmlns:adec="http://schemas.microsoft.com/office/drawing/2017/decorative" val="1"/>
              </a:ext>
            </a:extLst>
          </p:cNvPr>
          <p:cNvCxnSpPr>
            <a:cxnSpLocks/>
            <a:stCxn id="8" idx="2"/>
            <a:endCxn id="5"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12" name="Rounded Rectangle 11">
            <a:extLst>
              <a:ext uri="{FF2B5EF4-FFF2-40B4-BE49-F238E27FC236}">
                <a16:creationId xmlns:a16="http://schemas.microsoft.com/office/drawing/2014/main" id="{BD65D6D5-A85C-5924-0944-A763E548C7D3}"/>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13" name="Rounded Rectangle 12">
            <a:extLst>
              <a:ext uri="{FF2B5EF4-FFF2-40B4-BE49-F238E27FC236}">
                <a16:creationId xmlns:a16="http://schemas.microsoft.com/office/drawing/2014/main" id="{C72B949F-A417-C5EC-CC73-771BD1DAB072}"/>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14" name="Rounded Rectangle 13">
            <a:extLst>
              <a:ext uri="{FF2B5EF4-FFF2-40B4-BE49-F238E27FC236}">
                <a16:creationId xmlns:a16="http://schemas.microsoft.com/office/drawing/2014/main" id="{C9D6C0CD-8533-1C3E-AC17-07C9EF7CED35}"/>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15" name="TextBox 14">
            <a:extLst>
              <a:ext uri="{FF2B5EF4-FFF2-40B4-BE49-F238E27FC236}">
                <a16:creationId xmlns:a16="http://schemas.microsoft.com/office/drawing/2014/main" id="{8E1F80C5-EB2A-1B73-239F-ACB75B40FB7D}"/>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16" name="Straight Arrow Connector 15">
            <a:extLst>
              <a:ext uri="{FF2B5EF4-FFF2-40B4-BE49-F238E27FC236}">
                <a16:creationId xmlns:a16="http://schemas.microsoft.com/office/drawing/2014/main" id="{C64E79AA-BE6B-1FBB-F7AA-2D0B6469960F}"/>
              </a:ext>
              <a:ext uri="{C183D7F6-B498-43B3-948B-1728B52AA6E4}">
                <adec:decorative xmlns:adec="http://schemas.microsoft.com/office/drawing/2017/decorative" val="1"/>
              </a:ext>
            </a:extLst>
          </p:cNvPr>
          <p:cNvCxnSpPr>
            <a:cxnSpLocks/>
            <a:stCxn id="9"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17" name="Straight Arrow Connector 16">
            <a:extLst>
              <a:ext uri="{FF2B5EF4-FFF2-40B4-BE49-F238E27FC236}">
                <a16:creationId xmlns:a16="http://schemas.microsoft.com/office/drawing/2014/main" id="{D924ED10-82AF-5075-9A9A-9BD8DF639428}"/>
              </a:ext>
              <a:ext uri="{C183D7F6-B498-43B3-948B-1728B52AA6E4}">
                <adec:decorative xmlns:adec="http://schemas.microsoft.com/office/drawing/2017/decorative" val="1"/>
              </a:ext>
            </a:extLst>
          </p:cNvPr>
          <p:cNvCxnSpPr>
            <a:cxnSpLocks/>
            <a:stCxn id="10"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18" name="Straight Arrow Connector 17">
            <a:extLst>
              <a:ext uri="{FF2B5EF4-FFF2-40B4-BE49-F238E27FC236}">
                <a16:creationId xmlns:a16="http://schemas.microsoft.com/office/drawing/2014/main" id="{AE88546E-7D5D-860B-8212-E2E18B55B55C}"/>
              </a:ext>
              <a:ext uri="{C183D7F6-B498-43B3-948B-1728B52AA6E4}">
                <adec:decorative xmlns:adec="http://schemas.microsoft.com/office/drawing/2017/decorative" val="1"/>
              </a:ext>
            </a:extLst>
          </p:cNvPr>
          <p:cNvCxnSpPr>
            <a:cxnSpLocks/>
            <a:stCxn id="13"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19" name="Straight Arrow Connector 18">
            <a:extLst>
              <a:ext uri="{FF2B5EF4-FFF2-40B4-BE49-F238E27FC236}">
                <a16:creationId xmlns:a16="http://schemas.microsoft.com/office/drawing/2014/main" id="{BEC1844F-9BB3-2551-E00A-B07B24BC1645}"/>
              </a:ext>
              <a:ext uri="{C183D7F6-B498-43B3-948B-1728B52AA6E4}">
                <adec:decorative xmlns:adec="http://schemas.microsoft.com/office/drawing/2017/decorative" val="1"/>
              </a:ext>
            </a:extLst>
          </p:cNvPr>
          <p:cNvCxnSpPr>
            <a:cxnSpLocks/>
            <a:stCxn id="14"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20" name="Rounded Rectangle 19">
            <a:extLst>
              <a:ext uri="{FF2B5EF4-FFF2-40B4-BE49-F238E27FC236}">
                <a16:creationId xmlns:a16="http://schemas.microsoft.com/office/drawing/2014/main" id="{4DA33F79-3AF4-420B-2046-E96C34AC52D3}"/>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Web tool</a:t>
            </a:r>
          </a:p>
        </p:txBody>
      </p:sp>
      <p:sp>
        <p:nvSpPr>
          <p:cNvPr id="21" name="Cloud Callout 20">
            <a:extLst>
              <a:ext uri="{FF2B5EF4-FFF2-40B4-BE49-F238E27FC236}">
                <a16:creationId xmlns:a16="http://schemas.microsoft.com/office/drawing/2014/main" id="{85545234-4102-1D7B-F232-F19F4E6EDB3F}"/>
              </a:ext>
            </a:extLst>
          </p:cNvPr>
          <p:cNvSpPr/>
          <p:nvPr/>
        </p:nvSpPr>
        <p:spPr>
          <a:xfrm>
            <a:off x="7136064" y="4225366"/>
            <a:ext cx="2776943" cy="1205613"/>
          </a:xfrm>
          <a:prstGeom prst="cloudCallout">
            <a:avLst>
              <a:gd name="adj1" fmla="val -71002"/>
              <a:gd name="adj2" fmla="val 57422"/>
            </a:avLst>
          </a:prstGeom>
          <a:solidFill>
            <a:srgbClr val="FFFFFF">
              <a:lumMod val="85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1800" b="0" i="1" u="none" strike="noStrike" kern="0" cap="none" spc="0" normalizeH="0" baseline="0" noProof="0" dirty="0">
                <a:ln>
                  <a:noFill/>
                </a:ln>
                <a:solidFill>
                  <a:sysClr val="windowText" lastClr="000000"/>
                </a:solidFill>
                <a:effectLst/>
                <a:uLnTx/>
                <a:uFillTx/>
                <a:latin typeface="Amazon Ember Light"/>
                <a:ea typeface="+mn-ea"/>
                <a:cs typeface="+mn-cs"/>
              </a:rPr>
              <a:t>President of the USA today is…</a:t>
            </a:r>
          </a:p>
        </p:txBody>
      </p:sp>
    </p:spTree>
    <p:extLst>
      <p:ext uri="{BB962C8B-B14F-4D97-AF65-F5344CB8AC3E}">
        <p14:creationId xmlns:p14="http://schemas.microsoft.com/office/powerpoint/2010/main" val="829498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890622-6C80-A98C-5EAB-0C872E7F40B3}"/>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87A355D8-DBA6-1056-90DE-4B1C12274BF7}"/>
              </a:ext>
            </a:extLst>
          </p:cNvPr>
          <p:cNvSpPr>
            <a:spLocks noGrp="1"/>
          </p:cNvSpPr>
          <p:nvPr>
            <p:ph type="title" idx="1"/>
          </p:nvPr>
        </p:nvSpPr>
        <p:spPr/>
        <p:txBody>
          <a:bodyPr/>
          <a:lstStyle/>
          <a:p>
            <a:r>
              <a:rPr lang="en-DE"/>
              <a:t>Agents with </a:t>
            </a:r>
            <a:r>
              <a:rPr lang="en-US" dirty="0"/>
              <a:t>t</a:t>
            </a:r>
            <a:r>
              <a:rPr lang="en-DE"/>
              <a:t>ools</a:t>
            </a:r>
            <a:r>
              <a:rPr lang="en-US" dirty="0"/>
              <a:t> (4/6)</a:t>
            </a:r>
          </a:p>
        </p:txBody>
      </p:sp>
      <p:pic>
        <p:nvPicPr>
          <p:cNvPr id="22" name="Picture 5">
            <a:extLst>
              <a:ext uri="{FF2B5EF4-FFF2-40B4-BE49-F238E27FC236}">
                <a16:creationId xmlns:a16="http://schemas.microsoft.com/office/drawing/2014/main" id="{44F1AEC6-192F-5D4C-F702-75FF139BC3F7}"/>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23" name="Straight Arrow Connector 22">
            <a:extLst>
              <a:ext uri="{FF2B5EF4-FFF2-40B4-BE49-F238E27FC236}">
                <a16:creationId xmlns:a16="http://schemas.microsoft.com/office/drawing/2014/main" id="{26543B05-FB11-7A62-43BA-B5F39FCCA0BC}"/>
              </a:ext>
              <a:ext uri="{C183D7F6-B498-43B3-948B-1728B52AA6E4}">
                <adec:decorative xmlns:adec="http://schemas.microsoft.com/office/drawing/2017/decorative" val="1"/>
              </a:ext>
            </a:extLst>
          </p:cNvPr>
          <p:cNvCxnSpPr>
            <a:cxnSpLocks/>
            <a:endCxn id="22"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4" name="Rounded Rectangle 23">
            <a:extLst>
              <a:ext uri="{FF2B5EF4-FFF2-40B4-BE49-F238E27FC236}">
                <a16:creationId xmlns:a16="http://schemas.microsoft.com/office/drawing/2014/main" id="{F2331090-DDB0-B582-0828-99F5B709FD82}"/>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5" name="Rounded Rectangle 24">
            <a:extLst>
              <a:ext uri="{FF2B5EF4-FFF2-40B4-BE49-F238E27FC236}">
                <a16:creationId xmlns:a16="http://schemas.microsoft.com/office/drawing/2014/main" id="{29299DB4-B853-EA99-85E8-05BFABC80B1D}"/>
              </a:ext>
            </a:extLst>
          </p:cNvPr>
          <p:cNvSpPr/>
          <p:nvPr/>
        </p:nvSpPr>
        <p:spPr>
          <a:xfrm>
            <a:off x="809498" y="2041818"/>
            <a:ext cx="1955801" cy="693584"/>
          </a:xfrm>
          <a:prstGeom prst="roundRect">
            <a:avLst/>
          </a:prstGeom>
          <a:solidFill>
            <a:srgbClr val="F46EB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26" name="Rounded Rectangle 25">
            <a:extLst>
              <a:ext uri="{FF2B5EF4-FFF2-40B4-BE49-F238E27FC236}">
                <a16:creationId xmlns:a16="http://schemas.microsoft.com/office/drawing/2014/main" id="{7BABCC62-4F9A-2FE0-446E-0EA6647F30F6}"/>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27" name="Rounded Rectangle 26">
            <a:extLst>
              <a:ext uri="{FF2B5EF4-FFF2-40B4-BE49-F238E27FC236}">
                <a16:creationId xmlns:a16="http://schemas.microsoft.com/office/drawing/2014/main" id="{415291F2-5665-27E6-C9F3-671824F6D324}"/>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28" name="Straight Arrow Connector 27">
            <a:extLst>
              <a:ext uri="{FF2B5EF4-FFF2-40B4-BE49-F238E27FC236}">
                <a16:creationId xmlns:a16="http://schemas.microsoft.com/office/drawing/2014/main" id="{1E1A2C03-9D63-1DF1-E7FF-0FE906F282C4}"/>
              </a:ext>
              <a:ext uri="{C183D7F6-B498-43B3-948B-1728B52AA6E4}">
                <adec:decorative xmlns:adec="http://schemas.microsoft.com/office/drawing/2017/decorative" val="1"/>
              </a:ext>
            </a:extLst>
          </p:cNvPr>
          <p:cNvCxnSpPr>
            <a:cxnSpLocks/>
            <a:stCxn id="25" idx="2"/>
            <a:endCxn id="22"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29" name="Rounded Rectangle 28">
            <a:extLst>
              <a:ext uri="{FF2B5EF4-FFF2-40B4-BE49-F238E27FC236}">
                <a16:creationId xmlns:a16="http://schemas.microsoft.com/office/drawing/2014/main" id="{1C805402-D618-C1D2-D911-4D1F9FBE8D71}"/>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30" name="Rounded Rectangle 29">
            <a:extLst>
              <a:ext uri="{FF2B5EF4-FFF2-40B4-BE49-F238E27FC236}">
                <a16:creationId xmlns:a16="http://schemas.microsoft.com/office/drawing/2014/main" id="{9CFAA47E-0893-8BAF-A2D9-F8C5AD4F5A5A}"/>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31" name="Rounded Rectangle 30">
            <a:extLst>
              <a:ext uri="{FF2B5EF4-FFF2-40B4-BE49-F238E27FC236}">
                <a16:creationId xmlns:a16="http://schemas.microsoft.com/office/drawing/2014/main" id="{18E1CB26-1302-C946-23AA-C4869D6B6DBC}"/>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32" name="TextBox 31">
            <a:extLst>
              <a:ext uri="{FF2B5EF4-FFF2-40B4-BE49-F238E27FC236}">
                <a16:creationId xmlns:a16="http://schemas.microsoft.com/office/drawing/2014/main" id="{5F134473-52BB-99C0-D7A0-D841C6DDBEA7}"/>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33" name="Straight Arrow Connector 32">
            <a:extLst>
              <a:ext uri="{FF2B5EF4-FFF2-40B4-BE49-F238E27FC236}">
                <a16:creationId xmlns:a16="http://schemas.microsoft.com/office/drawing/2014/main" id="{B94DFC90-543A-9790-0F0F-96501079E90C}"/>
              </a:ext>
              <a:ext uri="{C183D7F6-B498-43B3-948B-1728B52AA6E4}">
                <adec:decorative xmlns:adec="http://schemas.microsoft.com/office/drawing/2017/decorative" val="1"/>
              </a:ext>
            </a:extLst>
          </p:cNvPr>
          <p:cNvCxnSpPr>
            <a:cxnSpLocks/>
            <a:stCxn id="26"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4" name="Straight Arrow Connector 33">
            <a:extLst>
              <a:ext uri="{FF2B5EF4-FFF2-40B4-BE49-F238E27FC236}">
                <a16:creationId xmlns:a16="http://schemas.microsoft.com/office/drawing/2014/main" id="{EF63FF8B-3AC7-F0AD-3A62-B622E5C18CE0}"/>
              </a:ext>
              <a:ext uri="{C183D7F6-B498-43B3-948B-1728B52AA6E4}">
                <adec:decorative xmlns:adec="http://schemas.microsoft.com/office/drawing/2017/decorative" val="1"/>
              </a:ext>
            </a:extLst>
          </p:cNvPr>
          <p:cNvCxnSpPr>
            <a:cxnSpLocks/>
            <a:stCxn id="27"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5" name="Straight Arrow Connector 34">
            <a:extLst>
              <a:ext uri="{FF2B5EF4-FFF2-40B4-BE49-F238E27FC236}">
                <a16:creationId xmlns:a16="http://schemas.microsoft.com/office/drawing/2014/main" id="{4A093952-60AA-CF0F-22AF-5156EEDF43F3}"/>
              </a:ext>
              <a:ext uri="{C183D7F6-B498-43B3-948B-1728B52AA6E4}">
                <adec:decorative xmlns:adec="http://schemas.microsoft.com/office/drawing/2017/decorative" val="1"/>
              </a:ext>
            </a:extLst>
          </p:cNvPr>
          <p:cNvCxnSpPr>
            <a:cxnSpLocks/>
            <a:stCxn id="30"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6" name="Straight Arrow Connector 35">
            <a:extLst>
              <a:ext uri="{FF2B5EF4-FFF2-40B4-BE49-F238E27FC236}">
                <a16:creationId xmlns:a16="http://schemas.microsoft.com/office/drawing/2014/main" id="{88EFD2E9-82B5-6559-CA51-2FA468796267}"/>
              </a:ext>
              <a:ext uri="{C183D7F6-B498-43B3-948B-1728B52AA6E4}">
                <adec:decorative xmlns:adec="http://schemas.microsoft.com/office/drawing/2017/decorative" val="1"/>
              </a:ext>
            </a:extLst>
          </p:cNvPr>
          <p:cNvCxnSpPr>
            <a:cxnSpLocks/>
            <a:stCxn id="31"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7" name="Rounded Rectangle 36">
            <a:extLst>
              <a:ext uri="{FF2B5EF4-FFF2-40B4-BE49-F238E27FC236}">
                <a16:creationId xmlns:a16="http://schemas.microsoft.com/office/drawing/2014/main" id="{D6A420F8-94F6-6088-4F20-0BBC2A8E8D62}"/>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Wikipedia search</a:t>
            </a:r>
          </a:p>
        </p:txBody>
      </p:sp>
      <p:sp>
        <p:nvSpPr>
          <p:cNvPr id="38" name="Cloud Callout 37">
            <a:extLst>
              <a:ext uri="{FF2B5EF4-FFF2-40B4-BE49-F238E27FC236}">
                <a16:creationId xmlns:a16="http://schemas.microsoft.com/office/drawing/2014/main" id="{9B7D260E-98D0-CC82-66B6-405E1F967D2B}"/>
              </a:ext>
            </a:extLst>
          </p:cNvPr>
          <p:cNvSpPr/>
          <p:nvPr/>
        </p:nvSpPr>
        <p:spPr>
          <a:xfrm>
            <a:off x="7136064" y="4225366"/>
            <a:ext cx="2776943" cy="1205613"/>
          </a:xfrm>
          <a:prstGeom prst="cloudCallout">
            <a:avLst>
              <a:gd name="adj1" fmla="val -71002"/>
              <a:gd name="adj2" fmla="val 57422"/>
            </a:avLst>
          </a:prstGeom>
          <a:solidFill>
            <a:srgbClr val="FFFFFF">
              <a:lumMod val="85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1800" b="0" i="1" u="none" strike="noStrike" kern="0" cap="none" spc="0" normalizeH="0" baseline="0" noProof="0" dirty="0">
                <a:ln>
                  <a:noFill/>
                </a:ln>
                <a:solidFill>
                  <a:sysClr val="windowText" lastClr="000000"/>
                </a:solidFill>
                <a:effectLst/>
                <a:uLnTx/>
                <a:uFillTx/>
                <a:latin typeface="Amazon Ember Light"/>
                <a:ea typeface="+mn-ea"/>
                <a:cs typeface="+mn-cs"/>
              </a:rPr>
              <a:t>That person was born on…</a:t>
            </a:r>
          </a:p>
        </p:txBody>
      </p:sp>
    </p:spTree>
    <p:extLst>
      <p:ext uri="{BB962C8B-B14F-4D97-AF65-F5344CB8AC3E}">
        <p14:creationId xmlns:p14="http://schemas.microsoft.com/office/powerpoint/2010/main" val="3686419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3A3386-22B2-9DA5-B199-1B34305D4921}"/>
              </a:ext>
            </a:extLst>
          </p:cNvPr>
          <p:cNvSpPr>
            <a:spLocks noGrp="1"/>
          </p:cNvSpPr>
          <p:nvPr>
            <p:ph type="sldNum" idx="97"/>
          </p:nvPr>
        </p:nvSpPr>
        <p:spPr/>
        <p:txBody>
          <a:bodyPr/>
          <a:lstStyle/>
          <a:p>
            <a:fld id="{86A8BF56-6CB3-514C-9A64-F39D95C9E25B}" type="slidenum">
              <a:rPr lang="en-US" smtClean="0"/>
              <a:t>25</a:t>
            </a:fld>
            <a:endParaRPr lang="en-US"/>
          </a:p>
        </p:txBody>
      </p:sp>
      <p:sp>
        <p:nvSpPr>
          <p:cNvPr id="3" name="Title 2">
            <a:extLst>
              <a:ext uri="{FF2B5EF4-FFF2-40B4-BE49-F238E27FC236}">
                <a16:creationId xmlns:a16="http://schemas.microsoft.com/office/drawing/2014/main" id="{3F6B90B6-4CD6-0419-512F-1685C5222C15}"/>
              </a:ext>
            </a:extLst>
          </p:cNvPr>
          <p:cNvSpPr>
            <a:spLocks noGrp="1"/>
          </p:cNvSpPr>
          <p:nvPr>
            <p:ph type="title" idx="1"/>
          </p:nvPr>
        </p:nvSpPr>
        <p:spPr/>
        <p:txBody>
          <a:bodyPr/>
          <a:lstStyle/>
          <a:p>
            <a:r>
              <a:rPr lang="en-DE"/>
              <a:t>Agents with </a:t>
            </a:r>
            <a:r>
              <a:rPr lang="en-US" dirty="0"/>
              <a:t>t</a:t>
            </a:r>
            <a:r>
              <a:rPr lang="en-DE"/>
              <a:t>ools</a:t>
            </a:r>
            <a:r>
              <a:rPr lang="en-US" dirty="0"/>
              <a:t> (5/6)</a:t>
            </a:r>
          </a:p>
        </p:txBody>
      </p:sp>
      <p:pic>
        <p:nvPicPr>
          <p:cNvPr id="39" name="Picture 5">
            <a:extLst>
              <a:ext uri="{FF2B5EF4-FFF2-40B4-BE49-F238E27FC236}">
                <a16:creationId xmlns:a16="http://schemas.microsoft.com/office/drawing/2014/main" id="{D7DADC70-DDD5-CFF5-3FD0-77A2F7D4F976}"/>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40" name="Straight Arrow Connector 39">
            <a:extLst>
              <a:ext uri="{FF2B5EF4-FFF2-40B4-BE49-F238E27FC236}">
                <a16:creationId xmlns:a16="http://schemas.microsoft.com/office/drawing/2014/main" id="{6966C31C-0EFB-3BCD-976A-1350002B3646}"/>
              </a:ext>
              <a:ext uri="{C183D7F6-B498-43B3-948B-1728B52AA6E4}">
                <adec:decorative xmlns:adec="http://schemas.microsoft.com/office/drawing/2017/decorative" val="1"/>
              </a:ext>
            </a:extLst>
          </p:cNvPr>
          <p:cNvCxnSpPr>
            <a:cxnSpLocks/>
            <a:endCxn id="39"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41" name="Rounded Rectangle 40">
            <a:extLst>
              <a:ext uri="{FF2B5EF4-FFF2-40B4-BE49-F238E27FC236}">
                <a16:creationId xmlns:a16="http://schemas.microsoft.com/office/drawing/2014/main" id="{78EE80A4-0C91-AE2A-E92D-7AE299C2EBB9}"/>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42" name="Rounded Rectangle 41">
            <a:extLst>
              <a:ext uri="{FF2B5EF4-FFF2-40B4-BE49-F238E27FC236}">
                <a16:creationId xmlns:a16="http://schemas.microsoft.com/office/drawing/2014/main" id="{2238CCF7-7E13-79BC-75B8-A4B31B2182A1}"/>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43" name="Rounded Rectangle 42">
            <a:extLst>
              <a:ext uri="{FF2B5EF4-FFF2-40B4-BE49-F238E27FC236}">
                <a16:creationId xmlns:a16="http://schemas.microsoft.com/office/drawing/2014/main" id="{60A0C252-0B82-103C-4F08-6DB814351575}"/>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44" name="Rounded Rectangle 43">
            <a:extLst>
              <a:ext uri="{FF2B5EF4-FFF2-40B4-BE49-F238E27FC236}">
                <a16:creationId xmlns:a16="http://schemas.microsoft.com/office/drawing/2014/main" id="{C4E91FBB-D0F1-1DCC-00ED-D05C4AE6E33F}"/>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45" name="Straight Arrow Connector 44">
            <a:extLst>
              <a:ext uri="{FF2B5EF4-FFF2-40B4-BE49-F238E27FC236}">
                <a16:creationId xmlns:a16="http://schemas.microsoft.com/office/drawing/2014/main" id="{7AB6DC78-AC43-3ED3-DA20-FCECEC93C6E8}"/>
              </a:ext>
              <a:ext uri="{C183D7F6-B498-43B3-948B-1728B52AA6E4}">
                <adec:decorative xmlns:adec="http://schemas.microsoft.com/office/drawing/2017/decorative" val="1"/>
              </a:ext>
            </a:extLst>
          </p:cNvPr>
          <p:cNvCxnSpPr>
            <a:cxnSpLocks/>
            <a:stCxn id="42" idx="2"/>
            <a:endCxn id="39"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46" name="Rounded Rectangle 45">
            <a:extLst>
              <a:ext uri="{FF2B5EF4-FFF2-40B4-BE49-F238E27FC236}">
                <a16:creationId xmlns:a16="http://schemas.microsoft.com/office/drawing/2014/main" id="{747060AA-DFA2-609C-40B6-5771089C5DCE}"/>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47" name="Rounded Rectangle 46">
            <a:extLst>
              <a:ext uri="{FF2B5EF4-FFF2-40B4-BE49-F238E27FC236}">
                <a16:creationId xmlns:a16="http://schemas.microsoft.com/office/drawing/2014/main" id="{779D13BB-E559-4F41-904F-1B9DA4009B2F}"/>
              </a:ext>
            </a:extLst>
          </p:cNvPr>
          <p:cNvSpPr/>
          <p:nvPr/>
        </p:nvSpPr>
        <p:spPr>
          <a:xfrm>
            <a:off x="7136065" y="2041818"/>
            <a:ext cx="1955801" cy="693584"/>
          </a:xfrm>
          <a:prstGeom prst="roundRect">
            <a:avLst/>
          </a:prstGeom>
          <a:solidFill>
            <a:srgbClr val="F46EB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48" name="Rounded Rectangle 47">
            <a:extLst>
              <a:ext uri="{FF2B5EF4-FFF2-40B4-BE49-F238E27FC236}">
                <a16:creationId xmlns:a16="http://schemas.microsoft.com/office/drawing/2014/main" id="{F33C652E-BA66-5D9F-7D34-9B33FA38E597}"/>
              </a:ext>
            </a:extLst>
          </p:cNvPr>
          <p:cNvSpPr/>
          <p:nvPr/>
        </p:nvSpPr>
        <p:spPr>
          <a:xfrm>
            <a:off x="9245682" y="2047018"/>
            <a:ext cx="1955801" cy="693584"/>
          </a:xfrm>
          <a:prstGeom prst="roundRect">
            <a:avLst/>
          </a:prstGeom>
          <a:solidFill>
            <a:srgbClr val="F46EB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49" name="TextBox 48">
            <a:extLst>
              <a:ext uri="{FF2B5EF4-FFF2-40B4-BE49-F238E27FC236}">
                <a16:creationId xmlns:a16="http://schemas.microsoft.com/office/drawing/2014/main" id="{30B5EA5B-1FA0-7D0A-8C19-CC922F02A0BF}"/>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50" name="Straight Arrow Connector 49">
            <a:extLst>
              <a:ext uri="{FF2B5EF4-FFF2-40B4-BE49-F238E27FC236}">
                <a16:creationId xmlns:a16="http://schemas.microsoft.com/office/drawing/2014/main" id="{DECED663-E62F-4B4B-B2A9-3BC95B3D0698}"/>
              </a:ext>
              <a:ext uri="{C183D7F6-B498-43B3-948B-1728B52AA6E4}">
                <adec:decorative xmlns:adec="http://schemas.microsoft.com/office/drawing/2017/decorative" val="1"/>
              </a:ext>
            </a:extLst>
          </p:cNvPr>
          <p:cNvCxnSpPr>
            <a:cxnSpLocks/>
            <a:stCxn id="43"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51" name="Straight Arrow Connector 50">
            <a:extLst>
              <a:ext uri="{FF2B5EF4-FFF2-40B4-BE49-F238E27FC236}">
                <a16:creationId xmlns:a16="http://schemas.microsoft.com/office/drawing/2014/main" id="{17DB9CCF-9797-3B19-E5D2-74128C8DAE4D}"/>
              </a:ext>
              <a:ext uri="{C183D7F6-B498-43B3-948B-1728B52AA6E4}">
                <adec:decorative xmlns:adec="http://schemas.microsoft.com/office/drawing/2017/decorative" val="1"/>
              </a:ext>
            </a:extLst>
          </p:cNvPr>
          <p:cNvCxnSpPr>
            <a:cxnSpLocks/>
            <a:stCxn id="44"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52" name="Straight Arrow Connector 51">
            <a:extLst>
              <a:ext uri="{FF2B5EF4-FFF2-40B4-BE49-F238E27FC236}">
                <a16:creationId xmlns:a16="http://schemas.microsoft.com/office/drawing/2014/main" id="{9BEB0FF0-1287-620F-F07D-D90A0ED8BFF5}"/>
              </a:ext>
              <a:ext uri="{C183D7F6-B498-43B3-948B-1728B52AA6E4}">
                <adec:decorative xmlns:adec="http://schemas.microsoft.com/office/drawing/2017/decorative" val="1"/>
              </a:ext>
            </a:extLst>
          </p:cNvPr>
          <p:cNvCxnSpPr>
            <a:cxnSpLocks/>
            <a:stCxn id="47"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53" name="Straight Arrow Connector 52">
            <a:extLst>
              <a:ext uri="{FF2B5EF4-FFF2-40B4-BE49-F238E27FC236}">
                <a16:creationId xmlns:a16="http://schemas.microsoft.com/office/drawing/2014/main" id="{ABE20200-2312-A9BF-1996-E755C0E3EDFB}"/>
              </a:ext>
              <a:ext uri="{C183D7F6-B498-43B3-948B-1728B52AA6E4}">
                <adec:decorative xmlns:adec="http://schemas.microsoft.com/office/drawing/2017/decorative" val="1"/>
              </a:ext>
            </a:extLst>
          </p:cNvPr>
          <p:cNvCxnSpPr>
            <a:cxnSpLocks/>
            <a:stCxn id="48"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54" name="Rounded Rectangle 53">
            <a:extLst>
              <a:ext uri="{FF2B5EF4-FFF2-40B4-BE49-F238E27FC236}">
                <a16:creationId xmlns:a16="http://schemas.microsoft.com/office/drawing/2014/main" id="{6A7297AF-888C-3127-E018-BE22613A7B87}"/>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32F3E"/>
                </a:solidFill>
                <a:effectLst/>
                <a:uLnTx/>
                <a:uFillTx/>
                <a:latin typeface="Amazon Ember Light"/>
                <a:ea typeface="+mn-ea"/>
                <a:cs typeface="+mn-cs"/>
              </a:rPr>
              <a:t>Age calculation</a:t>
            </a:r>
            <a:endParaRPr kumimoji="0" lang="en-DE" sz="22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55" name="Cloud Callout 54">
            <a:extLst>
              <a:ext uri="{FF2B5EF4-FFF2-40B4-BE49-F238E27FC236}">
                <a16:creationId xmlns:a16="http://schemas.microsoft.com/office/drawing/2014/main" id="{4A1AFE7F-9C81-2C7A-7F10-BF62A76D8A4F}"/>
              </a:ext>
            </a:extLst>
          </p:cNvPr>
          <p:cNvSpPr/>
          <p:nvPr/>
        </p:nvSpPr>
        <p:spPr>
          <a:xfrm>
            <a:off x="7136064" y="4225366"/>
            <a:ext cx="2776943" cy="1205613"/>
          </a:xfrm>
          <a:prstGeom prst="cloudCallout">
            <a:avLst>
              <a:gd name="adj1" fmla="val -71002"/>
              <a:gd name="adj2" fmla="val 57422"/>
            </a:avLst>
          </a:prstGeom>
          <a:solidFill>
            <a:srgbClr val="FFFFFF">
              <a:lumMod val="85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1800" b="0" i="1" u="none" strike="noStrike" kern="0" cap="none" spc="0" normalizeH="0" baseline="0" noProof="0" dirty="0">
                <a:ln>
                  <a:noFill/>
                </a:ln>
                <a:solidFill>
                  <a:sysClr val="windowText" lastClr="000000"/>
                </a:solidFill>
                <a:effectLst/>
                <a:uLnTx/>
                <a:uFillTx/>
                <a:latin typeface="Amazon Ember Light"/>
                <a:ea typeface="+mn-ea"/>
                <a:cs typeface="+mn-cs"/>
              </a:rPr>
              <a:t>20XX – 19XX in years, months, days is…</a:t>
            </a:r>
          </a:p>
        </p:txBody>
      </p:sp>
    </p:spTree>
    <p:extLst>
      <p:ext uri="{BB962C8B-B14F-4D97-AF65-F5344CB8AC3E}">
        <p14:creationId xmlns:p14="http://schemas.microsoft.com/office/powerpoint/2010/main" val="2466855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45E887-4900-EBD8-D99C-23B93702C4C1}"/>
              </a:ext>
            </a:extLst>
          </p:cNvPr>
          <p:cNvSpPr>
            <a:spLocks noGrp="1"/>
          </p:cNvSpPr>
          <p:nvPr>
            <p:ph type="sldNum" idx="97"/>
          </p:nvPr>
        </p:nvSpPr>
        <p:spPr/>
        <p:txBody>
          <a:bodyPr/>
          <a:lstStyle/>
          <a:p>
            <a:fld id="{86A8BF56-6CB3-514C-9A64-F39D95C9E25B}" type="slidenum">
              <a:rPr lang="en-US" smtClean="0"/>
              <a:t>26</a:t>
            </a:fld>
            <a:endParaRPr lang="en-US"/>
          </a:p>
        </p:txBody>
      </p:sp>
      <p:sp>
        <p:nvSpPr>
          <p:cNvPr id="3" name="Title 2">
            <a:extLst>
              <a:ext uri="{FF2B5EF4-FFF2-40B4-BE49-F238E27FC236}">
                <a16:creationId xmlns:a16="http://schemas.microsoft.com/office/drawing/2014/main" id="{8A33DBC4-8AFF-8821-A041-ABBC737B6F29}"/>
              </a:ext>
            </a:extLst>
          </p:cNvPr>
          <p:cNvSpPr>
            <a:spLocks noGrp="1"/>
          </p:cNvSpPr>
          <p:nvPr>
            <p:ph type="title" idx="1"/>
          </p:nvPr>
        </p:nvSpPr>
        <p:spPr/>
        <p:txBody>
          <a:bodyPr/>
          <a:lstStyle/>
          <a:p>
            <a:r>
              <a:rPr lang="en-DE"/>
              <a:t>Agents with </a:t>
            </a:r>
            <a:r>
              <a:rPr lang="en-US" dirty="0"/>
              <a:t>t</a:t>
            </a:r>
            <a:r>
              <a:rPr lang="en-DE"/>
              <a:t>ools</a:t>
            </a:r>
            <a:r>
              <a:rPr lang="en-US" dirty="0"/>
              <a:t> (6/6)</a:t>
            </a:r>
          </a:p>
        </p:txBody>
      </p:sp>
      <p:pic>
        <p:nvPicPr>
          <p:cNvPr id="23" name="Picture 5">
            <a:extLst>
              <a:ext uri="{FF2B5EF4-FFF2-40B4-BE49-F238E27FC236}">
                <a16:creationId xmlns:a16="http://schemas.microsoft.com/office/drawing/2014/main" id="{2E5CFC30-915D-BF5D-11FF-F17E8D50A5B9}"/>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24" name="Straight Arrow Connector 23">
            <a:extLst>
              <a:ext uri="{FF2B5EF4-FFF2-40B4-BE49-F238E27FC236}">
                <a16:creationId xmlns:a16="http://schemas.microsoft.com/office/drawing/2014/main" id="{330B6DAF-C0BA-8E23-4B1C-F6B3D2FD8060}"/>
              </a:ext>
              <a:ext uri="{C183D7F6-B498-43B3-948B-1728B52AA6E4}">
                <adec:decorative xmlns:adec="http://schemas.microsoft.com/office/drawing/2017/decorative" val="1"/>
              </a:ext>
            </a:extLst>
          </p:cNvPr>
          <p:cNvCxnSpPr>
            <a:cxnSpLocks/>
            <a:endCxn id="23"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5" name="Rounded Rectangle 24">
            <a:extLst>
              <a:ext uri="{FF2B5EF4-FFF2-40B4-BE49-F238E27FC236}">
                <a16:creationId xmlns:a16="http://schemas.microsoft.com/office/drawing/2014/main" id="{5ABEC4F4-24D5-15E0-1E62-D8712629B075}"/>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6" name="Rounded Rectangle 25">
            <a:extLst>
              <a:ext uri="{FF2B5EF4-FFF2-40B4-BE49-F238E27FC236}">
                <a16:creationId xmlns:a16="http://schemas.microsoft.com/office/drawing/2014/main" id="{51DFAC60-4470-2459-8C46-B047BF11725D}"/>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27" name="Rounded Rectangle 26">
            <a:extLst>
              <a:ext uri="{FF2B5EF4-FFF2-40B4-BE49-F238E27FC236}">
                <a16:creationId xmlns:a16="http://schemas.microsoft.com/office/drawing/2014/main" id="{5F624A38-57E7-B37B-9DAF-75EA57B721BC}"/>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28" name="Rounded Rectangle 27">
            <a:extLst>
              <a:ext uri="{FF2B5EF4-FFF2-40B4-BE49-F238E27FC236}">
                <a16:creationId xmlns:a16="http://schemas.microsoft.com/office/drawing/2014/main" id="{BE280627-1D21-95DB-4924-4635BC730B33}"/>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29" name="Straight Arrow Connector 28">
            <a:extLst>
              <a:ext uri="{FF2B5EF4-FFF2-40B4-BE49-F238E27FC236}">
                <a16:creationId xmlns:a16="http://schemas.microsoft.com/office/drawing/2014/main" id="{FA15A974-6B27-5CD3-2848-6966D1A88E19}"/>
              </a:ext>
              <a:ext uri="{C183D7F6-B498-43B3-948B-1728B52AA6E4}">
                <adec:decorative xmlns:adec="http://schemas.microsoft.com/office/drawing/2017/decorative" val="1"/>
              </a:ext>
            </a:extLst>
          </p:cNvPr>
          <p:cNvCxnSpPr>
            <a:cxnSpLocks/>
            <a:stCxn id="26" idx="2"/>
            <a:endCxn id="23"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0" name="Rounded Rectangle 29">
            <a:extLst>
              <a:ext uri="{FF2B5EF4-FFF2-40B4-BE49-F238E27FC236}">
                <a16:creationId xmlns:a16="http://schemas.microsoft.com/office/drawing/2014/main" id="{84DBCEDA-6825-0F22-60F7-20B89185431B}"/>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31" name="Rounded Rectangle 30">
            <a:extLst>
              <a:ext uri="{FF2B5EF4-FFF2-40B4-BE49-F238E27FC236}">
                <a16:creationId xmlns:a16="http://schemas.microsoft.com/office/drawing/2014/main" id="{5B647F57-1E51-4492-4681-A61ED413092F}"/>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32" name="Rounded Rectangle 31">
            <a:extLst>
              <a:ext uri="{FF2B5EF4-FFF2-40B4-BE49-F238E27FC236}">
                <a16:creationId xmlns:a16="http://schemas.microsoft.com/office/drawing/2014/main" id="{F1251E68-8B83-6601-BFF6-D105B17C03FF}"/>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33" name="TextBox 32">
            <a:extLst>
              <a:ext uri="{FF2B5EF4-FFF2-40B4-BE49-F238E27FC236}">
                <a16:creationId xmlns:a16="http://schemas.microsoft.com/office/drawing/2014/main" id="{59E59DF5-2F48-E661-6E7C-A1D9564BD209}"/>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34" name="Straight Arrow Connector 33">
            <a:extLst>
              <a:ext uri="{FF2B5EF4-FFF2-40B4-BE49-F238E27FC236}">
                <a16:creationId xmlns:a16="http://schemas.microsoft.com/office/drawing/2014/main" id="{949FF8DE-F199-8BFF-4C25-9AB388D1FEF1}"/>
              </a:ext>
              <a:ext uri="{C183D7F6-B498-43B3-948B-1728B52AA6E4}">
                <adec:decorative xmlns:adec="http://schemas.microsoft.com/office/drawing/2017/decorative" val="1"/>
              </a:ext>
            </a:extLst>
          </p:cNvPr>
          <p:cNvCxnSpPr>
            <a:cxnSpLocks/>
            <a:stCxn id="27"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5" name="Straight Arrow Connector 34">
            <a:extLst>
              <a:ext uri="{FF2B5EF4-FFF2-40B4-BE49-F238E27FC236}">
                <a16:creationId xmlns:a16="http://schemas.microsoft.com/office/drawing/2014/main" id="{156F1992-D012-0530-1968-9B93A22AA83F}"/>
              </a:ext>
              <a:ext uri="{C183D7F6-B498-43B3-948B-1728B52AA6E4}">
                <adec:decorative xmlns:adec="http://schemas.microsoft.com/office/drawing/2017/decorative" val="1"/>
              </a:ext>
            </a:extLst>
          </p:cNvPr>
          <p:cNvCxnSpPr>
            <a:cxnSpLocks/>
            <a:stCxn id="28"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6" name="Straight Arrow Connector 35">
            <a:extLst>
              <a:ext uri="{FF2B5EF4-FFF2-40B4-BE49-F238E27FC236}">
                <a16:creationId xmlns:a16="http://schemas.microsoft.com/office/drawing/2014/main" id="{F592406C-7FA5-2790-DC6A-2B6FF69BC452}"/>
              </a:ext>
              <a:ext uri="{C183D7F6-B498-43B3-948B-1728B52AA6E4}">
                <adec:decorative xmlns:adec="http://schemas.microsoft.com/office/drawing/2017/decorative" val="1"/>
              </a:ext>
            </a:extLst>
          </p:cNvPr>
          <p:cNvCxnSpPr>
            <a:cxnSpLocks/>
            <a:stCxn id="31"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7" name="Straight Arrow Connector 36">
            <a:extLst>
              <a:ext uri="{FF2B5EF4-FFF2-40B4-BE49-F238E27FC236}">
                <a16:creationId xmlns:a16="http://schemas.microsoft.com/office/drawing/2014/main" id="{7AC70225-8B0D-2C16-56D3-5696F1D2C42E}"/>
              </a:ext>
              <a:ext uri="{C183D7F6-B498-43B3-948B-1728B52AA6E4}">
                <adec:decorative xmlns:adec="http://schemas.microsoft.com/office/drawing/2017/decorative" val="1"/>
              </a:ext>
            </a:extLst>
          </p:cNvPr>
          <p:cNvCxnSpPr>
            <a:cxnSpLocks/>
            <a:stCxn id="32"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8" name="Rounded Rectangle 37">
            <a:extLst>
              <a:ext uri="{FF2B5EF4-FFF2-40B4-BE49-F238E27FC236}">
                <a16:creationId xmlns:a16="http://schemas.microsoft.com/office/drawing/2014/main" id="{9706DB80-B9C0-DC94-E938-D4CB732E824C}"/>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Assemble final answer</a:t>
            </a:r>
          </a:p>
        </p:txBody>
      </p:sp>
      <p:cxnSp>
        <p:nvCxnSpPr>
          <p:cNvPr id="39" name="Straight Arrow Connector 38">
            <a:extLst>
              <a:ext uri="{FF2B5EF4-FFF2-40B4-BE49-F238E27FC236}">
                <a16:creationId xmlns:a16="http://schemas.microsoft.com/office/drawing/2014/main" id="{00418A45-FD3E-D047-8D7A-CF566D2FB835}"/>
              </a:ext>
              <a:ext uri="{C183D7F6-B498-43B3-948B-1728B52AA6E4}">
                <adec:decorative xmlns:adec="http://schemas.microsoft.com/office/drawing/2017/decorative" val="1"/>
              </a:ext>
            </a:extLst>
          </p:cNvPr>
          <p:cNvCxnSpPr>
            <a:cxnSpLocks/>
          </p:cNvCxnSpPr>
          <p:nvPr/>
        </p:nvCxnSpPr>
        <p:spPr>
          <a:xfrm flipV="1">
            <a:off x="6394976" y="5436020"/>
            <a:ext cx="1359415" cy="7148"/>
          </a:xfrm>
          <a:prstGeom prst="straightConnector1">
            <a:avLst/>
          </a:prstGeom>
          <a:noFill/>
          <a:ln w="63500" cap="flat" cmpd="sng" algn="ctr">
            <a:solidFill>
              <a:srgbClr val="DF2A5D"/>
            </a:solidFill>
            <a:prstDash val="solid"/>
            <a:miter lim="800000"/>
            <a:tailEnd type="triangle"/>
          </a:ln>
          <a:effectLst/>
        </p:spPr>
      </p:cxnSp>
      <p:sp>
        <p:nvSpPr>
          <p:cNvPr id="40" name="Rounded Rectangle 39">
            <a:extLst>
              <a:ext uri="{FF2B5EF4-FFF2-40B4-BE49-F238E27FC236}">
                <a16:creationId xmlns:a16="http://schemas.microsoft.com/office/drawing/2014/main" id="{0368F8DE-D752-4823-83E4-A84CF5B58618}"/>
              </a:ext>
            </a:extLst>
          </p:cNvPr>
          <p:cNvSpPr/>
          <p:nvPr/>
        </p:nvSpPr>
        <p:spPr>
          <a:xfrm>
            <a:off x="7857469" y="4626557"/>
            <a:ext cx="2855064" cy="1633219"/>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1" u="none" strike="noStrike" kern="0" cap="none" spc="0" normalizeH="0" baseline="0" noProof="0" dirty="0">
                <a:ln>
                  <a:noFill/>
                </a:ln>
                <a:solidFill>
                  <a:srgbClr val="232F3E"/>
                </a:solidFill>
                <a:effectLst/>
                <a:uLnTx/>
                <a:uFillTx/>
                <a:latin typeface="Amazon Ember Light"/>
                <a:ea typeface="+mn-ea"/>
                <a:cs typeface="+mn-cs"/>
              </a:rPr>
              <a:t>The answer to your question is X years, Y months, Z days</a:t>
            </a:r>
          </a:p>
        </p:txBody>
      </p:sp>
    </p:spTree>
    <p:extLst>
      <p:ext uri="{BB962C8B-B14F-4D97-AF65-F5344CB8AC3E}">
        <p14:creationId xmlns:p14="http://schemas.microsoft.com/office/powerpoint/2010/main" val="3966991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topics related </a:t>
            </a:r>
            <a:r>
              <a:rPr lang="en-US"/>
              <a:t>to agents.</a:t>
            </a:r>
            <a:endParaRPr lang="en-US" dirty="0"/>
          </a:p>
          <a:p>
            <a:r>
              <a:rPr lang="en-US" dirty="0"/>
              <a:t>In the next lesson, you will learn about multimodal applications.</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28</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13791</TotalTime>
  <Words>7012</Words>
  <Application>Microsoft Macintosh PowerPoint</Application>
  <PresentationFormat>Widescreen</PresentationFormat>
  <Paragraphs>903</Paragraphs>
  <Slides>28</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Amazon Ember</vt:lpstr>
      <vt:lpstr>Amazon Ember Display</vt:lpstr>
      <vt:lpstr>Amazon Ember Display Heavy</vt:lpstr>
      <vt:lpstr>Amazon Ember Heavy</vt:lpstr>
      <vt:lpstr>Amazon Ember Light</vt:lpstr>
      <vt:lpstr>Amazon Ember Medium</vt:lpstr>
      <vt:lpstr>Arial</vt:lpstr>
      <vt:lpstr>Calibri</vt:lpstr>
      <vt:lpstr>Consolas</vt:lpstr>
      <vt:lpstr>Courier New</vt:lpstr>
      <vt:lpstr>Lucida Console</vt:lpstr>
      <vt:lpstr>EEP-GitHub</vt:lpstr>
      <vt:lpstr>Agents</vt:lpstr>
      <vt:lpstr>Today’s activities</vt:lpstr>
      <vt:lpstr>Review: RAG architecture</vt:lpstr>
      <vt:lpstr>Tools and Agents</vt:lpstr>
      <vt:lpstr>Key questions</vt:lpstr>
      <vt:lpstr>Towards agents</vt:lpstr>
      <vt:lpstr>Agents</vt:lpstr>
      <vt:lpstr>Tools</vt:lpstr>
      <vt:lpstr>What can agents do?</vt:lpstr>
      <vt:lpstr>ReAct: Reason + Act</vt:lpstr>
      <vt:lpstr>Agentic tasks</vt:lpstr>
      <vt:lpstr>LangChain Agents</vt:lpstr>
      <vt:lpstr>LangChain tools</vt:lpstr>
      <vt:lpstr>LangChain Toolkits</vt:lpstr>
      <vt:lpstr>LangChain Agents</vt:lpstr>
      <vt:lpstr>Limitations of agents</vt:lpstr>
      <vt:lpstr>Agentic workflow</vt:lpstr>
      <vt:lpstr>Example: Q&amp;A task</vt:lpstr>
      <vt:lpstr>Example: WITHOUT agents</vt:lpstr>
      <vt:lpstr>Example: WITH agents</vt:lpstr>
      <vt:lpstr>Agents with tools (1/6)</vt:lpstr>
      <vt:lpstr>Agents with tools (2/6)</vt:lpstr>
      <vt:lpstr>Agents with tools (3/6)</vt:lpstr>
      <vt:lpstr>Agents with tools (4/6)</vt:lpstr>
      <vt:lpstr>Agents with tools (5/6)</vt:lpstr>
      <vt:lpstr>Agents with tools (6/6)</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68</cp:revision>
  <cp:lastPrinted>2025-06-20T22:27:30Z</cp:lastPrinted>
  <dcterms:created xsi:type="dcterms:W3CDTF">2022-11-16T15:46:36Z</dcterms:created>
  <dcterms:modified xsi:type="dcterms:W3CDTF">2025-10-01T22:06:22Z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2025-06-20T21:15:05Z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8f719f1f-1c2f-4f71-adf2-50c3f19a334e</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