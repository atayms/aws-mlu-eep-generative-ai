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3" r:id="rId1"/>
  </p:sldMasterIdLst>
  <p:notesMasterIdLst>
    <p:notesMasterId r:id="rId28"/>
  </p:notesMasterIdLst>
  <p:sldIdLst>
    <p:sldId id="256" r:id="rId2"/>
    <p:sldId id="413" r:id="rId3"/>
    <p:sldId id="2147482838" r:id="rId4"/>
    <p:sldId id="385" r:id="rId5"/>
    <p:sldId id="2147482819" r:id="rId6"/>
    <p:sldId id="2147482837" r:id="rId7"/>
    <p:sldId id="2147482821" r:id="rId8"/>
    <p:sldId id="2147482822" r:id="rId9"/>
    <p:sldId id="2147482823" r:id="rId10"/>
    <p:sldId id="2147482824" r:id="rId11"/>
    <p:sldId id="2147482803" r:id="rId12"/>
    <p:sldId id="2147482820" r:id="rId13"/>
    <p:sldId id="2147482825" r:id="rId14"/>
    <p:sldId id="2147482826" r:id="rId15"/>
    <p:sldId id="2147482827" r:id="rId16"/>
    <p:sldId id="2147482828" r:id="rId17"/>
    <p:sldId id="2147482829" r:id="rId18"/>
    <p:sldId id="2147482830" r:id="rId19"/>
    <p:sldId id="2147482831" r:id="rId20"/>
    <p:sldId id="2147482832" r:id="rId21"/>
    <p:sldId id="2147482833" r:id="rId22"/>
    <p:sldId id="2147482834" r:id="rId23"/>
    <p:sldId id="2147482835" r:id="rId24"/>
    <p:sldId id="2147482836" r:id="rId25"/>
    <p:sldId id="4042" r:id="rId26"/>
    <p:sldId id="268"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15"/>
    <p:restoredTop sz="53810" autoAdjust="0"/>
  </p:normalViewPr>
  <p:slideViewPr>
    <p:cSldViewPr snapToGrid="0">
      <p:cViewPr varScale="1">
        <p:scale>
          <a:sx n="65" d="100"/>
          <a:sy n="65" d="100"/>
        </p:scale>
        <p:origin x="1824" y="200"/>
      </p:cViewPr>
      <p:guideLst/>
    </p:cSldViewPr>
  </p:slideViewPr>
  <p:outlineViewPr>
    <p:cViewPr>
      <p:scale>
        <a:sx n="33" d="100"/>
        <a:sy n="33" d="100"/>
      </p:scale>
      <p:origin x="0" y="0"/>
    </p:cViewPr>
  </p:outlineViewPr>
  <p:notesTextViewPr>
    <p:cViewPr>
      <p:scale>
        <a:sx n="1" d="1"/>
        <a:sy n="1" d="1"/>
      </p:scale>
      <p:origin x="0" y="-2232"/>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9CCF9A-981A-5249-97D4-A6A8CB76D112}" type="datetimeFigureOut">
              <a:rPr lang="en-US" smtClean="0"/>
              <a:t>6/19/25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8EF870-5850-6643-A228-25AFAA8E2BB1}" type="slidenum">
              <a:rPr lang="en-US" smtClean="0"/>
              <a:t>‹#›</a:t>
            </a:fld>
            <a:endParaRPr lang="en-US"/>
          </a:p>
        </p:txBody>
      </p:sp>
    </p:spTree>
    <p:extLst>
      <p:ext uri="{BB962C8B-B14F-4D97-AF65-F5344CB8AC3E}">
        <p14:creationId xmlns:p14="http://schemas.microsoft.com/office/powerpoint/2010/main" val="550949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Foundation models and large language models are at the core of generative AI. These powerful models serve as the foundation for numerous advanced applications, enabling us to tackle challenging tasks more effectively. Foundation models and large language models are versatile and can be adapted to various domains. This presentation delves into the concepts and capabilities of these models, which are driving innovation in the field of generative AI.</a:t>
            </a:r>
          </a:p>
        </p:txBody>
      </p:sp>
      <p:sp>
        <p:nvSpPr>
          <p:cNvPr id="4" name="Slide Number Placeholder 3"/>
          <p:cNvSpPr>
            <a:spLocks noGrp="1"/>
          </p:cNvSpPr>
          <p:nvPr>
            <p:ph type="sldNum" sz="quarter" idx="5"/>
          </p:nvPr>
        </p:nvSpPr>
        <p:spPr/>
        <p:txBody>
          <a:bodyPr/>
          <a:lstStyle/>
          <a:p>
            <a:fld id="{688EF870-5850-6643-A228-25AFAA8E2BB1}" type="slidenum">
              <a:rPr lang="en-US" smtClean="0"/>
              <a:t>1</a:t>
            </a:fld>
            <a:endParaRPr lang="en-US"/>
          </a:p>
        </p:txBody>
      </p:sp>
    </p:spTree>
    <p:extLst>
      <p:ext uri="{BB962C8B-B14F-4D97-AF65-F5344CB8AC3E}">
        <p14:creationId xmlns:p14="http://schemas.microsoft.com/office/powerpoint/2010/main" val="1889939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2</a:t>
            </a:fld>
            <a:endParaRPr lang="en-US"/>
          </a:p>
        </p:txBody>
      </p:sp>
    </p:spTree>
    <p:extLst>
      <p:ext uri="{BB962C8B-B14F-4D97-AF65-F5344CB8AC3E}">
        <p14:creationId xmlns:p14="http://schemas.microsoft.com/office/powerpoint/2010/main" val="3085108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r>
              <a:rPr lang="en-US" dirty="0"/>
              <a:t>Review:</a:t>
            </a:r>
          </a:p>
          <a:p>
            <a:r>
              <a:rPr lang="en-US" dirty="0"/>
              <a:t>1. Top-Level Dimensions (First Row):</a:t>
            </a:r>
          </a:p>
          <a:p>
            <a:r>
              <a:rPr lang="en-US" dirty="0"/>
              <a:t>- Controllability: Focuses on implementing systems to monitor and control AI behavior</a:t>
            </a:r>
          </a:p>
          <a:p>
            <a:r>
              <a:rPr lang="en-US" dirty="0"/>
              <a:t>- Privacy &amp; Security: Emphasizes proper data handling and model protection</a:t>
            </a:r>
          </a:p>
          <a:p>
            <a:r>
              <a:rPr lang="en-US" dirty="0"/>
              <a:t>- Safety: Centers on preventing harmful outputs and system misuse</a:t>
            </a:r>
          </a:p>
          <a:p>
            <a:r>
              <a:rPr lang="en-US" dirty="0"/>
              <a:t>- Fairness: Addresses equitable treatment across different stakeholder groups</a:t>
            </a:r>
          </a:p>
          <a:p>
            <a:endParaRPr lang="en-US" dirty="0"/>
          </a:p>
          <a:p>
            <a:r>
              <a:rPr lang="en-US" dirty="0"/>
              <a:t>2. Bottom-Level Dimensions (Second Row):</a:t>
            </a:r>
          </a:p>
          <a:p>
            <a:r>
              <a:rPr lang="en-US" dirty="0"/>
              <a:t>- Veracity &amp; Robustness: Ensures reliable outputs even under challenging conditions</a:t>
            </a:r>
          </a:p>
          <a:p>
            <a:r>
              <a:rPr lang="en-US" dirty="0"/>
              <a:t>- Explainability: Provides understanding of AI-generated outputs</a:t>
            </a:r>
          </a:p>
          <a:p>
            <a:r>
              <a:rPr lang="en-US" dirty="0"/>
              <a:t>- Transparency: Enables informed decision-making for stakeholders</a:t>
            </a:r>
          </a:p>
          <a:p>
            <a:r>
              <a:rPr lang="en-US" dirty="0"/>
              <a:t>- Governance: Implements best practices throughout the AI lifecycle</a:t>
            </a:r>
          </a:p>
          <a:p>
            <a:endParaRPr lang="en-US" dirty="0"/>
          </a:p>
          <a:p>
            <a:r>
              <a:rPr lang="en-US" dirty="0"/>
              <a:t>Key Relationships:</a:t>
            </a:r>
          </a:p>
          <a:p>
            <a:r>
              <a:rPr lang="en-US" dirty="0"/>
              <a:t>- Each dimension complements the others</a:t>
            </a:r>
          </a:p>
          <a:p>
            <a:r>
              <a:rPr lang="en-US" dirty="0"/>
              <a:t>- All dimensions work together to create responsible AI systems</a:t>
            </a:r>
          </a:p>
          <a:p>
            <a:r>
              <a:rPr lang="en-US" dirty="0"/>
              <a:t>- Framework provides comprehensive coverage of ethical and practical considerations</a:t>
            </a:r>
          </a:p>
          <a:p>
            <a:endParaRPr lang="en-US" b="1" dirty="0"/>
          </a:p>
          <a:p>
            <a:r>
              <a:rPr lang="en-US" b="1" dirty="0"/>
              <a:t>EDUCATOR NOTES:</a:t>
            </a:r>
          </a:p>
          <a:p>
            <a:endParaRPr lang="en-US" dirty="0"/>
          </a:p>
          <a:p>
            <a:r>
              <a:rPr lang="en-US" dirty="0"/>
              <a:t>”let’s review the eight critical dimensions of Responsible AI that form the foundation of ethical AI development and deployment.</a:t>
            </a:r>
          </a:p>
          <a:p>
            <a:endParaRPr lang="en-US" dirty="0"/>
          </a:p>
          <a:p>
            <a:r>
              <a:rPr lang="en-US" dirty="0"/>
              <a:t>In the top row, we see four fundamental aspects:</a:t>
            </a:r>
          </a:p>
          <a:p>
            <a:r>
              <a:rPr lang="en-US" dirty="0"/>
              <a:t>- Controllability ensures we maintain oversight of our AI systems</a:t>
            </a:r>
          </a:p>
          <a:p>
            <a:r>
              <a:rPr lang="en-US" dirty="0"/>
              <a:t>- Privacy &amp; Security protects both data and models</a:t>
            </a:r>
          </a:p>
          <a:p>
            <a:r>
              <a:rPr lang="en-US" dirty="0"/>
              <a:t>- Safety prevents potential harm</a:t>
            </a:r>
          </a:p>
          <a:p>
            <a:r>
              <a:rPr lang="en-US" dirty="0"/>
              <a:t>- Fairness ensures equitable treatment</a:t>
            </a:r>
          </a:p>
          <a:p>
            <a:endParaRPr lang="en-US" dirty="0"/>
          </a:p>
          <a:p>
            <a:r>
              <a:rPr lang="en-US" dirty="0"/>
              <a:t>The bottom row addresses:</a:t>
            </a:r>
          </a:p>
          <a:p>
            <a:r>
              <a:rPr lang="en-US" dirty="0"/>
              <a:t>- Veracity &amp; Robustness for reliable performance</a:t>
            </a:r>
          </a:p>
          <a:p>
            <a:r>
              <a:rPr lang="en-US" dirty="0"/>
              <a:t>- Explainability to understand AI decisions</a:t>
            </a:r>
          </a:p>
          <a:p>
            <a:r>
              <a:rPr lang="en-US" dirty="0"/>
              <a:t>- Transparency for stakeholder trust</a:t>
            </a:r>
          </a:p>
          <a:p>
            <a:r>
              <a:rPr lang="en-US" dirty="0"/>
              <a:t>- Governance to maintain standards</a:t>
            </a:r>
          </a:p>
          <a:p>
            <a:endParaRPr lang="en-US" dirty="0"/>
          </a:p>
          <a:p>
            <a:r>
              <a:rPr lang="en-US" dirty="0"/>
              <a:t>These dimensions aren't isolated - they work together to create AI systems that are not just powerful, but responsible and trustworthy. As we implement AI solutions, we must consider how each dimension applies to our specific use case.</a:t>
            </a:r>
          </a:p>
          <a:p>
            <a:endParaRPr lang="en-US" dirty="0"/>
          </a:p>
          <a:p>
            <a:r>
              <a:rPr lang="en-US" dirty="0"/>
              <a:t>Remember, responsible AI isn't just about technical excellence - it's about creating systems that benefit society while minimizing potential risks."</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3</a:t>
            </a:fld>
            <a:endParaRPr lang="en-US"/>
          </a:p>
        </p:txBody>
      </p:sp>
    </p:spTree>
    <p:extLst>
      <p:ext uri="{BB962C8B-B14F-4D97-AF65-F5344CB8AC3E}">
        <p14:creationId xmlns:p14="http://schemas.microsoft.com/office/powerpoint/2010/main" val="10232991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Transformer networks have emerged as a pivotal architecture in the field of generative AI applications. Let's examine their architecture and some key concepts that led to their rise in popularity.</a:t>
            </a:r>
          </a:p>
        </p:txBody>
      </p:sp>
    </p:spTree>
    <p:extLst>
      <p:ext uri="{BB962C8B-B14F-4D97-AF65-F5344CB8AC3E}">
        <p14:creationId xmlns:p14="http://schemas.microsoft.com/office/powerpoint/2010/main" val="35810512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Framework Popularity</a:t>
            </a:r>
          </a:p>
          <a:p>
            <a:r>
              <a:rPr lang="en-US" dirty="0"/>
              <a:t>- Recognized as one of the leading frameworks for LLM-based applications</a:t>
            </a:r>
          </a:p>
          <a:p>
            <a:r>
              <a:rPr lang="en-US" dirty="0"/>
              <a:t>- Essential tool in modern AI development landscape</a:t>
            </a:r>
          </a:p>
          <a:p>
            <a:endParaRPr lang="en-US" dirty="0"/>
          </a:p>
          <a:p>
            <a:r>
              <a:rPr lang="en-US" dirty="0"/>
              <a:t>2. Core Purpose</a:t>
            </a:r>
          </a:p>
          <a:p>
            <a:r>
              <a:rPr lang="en-US" dirty="0"/>
              <a:t>- Primary framework for developing language model-powered applications</a:t>
            </a:r>
          </a:p>
          <a:p>
            <a:r>
              <a:rPr lang="en-US" dirty="0"/>
              <a:t>- Provides structure and tools for LLM integration</a:t>
            </a:r>
          </a:p>
          <a:p>
            <a:endParaRPr lang="en-US" dirty="0"/>
          </a:p>
          <a:p>
            <a:r>
              <a:rPr lang="en-US" dirty="0"/>
              <a:t>3. Key Features</a:t>
            </a:r>
          </a:p>
          <a:p>
            <a:r>
              <a:rPr lang="en-US" dirty="0"/>
              <a:t>a) Modular Components</a:t>
            </a:r>
          </a:p>
          <a:p>
            <a:r>
              <a:rPr lang="en-US" dirty="0"/>
              <a:t>   - Allows for flexible assembly of different parts</a:t>
            </a:r>
          </a:p>
          <a:p>
            <a:r>
              <a:rPr lang="en-US" dirty="0"/>
              <a:t>   - Enables customization based on specific needs</a:t>
            </a:r>
          </a:p>
          <a:p>
            <a:endParaRPr lang="en-US" dirty="0"/>
          </a:p>
          <a:p>
            <a:r>
              <a:rPr lang="en-US" dirty="0"/>
              <a:t>b) Flexibility &amp; Scalability</a:t>
            </a:r>
          </a:p>
          <a:p>
            <a:r>
              <a:rPr lang="en-US" dirty="0"/>
              <a:t>   - Adaptable to different project sizes</a:t>
            </a:r>
          </a:p>
          <a:p>
            <a:r>
              <a:rPr lang="en-US" dirty="0"/>
              <a:t>   - Can grow with application requirements</a:t>
            </a:r>
          </a:p>
          <a:p>
            <a:r>
              <a:rPr lang="en-US" dirty="0"/>
              <a:t>   - Supports various deployment scenarios</a:t>
            </a:r>
          </a:p>
          <a:p>
            <a:endParaRPr lang="en-US" dirty="0"/>
          </a:p>
          <a:p>
            <a:r>
              <a:rPr lang="en-US" dirty="0"/>
              <a:t>c) Third-Party Integration Support</a:t>
            </a:r>
          </a:p>
          <a:p>
            <a:r>
              <a:rPr lang="en-US" dirty="0"/>
              <a:t>   - Extensive ecosystem of compatible tools</a:t>
            </a:r>
          </a:p>
          <a:p>
            <a:r>
              <a:rPr lang="en-US" dirty="0"/>
              <a:t>   - Wide range of integration options</a:t>
            </a:r>
          </a:p>
          <a:p>
            <a:r>
              <a:rPr lang="en-US" dirty="0"/>
              <a:t>   - Enhances functionality through external services</a:t>
            </a:r>
          </a:p>
          <a:p>
            <a:endParaRPr lang="en-US" dirty="0"/>
          </a:p>
          <a:p>
            <a:r>
              <a:rPr lang="en-US" b="1" dirty="0"/>
              <a:t>EDUCATOR NOTES:</a:t>
            </a:r>
          </a:p>
          <a:p>
            <a:endParaRPr lang="en-US" dirty="0"/>
          </a:p>
          <a:p>
            <a:r>
              <a:rPr lang="en-US" dirty="0"/>
              <a:t>”Let’s discuss </a:t>
            </a:r>
            <a:r>
              <a:rPr lang="en-US" dirty="0" err="1"/>
              <a:t>LangChain</a:t>
            </a:r>
            <a:r>
              <a:rPr lang="en-US" dirty="0"/>
              <a:t>, which has emerged as one of the most influential frameworks in the LLM space. This framework is specifically designed to make building LLM-powered applications more straightforward and efficient.</a:t>
            </a:r>
          </a:p>
          <a:p>
            <a:endParaRPr lang="en-US" dirty="0"/>
          </a:p>
          <a:p>
            <a:r>
              <a:rPr lang="en-US" dirty="0"/>
              <a:t>What makes </a:t>
            </a:r>
            <a:r>
              <a:rPr lang="en-US" dirty="0" err="1"/>
              <a:t>LangChain</a:t>
            </a:r>
            <a:r>
              <a:rPr lang="en-US" dirty="0"/>
              <a:t> particularly valuable is its modular approach - you can mix and match components as needed for your specific use case. Its flexibility means it can handle everything from small prototype projects to large-scale applications.</a:t>
            </a:r>
          </a:p>
          <a:p>
            <a:endParaRPr lang="en-US" dirty="0"/>
          </a:p>
          <a:p>
            <a:r>
              <a:rPr lang="en-US" dirty="0"/>
              <a:t>One of </a:t>
            </a:r>
            <a:r>
              <a:rPr lang="en-US" dirty="0" err="1"/>
              <a:t>LangChain's</a:t>
            </a:r>
            <a:r>
              <a:rPr lang="en-US" dirty="0"/>
              <a:t> greatest strengths is its extensive third-party integration support, which means you can easily connect it with other tools and services you're already using.</a:t>
            </a:r>
          </a:p>
          <a:p>
            <a:endParaRPr lang="en-US" dirty="0"/>
          </a:p>
          <a:p>
            <a:r>
              <a:rPr lang="en-US" dirty="0"/>
              <a:t>Whether you're building a chatbot, an analysis tool, or a complex AI application, </a:t>
            </a:r>
            <a:r>
              <a:rPr lang="en-US" dirty="0" err="1"/>
              <a:t>LangChain</a:t>
            </a:r>
            <a:r>
              <a:rPr lang="en-US" dirty="0"/>
              <a:t> provides the building blocks you need to make it happen efficiently and effectively.”</a:t>
            </a:r>
          </a:p>
        </p:txBody>
      </p:sp>
      <p:sp>
        <p:nvSpPr>
          <p:cNvPr id="4" name="Slide Number Placeholder 3"/>
          <p:cNvSpPr>
            <a:spLocks noGrp="1"/>
          </p:cNvSpPr>
          <p:nvPr>
            <p:ph type="sldNum" sz="quarter" idx="5"/>
          </p:nvPr>
        </p:nvSpPr>
        <p:spPr/>
        <p:txBody>
          <a:bodyPr/>
          <a:lstStyle/>
          <a:p>
            <a:fld id="{688EF870-5850-6643-A228-25AFAA8E2BB1}" type="slidenum">
              <a:rPr lang="en-US" smtClean="0"/>
              <a:t>5</a:t>
            </a:fld>
            <a:endParaRPr lang="en-US"/>
          </a:p>
        </p:txBody>
      </p:sp>
    </p:spTree>
    <p:extLst>
      <p:ext uri="{BB962C8B-B14F-4D97-AF65-F5344CB8AC3E}">
        <p14:creationId xmlns:p14="http://schemas.microsoft.com/office/powerpoint/2010/main" val="2532291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Text Generation</a:t>
            </a:r>
          </a:p>
          <a:p>
            <a:r>
              <a:rPr lang="en-US" dirty="0"/>
              <a:t>- </a:t>
            </a:r>
            <a:r>
              <a:rPr lang="en-US" dirty="0" err="1"/>
              <a:t>LangChain</a:t>
            </a:r>
            <a:r>
              <a:rPr lang="en-US" dirty="0"/>
              <a:t> enables sophisticated text generation capabilities</a:t>
            </a:r>
          </a:p>
          <a:p>
            <a:r>
              <a:rPr lang="en-US" dirty="0"/>
              <a:t>- Can be used for creating content, responses, and various text outputs</a:t>
            </a:r>
          </a:p>
          <a:p>
            <a:r>
              <a:rPr lang="en-US" dirty="0"/>
              <a:t>- Supports multiple formats and styles of text generation</a:t>
            </a:r>
          </a:p>
          <a:p>
            <a:endParaRPr lang="en-US" dirty="0"/>
          </a:p>
          <a:p>
            <a:r>
              <a:rPr lang="en-US" dirty="0"/>
              <a:t>2. Summarization</a:t>
            </a:r>
          </a:p>
          <a:p>
            <a:r>
              <a:rPr lang="en-US" dirty="0"/>
              <a:t>- Helps condense large amounts of text into concise summaries</a:t>
            </a:r>
          </a:p>
          <a:p>
            <a:r>
              <a:rPr lang="en-US" dirty="0"/>
              <a:t>- Useful for document analysis and information extraction</a:t>
            </a:r>
          </a:p>
          <a:p>
            <a:r>
              <a:rPr lang="en-US" dirty="0"/>
              <a:t>- Can handle multiple documents simultaneously</a:t>
            </a:r>
          </a:p>
          <a:p>
            <a:endParaRPr lang="en-US" dirty="0"/>
          </a:p>
          <a:p>
            <a:r>
              <a:rPr lang="en-US" dirty="0"/>
              <a:t>3. Conversational Chatbots</a:t>
            </a:r>
          </a:p>
          <a:p>
            <a:r>
              <a:rPr lang="en-US" dirty="0"/>
              <a:t>- Enables creation of interactive AI chatbots</a:t>
            </a:r>
          </a:p>
          <a:p>
            <a:r>
              <a:rPr lang="en-US" dirty="0"/>
              <a:t>- Supports natural language processing and understanding</a:t>
            </a:r>
          </a:p>
          <a:p>
            <a:r>
              <a:rPr lang="en-US" dirty="0"/>
              <a:t>- Can maintain context throughout conversations</a:t>
            </a:r>
          </a:p>
          <a:p>
            <a:endParaRPr lang="en-US" dirty="0"/>
          </a:p>
          <a:p>
            <a:r>
              <a:rPr lang="en-US" dirty="0"/>
              <a:t>4. Code Implementation/Understanding</a:t>
            </a:r>
          </a:p>
          <a:p>
            <a:r>
              <a:rPr lang="en-US" dirty="0"/>
              <a:t>- Assists in code analysis and generation</a:t>
            </a:r>
          </a:p>
          <a:p>
            <a:r>
              <a:rPr lang="en-US" dirty="0"/>
              <a:t>- Helps understand complex codebases</a:t>
            </a:r>
          </a:p>
          <a:p>
            <a:r>
              <a:rPr lang="en-US" dirty="0"/>
              <a:t>- Can provide code explanations and suggestions</a:t>
            </a:r>
          </a:p>
          <a:p>
            <a:endParaRPr lang="en-US" dirty="0"/>
          </a:p>
          <a:p>
            <a:r>
              <a:rPr lang="en-US" dirty="0"/>
              <a:t>5. Retrieval Augmented Generation (RAG)</a:t>
            </a:r>
          </a:p>
          <a:p>
            <a:r>
              <a:rPr lang="en-US" dirty="0"/>
              <a:t>- Combines information retrieval with text generation</a:t>
            </a:r>
          </a:p>
          <a:p>
            <a:r>
              <a:rPr lang="en-US" dirty="0"/>
              <a:t>- Enhances responses with external knowledge</a:t>
            </a:r>
          </a:p>
          <a:p>
            <a:r>
              <a:rPr lang="en-US" dirty="0"/>
              <a:t>- Improves accuracy and relevance of outputs</a:t>
            </a:r>
          </a:p>
          <a:p>
            <a:endParaRPr lang="en-US" dirty="0"/>
          </a:p>
          <a:p>
            <a:r>
              <a:rPr lang="en-US" dirty="0"/>
              <a:t>6. Reasoning Agents</a:t>
            </a:r>
          </a:p>
          <a:p>
            <a:r>
              <a:rPr lang="en-US" dirty="0"/>
              <a:t>- Implements logical reasoning capabilities</a:t>
            </a:r>
          </a:p>
          <a:p>
            <a:r>
              <a:rPr lang="en-US" dirty="0"/>
              <a:t>- Can perform complex decision-making tasks</a:t>
            </a:r>
          </a:p>
          <a:p>
            <a:r>
              <a:rPr lang="en-US" dirty="0"/>
              <a:t>- Enables automated problem-solving</a:t>
            </a:r>
          </a:p>
          <a:p>
            <a:endParaRPr lang="en-US" dirty="0"/>
          </a:p>
          <a:p>
            <a:r>
              <a:rPr lang="en-US" b="1" dirty="0"/>
              <a:t>EDUCATOR NOTES:</a:t>
            </a:r>
          </a:p>
          <a:p>
            <a:endParaRPr lang="en-US" dirty="0"/>
          </a:p>
          <a:p>
            <a:r>
              <a:rPr lang="en-US" dirty="0"/>
              <a:t>”Now, we'll be exploring the versatile applications of </a:t>
            </a:r>
            <a:r>
              <a:rPr lang="en-US" dirty="0" err="1"/>
              <a:t>LangChain</a:t>
            </a:r>
            <a:r>
              <a:rPr lang="en-US" dirty="0"/>
              <a:t>, a powerful framework that's revolutionizing how we work with language models. From basic text generation to sophisticated reasoning agents, </a:t>
            </a:r>
            <a:r>
              <a:rPr lang="en-US" dirty="0" err="1"/>
              <a:t>LangChain</a:t>
            </a:r>
            <a:r>
              <a:rPr lang="en-US" dirty="0"/>
              <a:t> offers a comprehensive suite of tools for various AI applications.</a:t>
            </a:r>
          </a:p>
          <a:p>
            <a:endParaRPr lang="en-US" dirty="0"/>
          </a:p>
          <a:p>
            <a:r>
              <a:rPr lang="en-US" dirty="0"/>
              <a:t>What makes </a:t>
            </a:r>
            <a:r>
              <a:rPr lang="en-US" dirty="0" err="1"/>
              <a:t>LangChain</a:t>
            </a:r>
            <a:r>
              <a:rPr lang="en-US" dirty="0"/>
              <a:t> particularly exciting is its ability to handle complex tasks like RAG and create interactive chatbots while maintaining high performance and accuracy. The framework's flexibility allows developers to build customized solutions for specific use cases.</a:t>
            </a:r>
          </a:p>
          <a:p>
            <a:endParaRPr lang="en-US" dirty="0"/>
          </a:p>
          <a:p>
            <a:r>
              <a:rPr lang="en-US" dirty="0"/>
              <a:t>Remember that this list isn't exhaustive - </a:t>
            </a:r>
            <a:r>
              <a:rPr lang="en-US" dirty="0" err="1"/>
              <a:t>LangChain's</a:t>
            </a:r>
            <a:r>
              <a:rPr lang="en-US" dirty="0"/>
              <a:t> capabilities are constantly expanding, and new use cases are being discovered regularly.”</a:t>
            </a:r>
          </a:p>
        </p:txBody>
      </p:sp>
      <p:sp>
        <p:nvSpPr>
          <p:cNvPr id="4" name="Slide Number Placeholder 3"/>
          <p:cNvSpPr>
            <a:spLocks noGrp="1"/>
          </p:cNvSpPr>
          <p:nvPr>
            <p:ph type="sldNum" sz="quarter" idx="5"/>
          </p:nvPr>
        </p:nvSpPr>
        <p:spPr/>
        <p:txBody>
          <a:bodyPr/>
          <a:lstStyle/>
          <a:p>
            <a:fld id="{688EF870-5850-6643-A228-25AFAA8E2BB1}" type="slidenum">
              <a:rPr lang="en-US" smtClean="0"/>
              <a:t>6</a:t>
            </a:fld>
            <a:endParaRPr lang="en-US"/>
          </a:p>
        </p:txBody>
      </p:sp>
    </p:spTree>
    <p:extLst>
      <p:ext uri="{BB962C8B-B14F-4D97-AF65-F5344CB8AC3E}">
        <p14:creationId xmlns:p14="http://schemas.microsoft.com/office/powerpoint/2010/main" val="24410663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Core Philosophy</a:t>
            </a:r>
          </a:p>
          <a:p>
            <a:r>
              <a:rPr lang="en-US" dirty="0"/>
              <a:t>- Main emphasis is on utilizing existing LLMs rather than creating new ones</a:t>
            </a:r>
          </a:p>
          <a:p>
            <a:r>
              <a:rPr lang="en-US" dirty="0"/>
              <a:t>- "Prompt, don't train" is the key principle</a:t>
            </a:r>
          </a:p>
          <a:p>
            <a:r>
              <a:rPr lang="en-US" dirty="0"/>
              <a:t>- Focuses on leveraging what's already available in the LLM ecosystem</a:t>
            </a:r>
          </a:p>
          <a:p>
            <a:endParaRPr lang="en-US" dirty="0"/>
          </a:p>
          <a:p>
            <a:r>
              <a:rPr lang="en-US" dirty="0"/>
              <a:t>2. LLM Capabilities</a:t>
            </a:r>
          </a:p>
          <a:p>
            <a:r>
              <a:rPr lang="en-US" dirty="0"/>
              <a:t>- Current LLMs have robust and diverse capabilities</a:t>
            </a:r>
          </a:p>
          <a:p>
            <a:r>
              <a:rPr lang="en-US" dirty="0"/>
              <a:t>- Adaptability through prompting and scripting</a:t>
            </a:r>
          </a:p>
          <a:p>
            <a:r>
              <a:rPr lang="en-US" dirty="0"/>
              <a:t>- No need for extensive training for most use cases</a:t>
            </a:r>
          </a:p>
          <a:p>
            <a:endParaRPr lang="en-US" dirty="0"/>
          </a:p>
          <a:p>
            <a:r>
              <a:rPr lang="en-US" dirty="0"/>
              <a:t>3. Cost and Resource Benefits</a:t>
            </a:r>
          </a:p>
          <a:p>
            <a:r>
              <a:rPr lang="en-US" dirty="0"/>
              <a:t>- Training and fine-tuning are resource-intensive processes</a:t>
            </a:r>
          </a:p>
          <a:p>
            <a:r>
              <a:rPr lang="en-US" dirty="0"/>
              <a:t>- Higher costs associated with training new models</a:t>
            </a:r>
          </a:p>
          <a:p>
            <a:r>
              <a:rPr lang="en-US" dirty="0"/>
              <a:t>- More demanding on computational resources</a:t>
            </a:r>
          </a:p>
          <a:p>
            <a:r>
              <a:rPr lang="en-US" dirty="0"/>
              <a:t>- Using existing models is more cost-effective</a:t>
            </a:r>
          </a:p>
          <a:p>
            <a:endParaRPr lang="en-US" dirty="0"/>
          </a:p>
          <a:p>
            <a:r>
              <a:rPr lang="en-US" dirty="0"/>
              <a:t>4. Technical Integration</a:t>
            </a:r>
          </a:p>
          <a:p>
            <a:r>
              <a:rPr lang="en-US" dirty="0"/>
              <a:t>- Works with current API infrastructure</a:t>
            </a:r>
          </a:p>
          <a:p>
            <a:r>
              <a:rPr lang="en-US" dirty="0"/>
              <a:t>- Seamless integration possibilities</a:t>
            </a:r>
          </a:p>
          <a:p>
            <a:r>
              <a:rPr lang="en-US" dirty="0"/>
              <a:t>- Maintains compatibility with existing systems</a:t>
            </a:r>
          </a:p>
          <a:p>
            <a:endParaRPr lang="en-US" b="1" dirty="0"/>
          </a:p>
          <a:p>
            <a:r>
              <a:rPr lang="en-US" b="1" dirty="0"/>
              <a:t>EDUCATOR NOTES:</a:t>
            </a:r>
          </a:p>
          <a:p>
            <a:endParaRPr lang="en-US" dirty="0"/>
          </a:p>
          <a:p>
            <a:r>
              <a:rPr lang="en-US" dirty="0"/>
              <a:t>”Now we're discussing </a:t>
            </a:r>
            <a:r>
              <a:rPr lang="en-US" dirty="0" err="1"/>
              <a:t>LangChain's</a:t>
            </a:r>
            <a:r>
              <a:rPr lang="en-US" dirty="0"/>
              <a:t> fundamental approach of 'prompt, don't train.' This philosophy saves both time and resources by leveraging existing language models instead of developing new ones. The current generation of LLMs is remarkably capable, and through clever prompting and scripting, we can adapt them to various use cases without the expensive and time-consuming process of training or fine-tuning. Plus, since </a:t>
            </a:r>
            <a:r>
              <a:rPr lang="en-US" dirty="0" err="1"/>
              <a:t>LangChain</a:t>
            </a:r>
            <a:r>
              <a:rPr lang="en-US" dirty="0"/>
              <a:t> is compatible with existing APIs, implementation is straightforward. Remember, sometimes the best solution isn't creating something new, but effectively using what's already available."</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7</a:t>
            </a:fld>
            <a:endParaRPr lang="en-US"/>
          </a:p>
        </p:txBody>
      </p:sp>
    </p:spTree>
    <p:extLst>
      <p:ext uri="{BB962C8B-B14F-4D97-AF65-F5344CB8AC3E}">
        <p14:creationId xmlns:p14="http://schemas.microsoft.com/office/powerpoint/2010/main" val="3500345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a:t>
            </a:r>
            <a:r>
              <a:rPr lang="en-US" dirty="0" err="1"/>
              <a:t>LangChain's</a:t>
            </a:r>
            <a:r>
              <a:rPr lang="en-US" dirty="0"/>
              <a:t> Purpose and Standard Interface</a:t>
            </a:r>
          </a:p>
          <a:p>
            <a:r>
              <a:rPr lang="en-US" dirty="0"/>
              <a:t>   - Provides unified common interfaces for various AI/ML components</a:t>
            </a:r>
          </a:p>
          <a:p>
            <a:r>
              <a:rPr lang="en-US" dirty="0"/>
              <a:t>   - Addresses the challenge of managing multiple models, APIs, and services</a:t>
            </a:r>
          </a:p>
          <a:p>
            <a:r>
              <a:rPr lang="en-US" dirty="0"/>
              <a:t>   - Standardizes diverse formats and structures into consistent interfaces</a:t>
            </a:r>
          </a:p>
          <a:p>
            <a:endParaRPr lang="en-US" dirty="0"/>
          </a:p>
          <a:p>
            <a:r>
              <a:rPr lang="en-US" dirty="0"/>
              <a:t>2. Key Benefits</a:t>
            </a:r>
          </a:p>
          <a:p>
            <a:r>
              <a:rPr lang="en-US" dirty="0"/>
              <a:t>   - Common Interfaces</a:t>
            </a:r>
          </a:p>
          <a:p>
            <a:r>
              <a:rPr lang="en-US" dirty="0"/>
              <a:t>     * Streamlines integration of different components</a:t>
            </a:r>
          </a:p>
          <a:p>
            <a:r>
              <a:rPr lang="en-US" dirty="0"/>
              <a:t>     * Handles growing ecosystem of AI models and services</a:t>
            </a:r>
          </a:p>
          <a:p>
            <a:r>
              <a:rPr lang="en-US" dirty="0"/>
              <a:t>     * Manages various data formats and structures efficiently</a:t>
            </a:r>
          </a:p>
          <a:p>
            <a:endParaRPr lang="en-US" dirty="0"/>
          </a:p>
          <a:p>
            <a:r>
              <a:rPr lang="en-US" dirty="0"/>
              <a:t>   - Provider Flexibility</a:t>
            </a:r>
          </a:p>
          <a:p>
            <a:r>
              <a:rPr lang="en-US" dirty="0"/>
              <a:t>     * Enables easy switching between different providers</a:t>
            </a:r>
          </a:p>
          <a:p>
            <a:r>
              <a:rPr lang="en-US" dirty="0"/>
              <a:t>     * Built as a modular framework for maximum adaptability</a:t>
            </a:r>
          </a:p>
          <a:p>
            <a:r>
              <a:rPr lang="en-US" dirty="0"/>
              <a:t>     * Reduces vendor lock-in</a:t>
            </a:r>
          </a:p>
          <a:p>
            <a:endParaRPr lang="en-US" dirty="0"/>
          </a:p>
          <a:p>
            <a:r>
              <a:rPr lang="en-US" b="1" dirty="0"/>
              <a:t>EDUCATOR NOTES:</a:t>
            </a:r>
          </a:p>
          <a:p>
            <a:endParaRPr lang="en-US" dirty="0"/>
          </a:p>
          <a:p>
            <a:r>
              <a:rPr lang="en-US" dirty="0"/>
              <a:t>”Now we keep discussing why </a:t>
            </a:r>
            <a:r>
              <a:rPr lang="en-US" dirty="0" err="1"/>
              <a:t>LangChain</a:t>
            </a:r>
            <a:r>
              <a:rPr lang="en-US" dirty="0"/>
              <a:t> has become such an important tool in the AI development ecosystem. Its standard interface approach solves two major challenges: First, it provides a unified way to work with the rapidly growing number of AI models and services. Second, it gives developers the flexibility to switch between providers without major code rewrites. Think of it as a universal adapter for AI components - you plug in different pieces, and they all work together seamlessly through </a:t>
            </a:r>
            <a:r>
              <a:rPr lang="en-US" dirty="0" err="1"/>
              <a:t>LangChain's</a:t>
            </a:r>
            <a:r>
              <a:rPr lang="en-US" dirty="0"/>
              <a:t> common interface. The modular framework means you can easily swap components as your needs change or as better options become available."</a:t>
            </a:r>
          </a:p>
        </p:txBody>
      </p:sp>
      <p:sp>
        <p:nvSpPr>
          <p:cNvPr id="4" name="Slide Number Placeholder 3"/>
          <p:cNvSpPr>
            <a:spLocks noGrp="1"/>
          </p:cNvSpPr>
          <p:nvPr>
            <p:ph type="sldNum" sz="quarter" idx="5"/>
          </p:nvPr>
        </p:nvSpPr>
        <p:spPr/>
        <p:txBody>
          <a:bodyPr/>
          <a:lstStyle/>
          <a:p>
            <a:fld id="{688EF870-5850-6643-A228-25AFAA8E2BB1}" type="slidenum">
              <a:rPr lang="en-US" smtClean="0"/>
              <a:t>8</a:t>
            </a:fld>
            <a:endParaRPr lang="en-US"/>
          </a:p>
        </p:txBody>
      </p:sp>
    </p:spTree>
    <p:extLst>
      <p:ext uri="{BB962C8B-B14F-4D97-AF65-F5344CB8AC3E}">
        <p14:creationId xmlns:p14="http://schemas.microsoft.com/office/powerpoint/2010/main" val="25084681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Evolution of AI Applications</a:t>
            </a:r>
          </a:p>
          <a:p>
            <a:r>
              <a:rPr lang="en-US" dirty="0"/>
              <a:t>- AI applications are becoming increasingly complex</a:t>
            </a:r>
          </a:p>
          <a:p>
            <a:r>
              <a:rPr lang="en-US" dirty="0"/>
              <a:t>- Need for sophisticated orchestration solutions</a:t>
            </a:r>
          </a:p>
          <a:p>
            <a:endParaRPr lang="en-US" dirty="0"/>
          </a:p>
          <a:p>
            <a:r>
              <a:rPr lang="en-US" dirty="0"/>
              <a:t>2. Key Features of </a:t>
            </a:r>
            <a:r>
              <a:rPr lang="en-US" dirty="0" err="1"/>
              <a:t>LangChain</a:t>
            </a:r>
            <a:r>
              <a:rPr lang="en-US" dirty="0"/>
              <a:t> Orchestration</a:t>
            </a:r>
          </a:p>
          <a:p>
            <a:r>
              <a:rPr lang="en-US" dirty="0"/>
              <a:t>a) Custom Controlled Flows</a:t>
            </a:r>
          </a:p>
          <a:p>
            <a:r>
              <a:rPr lang="en-US" dirty="0"/>
              <a:t>- Enables efficient connection between different elements</a:t>
            </a:r>
          </a:p>
          <a:p>
            <a:r>
              <a:rPr lang="en-US" dirty="0"/>
              <a:t>- Creates streamlined workflows for AI applications</a:t>
            </a:r>
          </a:p>
          <a:p>
            <a:endParaRPr lang="en-US" dirty="0"/>
          </a:p>
          <a:p>
            <a:r>
              <a:rPr lang="en-US" dirty="0"/>
              <a:t>b) Task Management</a:t>
            </a:r>
          </a:p>
          <a:p>
            <a:r>
              <a:rPr lang="en-US" dirty="0"/>
              <a:t>- Implements iterative task planning</a:t>
            </a:r>
          </a:p>
          <a:p>
            <a:r>
              <a:rPr lang="en-US" dirty="0"/>
              <a:t>- Continues process until desired goal is achieved</a:t>
            </a:r>
          </a:p>
          <a:p>
            <a:r>
              <a:rPr lang="en-US" dirty="0"/>
              <a:t>- Maintains data persistence across multiple stages</a:t>
            </a:r>
          </a:p>
          <a:p>
            <a:endParaRPr lang="en-US" dirty="0"/>
          </a:p>
          <a:p>
            <a:r>
              <a:rPr lang="en-US" dirty="0"/>
              <a:t>c) Human Integration</a:t>
            </a:r>
          </a:p>
          <a:p>
            <a:r>
              <a:rPr lang="en-US" dirty="0"/>
              <a:t>- Incorporates human oversight</a:t>
            </a:r>
          </a:p>
          <a:p>
            <a:r>
              <a:rPr lang="en-US" dirty="0"/>
              <a:t>- Enables human participation in:</a:t>
            </a:r>
          </a:p>
          <a:p>
            <a:r>
              <a:rPr lang="en-US" dirty="0"/>
              <a:t>  * Decision-making processes</a:t>
            </a:r>
          </a:p>
          <a:p>
            <a:r>
              <a:rPr lang="en-US" dirty="0"/>
              <a:t>  * Review procedures</a:t>
            </a:r>
          </a:p>
          <a:p>
            <a:r>
              <a:rPr lang="en-US" dirty="0"/>
              <a:t>  * Quality control</a:t>
            </a:r>
          </a:p>
          <a:p>
            <a:endParaRPr lang="en-US" dirty="0"/>
          </a:p>
          <a:p>
            <a:r>
              <a:rPr lang="en-US" dirty="0"/>
              <a:t>3. Versatility</a:t>
            </a:r>
          </a:p>
          <a:p>
            <a:r>
              <a:rPr lang="en-US" dirty="0"/>
              <a:t>- Capable of handling diverse tasks</a:t>
            </a:r>
          </a:p>
          <a:p>
            <a:r>
              <a:rPr lang="en-US" dirty="0"/>
              <a:t>- Adaptable to various use cases</a:t>
            </a:r>
          </a:p>
          <a:p>
            <a:endParaRPr lang="en-US" dirty="0"/>
          </a:p>
          <a:p>
            <a:r>
              <a:rPr lang="en-US" b="1" dirty="0"/>
              <a:t>EDUCATOR NOTES:</a:t>
            </a:r>
          </a:p>
          <a:p>
            <a:endParaRPr lang="en-US" dirty="0"/>
          </a:p>
          <a:p>
            <a:r>
              <a:rPr lang="en-US" dirty="0"/>
              <a:t>”Let’s keep discussing why </a:t>
            </a:r>
            <a:r>
              <a:rPr lang="en-US" dirty="0" err="1"/>
              <a:t>LangChain</a:t>
            </a:r>
            <a:r>
              <a:rPr lang="en-US" dirty="0"/>
              <a:t> is crucial for modern AI orchestration. As AI applications grow more sophisticated, we need robust tools to manage their complexity. </a:t>
            </a:r>
            <a:r>
              <a:rPr lang="en-US" dirty="0" err="1"/>
              <a:t>LangChain</a:t>
            </a:r>
            <a:r>
              <a:rPr lang="en-US" dirty="0"/>
              <a:t> excels at creating efficient workflows by connecting various elements into controlled flows. What makes it particularly powerful is its ability to maintain persistent data while looping through tasks until completion. Importantly, it doesn't exclude humans from the equation – instead, it integrates human oversight into critical processes like decision-making and review. This combination of features makes </a:t>
            </a:r>
            <a:r>
              <a:rPr lang="en-US" dirty="0" err="1"/>
              <a:t>LangChain</a:t>
            </a:r>
            <a:r>
              <a:rPr lang="en-US" dirty="0"/>
              <a:t> an excellent choice for orchestrating diverse AI tasks in a controlled, efficient manner."</a:t>
            </a:r>
          </a:p>
        </p:txBody>
      </p:sp>
      <p:sp>
        <p:nvSpPr>
          <p:cNvPr id="4" name="Slide Number Placeholder 3"/>
          <p:cNvSpPr>
            <a:spLocks noGrp="1"/>
          </p:cNvSpPr>
          <p:nvPr>
            <p:ph type="sldNum" sz="quarter" idx="5"/>
          </p:nvPr>
        </p:nvSpPr>
        <p:spPr/>
        <p:txBody>
          <a:bodyPr/>
          <a:lstStyle/>
          <a:p>
            <a:fld id="{688EF870-5850-6643-A228-25AFAA8E2BB1}" type="slidenum">
              <a:rPr lang="en-US" smtClean="0"/>
              <a:t>9</a:t>
            </a:fld>
            <a:endParaRPr lang="en-US"/>
          </a:p>
        </p:txBody>
      </p:sp>
    </p:spTree>
    <p:extLst>
      <p:ext uri="{BB962C8B-B14F-4D97-AF65-F5344CB8AC3E}">
        <p14:creationId xmlns:p14="http://schemas.microsoft.com/office/powerpoint/2010/main" val="17390868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Traceability</a:t>
            </a:r>
          </a:p>
          <a:p>
            <a:r>
              <a:rPr lang="en-US" dirty="0"/>
              <a:t>- Key feature allowing observation of outputs across all stages</a:t>
            </a:r>
          </a:p>
          <a:p>
            <a:r>
              <a:rPr lang="en-US" dirty="0"/>
              <a:t>- Important for monitoring and debugging the language model pipeline</a:t>
            </a:r>
          </a:p>
          <a:p>
            <a:r>
              <a:rPr lang="en-US" dirty="0"/>
              <a:t>- Enables tracking of how the model processes information</a:t>
            </a:r>
          </a:p>
          <a:p>
            <a:endParaRPr lang="en-US" dirty="0"/>
          </a:p>
          <a:p>
            <a:r>
              <a:rPr lang="en-US" dirty="0"/>
              <a:t>2. Testing Capabilities</a:t>
            </a:r>
          </a:p>
          <a:p>
            <a:r>
              <a:rPr lang="en-US" dirty="0"/>
              <a:t>- Ability to test specific components independently</a:t>
            </a:r>
          </a:p>
          <a:p>
            <a:r>
              <a:rPr lang="en-US" dirty="0"/>
              <a:t>- No need to run entire workflow for testing</a:t>
            </a:r>
          </a:p>
          <a:p>
            <a:r>
              <a:rPr lang="en-US" dirty="0"/>
              <a:t>- Facilitates efficient debugging and quality assurance</a:t>
            </a:r>
          </a:p>
          <a:p>
            <a:endParaRPr lang="en-US" dirty="0"/>
          </a:p>
          <a:p>
            <a:r>
              <a:rPr lang="en-US" dirty="0"/>
              <a:t>3. Performance Measurement Tools</a:t>
            </a:r>
          </a:p>
          <a:p>
            <a:r>
              <a:rPr lang="en-US" dirty="0"/>
              <a:t>Three key metrics:</a:t>
            </a:r>
          </a:p>
          <a:p>
            <a:r>
              <a:rPr lang="en-US" dirty="0"/>
              <a:t>a) Latency</a:t>
            </a:r>
          </a:p>
          <a:p>
            <a:r>
              <a:rPr lang="en-US" dirty="0"/>
              <a:t>   - Measures response time</a:t>
            </a:r>
          </a:p>
          <a:p>
            <a:r>
              <a:rPr lang="en-US" dirty="0"/>
              <a:t>   - Critical for real-time applications</a:t>
            </a:r>
          </a:p>
          <a:p>
            <a:r>
              <a:rPr lang="en-US" dirty="0"/>
              <a:t>   </a:t>
            </a:r>
          </a:p>
          <a:p>
            <a:r>
              <a:rPr lang="en-US" dirty="0"/>
              <a:t>b) Performance</a:t>
            </a:r>
          </a:p>
          <a:p>
            <a:r>
              <a:rPr lang="en-US" dirty="0"/>
              <a:t>   - Evaluates accuracy and quality of outputs</a:t>
            </a:r>
          </a:p>
          <a:p>
            <a:r>
              <a:rPr lang="en-US" dirty="0"/>
              <a:t>   - Monitors model effectiveness</a:t>
            </a:r>
          </a:p>
          <a:p>
            <a:r>
              <a:rPr lang="en-US" dirty="0"/>
              <a:t>   </a:t>
            </a:r>
          </a:p>
          <a:p>
            <a:r>
              <a:rPr lang="en-US" dirty="0"/>
              <a:t>c) Cost</a:t>
            </a:r>
          </a:p>
          <a:p>
            <a:r>
              <a:rPr lang="en-US" dirty="0"/>
              <a:t>   - Tracks resource usage</a:t>
            </a:r>
          </a:p>
          <a:p>
            <a:r>
              <a:rPr lang="en-US" dirty="0"/>
              <a:t>   - Helps optimize expenses</a:t>
            </a:r>
          </a:p>
          <a:p>
            <a:r>
              <a:rPr lang="en-US" dirty="0"/>
              <a:t>   - Important for budget management</a:t>
            </a:r>
          </a:p>
          <a:p>
            <a:endParaRPr lang="en-US" dirty="0"/>
          </a:p>
          <a:p>
            <a:r>
              <a:rPr lang="en-US" b="1" dirty="0"/>
              <a:t>EDUCATOR  NOTES:</a:t>
            </a:r>
          </a:p>
          <a:p>
            <a:endParaRPr lang="en-US" b="1" dirty="0"/>
          </a:p>
          <a:p>
            <a:r>
              <a:rPr lang="en-US" dirty="0"/>
              <a:t>”And now,  let’s discussing why </a:t>
            </a:r>
            <a:r>
              <a:rPr lang="en-US" dirty="0" err="1"/>
              <a:t>LangChain</a:t>
            </a:r>
            <a:r>
              <a:rPr lang="en-US" dirty="0"/>
              <a:t> is essential for observability and evaluation in AI applications. The framework offers three crucial advantages:</a:t>
            </a:r>
          </a:p>
          <a:p>
            <a:endParaRPr lang="en-US" dirty="0"/>
          </a:p>
          <a:p>
            <a:r>
              <a:rPr lang="en-US" dirty="0"/>
              <a:t>First, traceability gives us complete visibility into our model's decision-making process. Think of it as having a transparent pipeline where we can see exactly what's happening at each step.</a:t>
            </a:r>
          </a:p>
          <a:p>
            <a:endParaRPr lang="en-US" dirty="0"/>
          </a:p>
          <a:p>
            <a:r>
              <a:rPr lang="en-US" dirty="0"/>
              <a:t>Second, the modular testing approach saves tremendous development time. Instead of running the entire system to test one component, we can isolate and test specific parts independently.</a:t>
            </a:r>
          </a:p>
          <a:p>
            <a:endParaRPr lang="en-US" dirty="0"/>
          </a:p>
          <a:p>
            <a:r>
              <a:rPr lang="en-US" dirty="0"/>
              <a:t>Finally, our measurement tools help us optimize three critical metrics: latency for speed, performance for accuracy, and cost for efficiency. These metrics ensure we're delivering both value and quality.</a:t>
            </a:r>
          </a:p>
          <a:p>
            <a:endParaRPr lang="en-US" dirty="0"/>
          </a:p>
          <a:p>
            <a:r>
              <a:rPr lang="en-US" dirty="0"/>
              <a:t>Remember, in today's AI landscape, having these observability features isn't just nice to have – it's essential for building reliable and maintainable AI systems."</a:t>
            </a:r>
          </a:p>
        </p:txBody>
      </p:sp>
      <p:sp>
        <p:nvSpPr>
          <p:cNvPr id="4" name="Slide Number Placeholder 3"/>
          <p:cNvSpPr>
            <a:spLocks noGrp="1"/>
          </p:cNvSpPr>
          <p:nvPr>
            <p:ph type="sldNum" sz="quarter" idx="5"/>
          </p:nvPr>
        </p:nvSpPr>
        <p:spPr/>
        <p:txBody>
          <a:bodyPr/>
          <a:lstStyle/>
          <a:p>
            <a:fld id="{688EF870-5850-6643-A228-25AFAA8E2BB1}" type="slidenum">
              <a:rPr lang="en-US" smtClean="0"/>
              <a:t>10</a:t>
            </a:fld>
            <a:endParaRPr lang="en-US"/>
          </a:p>
        </p:txBody>
      </p:sp>
    </p:spTree>
    <p:extLst>
      <p:ext uri="{BB962C8B-B14F-4D97-AF65-F5344CB8AC3E}">
        <p14:creationId xmlns:p14="http://schemas.microsoft.com/office/powerpoint/2010/main" val="760490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5E651-8DF3-79C5-7F64-39067053A6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B36E1B-D5E9-F3C7-476B-A31E85C2E7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ADBCF8-B6F8-4EFF-DB8A-1192B5D6759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9724094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notes:</a:t>
            </a:r>
          </a:p>
          <a:p>
            <a:endParaRPr lang="en-US" b="1" dirty="0"/>
          </a:p>
          <a:p>
            <a:r>
              <a:rPr lang="en-US" b="0" dirty="0" err="1"/>
              <a:t>Langchain</a:t>
            </a:r>
            <a:r>
              <a:rPr lang="en-US" b="0" dirty="0"/>
              <a:t> module: </a:t>
            </a:r>
            <a:r>
              <a:rPr lang="en-US" b="0" dirty="0" err="1"/>
              <a:t>Promt</a:t>
            </a:r>
            <a:r>
              <a:rPr lang="en-US" b="0" dirty="0"/>
              <a:t> templates</a:t>
            </a:r>
          </a:p>
          <a:p>
            <a:endParaRPr lang="en-US" dirty="0"/>
          </a:p>
          <a:p>
            <a:r>
              <a:rPr lang="en-US" dirty="0"/>
              <a:t>1. Definition of Prompt Templates:</a:t>
            </a:r>
          </a:p>
          <a:p>
            <a:r>
              <a:rPr lang="en-US" dirty="0"/>
              <a:t>- These are parameterized inputs that act as pre-defined recipes for Large Language Models (LLMs)</a:t>
            </a:r>
          </a:p>
          <a:p>
            <a:r>
              <a:rPr lang="en-US" dirty="0"/>
              <a:t>- They provide a structured way to format and standardize interactions with AI models</a:t>
            </a:r>
          </a:p>
          <a:p>
            <a:endParaRPr lang="en-US" dirty="0"/>
          </a:p>
          <a:p>
            <a:r>
              <a:rPr lang="en-US" dirty="0"/>
              <a:t>2. Key Characteristics:</a:t>
            </a:r>
          </a:p>
          <a:p>
            <a:r>
              <a:rPr lang="en-US" dirty="0"/>
              <a:t>- Templates can contain multiple components:</a:t>
            </a:r>
          </a:p>
          <a:p>
            <a:r>
              <a:rPr lang="en-US" dirty="0"/>
              <a:t>  * Instructions</a:t>
            </a:r>
          </a:p>
          <a:p>
            <a:r>
              <a:rPr lang="en-US" dirty="0"/>
              <a:t>  * Context information</a:t>
            </a:r>
          </a:p>
          <a:p>
            <a:r>
              <a:rPr lang="en-US" dirty="0"/>
              <a:t>  * Few-shot examples</a:t>
            </a:r>
          </a:p>
          <a:p>
            <a:r>
              <a:rPr lang="en-US" dirty="0"/>
              <a:t>  * Parameters/variables</a:t>
            </a:r>
          </a:p>
          <a:p>
            <a:endParaRPr lang="en-US" dirty="0"/>
          </a:p>
          <a:p>
            <a:r>
              <a:rPr lang="en-US" dirty="0"/>
              <a:t>3. Important Features:</a:t>
            </a:r>
          </a:p>
          <a:p>
            <a:r>
              <a:rPr lang="en-US" dirty="0"/>
              <a:t>- Model Agnostic: Can be used with different LLM models</a:t>
            </a:r>
          </a:p>
          <a:p>
            <a:r>
              <a:rPr lang="en-US" dirty="0"/>
              <a:t>- Reusable: Templates can be used repeatedly with different inputs</a:t>
            </a:r>
          </a:p>
          <a:p>
            <a:r>
              <a:rPr lang="en-US" dirty="0"/>
              <a:t>- Customizable: Parameters can be modified based on needs</a:t>
            </a:r>
          </a:p>
          <a:p>
            <a:endParaRPr lang="en-US" dirty="0"/>
          </a:p>
          <a:p>
            <a:r>
              <a:rPr lang="en-US" dirty="0"/>
              <a:t>4. Example Illustrated:</a:t>
            </a:r>
          </a:p>
          <a:p>
            <a:r>
              <a:rPr lang="en-US" dirty="0"/>
              <a:t>- Input variable: city = "Paris"</a:t>
            </a:r>
          </a:p>
          <a:p>
            <a:r>
              <a:rPr lang="en-US" dirty="0"/>
              <a:t>- Template structure: "Plan a three day itinerary for a trip to {city}"</a:t>
            </a:r>
          </a:p>
          <a:p>
            <a:r>
              <a:rPr lang="en-US" dirty="0"/>
              <a:t>- Shows how a simple template can be used to generate specific outputs</a:t>
            </a:r>
          </a:p>
          <a:p>
            <a:endParaRPr lang="en-US" dirty="0"/>
          </a:p>
          <a:p>
            <a:r>
              <a:rPr lang="en-US" b="1" dirty="0"/>
              <a:t>EDUCATOR NOTES:</a:t>
            </a:r>
          </a:p>
          <a:p>
            <a:endParaRPr lang="en-US" dirty="0"/>
          </a:p>
          <a:p>
            <a:r>
              <a:rPr lang="en-US" dirty="0"/>
              <a:t>”Now we're discussing one </a:t>
            </a:r>
            <a:r>
              <a:rPr lang="en-US" dirty="0" err="1"/>
              <a:t>Langchain</a:t>
            </a:r>
            <a:r>
              <a:rPr lang="en-US" dirty="0"/>
              <a:t> module: prompt templates. They are essential tools for working with LLMs. Think of them as reusable recipes that help us get consistent results from AI models.</a:t>
            </a:r>
          </a:p>
          <a:p>
            <a:endParaRPr lang="en-US" dirty="0"/>
          </a:p>
          <a:p>
            <a:r>
              <a:rPr lang="en-US" dirty="0"/>
              <a:t>The key thing to remember is that these templates are incredibly versatile - you can use them with any LLM, and they're designed to be reused. In the example shown, we have a simple template for travel planning, but you can create templates for any type of task.</a:t>
            </a:r>
          </a:p>
          <a:p>
            <a:endParaRPr lang="en-US" dirty="0"/>
          </a:p>
          <a:p>
            <a:r>
              <a:rPr lang="en-US" dirty="0"/>
              <a:t>What makes them particularly powerful is their ability to incorporate variables, instructions, and examples, all while maintaining a consistent structure. This helps in getting more reliable and focused responses from the AI.</a:t>
            </a:r>
          </a:p>
          <a:p>
            <a:endParaRPr lang="en-US" dirty="0"/>
          </a:p>
          <a:p>
            <a:r>
              <a:rPr lang="en-US" dirty="0"/>
              <a:t>Remember to emphasize to your students that good template design can significantly improve the quality and consistency of AI model outputs."</a:t>
            </a:r>
          </a:p>
          <a:p>
            <a:endParaRPr lang="en-US" dirty="0"/>
          </a:p>
          <a:p>
            <a:r>
              <a:rPr lang="en-US" dirty="0"/>
              <a:t>[Note: Please pause here for any questions about the fundamentals of prompt templates before moving to the next section.]</a:t>
            </a:r>
          </a:p>
        </p:txBody>
      </p:sp>
      <p:sp>
        <p:nvSpPr>
          <p:cNvPr id="4" name="Slide Number Placeholder 3"/>
          <p:cNvSpPr>
            <a:spLocks noGrp="1"/>
          </p:cNvSpPr>
          <p:nvPr>
            <p:ph type="sldNum" sz="quarter" idx="5"/>
          </p:nvPr>
        </p:nvSpPr>
        <p:spPr/>
        <p:txBody>
          <a:bodyPr/>
          <a:lstStyle/>
          <a:p>
            <a:fld id="{688EF870-5850-6643-A228-25AFAA8E2BB1}" type="slidenum">
              <a:rPr lang="en-US" smtClean="0"/>
              <a:t>12</a:t>
            </a:fld>
            <a:endParaRPr lang="en-US"/>
          </a:p>
        </p:txBody>
      </p:sp>
    </p:spTree>
    <p:extLst>
      <p:ext uri="{BB962C8B-B14F-4D97-AF65-F5344CB8AC3E}">
        <p14:creationId xmlns:p14="http://schemas.microsoft.com/office/powerpoint/2010/main" val="34554699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err="1"/>
              <a:t>Langchain</a:t>
            </a:r>
            <a:r>
              <a:rPr lang="en-US" b="0" dirty="0"/>
              <a:t> module: Output parsers</a:t>
            </a:r>
            <a:endParaRPr lang="en-US" b="1" dirty="0"/>
          </a:p>
          <a:p>
            <a:endParaRPr lang="en-US" b="1" dirty="0"/>
          </a:p>
          <a:p>
            <a:r>
              <a:rPr lang="en-US" dirty="0"/>
              <a:t>1. Output Parser Functionality</a:t>
            </a:r>
          </a:p>
          <a:p>
            <a:r>
              <a:rPr lang="en-US" dirty="0"/>
              <a:t>- Purpose: Parse LLM output into different formats</a:t>
            </a:r>
          </a:p>
          <a:p>
            <a:r>
              <a:rPr lang="en-US" dirty="0"/>
              <a:t>- Essential for structured data handling</a:t>
            </a:r>
          </a:p>
          <a:p>
            <a:endParaRPr lang="en-US" dirty="0"/>
          </a:p>
          <a:p>
            <a:r>
              <a:rPr lang="en-US" dirty="0"/>
              <a:t>2. Types of Output Parsers:</a:t>
            </a:r>
          </a:p>
          <a:p>
            <a:r>
              <a:rPr lang="en-US" dirty="0"/>
              <a:t>a) </a:t>
            </a:r>
            <a:r>
              <a:rPr lang="en-US" dirty="0" err="1"/>
              <a:t>StrOutputParser</a:t>
            </a:r>
            <a:endParaRPr lang="en-US" dirty="0"/>
          </a:p>
          <a:p>
            <a:r>
              <a:rPr lang="en-US" dirty="0"/>
              <a:t>- Handles string outputs</a:t>
            </a:r>
          </a:p>
          <a:p>
            <a:r>
              <a:rPr lang="en-US" dirty="0"/>
              <a:t>- Basic text processing</a:t>
            </a:r>
          </a:p>
          <a:p>
            <a:endParaRPr lang="en-US" dirty="0"/>
          </a:p>
          <a:p>
            <a:r>
              <a:rPr lang="en-US" dirty="0"/>
              <a:t>b) </a:t>
            </a:r>
            <a:r>
              <a:rPr lang="en-US" dirty="0" err="1"/>
              <a:t>JsonOutputParser</a:t>
            </a:r>
            <a:endParaRPr lang="en-US" dirty="0"/>
          </a:p>
          <a:p>
            <a:r>
              <a:rPr lang="en-US" dirty="0"/>
              <a:t>- Converts outputs to JSON format</a:t>
            </a:r>
          </a:p>
          <a:p>
            <a:r>
              <a:rPr lang="en-US" dirty="0"/>
              <a:t>- Useful for structured data requirements</a:t>
            </a:r>
          </a:p>
          <a:p>
            <a:endParaRPr lang="en-US" dirty="0"/>
          </a:p>
          <a:p>
            <a:r>
              <a:rPr lang="en-US" dirty="0"/>
              <a:t>c) </a:t>
            </a:r>
            <a:r>
              <a:rPr lang="en-US" dirty="0" err="1"/>
              <a:t>XMLOutputParser</a:t>
            </a:r>
            <a:endParaRPr lang="en-US" dirty="0"/>
          </a:p>
          <a:p>
            <a:r>
              <a:rPr lang="en-US" dirty="0"/>
              <a:t>- Parses output into XML format</a:t>
            </a:r>
          </a:p>
          <a:p>
            <a:r>
              <a:rPr lang="en-US" dirty="0"/>
              <a:t>- Good for hierarchical data structures</a:t>
            </a:r>
          </a:p>
          <a:p>
            <a:endParaRPr lang="en-US" dirty="0"/>
          </a:p>
          <a:p>
            <a:r>
              <a:rPr lang="en-US" dirty="0"/>
              <a:t>d) </a:t>
            </a:r>
            <a:r>
              <a:rPr lang="en-US" dirty="0" err="1"/>
              <a:t>BooleanOutputParser</a:t>
            </a:r>
            <a:endParaRPr lang="en-US" dirty="0"/>
          </a:p>
          <a:p>
            <a:r>
              <a:rPr lang="en-US" dirty="0"/>
              <a:t>- Converts output to </a:t>
            </a:r>
            <a:r>
              <a:rPr lang="en-US" dirty="0" err="1"/>
              <a:t>boolean</a:t>
            </a:r>
            <a:r>
              <a:rPr lang="en-US" dirty="0"/>
              <a:t> values</a:t>
            </a:r>
          </a:p>
          <a:p>
            <a:r>
              <a:rPr lang="en-US" dirty="0"/>
              <a:t>- Useful for yes/no or true/false decisions</a:t>
            </a:r>
          </a:p>
          <a:p>
            <a:endParaRPr lang="en-US" dirty="0"/>
          </a:p>
          <a:p>
            <a:r>
              <a:rPr lang="en-US" dirty="0"/>
              <a:t>3. Importance</a:t>
            </a:r>
          </a:p>
          <a:p>
            <a:r>
              <a:rPr lang="en-US" dirty="0"/>
              <a:t>- Ensures output adheres to specific formats</a:t>
            </a:r>
          </a:p>
          <a:p>
            <a:r>
              <a:rPr lang="en-US" dirty="0"/>
              <a:t>- Critical for downstream task compatibility</a:t>
            </a:r>
          </a:p>
          <a:p>
            <a:r>
              <a:rPr lang="en-US" dirty="0"/>
              <a:t>- Enables systematic processing of LLM responses</a:t>
            </a:r>
          </a:p>
          <a:p>
            <a:endParaRPr lang="en-US" dirty="0"/>
          </a:p>
          <a:p>
            <a:r>
              <a:rPr lang="en-US" b="1" dirty="0"/>
              <a:t>EDUCATOR NOTES:</a:t>
            </a:r>
          </a:p>
          <a:p>
            <a:endParaRPr lang="en-US" dirty="0"/>
          </a:p>
          <a:p>
            <a:r>
              <a:rPr lang="en-US" dirty="0"/>
              <a:t>"In this slide, we're covering another </a:t>
            </a:r>
            <a:r>
              <a:rPr lang="en-US" dirty="0" err="1"/>
              <a:t>Langchain</a:t>
            </a:r>
            <a:r>
              <a:rPr lang="en-US" dirty="0"/>
              <a:t> module: output parsers. They are crucial tools for working with LLM outputs. Think of parsers as translators that take the raw output from an LLM and convert it into specific formats that our applications can use.</a:t>
            </a:r>
          </a:p>
          <a:p>
            <a:endParaRPr lang="en-US" dirty="0"/>
          </a:p>
          <a:p>
            <a:r>
              <a:rPr lang="en-US" dirty="0"/>
              <a:t>We have several types of parsers: string parsers for basic text, JSON parsers for structured data, XML parsers for hierarchical information, and Boolean parsers for simple true/false outputs. Each serves a specific purpose in the data processing pipeline.</a:t>
            </a:r>
          </a:p>
          <a:p>
            <a:endParaRPr lang="en-US" dirty="0"/>
          </a:p>
          <a:p>
            <a:r>
              <a:rPr lang="en-US" dirty="0"/>
              <a:t>The key takeaway here is that output parsers are essential for maintaining consistency and usability in your LLM applications. Without proper parsing, it would be challenging to integrate LLM outputs into existing systems or perform downstream tasks effectively.</a:t>
            </a:r>
          </a:p>
          <a:p>
            <a:endParaRPr lang="en-US" dirty="0"/>
          </a:p>
          <a:p>
            <a:r>
              <a:rPr lang="en-US" dirty="0"/>
              <a:t>Remember to choose the appropriate parser based on your specific use case and the requirements of your downstream applications. This will ensure smooth data flow and proper integration within your system architecture."</a:t>
            </a:r>
          </a:p>
        </p:txBody>
      </p:sp>
      <p:sp>
        <p:nvSpPr>
          <p:cNvPr id="4" name="Slide Number Placeholder 3"/>
          <p:cNvSpPr>
            <a:spLocks noGrp="1"/>
          </p:cNvSpPr>
          <p:nvPr>
            <p:ph type="sldNum" sz="quarter" idx="5"/>
          </p:nvPr>
        </p:nvSpPr>
        <p:spPr/>
        <p:txBody>
          <a:bodyPr/>
          <a:lstStyle/>
          <a:p>
            <a:fld id="{688EF870-5850-6643-A228-25AFAA8E2BB1}" type="slidenum">
              <a:rPr lang="en-US" smtClean="0"/>
              <a:t>13</a:t>
            </a:fld>
            <a:endParaRPr lang="en-US"/>
          </a:p>
        </p:txBody>
      </p:sp>
    </p:spTree>
    <p:extLst>
      <p:ext uri="{BB962C8B-B14F-4D97-AF65-F5344CB8AC3E}">
        <p14:creationId xmlns:p14="http://schemas.microsoft.com/office/powerpoint/2010/main" val="21823530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a:t>
            </a:r>
            <a:r>
              <a:rPr lang="en-US" b="1" dirty="0" err="1"/>
              <a:t>ponts</a:t>
            </a:r>
            <a:r>
              <a:rPr lang="en-US" b="1" dirty="0"/>
              <a:t>:</a:t>
            </a:r>
          </a:p>
          <a:p>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err="1"/>
              <a:t>Langchain</a:t>
            </a:r>
            <a:r>
              <a:rPr lang="en-US" b="0" dirty="0"/>
              <a:t> module: Chains</a:t>
            </a:r>
            <a:endParaRPr lang="en-US" dirty="0"/>
          </a:p>
          <a:p>
            <a:endParaRPr lang="en-US" dirty="0"/>
          </a:p>
          <a:p>
            <a:r>
              <a:rPr lang="en-US" dirty="0"/>
              <a:t>1. Definition and Purpose of Chains</a:t>
            </a:r>
          </a:p>
          <a:p>
            <a:r>
              <a:rPr lang="en-US" dirty="0"/>
              <a:t>- Chains are a fundamental concept that allows building complex applications</a:t>
            </a:r>
          </a:p>
          <a:p>
            <a:r>
              <a:rPr lang="en-US" dirty="0"/>
              <a:t>- They work by chaining together different modules in a structured way</a:t>
            </a:r>
          </a:p>
          <a:p>
            <a:endParaRPr lang="en-US" dirty="0"/>
          </a:p>
          <a:p>
            <a:r>
              <a:rPr lang="en-US" dirty="0"/>
              <a:t>2. Key Components</a:t>
            </a:r>
          </a:p>
          <a:p>
            <a:r>
              <a:rPr lang="en-US" dirty="0"/>
              <a:t>- Sequence of calls to:</a:t>
            </a:r>
          </a:p>
          <a:p>
            <a:r>
              <a:rPr lang="en-US" dirty="0"/>
              <a:t>  * LLM (Language Learning Models)</a:t>
            </a:r>
          </a:p>
          <a:p>
            <a:r>
              <a:rPr lang="en-US" dirty="0"/>
              <a:t>  * Tools</a:t>
            </a:r>
          </a:p>
          <a:p>
            <a:r>
              <a:rPr lang="en-US" dirty="0"/>
              <a:t>  * Other components</a:t>
            </a:r>
          </a:p>
          <a:p>
            <a:endParaRPr lang="en-US" dirty="0"/>
          </a:p>
          <a:p>
            <a:r>
              <a:rPr lang="en-US" dirty="0"/>
              <a:t>3. Benefits</a:t>
            </a:r>
          </a:p>
          <a:p>
            <a:r>
              <a:rPr lang="en-US" dirty="0"/>
              <a:t>a) Simplification</a:t>
            </a:r>
          </a:p>
          <a:p>
            <a:r>
              <a:rPr lang="en-US" dirty="0"/>
              <a:t>   - Breaks down complex tasks into manageable steps</a:t>
            </a:r>
          </a:p>
          <a:p>
            <a:r>
              <a:rPr lang="en-US" dirty="0"/>
              <a:t>   - Enables modular approach to problem-solving</a:t>
            </a:r>
          </a:p>
          <a:p>
            <a:r>
              <a:rPr lang="en-US" dirty="0"/>
              <a:t>   - Makes complex applications more maintainable</a:t>
            </a:r>
          </a:p>
          <a:p>
            <a:endParaRPr lang="en-US" dirty="0"/>
          </a:p>
          <a:p>
            <a:r>
              <a:rPr lang="en-US" dirty="0"/>
              <a:t>b) Flexibility</a:t>
            </a:r>
          </a:p>
          <a:p>
            <a:r>
              <a:rPr lang="en-US" dirty="0"/>
              <a:t>   - Easy component switching without workflow disruption</a:t>
            </a:r>
          </a:p>
          <a:p>
            <a:r>
              <a:rPr lang="en-US" dirty="0"/>
              <a:t>   - Promotes modular design principles</a:t>
            </a:r>
          </a:p>
          <a:p>
            <a:r>
              <a:rPr lang="en-US" dirty="0"/>
              <a:t>   - Allows for easy updates and modifications</a:t>
            </a:r>
          </a:p>
          <a:p>
            <a:endParaRPr lang="en-US" dirty="0"/>
          </a:p>
          <a:p>
            <a:r>
              <a:rPr lang="en-US" dirty="0"/>
              <a:t>4. LCEL (</a:t>
            </a:r>
            <a:r>
              <a:rPr lang="en-US" dirty="0" err="1"/>
              <a:t>LangChain</a:t>
            </a:r>
            <a:r>
              <a:rPr lang="en-US" dirty="0"/>
              <a:t> Expression Language)</a:t>
            </a:r>
          </a:p>
          <a:p>
            <a:r>
              <a:rPr lang="en-US" dirty="0"/>
              <a:t>   - Provides structured way to express chain operations</a:t>
            </a:r>
          </a:p>
          <a:p>
            <a:r>
              <a:rPr lang="en-US" dirty="0"/>
              <a:t>   - Foundation for building complex language model applications</a:t>
            </a:r>
          </a:p>
          <a:p>
            <a:endParaRPr lang="en-US" dirty="0"/>
          </a:p>
          <a:p>
            <a:r>
              <a:rPr lang="en-US" b="1" dirty="0"/>
              <a:t>EDUCATOR NOTES:</a:t>
            </a:r>
          </a:p>
          <a:p>
            <a:endParaRPr lang="en-US" dirty="0"/>
          </a:p>
          <a:p>
            <a:r>
              <a:rPr lang="en-US" dirty="0"/>
              <a:t>”Now we'll be discussing another </a:t>
            </a:r>
            <a:r>
              <a:rPr lang="en-US" dirty="0" err="1"/>
              <a:t>Langchain</a:t>
            </a:r>
            <a:r>
              <a:rPr lang="en-US" dirty="0"/>
              <a:t> module: Chains. It is a powerful concept that revolutionizes how we build complex applications. Think of chains as building blocks that we can connect together, similar to connecting LEGO pieces. The beauty of this system lies in its flexibility - you can easily swap components without breaking the entire structure.</a:t>
            </a:r>
          </a:p>
          <a:p>
            <a:endParaRPr lang="en-US" dirty="0"/>
          </a:p>
          <a:p>
            <a:r>
              <a:rPr lang="en-US" dirty="0"/>
              <a:t>When presenting this slide, emphasize how chains solve real-world problems by breaking down complex tasks into manageable pieces. Use analogies like assembly lines to help audience understand the concept of sequential processing.</a:t>
            </a:r>
          </a:p>
          <a:p>
            <a:endParaRPr lang="en-US" dirty="0"/>
          </a:p>
          <a:p>
            <a:r>
              <a:rPr lang="en-US" dirty="0"/>
              <a:t>Remember to highlight that LCEL makes this all accessible, even to those new to the field. End with practical examples if time permits. Explain that LCEL (</a:t>
            </a:r>
            <a:r>
              <a:rPr lang="en-US" dirty="0" err="1"/>
              <a:t>LangChain</a:t>
            </a:r>
            <a:r>
              <a:rPr lang="en-US" dirty="0"/>
              <a:t> Expression Language) will be explained in more details in the following slide.</a:t>
            </a:r>
          </a:p>
          <a:p>
            <a:endParaRPr lang="en-US" dirty="0"/>
          </a:p>
          <a:p>
            <a:r>
              <a:rPr lang="en-US" dirty="0"/>
              <a:t>Key talking point: Stress how this approach reduces complexity while maintaining power and flexibility in application development."</a:t>
            </a:r>
          </a:p>
        </p:txBody>
      </p:sp>
      <p:sp>
        <p:nvSpPr>
          <p:cNvPr id="4" name="Slide Number Placeholder 3"/>
          <p:cNvSpPr>
            <a:spLocks noGrp="1"/>
          </p:cNvSpPr>
          <p:nvPr>
            <p:ph type="sldNum" sz="quarter" idx="5"/>
          </p:nvPr>
        </p:nvSpPr>
        <p:spPr/>
        <p:txBody>
          <a:bodyPr/>
          <a:lstStyle/>
          <a:p>
            <a:fld id="{688EF870-5850-6643-A228-25AFAA8E2BB1}" type="slidenum">
              <a:rPr lang="en-US" smtClean="0"/>
              <a:t>14</a:t>
            </a:fld>
            <a:endParaRPr lang="en-US"/>
          </a:p>
        </p:txBody>
      </p:sp>
    </p:spTree>
    <p:extLst>
      <p:ext uri="{BB962C8B-B14F-4D97-AF65-F5344CB8AC3E}">
        <p14:creationId xmlns:p14="http://schemas.microsoft.com/office/powerpoint/2010/main" val="26786858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Introduction to LCEL</a:t>
            </a:r>
          </a:p>
          <a:p>
            <a:r>
              <a:rPr lang="en-US" dirty="0"/>
              <a:t>- </a:t>
            </a:r>
            <a:r>
              <a:rPr lang="en-US" dirty="0" err="1"/>
              <a:t>LangChain</a:t>
            </a:r>
            <a:r>
              <a:rPr lang="en-US" dirty="0"/>
              <a:t> Expression Language is a framework for composing chains</a:t>
            </a:r>
          </a:p>
          <a:p>
            <a:r>
              <a:rPr lang="en-US" dirty="0"/>
              <a:t>- Designed for simplicity and ease of use in chain creation</a:t>
            </a:r>
          </a:p>
          <a:p>
            <a:endParaRPr lang="en-US" dirty="0"/>
          </a:p>
          <a:p>
            <a:r>
              <a:rPr lang="en-US" dirty="0"/>
              <a:t>2. Core Benefits Overview</a:t>
            </a:r>
          </a:p>
          <a:p>
            <a:r>
              <a:rPr lang="en-US" dirty="0"/>
              <a:t>A. Streaming Capabilities</a:t>
            </a:r>
          </a:p>
          <a:p>
            <a:r>
              <a:rPr lang="en-US" dirty="0"/>
              <a:t>- Built-in support for streaming operations</a:t>
            </a:r>
          </a:p>
          <a:p>
            <a:r>
              <a:rPr lang="en-US" dirty="0"/>
              <a:t>- Enables real-time data processing</a:t>
            </a:r>
          </a:p>
          <a:p>
            <a:endParaRPr lang="en-US" dirty="0"/>
          </a:p>
          <a:p>
            <a:r>
              <a:rPr lang="en-US" dirty="0"/>
              <a:t>B. Parallel Processing</a:t>
            </a:r>
          </a:p>
          <a:p>
            <a:r>
              <a:rPr lang="en-US" dirty="0"/>
              <a:t>- Allows concurrent execution of tasks</a:t>
            </a:r>
          </a:p>
          <a:p>
            <a:r>
              <a:rPr lang="en-US" dirty="0"/>
              <a:t>- Improves overall performance and efficiency</a:t>
            </a:r>
          </a:p>
          <a:p>
            <a:endParaRPr lang="en-US" dirty="0"/>
          </a:p>
          <a:p>
            <a:r>
              <a:rPr lang="en-US" dirty="0"/>
              <a:t>C. Error Handling</a:t>
            </a:r>
          </a:p>
          <a:p>
            <a:r>
              <a:rPr lang="en-US" dirty="0"/>
              <a:t>- Configurable retry mechanisms</a:t>
            </a:r>
          </a:p>
          <a:p>
            <a:r>
              <a:rPr lang="en-US" dirty="0"/>
              <a:t>- Fallback options for error scenarios</a:t>
            </a:r>
          </a:p>
          <a:p>
            <a:r>
              <a:rPr lang="en-US" dirty="0"/>
              <a:t>- Enhances reliability of chains</a:t>
            </a:r>
          </a:p>
          <a:p>
            <a:endParaRPr lang="en-US" dirty="0"/>
          </a:p>
          <a:p>
            <a:r>
              <a:rPr lang="en-US" dirty="0"/>
              <a:t>D. Process Visibility</a:t>
            </a:r>
          </a:p>
          <a:p>
            <a:r>
              <a:rPr lang="en-US" dirty="0"/>
              <a:t>- Access to intermediate steps</a:t>
            </a:r>
          </a:p>
          <a:p>
            <a:r>
              <a:rPr lang="en-US" dirty="0"/>
              <a:t>- Helpful for debugging and monitoring</a:t>
            </a:r>
          </a:p>
          <a:p>
            <a:endParaRPr lang="en-US" dirty="0"/>
          </a:p>
          <a:p>
            <a:r>
              <a:rPr lang="en-US" dirty="0"/>
              <a:t>E. Schema Management</a:t>
            </a:r>
          </a:p>
          <a:p>
            <a:r>
              <a:rPr lang="en-US" dirty="0"/>
              <a:t>- Input/output schema specification</a:t>
            </a:r>
          </a:p>
          <a:p>
            <a:r>
              <a:rPr lang="en-US" dirty="0"/>
              <a:t>- Ensures data conformity</a:t>
            </a:r>
          </a:p>
          <a:p>
            <a:r>
              <a:rPr lang="en-US" dirty="0"/>
              <a:t>- Maintains consistency across chain operations</a:t>
            </a:r>
          </a:p>
          <a:p>
            <a:endParaRPr lang="en-US" dirty="0"/>
          </a:p>
          <a:p>
            <a:r>
              <a:rPr lang="en-US" b="1" dirty="0"/>
              <a:t>EDUCATOR NOTES:</a:t>
            </a:r>
          </a:p>
          <a:p>
            <a:endParaRPr lang="en-US" b="1" dirty="0"/>
          </a:p>
          <a:p>
            <a:r>
              <a:rPr lang="en-US" dirty="0"/>
              <a:t>”Let’s discuss the </a:t>
            </a:r>
            <a:r>
              <a:rPr lang="en-US" dirty="0" err="1"/>
              <a:t>LangChain</a:t>
            </a:r>
            <a:r>
              <a:rPr lang="en-US" dirty="0"/>
              <a:t> Expression Language, or LCEL. This is a powerful tool that simplifies the process of creating and managing chains in </a:t>
            </a:r>
            <a:r>
              <a:rPr lang="en-US" dirty="0" err="1"/>
              <a:t>LangChain</a:t>
            </a:r>
            <a:r>
              <a:rPr lang="en-US" dirty="0"/>
              <a:t>. What makes LCEL particularly valuable is its comprehensive feature set, including streaming support for real-time operations, parallel execution capabilities for improved performance, and robust error handling through retries and fallbacks.</a:t>
            </a:r>
          </a:p>
          <a:p>
            <a:endParaRPr lang="en-US" dirty="0"/>
          </a:p>
          <a:p>
            <a:r>
              <a:rPr lang="en-US" dirty="0"/>
              <a:t>One of the standout features is the ability to access intermediate steps, which is invaluable for debugging and understanding how your chains are processing data. Additionally, the schema specification feature ensures that your data remains consistent and properly formatted throughout the chain's operation.”</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15</a:t>
            </a:fld>
            <a:endParaRPr lang="en-US"/>
          </a:p>
        </p:txBody>
      </p:sp>
    </p:spTree>
    <p:extLst>
      <p:ext uri="{BB962C8B-B14F-4D97-AF65-F5344CB8AC3E}">
        <p14:creationId xmlns:p14="http://schemas.microsoft.com/office/powerpoint/2010/main" val="36865555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Main Topic: Simple LLM Chain example</a:t>
            </a:r>
          </a:p>
          <a:p>
            <a:r>
              <a:rPr lang="en-US" dirty="0"/>
              <a:t>2. Purpose: To demonstrate how to combine three key components:</a:t>
            </a:r>
          </a:p>
          <a:p>
            <a:r>
              <a:rPr lang="en-US" dirty="0"/>
              <a:t>   - LLM (Large Language Model)</a:t>
            </a:r>
          </a:p>
          <a:p>
            <a:r>
              <a:rPr lang="en-US" dirty="0"/>
              <a:t>   - Prompt Template</a:t>
            </a:r>
          </a:p>
          <a:p>
            <a:r>
              <a:rPr lang="en-US" dirty="0"/>
              <a:t>   - Output Parser</a:t>
            </a:r>
          </a:p>
          <a:p>
            <a:endParaRPr lang="en-US" dirty="0"/>
          </a:p>
          <a:p>
            <a:r>
              <a:rPr lang="en-US" dirty="0"/>
              <a:t>3. Code Implementation:</a:t>
            </a:r>
          </a:p>
          <a:p>
            <a:r>
              <a:rPr lang="en-US" dirty="0"/>
              <a:t>   - First defines a prompt template using </a:t>
            </a:r>
            <a:r>
              <a:rPr lang="en-US" dirty="0" err="1"/>
              <a:t>PromptTemplate.from_template</a:t>
            </a:r>
            <a:r>
              <a:rPr lang="en-US" dirty="0"/>
              <a:t>()</a:t>
            </a:r>
          </a:p>
          <a:p>
            <a:r>
              <a:rPr lang="en-US" dirty="0"/>
              <a:t>   - Template format: "Tell me a {</a:t>
            </a:r>
            <a:r>
              <a:rPr lang="en-US" dirty="0" err="1"/>
              <a:t>content_type</a:t>
            </a:r>
            <a:r>
              <a:rPr lang="en-US" dirty="0"/>
              <a:t>} about {topic}."</a:t>
            </a:r>
          </a:p>
          <a:p>
            <a:r>
              <a:rPr lang="en-US" dirty="0"/>
              <a:t>   - Creates chain by combining: </a:t>
            </a:r>
            <a:r>
              <a:rPr lang="en-US" dirty="0" err="1"/>
              <a:t>prompt_template</a:t>
            </a:r>
            <a:r>
              <a:rPr lang="en-US" dirty="0"/>
              <a:t> | </a:t>
            </a:r>
            <a:r>
              <a:rPr lang="en-US" dirty="0" err="1"/>
              <a:t>llm</a:t>
            </a:r>
            <a:r>
              <a:rPr lang="en-US" dirty="0"/>
              <a:t> | </a:t>
            </a:r>
            <a:r>
              <a:rPr lang="en-US" dirty="0" err="1"/>
              <a:t>StrOutputParser</a:t>
            </a:r>
            <a:r>
              <a:rPr lang="en-US" dirty="0"/>
              <a:t>()</a:t>
            </a:r>
          </a:p>
          <a:p>
            <a:r>
              <a:rPr lang="en-US" dirty="0"/>
              <a:t>   - Chain execution shown with invoke() method</a:t>
            </a:r>
          </a:p>
          <a:p>
            <a:r>
              <a:rPr lang="en-US" dirty="0"/>
              <a:t>   - Example uses parameters:</a:t>
            </a:r>
          </a:p>
          <a:p>
            <a:r>
              <a:rPr lang="en-US" dirty="0"/>
              <a:t>     * </a:t>
            </a:r>
            <a:r>
              <a:rPr lang="en-US" dirty="0" err="1"/>
              <a:t>content_type</a:t>
            </a:r>
            <a:r>
              <a:rPr lang="en-US" dirty="0"/>
              <a:t>: "bedtime story"</a:t>
            </a:r>
          </a:p>
          <a:p>
            <a:r>
              <a:rPr lang="en-US" dirty="0"/>
              <a:t>     * topic: "a cat"</a:t>
            </a:r>
          </a:p>
          <a:p>
            <a:endParaRPr lang="en-US" dirty="0"/>
          </a:p>
          <a:p>
            <a:r>
              <a:rPr lang="en-US" dirty="0"/>
              <a:t>4. Output Example:</a:t>
            </a:r>
          </a:p>
          <a:p>
            <a:r>
              <a:rPr lang="en-US" dirty="0"/>
              <a:t>   - Generates a bedtime story about a cat named Midnight</a:t>
            </a:r>
          </a:p>
          <a:p>
            <a:r>
              <a:rPr lang="en-US" dirty="0"/>
              <a:t>   - Shows how the chain processes and produces narrative content</a:t>
            </a:r>
          </a:p>
          <a:p>
            <a:endParaRPr lang="en-US" dirty="0"/>
          </a:p>
          <a:p>
            <a:r>
              <a:rPr lang="en-US" b="1" dirty="0"/>
              <a:t>EDUCATOR NOTES:</a:t>
            </a:r>
          </a:p>
          <a:p>
            <a:endParaRPr lang="en-US" b="1" dirty="0"/>
          </a:p>
          <a:p>
            <a:r>
              <a:rPr lang="en-US" dirty="0"/>
              <a:t>"In this slide, we're looking at how to create a basic LLM chain. The power of this approach lies in its simplicity and flexibility. When presenting this:</a:t>
            </a:r>
          </a:p>
          <a:p>
            <a:endParaRPr lang="en-US" dirty="0"/>
          </a:p>
          <a:p>
            <a:r>
              <a:rPr lang="en-US" dirty="0"/>
              <a:t>1. Start by emphasizing how this chain combines three essential components into a single, streamlined pipeline.</a:t>
            </a:r>
          </a:p>
          <a:p>
            <a:r>
              <a:rPr lang="en-US" dirty="0"/>
              <a:t>2. Walk through the template definition, highlighting how variables are incorporated using curly braces.</a:t>
            </a:r>
          </a:p>
          <a:p>
            <a:r>
              <a:rPr lang="en-US" dirty="0"/>
              <a:t>3. Demonstrate the chain construction using the pipe operator, which makes it very readable and maintainable.</a:t>
            </a:r>
          </a:p>
          <a:p>
            <a:r>
              <a:rPr lang="en-US" dirty="0"/>
              <a:t>4. Show the practical application with the bedtime story example, which clearly illustrates how the chain transforms simple parameters into structured output.</a:t>
            </a:r>
          </a:p>
          <a:p>
            <a:r>
              <a:rPr lang="en-US" dirty="0"/>
              <a:t>5. Emphasize that this pattern can be adapted for various use cases by changing the template and parameters.</a:t>
            </a:r>
          </a:p>
          <a:p>
            <a:endParaRPr lang="en-US" dirty="0"/>
          </a:p>
          <a:p>
            <a:r>
              <a:rPr lang="en-US" dirty="0"/>
              <a:t>Remember to mention that this is a fundamental pattern that serves as a building block for more complex chains and applications."</a:t>
            </a:r>
          </a:p>
        </p:txBody>
      </p:sp>
      <p:sp>
        <p:nvSpPr>
          <p:cNvPr id="4" name="Slide Number Placeholder 3"/>
          <p:cNvSpPr>
            <a:spLocks noGrp="1"/>
          </p:cNvSpPr>
          <p:nvPr>
            <p:ph type="sldNum" sz="quarter" idx="5"/>
          </p:nvPr>
        </p:nvSpPr>
        <p:spPr/>
        <p:txBody>
          <a:bodyPr/>
          <a:lstStyle/>
          <a:p>
            <a:fld id="{688EF870-5850-6643-A228-25AFAA8E2BB1}" type="slidenum">
              <a:rPr lang="en-US" smtClean="0"/>
              <a:t>16</a:t>
            </a:fld>
            <a:endParaRPr lang="en-US"/>
          </a:p>
        </p:txBody>
      </p:sp>
    </p:spTree>
    <p:extLst>
      <p:ext uri="{BB962C8B-B14F-4D97-AF65-F5344CB8AC3E}">
        <p14:creationId xmlns:p14="http://schemas.microsoft.com/office/powerpoint/2010/main" val="29894140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b="1" dirty="0"/>
          </a:p>
          <a:p>
            <a:r>
              <a:rPr lang="en-US" dirty="0"/>
              <a:t>1. Purpose: Creating complex workflows by connecting multiple chains together</a:t>
            </a:r>
          </a:p>
          <a:p>
            <a:r>
              <a:rPr lang="en-US" dirty="0"/>
              <a:t>2. Key Concept: Proper definition of input and output variables for flow control</a:t>
            </a:r>
          </a:p>
          <a:p>
            <a:endParaRPr lang="en-US" dirty="0"/>
          </a:p>
          <a:p>
            <a:r>
              <a:rPr lang="en-US" dirty="0"/>
              <a:t>Workflow Example Breakdown:</a:t>
            </a:r>
          </a:p>
          <a:p>
            <a:r>
              <a:rPr lang="en-US" dirty="0"/>
              <a:t>- Initial Input: Movie title</a:t>
            </a:r>
          </a:p>
          <a:p>
            <a:r>
              <a:rPr lang="en-US" dirty="0"/>
              <a:t>- Chain 1: Screenwriter chain</a:t>
            </a:r>
          </a:p>
          <a:p>
            <a:r>
              <a:rPr lang="en-US" dirty="0"/>
              <a:t>  * Takes movie title as input</a:t>
            </a:r>
          </a:p>
          <a:p>
            <a:r>
              <a:rPr lang="en-US" dirty="0"/>
              <a:t>  * Produces synopsis as output</a:t>
            </a:r>
          </a:p>
          <a:p>
            <a:r>
              <a:rPr lang="en-US" dirty="0"/>
              <a:t>- Chain 2: Movie critic chain</a:t>
            </a:r>
          </a:p>
          <a:p>
            <a:r>
              <a:rPr lang="en-US" dirty="0"/>
              <a:t>  * Takes synopsis as input</a:t>
            </a:r>
          </a:p>
          <a:p>
            <a:r>
              <a:rPr lang="en-US" dirty="0"/>
              <a:t>  * Produces review as output</a:t>
            </a:r>
          </a:p>
          <a:p>
            <a:r>
              <a:rPr lang="en-US" dirty="0"/>
              <a:t>- Chain 3: Target demographic chain</a:t>
            </a:r>
          </a:p>
          <a:p>
            <a:r>
              <a:rPr lang="en-US" dirty="0"/>
              <a:t>  * Takes review as input</a:t>
            </a:r>
          </a:p>
          <a:p>
            <a:r>
              <a:rPr lang="en-US" dirty="0"/>
              <a:t>  * Determines target demographic</a:t>
            </a:r>
          </a:p>
          <a:p>
            <a:r>
              <a:rPr lang="en-US" dirty="0"/>
              <a:t>- Final Chain: Social media manager chain</a:t>
            </a:r>
          </a:p>
          <a:p>
            <a:r>
              <a:rPr lang="en-US" dirty="0"/>
              <a:t>  * Takes both synopsis and target demographic as inputs</a:t>
            </a:r>
          </a:p>
          <a:p>
            <a:r>
              <a:rPr lang="en-US" dirty="0"/>
              <a:t>  * Produces final social media post as output</a:t>
            </a:r>
          </a:p>
          <a:p>
            <a:endParaRPr lang="en-US" dirty="0"/>
          </a:p>
          <a:p>
            <a:r>
              <a:rPr lang="en-US" b="1" dirty="0"/>
              <a:t>EDUCATOR NOTES:</a:t>
            </a:r>
          </a:p>
          <a:p>
            <a:endParaRPr lang="en-US" dirty="0"/>
          </a:p>
          <a:p>
            <a:r>
              <a:rPr lang="en-US" dirty="0"/>
              <a:t>"In this slide, we're examining how to create sophisticated workflows by connecting multiple specialized chains. Let me walk you through this example: We start with a movie title that feeds into our screenwriter chain. This chain creates a synopsis, which then serves two purposes - it goes to our movie critic chain and is also preserved for our social media output. The critic chain generates a review that helps our demographic chain determine the target audience. Finally, all this information converges in our social media manager chain, which crafts the perfect social post. Notice how each chain's output becomes a crucial input for subsequent chains, creating a seamless flow of information processing. This demonstrates the power of chain connectivity in creating complex, yet efficient workflows."</a:t>
            </a:r>
          </a:p>
        </p:txBody>
      </p:sp>
      <p:sp>
        <p:nvSpPr>
          <p:cNvPr id="4" name="Slide Number Placeholder 3"/>
          <p:cNvSpPr>
            <a:spLocks noGrp="1"/>
          </p:cNvSpPr>
          <p:nvPr>
            <p:ph type="sldNum" sz="quarter" idx="5"/>
          </p:nvPr>
        </p:nvSpPr>
        <p:spPr/>
        <p:txBody>
          <a:bodyPr/>
          <a:lstStyle/>
          <a:p>
            <a:fld id="{688EF870-5850-6643-A228-25AFAA8E2BB1}" type="slidenum">
              <a:rPr lang="en-US" smtClean="0"/>
              <a:t>17</a:t>
            </a:fld>
            <a:endParaRPr lang="en-US"/>
          </a:p>
        </p:txBody>
      </p:sp>
    </p:spTree>
    <p:extLst>
      <p:ext uri="{BB962C8B-B14F-4D97-AF65-F5344CB8AC3E}">
        <p14:creationId xmlns:p14="http://schemas.microsoft.com/office/powerpoint/2010/main" val="9892404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0304A-D9C2-62C4-16E1-F560418B3A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5DBC5F-3289-49CF-4ED4-F1F6C52564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D7CBAA-31E9-904C-D9BE-DAC0A6C677D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41644241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for "Simple Prompting" Slide:</a:t>
            </a:r>
          </a:p>
          <a:p>
            <a:endParaRPr lang="en-US" dirty="0"/>
          </a:p>
          <a:p>
            <a:r>
              <a:rPr lang="en-US" dirty="0"/>
              <a:t>Title: Simple Prompting - Understanding AI Conversation Context</a:t>
            </a:r>
          </a:p>
          <a:p>
            <a:r>
              <a:rPr lang="en-US" b="1" dirty="0"/>
              <a:t>Key Points:</a:t>
            </a:r>
          </a:p>
          <a:p>
            <a:endParaRPr lang="en-US" dirty="0"/>
          </a:p>
          <a:p>
            <a:r>
              <a:rPr lang="en-US" dirty="0"/>
              <a:t>1. The slide demonstrates a basic conversation flow between a user and an AI system</a:t>
            </a:r>
          </a:p>
          <a:p>
            <a:r>
              <a:rPr lang="en-US" dirty="0"/>
              <a:t>2. Two prompt examples are shown to illustrate context retention issues:</a:t>
            </a:r>
          </a:p>
          <a:p>
            <a:endParaRPr lang="en-US" dirty="0"/>
          </a:p>
          <a:p>
            <a:r>
              <a:rPr lang="en-US" dirty="0"/>
              <a:t>Prompt 1:</a:t>
            </a:r>
          </a:p>
          <a:p>
            <a:r>
              <a:rPr lang="en-US" dirty="0"/>
              <a:t>- User introduces themselves: "Hi, my name is Andy"</a:t>
            </a:r>
          </a:p>
          <a:p>
            <a:r>
              <a:rPr lang="en-US" dirty="0"/>
              <a:t>- AI responds appropriately: "Hi Andy, it is nice to meet you"</a:t>
            </a:r>
          </a:p>
          <a:p>
            <a:endParaRPr lang="en-US" dirty="0"/>
          </a:p>
          <a:p>
            <a:r>
              <a:rPr lang="en-US" dirty="0"/>
              <a:t>Prompt 2:</a:t>
            </a:r>
          </a:p>
          <a:p>
            <a:r>
              <a:rPr lang="en-US" dirty="0"/>
              <a:t>- User asks: "What is my name?"</a:t>
            </a:r>
          </a:p>
          <a:p>
            <a:r>
              <a:rPr lang="en-US" dirty="0"/>
              <a:t>- AI loses context: "I don't know. What do I call you?"</a:t>
            </a:r>
          </a:p>
          <a:p>
            <a:endParaRPr lang="en-US" dirty="0"/>
          </a:p>
          <a:p>
            <a:r>
              <a:rPr lang="en-US" dirty="0"/>
              <a:t>Main Issue Highlighted:</a:t>
            </a:r>
          </a:p>
          <a:p>
            <a:r>
              <a:rPr lang="en-US" dirty="0"/>
              <a:t>- The example shows how AI systems may struggle with maintaining context across separate prompts</a:t>
            </a:r>
          </a:p>
          <a:p>
            <a:r>
              <a:rPr lang="en-US" dirty="0"/>
              <a:t>- Despite being told the name in Prompt 1, the AI cannot recall it in Prompt 2</a:t>
            </a:r>
          </a:p>
          <a:p>
            <a:endParaRPr lang="en-US" dirty="0"/>
          </a:p>
          <a:p>
            <a:r>
              <a:rPr lang="en-US" b="1" dirty="0"/>
              <a:t>EDUCATOR NOTES:</a:t>
            </a:r>
          </a:p>
          <a:p>
            <a:endParaRPr lang="en-US" dirty="0"/>
          </a:p>
          <a:p>
            <a:r>
              <a:rPr lang="en-US" dirty="0"/>
              <a:t>"In this slide, we're examining a fundamental challenge in AI conversations - context retention. Notice how in the first exchange, the AI correctly acknowledges Andy's introduction. However, in the second exchange, it fails to remember Andy's name despite this information being shared moments ago. This illustrates a common limitation in simple prompting systems where each interaction is treated as isolated, without maintaining previous context. Understanding these limitations is crucial for designing more effective AI interactions and implementing solutions like context windows or memory mechanisms."</a:t>
            </a:r>
          </a:p>
        </p:txBody>
      </p:sp>
      <p:sp>
        <p:nvSpPr>
          <p:cNvPr id="4" name="Slide Number Placeholder 3"/>
          <p:cNvSpPr>
            <a:spLocks noGrp="1"/>
          </p:cNvSpPr>
          <p:nvPr>
            <p:ph type="sldNum" sz="quarter" idx="5"/>
          </p:nvPr>
        </p:nvSpPr>
        <p:spPr/>
        <p:txBody>
          <a:bodyPr/>
          <a:lstStyle/>
          <a:p>
            <a:fld id="{688EF870-5850-6643-A228-25AFAA8E2BB1}" type="slidenum">
              <a:rPr lang="en-US" smtClean="0"/>
              <a:t>19</a:t>
            </a:fld>
            <a:endParaRPr lang="en-US"/>
          </a:p>
        </p:txBody>
      </p:sp>
    </p:spTree>
    <p:extLst>
      <p:ext uri="{BB962C8B-B14F-4D97-AF65-F5344CB8AC3E}">
        <p14:creationId xmlns:p14="http://schemas.microsoft.com/office/powerpoint/2010/main" val="28324926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Simple LLM Application Overview</a:t>
            </a:r>
          </a:p>
          <a:p>
            <a:r>
              <a:rPr lang="en-US" dirty="0"/>
              <a:t>- LLMs operate without persistent context</a:t>
            </a:r>
          </a:p>
          <a:p>
            <a:r>
              <a:rPr lang="en-US" dirty="0"/>
              <a:t>- Key characteristic: Stateless nature</a:t>
            </a:r>
          </a:p>
          <a:p>
            <a:r>
              <a:rPr lang="en-US" dirty="0"/>
              <a:t>- Basic flow: Input → Prompt → LLM Processing → Response/Output</a:t>
            </a:r>
          </a:p>
          <a:p>
            <a:endParaRPr lang="en-US" dirty="0"/>
          </a:p>
          <a:p>
            <a:r>
              <a:rPr lang="en-US" dirty="0"/>
              <a:t>2. Key Components:</a:t>
            </a:r>
          </a:p>
          <a:p>
            <a:r>
              <a:rPr lang="en-US" dirty="0"/>
              <a:t>- Input: Initial data or query</a:t>
            </a:r>
          </a:p>
          <a:p>
            <a:r>
              <a:rPr lang="en-US" dirty="0"/>
              <a:t>- Prompt: Formatted instruction/question</a:t>
            </a:r>
          </a:p>
          <a:p>
            <a:r>
              <a:rPr lang="en-US" dirty="0"/>
              <a:t>- LLM: Processing engine (shown as neural network icon)</a:t>
            </a:r>
          </a:p>
          <a:p>
            <a:r>
              <a:rPr lang="en-US" dirty="0"/>
              <a:t>- Response/Output: Generated result</a:t>
            </a:r>
          </a:p>
          <a:p>
            <a:endParaRPr lang="en-US" dirty="0"/>
          </a:p>
          <a:p>
            <a:r>
              <a:rPr lang="en-US" dirty="0"/>
              <a:t>3. Important Concept:</a:t>
            </a:r>
          </a:p>
          <a:p>
            <a:r>
              <a:rPr lang="en-US" dirty="0"/>
              <a:t>- LLMs don't maintain memory of previous interactions</a:t>
            </a:r>
          </a:p>
          <a:p>
            <a:r>
              <a:rPr lang="en-US" dirty="0"/>
              <a:t>- Each interaction is independent</a:t>
            </a:r>
          </a:p>
          <a:p>
            <a:r>
              <a:rPr lang="en-US" dirty="0"/>
              <a:t>- No context persistence between queries</a:t>
            </a:r>
          </a:p>
          <a:p>
            <a:endParaRPr lang="en-US" dirty="0"/>
          </a:p>
          <a:p>
            <a:r>
              <a:rPr lang="en-US" b="1" dirty="0"/>
              <a:t>EDUCATOR NOTES:</a:t>
            </a:r>
          </a:p>
          <a:p>
            <a:endParaRPr lang="en-US" b="1" dirty="0"/>
          </a:p>
          <a:p>
            <a:r>
              <a:rPr lang="en-US" dirty="0"/>
              <a:t>”Now we're discussing the fundamental architecture of a simple LLM application. The key point to emphasize is that LLMs are inherently stateless - meaning they don't retain information from previous interactions without additional components or engineering.</a:t>
            </a:r>
          </a:p>
          <a:p>
            <a:endParaRPr lang="en-US" dirty="0"/>
          </a:p>
          <a:p>
            <a:r>
              <a:rPr lang="en-US" dirty="0"/>
              <a:t>Let me walk you through the flow:</a:t>
            </a:r>
          </a:p>
          <a:p>
            <a:r>
              <a:rPr lang="en-US" dirty="0"/>
              <a:t>- We start with an input, which could be a user question or data</a:t>
            </a:r>
          </a:p>
          <a:p>
            <a:r>
              <a:rPr lang="en-US" dirty="0"/>
              <a:t>- This gets formatted into a prompt that the LLM can process</a:t>
            </a:r>
          </a:p>
          <a:p>
            <a:r>
              <a:rPr lang="en-US" dirty="0"/>
              <a:t>- The LLM then processes this information</a:t>
            </a:r>
          </a:p>
          <a:p>
            <a:r>
              <a:rPr lang="en-US" dirty="0"/>
              <a:t>- Finally, we receive our response or output</a:t>
            </a:r>
          </a:p>
          <a:p>
            <a:endParaRPr lang="en-US" dirty="0"/>
          </a:p>
          <a:p>
            <a:r>
              <a:rPr lang="en-US" dirty="0"/>
              <a:t>What's crucial to understand here is that each time we interact with the LLM, it's like starting fresh - there's no built-in memory of previous conversations or contexts. This is both a limitation and a feature that we need to work with when designing LLM applications.</a:t>
            </a:r>
          </a:p>
          <a:p>
            <a:endParaRPr lang="en-US" dirty="0"/>
          </a:p>
          <a:p>
            <a:r>
              <a:rPr lang="en-US" dirty="0"/>
              <a:t>Remember, if you need to maintain context across interactions, you'll need to implement additional components or architecture to handle that requirement. Let’s explore it in the next topic"</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20</a:t>
            </a:fld>
            <a:endParaRPr lang="en-US"/>
          </a:p>
        </p:txBody>
      </p:sp>
    </p:spTree>
    <p:extLst>
      <p:ext uri="{BB962C8B-B14F-4D97-AF65-F5344CB8AC3E}">
        <p14:creationId xmlns:p14="http://schemas.microsoft.com/office/powerpoint/2010/main" val="9919961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Memory in LLMs (Large Language Models)</a:t>
            </a:r>
          </a:p>
          <a:p>
            <a:endParaRPr lang="en-US" dirty="0"/>
          </a:p>
          <a:p>
            <a:r>
              <a:rPr lang="en-US" dirty="0"/>
              <a:t>1. Core Functions:</a:t>
            </a:r>
          </a:p>
          <a:p>
            <a:r>
              <a:rPr lang="en-US" dirty="0"/>
              <a:t>- Primary purpose: Information maintenance and retrieval</a:t>
            </a:r>
          </a:p>
          <a:p>
            <a:r>
              <a:rPr lang="en-US" dirty="0"/>
              <a:t>- Acts as a reference system for the LLM</a:t>
            </a:r>
          </a:p>
          <a:p>
            <a:r>
              <a:rPr lang="en-US" dirty="0"/>
              <a:t>- Enables dynamic information processing</a:t>
            </a:r>
          </a:p>
          <a:p>
            <a:endParaRPr lang="en-US" dirty="0"/>
          </a:p>
          <a:p>
            <a:r>
              <a:rPr lang="en-US" dirty="0"/>
              <a:t>2. Key Memory Components:</a:t>
            </a:r>
          </a:p>
          <a:p>
            <a:r>
              <a:rPr lang="en-US" dirty="0"/>
              <a:t>- Information storage capability for reference</a:t>
            </a:r>
          </a:p>
          <a:p>
            <a:r>
              <a:rPr lang="en-US" dirty="0"/>
              <a:t>- Tracking and storage of past interactions</a:t>
            </a:r>
          </a:p>
          <a:p>
            <a:r>
              <a:rPr lang="en-US" dirty="0"/>
              <a:t>- Maintenance of contextual information</a:t>
            </a:r>
          </a:p>
          <a:p>
            <a:r>
              <a:rPr lang="en-US" dirty="0"/>
              <a:t>   * Roles</a:t>
            </a:r>
          </a:p>
          <a:p>
            <a:r>
              <a:rPr lang="en-US" dirty="0"/>
              <a:t>   * Rules</a:t>
            </a:r>
          </a:p>
          <a:p>
            <a:r>
              <a:rPr lang="en-US" dirty="0"/>
              <a:t>   * Other relevant parameters</a:t>
            </a:r>
          </a:p>
          <a:p>
            <a:endParaRPr lang="en-US" dirty="0"/>
          </a:p>
          <a:p>
            <a:r>
              <a:rPr lang="en-US" dirty="0"/>
              <a:t>3. Operational Aspects:</a:t>
            </a:r>
          </a:p>
          <a:p>
            <a:r>
              <a:rPr lang="en-US" dirty="0"/>
              <a:t>- Dynamic storage and retrieval system</a:t>
            </a:r>
          </a:p>
          <a:p>
            <a:r>
              <a:rPr lang="en-US" dirty="0"/>
              <a:t>- Real-time information access</a:t>
            </a:r>
          </a:p>
          <a:p>
            <a:r>
              <a:rPr lang="en-US" dirty="0"/>
              <a:t>- Adaptable memory management</a:t>
            </a:r>
          </a:p>
          <a:p>
            <a:endParaRPr lang="en-US" dirty="0"/>
          </a:p>
          <a:p>
            <a:r>
              <a:rPr lang="en-US" dirty="0"/>
              <a:t>4. Applications:</a:t>
            </a:r>
          </a:p>
          <a:p>
            <a:r>
              <a:rPr lang="en-US" dirty="0"/>
              <a:t>- Essential for chatbot functionality</a:t>
            </a:r>
          </a:p>
          <a:p>
            <a:r>
              <a:rPr lang="en-US" dirty="0"/>
              <a:t>- Powers conversational AI systems</a:t>
            </a:r>
          </a:p>
          <a:p>
            <a:r>
              <a:rPr lang="en-US" dirty="0"/>
              <a:t>- Enables contextual responses</a:t>
            </a:r>
          </a:p>
          <a:p>
            <a:endParaRPr lang="en-US" dirty="0"/>
          </a:p>
          <a:p>
            <a:r>
              <a:rPr lang="en-US" b="1" dirty="0"/>
              <a:t>EDUCATOR NOTES:</a:t>
            </a:r>
          </a:p>
          <a:p>
            <a:endParaRPr lang="en-US" b="1" dirty="0"/>
          </a:p>
          <a:p>
            <a:r>
              <a:rPr lang="en-US" dirty="0"/>
              <a:t>”Let’s explore how memory functions in Large Language Models. This is a critical component that allows these systems to maintain coherent conversations and provide contextual responses. Think of it as the system's ability to not just process information, but to actually remember and use it effectively.</a:t>
            </a:r>
          </a:p>
          <a:p>
            <a:endParaRPr lang="en-US" dirty="0"/>
          </a:p>
          <a:p>
            <a:r>
              <a:rPr lang="en-US" dirty="0"/>
              <a:t>The memory system serves multiple purposes - from maintaining basic information to remembering past interactions and keeping track of important contextual elements like roles and rules. This is particularly crucial in applications like chatbots, where maintaining context throughout a conversation is essential.</a:t>
            </a:r>
          </a:p>
          <a:p>
            <a:endParaRPr lang="en-US" dirty="0"/>
          </a:p>
          <a:p>
            <a:r>
              <a:rPr lang="en-US" dirty="0"/>
              <a:t>When we discuss dynamic storage and access, we're talking about the model's ability to not just store information, but to retrieve and use it appropriately when needed. This capability is what makes modern conversational AI systems feel more natural and responsive.</a:t>
            </a:r>
          </a:p>
          <a:p>
            <a:endParaRPr lang="en-US" dirty="0"/>
          </a:p>
          <a:p>
            <a:r>
              <a:rPr lang="en-US" dirty="0"/>
              <a:t>Remember, memory in LLMs isn't just about storing data - it's about creating a foundation for meaningful, contextual interactions that enhance the user experience."</a:t>
            </a:r>
          </a:p>
        </p:txBody>
      </p:sp>
      <p:sp>
        <p:nvSpPr>
          <p:cNvPr id="4" name="Slide Number Placeholder 3"/>
          <p:cNvSpPr>
            <a:spLocks noGrp="1"/>
          </p:cNvSpPr>
          <p:nvPr>
            <p:ph type="sldNum" sz="quarter" idx="5"/>
          </p:nvPr>
        </p:nvSpPr>
        <p:spPr/>
        <p:txBody>
          <a:bodyPr/>
          <a:lstStyle/>
          <a:p>
            <a:fld id="{688EF870-5850-6643-A228-25AFAA8E2BB1}" type="slidenum">
              <a:rPr lang="en-US" smtClean="0"/>
              <a:t>21</a:t>
            </a:fld>
            <a:endParaRPr lang="en-US"/>
          </a:p>
        </p:txBody>
      </p:sp>
    </p:spTree>
    <p:extLst>
      <p:ext uri="{BB962C8B-B14F-4D97-AF65-F5344CB8AC3E}">
        <p14:creationId xmlns:p14="http://schemas.microsoft.com/office/powerpoint/2010/main" val="11218397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Overview of LLM Application Architecture with Memory Component</a:t>
            </a:r>
          </a:p>
          <a:p>
            <a:r>
              <a:rPr lang="en-US" dirty="0"/>
              <a:t>- The diagram illustrates a flow of how LLMs work with memory integration</a:t>
            </a:r>
          </a:p>
          <a:p>
            <a:r>
              <a:rPr lang="en-US" dirty="0"/>
              <a:t>- Shows key components: Input, Prompt, LLM processing, Response, and Memory storage</a:t>
            </a:r>
          </a:p>
          <a:p>
            <a:endParaRPr lang="en-US" dirty="0"/>
          </a:p>
          <a:p>
            <a:r>
              <a:rPr lang="en-US" dirty="0"/>
              <a:t>2. Key Components:</a:t>
            </a:r>
          </a:p>
          <a:p>
            <a:r>
              <a:rPr lang="en-US" dirty="0"/>
              <a:t>a) Input</a:t>
            </a:r>
          </a:p>
          <a:p>
            <a:r>
              <a:rPr lang="en-US" dirty="0"/>
              <a:t>- Starting point of the process</a:t>
            </a:r>
          </a:p>
          <a:p>
            <a:r>
              <a:rPr lang="en-US" dirty="0"/>
              <a:t>- User queries or requests enter the system here</a:t>
            </a:r>
          </a:p>
          <a:p>
            <a:endParaRPr lang="en-US" dirty="0"/>
          </a:p>
          <a:p>
            <a:r>
              <a:rPr lang="en-US" dirty="0"/>
              <a:t>b) Memory System</a:t>
            </a:r>
          </a:p>
          <a:p>
            <a:r>
              <a:rPr lang="en-US" dirty="0"/>
              <a:t>- Central storage component</a:t>
            </a:r>
          </a:p>
          <a:p>
            <a:r>
              <a:rPr lang="en-US" dirty="0"/>
              <a:t>- Stores and retrieves previous interactions</a:t>
            </a:r>
          </a:p>
          <a:p>
            <a:r>
              <a:rPr lang="en-US" dirty="0"/>
              <a:t>- Enables context retention</a:t>
            </a:r>
          </a:p>
          <a:p>
            <a:endParaRPr lang="en-US" dirty="0"/>
          </a:p>
          <a:p>
            <a:r>
              <a:rPr lang="en-US" dirty="0"/>
              <a:t>c) Prompt Processing</a:t>
            </a:r>
          </a:p>
          <a:p>
            <a:r>
              <a:rPr lang="en-US" dirty="0"/>
              <a:t>- Combines current input with retrieved memory</a:t>
            </a:r>
          </a:p>
          <a:p>
            <a:r>
              <a:rPr lang="en-US" dirty="0"/>
              <a:t>- Creates context-aware prompts for the LLM</a:t>
            </a:r>
          </a:p>
          <a:p>
            <a:r>
              <a:rPr lang="en-US" dirty="0"/>
              <a:t>- Enhances response relevance</a:t>
            </a:r>
          </a:p>
          <a:p>
            <a:endParaRPr lang="en-US" dirty="0"/>
          </a:p>
          <a:p>
            <a:r>
              <a:rPr lang="en-US" dirty="0"/>
              <a:t>d) LLM Processing</a:t>
            </a:r>
          </a:p>
          <a:p>
            <a:r>
              <a:rPr lang="en-US" dirty="0"/>
              <a:t>- LLM processes the enhanced prompt</a:t>
            </a:r>
          </a:p>
          <a:p>
            <a:r>
              <a:rPr lang="en-US" dirty="0"/>
              <a:t>- Generates contextual responses</a:t>
            </a:r>
          </a:p>
          <a:p>
            <a:r>
              <a:rPr lang="en-US" dirty="0"/>
              <a:t>- Represented by brain icon in diagram</a:t>
            </a:r>
          </a:p>
          <a:p>
            <a:endParaRPr lang="en-US" dirty="0"/>
          </a:p>
          <a:p>
            <a:r>
              <a:rPr lang="en-US" dirty="0"/>
              <a:t>e) Response/Output</a:t>
            </a:r>
          </a:p>
          <a:p>
            <a:r>
              <a:rPr lang="en-US" dirty="0"/>
              <a:t>- Final generated response</a:t>
            </a:r>
          </a:p>
          <a:p>
            <a:r>
              <a:rPr lang="en-US" dirty="0"/>
              <a:t>- Fed back to memory for future reference</a:t>
            </a:r>
          </a:p>
          <a:p>
            <a:endParaRPr lang="en-US" dirty="0"/>
          </a:p>
          <a:p>
            <a:r>
              <a:rPr lang="en-US" dirty="0"/>
              <a:t>3. Data Flow:</a:t>
            </a:r>
          </a:p>
          <a:p>
            <a:r>
              <a:rPr lang="en-US" dirty="0"/>
              <a:t>- Retrieve: Input triggers memory retrieval</a:t>
            </a:r>
          </a:p>
          <a:p>
            <a:r>
              <a:rPr lang="en-US" dirty="0"/>
              <a:t>- Process: Memory combines with input for comprehensive prompt</a:t>
            </a:r>
          </a:p>
          <a:p>
            <a:r>
              <a:rPr lang="en-US" dirty="0"/>
              <a:t>- Generate: LLM processes enhanced prompt</a:t>
            </a:r>
          </a:p>
          <a:p>
            <a:r>
              <a:rPr lang="en-US" dirty="0"/>
              <a:t>- Store: Response stored in memory for future context</a:t>
            </a:r>
          </a:p>
          <a:p>
            <a:r>
              <a:rPr lang="en-US" dirty="0"/>
              <a:t>- Cycle continues with new inputs</a:t>
            </a:r>
          </a:p>
          <a:p>
            <a:endParaRPr lang="en-US" dirty="0"/>
          </a:p>
          <a:p>
            <a:r>
              <a:rPr lang="en-US" b="1" dirty="0"/>
              <a:t>EDUCATOR NOTES:</a:t>
            </a:r>
          </a:p>
          <a:p>
            <a:endParaRPr lang="en-US" dirty="0"/>
          </a:p>
          <a:p>
            <a:r>
              <a:rPr lang="en-US" dirty="0"/>
              <a:t>"In this diagram, we're looking at how LLM applications integrate memory systems to enhance their capabilities. The process begins with user input, which triggers two parallel actions: it goes directly to prompt creation and initiates a memory retrieval process. The memory component stores previous interactions and relevant context, which is then combined with the current input to create a more informed prompt for the LLM.</a:t>
            </a:r>
          </a:p>
          <a:p>
            <a:endParaRPr lang="en-US" dirty="0"/>
          </a:p>
          <a:p>
            <a:r>
              <a:rPr lang="en-US" dirty="0"/>
              <a:t>The LLM processes this enhanced prompt to generate a response that's not just based on the immediate input, but also considers historical context. This response is then stored back in memory for future reference, creating a continuous learning cycle. This architecture enables more coherent and contextually aware interactions, as the system can reference and build upon previous exchanges.</a:t>
            </a:r>
          </a:p>
          <a:p>
            <a:endParaRPr lang="en-US" dirty="0"/>
          </a:p>
          <a:p>
            <a:r>
              <a:rPr lang="en-US" dirty="0"/>
              <a:t>The blue lines represent the memory operations - both retrieval and writing - while the red lines show the main processing flow. This design is particularly powerful for maintaining conversation consistency and building upon previous interactions."</a:t>
            </a:r>
          </a:p>
        </p:txBody>
      </p:sp>
      <p:sp>
        <p:nvSpPr>
          <p:cNvPr id="4" name="Slide Number Placeholder 3"/>
          <p:cNvSpPr>
            <a:spLocks noGrp="1"/>
          </p:cNvSpPr>
          <p:nvPr>
            <p:ph type="sldNum" sz="quarter" idx="5"/>
          </p:nvPr>
        </p:nvSpPr>
        <p:spPr/>
        <p:txBody>
          <a:bodyPr/>
          <a:lstStyle/>
          <a:p>
            <a:fld id="{688EF870-5850-6643-A228-25AFAA8E2BB1}" type="slidenum">
              <a:rPr lang="en-US" smtClean="0"/>
              <a:t>22</a:t>
            </a:fld>
            <a:endParaRPr lang="en-US"/>
          </a:p>
        </p:txBody>
      </p:sp>
    </p:spTree>
    <p:extLst>
      <p:ext uri="{BB962C8B-B14F-4D97-AF65-F5344CB8AC3E}">
        <p14:creationId xmlns:p14="http://schemas.microsoft.com/office/powerpoint/2010/main" val="8413687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Topic: Prompting with Memory in AI Conversations</a:t>
            </a:r>
          </a:p>
          <a:p>
            <a:endParaRPr lang="en-US" dirty="0"/>
          </a:p>
          <a:p>
            <a:r>
              <a:rPr lang="en-US" dirty="0"/>
              <a:t>2. Key Concepts Illustrated:</a:t>
            </a:r>
          </a:p>
          <a:p>
            <a:r>
              <a:rPr lang="en-US" dirty="0"/>
              <a:t>- Initial Introduction Scenario</a:t>
            </a:r>
          </a:p>
          <a:p>
            <a:r>
              <a:rPr lang="en-US" dirty="0"/>
              <a:t>- Memory Recall Demonstration</a:t>
            </a:r>
          </a:p>
          <a:p>
            <a:r>
              <a:rPr lang="en-US" dirty="0"/>
              <a:t>- Question-Answer Pattern</a:t>
            </a:r>
          </a:p>
          <a:p>
            <a:endParaRPr lang="en-US" dirty="0"/>
          </a:p>
          <a:p>
            <a:r>
              <a:rPr lang="en-US" dirty="0"/>
              <a:t>3. Example Breakdown:</a:t>
            </a:r>
          </a:p>
          <a:p>
            <a:r>
              <a:rPr lang="en-US" dirty="0"/>
              <a:t>a) First Interaction:</a:t>
            </a:r>
          </a:p>
          <a:p>
            <a:r>
              <a:rPr lang="en-US" dirty="0"/>
              <a:t>   - Human introduces: "Hi, my name is Andy"</a:t>
            </a:r>
          </a:p>
          <a:p>
            <a:r>
              <a:rPr lang="en-US" dirty="0"/>
              <a:t>   - AI responds: "Hi Andy, it is nice to meet you"</a:t>
            </a:r>
          </a:p>
          <a:p>
            <a:endParaRPr lang="en-US" dirty="0"/>
          </a:p>
          <a:p>
            <a:r>
              <a:rPr lang="en-US" dirty="0"/>
              <a:t>b) Second Interaction:</a:t>
            </a:r>
          </a:p>
          <a:p>
            <a:r>
              <a:rPr lang="en-US" dirty="0"/>
              <a:t>   - Human asks: "What is my name?"</a:t>
            </a:r>
          </a:p>
          <a:p>
            <a:r>
              <a:rPr lang="en-US" dirty="0"/>
              <a:t>   - AI demonstrates memory by recalling: "You introduced yourself as Andy"</a:t>
            </a:r>
          </a:p>
          <a:p>
            <a:endParaRPr lang="en-US" dirty="0"/>
          </a:p>
          <a:p>
            <a:r>
              <a:rPr lang="en-US" dirty="0"/>
              <a:t>4. Important Points:</a:t>
            </a:r>
          </a:p>
          <a:p>
            <a:r>
              <a:rPr lang="en-US" dirty="0"/>
              <a:t>- Shows how AI retains information from previous exchanges</a:t>
            </a:r>
          </a:p>
          <a:p>
            <a:r>
              <a:rPr lang="en-US" dirty="0"/>
              <a:t>- Demonstrates contextual awareness</a:t>
            </a:r>
          </a:p>
          <a:p>
            <a:r>
              <a:rPr lang="en-US" dirty="0"/>
              <a:t>- Illustrates natural conversation flow</a:t>
            </a:r>
          </a:p>
          <a:p>
            <a:r>
              <a:rPr lang="en-US" dirty="0"/>
              <a:t>- Shows memory capability in practical application</a:t>
            </a:r>
          </a:p>
          <a:p>
            <a:endParaRPr lang="en-US" dirty="0"/>
          </a:p>
          <a:p>
            <a:r>
              <a:rPr lang="en-US" b="1" dirty="0"/>
              <a:t>EDUCATOR NOTES:</a:t>
            </a:r>
          </a:p>
          <a:p>
            <a:endParaRPr lang="en-US" dirty="0"/>
          </a:p>
          <a:p>
            <a:r>
              <a:rPr lang="en-US" dirty="0"/>
              <a:t>"In </a:t>
            </a:r>
            <a:r>
              <a:rPr lang="en-US"/>
              <a:t>this slide, </a:t>
            </a:r>
            <a:r>
              <a:rPr lang="en-US" dirty="0"/>
              <a:t>we're examining how AI systems utilize memory in conversations. The example shown demonstrates a simple but powerful concept - the ability of AI to remember and reference previously shared information.</a:t>
            </a:r>
          </a:p>
          <a:p>
            <a:endParaRPr lang="en-US" dirty="0"/>
          </a:p>
          <a:p>
            <a:r>
              <a:rPr lang="en-US" dirty="0"/>
              <a:t>When presenting this slide, emphasize these key points:</a:t>
            </a:r>
          </a:p>
          <a:p>
            <a:r>
              <a:rPr lang="en-US" dirty="0"/>
              <a:t>- Memory retention is crucial for natural conversation flow</a:t>
            </a:r>
          </a:p>
          <a:p>
            <a:r>
              <a:rPr lang="en-US" dirty="0"/>
              <a:t>- The AI maintains context throughout the interaction</a:t>
            </a:r>
          </a:p>
          <a:p>
            <a:r>
              <a:rPr lang="en-US" dirty="0"/>
              <a:t>- This capability enables more meaningful and personalized exchanges</a:t>
            </a:r>
          </a:p>
          <a:p>
            <a:r>
              <a:rPr lang="en-US" dirty="0"/>
              <a:t>- The example shows both storage and retrieval of information</a:t>
            </a:r>
          </a:p>
          <a:p>
            <a:endParaRPr lang="en-US" dirty="0"/>
          </a:p>
          <a:p>
            <a:r>
              <a:rPr lang="en-US" dirty="0"/>
              <a:t>Remember to highlight how this mirrors human conversation patterns, where we naturally remember and reference previously shared information. This feature makes AI interactions more natural and effective.</a:t>
            </a:r>
          </a:p>
          <a:p>
            <a:endParaRPr lang="en-US" dirty="0"/>
          </a:p>
          <a:p>
            <a:r>
              <a:rPr lang="en-US" dirty="0"/>
              <a:t>Timing: Spend approximately 3-5 minutes on this slide to allow for proper explanation and possible audience questions about the memory mechanism."</a:t>
            </a:r>
          </a:p>
        </p:txBody>
      </p:sp>
      <p:sp>
        <p:nvSpPr>
          <p:cNvPr id="4" name="Slide Number Placeholder 3"/>
          <p:cNvSpPr>
            <a:spLocks noGrp="1"/>
          </p:cNvSpPr>
          <p:nvPr>
            <p:ph type="sldNum" sz="quarter" idx="5"/>
          </p:nvPr>
        </p:nvSpPr>
        <p:spPr/>
        <p:txBody>
          <a:bodyPr/>
          <a:lstStyle/>
          <a:p>
            <a:fld id="{688EF870-5850-6643-A228-25AFAA8E2BB1}" type="slidenum">
              <a:rPr lang="en-US" smtClean="0"/>
              <a:t>23</a:t>
            </a:fld>
            <a:endParaRPr lang="en-US"/>
          </a:p>
        </p:txBody>
      </p:sp>
    </p:spTree>
    <p:extLst>
      <p:ext uri="{BB962C8B-B14F-4D97-AF65-F5344CB8AC3E}">
        <p14:creationId xmlns:p14="http://schemas.microsoft.com/office/powerpoint/2010/main" val="18698750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Key points:</a:t>
            </a:r>
          </a:p>
          <a:p>
            <a:endParaRPr lang="en-US" sz="1200" dirty="0"/>
          </a:p>
          <a:p>
            <a:r>
              <a:rPr lang="en-US" sz="1200" dirty="0"/>
              <a:t>1. Purpose of Conversational Memory</a:t>
            </a:r>
          </a:p>
          <a:p>
            <a:r>
              <a:rPr lang="en-US" sz="1200" dirty="0"/>
              <a:t>- Designed to store all interactions</a:t>
            </a:r>
          </a:p>
          <a:p>
            <a:r>
              <a:rPr lang="en-US" sz="1200" dirty="0"/>
              <a:t>- Enables retrieval of conversation history</a:t>
            </a:r>
          </a:p>
          <a:p>
            <a:r>
              <a:rPr lang="en-US" sz="1200" dirty="0"/>
              <a:t>- Provides perfect recall capability</a:t>
            </a:r>
          </a:p>
          <a:p>
            <a:endParaRPr lang="en-US" sz="1200" dirty="0"/>
          </a:p>
          <a:p>
            <a:r>
              <a:rPr lang="en-US" sz="1200" dirty="0"/>
              <a:t>2. Technical Implementation</a:t>
            </a:r>
          </a:p>
          <a:p>
            <a:r>
              <a:rPr lang="en-US" sz="1200" dirty="0"/>
              <a:t>- Uses </a:t>
            </a:r>
            <a:r>
              <a:rPr lang="en-US" sz="1200" dirty="0" err="1"/>
              <a:t>ConversationBufferMemory</a:t>
            </a:r>
            <a:r>
              <a:rPr lang="en-US" sz="1200" dirty="0"/>
              <a:t> class</a:t>
            </a:r>
          </a:p>
          <a:p>
            <a:r>
              <a:rPr lang="en-US" sz="1200" dirty="0"/>
              <a:t>- Memory object creation and initialization</a:t>
            </a:r>
          </a:p>
          <a:p>
            <a:r>
              <a:rPr lang="en-US" sz="1200" dirty="0"/>
              <a:t>- Context saving functionality</a:t>
            </a:r>
          </a:p>
          <a:p>
            <a:r>
              <a:rPr lang="en-US" sz="1200" dirty="0"/>
              <a:t>- Memory variable loading capabilities</a:t>
            </a:r>
          </a:p>
          <a:p>
            <a:endParaRPr lang="en-US" sz="1200" dirty="0"/>
          </a:p>
          <a:p>
            <a:r>
              <a:rPr lang="en-US" sz="1200" dirty="0"/>
              <a:t>3. Current Limitation</a:t>
            </a:r>
          </a:p>
          <a:p>
            <a:r>
              <a:rPr lang="en-US" sz="1200" dirty="0"/>
              <a:t>- Potential issues with lengthy conversations</a:t>
            </a:r>
          </a:p>
          <a:p>
            <a:pPr marL="171450" indent="-171450">
              <a:buFontTx/>
              <a:buChar char="-"/>
            </a:pPr>
            <a:r>
              <a:rPr lang="en-US" sz="1200" dirty="0"/>
              <a:t>Solution to be addressed in subsequent lesson</a:t>
            </a:r>
          </a:p>
          <a:p>
            <a:pPr marL="171450" indent="-171450">
              <a:buFontTx/>
              <a:buChar char="-"/>
            </a:pPr>
            <a:endParaRPr lang="en-US" sz="1200" dirty="0"/>
          </a:p>
          <a:p>
            <a:pPr marL="0" indent="0">
              <a:buFontTx/>
              <a:buNone/>
            </a:pPr>
            <a:r>
              <a:rPr lang="en-US" sz="1200" dirty="0"/>
              <a:t>The code demonstrates the basic implementation of Conversational Memory using three key operations:</a:t>
            </a:r>
          </a:p>
          <a:p>
            <a:pPr marL="0" indent="0">
              <a:buFontTx/>
              <a:buNone/>
            </a:pPr>
            <a:endParaRPr lang="en-US" sz="1200" dirty="0"/>
          </a:p>
          <a:p>
            <a:pPr marL="0" indent="0">
              <a:buFontTx/>
              <a:buNone/>
            </a:pPr>
            <a:r>
              <a:rPr lang="en-US" sz="1200" dirty="0"/>
              <a:t>1. Memory Creation:</a:t>
            </a:r>
          </a:p>
          <a:p>
            <a:pPr marL="0" indent="0">
              <a:buFontTx/>
              <a:buNone/>
            </a:pPr>
            <a:r>
              <a:rPr lang="en-US" sz="1200" dirty="0"/>
              <a:t>```python</a:t>
            </a:r>
          </a:p>
          <a:p>
            <a:pPr marL="0" indent="0">
              <a:buFontTx/>
              <a:buNone/>
            </a:pPr>
            <a:r>
              <a:rPr lang="en-US" sz="1200" dirty="0"/>
              <a:t>memory = </a:t>
            </a:r>
            <a:r>
              <a:rPr lang="en-US" sz="1200" dirty="0" err="1"/>
              <a:t>ConversationBufferMemory</a:t>
            </a:r>
            <a:r>
              <a:rPr lang="en-US" sz="1200" dirty="0"/>
              <a:t>()</a:t>
            </a:r>
          </a:p>
          <a:p>
            <a:pPr marL="0" indent="0">
              <a:buFontTx/>
              <a:buNone/>
            </a:pPr>
            <a:r>
              <a:rPr lang="en-US" sz="1200" dirty="0"/>
              <a:t>```</a:t>
            </a:r>
          </a:p>
          <a:p>
            <a:pPr marL="0" indent="0">
              <a:buFontTx/>
              <a:buNone/>
            </a:pPr>
            <a:r>
              <a:rPr lang="en-US" sz="1200" dirty="0"/>
              <a:t>Creates a new instance of the </a:t>
            </a:r>
            <a:r>
              <a:rPr lang="en-US" sz="1200" dirty="0" err="1"/>
              <a:t>ConversationBufferMemory</a:t>
            </a:r>
            <a:r>
              <a:rPr lang="en-US" sz="1200" dirty="0"/>
              <a:t> class.</a:t>
            </a:r>
          </a:p>
          <a:p>
            <a:pPr marL="0" indent="0">
              <a:buFontTx/>
              <a:buNone/>
            </a:pPr>
            <a:endParaRPr lang="en-US" sz="1200" dirty="0"/>
          </a:p>
          <a:p>
            <a:pPr marL="0" indent="0">
              <a:buFontTx/>
              <a:buNone/>
            </a:pPr>
            <a:r>
              <a:rPr lang="en-US" sz="1200" dirty="0"/>
              <a:t>2. Saving Context:</a:t>
            </a:r>
          </a:p>
          <a:p>
            <a:pPr marL="0" indent="0">
              <a:buFontTx/>
              <a:buNone/>
            </a:pPr>
            <a:r>
              <a:rPr lang="en-US" sz="1200" dirty="0"/>
              <a:t>```python</a:t>
            </a:r>
          </a:p>
          <a:p>
            <a:pPr marL="0" indent="0">
              <a:buFontTx/>
              <a:buNone/>
            </a:pPr>
            <a:r>
              <a:rPr lang="en-US" sz="1200" dirty="0" err="1"/>
              <a:t>memory.save_context</a:t>
            </a:r>
            <a:r>
              <a:rPr lang="en-US" sz="1200" dirty="0"/>
              <a:t>({"input": "Hi"}, {"output": "What's up?"})</a:t>
            </a:r>
          </a:p>
          <a:p>
            <a:pPr marL="0" indent="0">
              <a:buFontTx/>
              <a:buNone/>
            </a:pPr>
            <a:r>
              <a:rPr lang="en-US" sz="1200" dirty="0"/>
              <a:t>```</a:t>
            </a:r>
          </a:p>
          <a:p>
            <a:pPr marL="0" indent="0">
              <a:buFontTx/>
              <a:buNone/>
            </a:pPr>
            <a:r>
              <a:rPr lang="en-US" sz="1200" dirty="0"/>
              <a:t>Stores a conversation exchange, with the input "Hi" and the response "What's up?"</a:t>
            </a:r>
          </a:p>
          <a:p>
            <a:pPr marL="0" indent="0">
              <a:buFontTx/>
              <a:buNone/>
            </a:pPr>
            <a:endParaRPr lang="en-US" sz="1200" dirty="0"/>
          </a:p>
          <a:p>
            <a:pPr marL="0" indent="0">
              <a:buFontTx/>
              <a:buNone/>
            </a:pPr>
            <a:r>
              <a:rPr lang="en-US" sz="1200" dirty="0"/>
              <a:t>3. Retrieving Memory:</a:t>
            </a:r>
          </a:p>
          <a:p>
            <a:pPr marL="0" indent="0">
              <a:buFontTx/>
              <a:buNone/>
            </a:pPr>
            <a:r>
              <a:rPr lang="en-US" sz="1200" dirty="0"/>
              <a:t>```python</a:t>
            </a:r>
          </a:p>
          <a:p>
            <a:pPr marL="0" indent="0">
              <a:buFontTx/>
              <a:buNone/>
            </a:pPr>
            <a:r>
              <a:rPr lang="en-US" sz="1200" dirty="0" err="1"/>
              <a:t>memory.load_memory_variables</a:t>
            </a:r>
            <a:r>
              <a:rPr lang="en-US" sz="1200" dirty="0"/>
              <a:t>({})</a:t>
            </a:r>
          </a:p>
          <a:p>
            <a:pPr marL="0" indent="0">
              <a:buFontTx/>
              <a:buNone/>
            </a:pPr>
            <a:r>
              <a:rPr lang="en-US" sz="1200" dirty="0"/>
              <a:t>```</a:t>
            </a:r>
          </a:p>
          <a:p>
            <a:pPr marL="0" indent="0">
              <a:buFontTx/>
              <a:buNone/>
            </a:pPr>
            <a:r>
              <a:rPr lang="en-US" sz="1200" dirty="0"/>
              <a:t>Retrieves the stored conversation history, which outputs:</a:t>
            </a:r>
          </a:p>
          <a:p>
            <a:pPr marL="0" indent="0">
              <a:buFontTx/>
              <a:buNone/>
            </a:pPr>
            <a:r>
              <a:rPr lang="en-US" sz="1200" dirty="0"/>
              <a:t>```python</a:t>
            </a:r>
          </a:p>
          <a:p>
            <a:pPr marL="0" indent="0">
              <a:buFontTx/>
              <a:buNone/>
            </a:pPr>
            <a:r>
              <a:rPr lang="en-US" sz="1200" dirty="0"/>
              <a:t>{'history': 'Human: Hi\</a:t>
            </a:r>
            <a:r>
              <a:rPr lang="en-US" sz="1200" dirty="0" err="1"/>
              <a:t>nAI</a:t>
            </a:r>
            <a:r>
              <a:rPr lang="en-US" sz="1200" dirty="0"/>
              <a:t>: What's up?'}</a:t>
            </a:r>
          </a:p>
          <a:p>
            <a:pPr marL="0" indent="0">
              <a:buFontTx/>
              <a:buNone/>
            </a:pPr>
            <a:r>
              <a:rPr lang="en-US" sz="1200" dirty="0"/>
              <a:t>```</a:t>
            </a:r>
          </a:p>
          <a:p>
            <a:pPr marL="0" indent="0">
              <a:buFontTx/>
              <a:buNone/>
            </a:pPr>
            <a:endParaRPr lang="en-US" sz="1200" dirty="0"/>
          </a:p>
          <a:p>
            <a:pPr marL="0" indent="0">
              <a:buFontTx/>
              <a:buNone/>
            </a:pPr>
            <a:r>
              <a:rPr lang="en-US" sz="1200" dirty="0"/>
              <a:t>This shows a simple conversation being stored and retrieved in a formatted string that maintains the sequence of interaction between Human and AI.</a:t>
            </a:r>
          </a:p>
          <a:p>
            <a:pPr marL="171450" indent="-171450">
              <a:buFontTx/>
              <a:buChar char="-"/>
            </a:pPr>
            <a:endParaRPr lang="en-US" sz="1200" dirty="0"/>
          </a:p>
          <a:p>
            <a:pPr marL="171450" indent="-171450">
              <a:buFontTx/>
              <a:buChar char="-"/>
            </a:pPr>
            <a:endParaRPr lang="en-US" sz="1200" dirty="0"/>
          </a:p>
          <a:p>
            <a:endParaRPr lang="en-US" sz="1200" b="1" dirty="0"/>
          </a:p>
          <a:p>
            <a:r>
              <a:rPr lang="en-US" sz="1200" b="1" dirty="0"/>
              <a:t>EDUCATOR NOTES:</a:t>
            </a:r>
          </a:p>
          <a:p>
            <a:endParaRPr lang="en-US" sz="1200" dirty="0"/>
          </a:p>
          <a:p>
            <a:r>
              <a:rPr lang="en-US" sz="1200" dirty="0"/>
              <a:t>”In the code example shown, we can see how we create a memory buffer, save conversation context, and retrieve it. Notice how the system stores both input and output in a structured format.</a:t>
            </a:r>
          </a:p>
          <a:p>
            <a:endParaRPr lang="en-US" sz="1200" dirty="0"/>
          </a:p>
          <a:p>
            <a:r>
              <a:rPr lang="en-US" sz="1200" dirty="0"/>
              <a:t>One important consideration we need to keep in mind is the handling of lengthy conversations. While our current implementation provides perfect recall, there are challenges when conversations become too long. Don't worry though - we'll be addressing this limitation in our next session.</a:t>
            </a:r>
          </a:p>
          <a:p>
            <a:endParaRPr lang="en-US" sz="1200" dirty="0"/>
          </a:p>
          <a:p>
            <a:r>
              <a:rPr lang="en-US" sz="1200" dirty="0"/>
              <a:t>Remember to emphasize to students that this is just the foundation, and we'll build upon this concept to handle more complex scenarios in upcoming lessons."</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24</a:t>
            </a:fld>
            <a:endParaRPr lang="en-US"/>
          </a:p>
        </p:txBody>
      </p:sp>
    </p:spTree>
    <p:extLst>
      <p:ext uri="{BB962C8B-B14F-4D97-AF65-F5344CB8AC3E}">
        <p14:creationId xmlns:p14="http://schemas.microsoft.com/office/powerpoint/2010/main" val="172739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Tree>
    <p:extLst>
      <p:ext uri="{BB962C8B-B14F-4D97-AF65-F5344CB8AC3E}">
        <p14:creationId xmlns:p14="http://schemas.microsoft.com/office/powerpoint/2010/main" val="30302843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participation in this course! We appreciate your engagement and hope you found the content valuable.</a:t>
            </a:r>
          </a:p>
        </p:txBody>
      </p:sp>
      <p:sp>
        <p:nvSpPr>
          <p:cNvPr id="4" name="Slide Number Placeholder 3"/>
          <p:cNvSpPr>
            <a:spLocks noGrp="1"/>
          </p:cNvSpPr>
          <p:nvPr>
            <p:ph type="sldNum" sz="quarter" idx="5"/>
          </p:nvPr>
        </p:nvSpPr>
        <p:spPr/>
        <p:txBody>
          <a:bodyPr/>
          <a:lstStyle/>
          <a:p>
            <a:fld id="{688EF870-5850-6643-A228-25AFAA8E2BB1}" type="slidenum">
              <a:rPr lang="en-US" smtClean="0"/>
              <a:t>26</a:t>
            </a:fld>
            <a:endParaRPr lang="en-US"/>
          </a:p>
        </p:txBody>
      </p:sp>
    </p:spTree>
    <p:extLst>
      <p:ext uri="{BB962C8B-B14F-4D97-AF65-F5344CB8AC3E}">
        <p14:creationId xmlns:p14="http://schemas.microsoft.com/office/powerpoint/2010/main" val="3238299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gradFill flip="none" rotWithShape="1">
          <a:gsLst>
            <a:gs pos="40000">
              <a:srgbClr val="330066"/>
            </a:gs>
            <a:gs pos="0">
              <a:srgbClr val="2C2C2C"/>
            </a:gs>
            <a:gs pos="100000">
              <a:srgbClr val="2C2C2C"/>
            </a:gs>
            <a:gs pos="75000">
              <a:srgbClr val="0070C0"/>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5" name="Title 4">
            <a:extLst>
              <a:ext uri="{FF2B5EF4-FFF2-40B4-BE49-F238E27FC236}">
                <a16:creationId xmlns:a16="http://schemas.microsoft.com/office/drawing/2014/main" id="{08D269A5-D107-2782-1600-9CFF8B439252}"/>
              </a:ext>
            </a:extLst>
          </p:cNvPr>
          <p:cNvSpPr>
            <a:spLocks noGrp="1"/>
          </p:cNvSpPr>
          <p:nvPr>
            <p:ph type="title" idx="1" hasCustomPrompt="1"/>
          </p:nvPr>
        </p:nvSpPr>
        <p:spPr>
          <a:xfrm>
            <a:off x="401652" y="1565366"/>
            <a:ext cx="11430684" cy="2194560"/>
          </a:xfrm>
        </p:spPr>
        <p:txBody>
          <a:bodyPr anchor="b">
            <a:normAutofit/>
          </a:bodyPr>
          <a:lstStyle>
            <a:lvl1pPr>
              <a:defRPr sz="4800" b="1" i="0">
                <a:solidFill>
                  <a:srgbClr val="F1F3F3"/>
                </a:solidFill>
                <a:latin typeface="Amazon Ember Heavy" panose="020B0603020204020204" pitchFamily="34" charset="0"/>
                <a:ea typeface="Amazon Ember Heavy" panose="020B0603020204020204" pitchFamily="34" charset="0"/>
                <a:cs typeface="Amazon Ember Heavy" panose="020B0603020204020204" pitchFamily="34" charset="0"/>
              </a:defRPr>
            </a:lvl1pPr>
          </a:lstStyle>
          <a:p>
            <a:r>
              <a:rPr lang="en-US" dirty="0"/>
              <a:t>Enter lesson title</a:t>
            </a:r>
          </a:p>
        </p:txBody>
      </p:sp>
      <p:sp>
        <p:nvSpPr>
          <p:cNvPr id="6" name="Text Placeholder 5">
            <a:extLst>
              <a:ext uri="{FF2B5EF4-FFF2-40B4-BE49-F238E27FC236}">
                <a16:creationId xmlns:a16="http://schemas.microsoft.com/office/drawing/2014/main" id="{56B61F05-1C18-7A17-A21D-C93186B1401A}"/>
              </a:ext>
            </a:extLst>
          </p:cNvPr>
          <p:cNvSpPr>
            <a:spLocks noGrp="1"/>
          </p:cNvSpPr>
          <p:nvPr>
            <p:ph type="body" idx="2" hasCustomPrompt="1"/>
          </p:nvPr>
        </p:nvSpPr>
        <p:spPr>
          <a:xfrm>
            <a:off x="401652" y="4072344"/>
            <a:ext cx="8412479" cy="548641"/>
          </a:xfrm>
        </p:spPr>
        <p:txBody>
          <a:bodyPr>
            <a:normAutofit/>
          </a:bodyPr>
          <a:lstStyle>
            <a:lvl1pPr marL="0" indent="0">
              <a:buNone/>
              <a:defRPr sz="3200" i="1">
                <a:solidFill>
                  <a:srgbClr val="F1F3F3"/>
                </a:solidFill>
                <a:latin typeface="+mn-lt"/>
              </a:defRPr>
            </a:lvl1pPr>
          </a:lstStyle>
          <a:p>
            <a:r>
              <a:rPr lang="en-US" dirty="0"/>
              <a:t>Enter course name</a:t>
            </a:r>
          </a:p>
        </p:txBody>
      </p:sp>
      <p:sp>
        <p:nvSpPr>
          <p:cNvPr id="8" name="Text Placeholder 5">
            <a:extLst>
              <a:ext uri="{FF2B5EF4-FFF2-40B4-BE49-F238E27FC236}">
                <a16:creationId xmlns:a16="http://schemas.microsoft.com/office/drawing/2014/main" id="{98007F72-4142-F93E-B4D8-E79E478801B1}"/>
              </a:ext>
            </a:extLst>
          </p:cNvPr>
          <p:cNvSpPr>
            <a:spLocks noGrp="1"/>
          </p:cNvSpPr>
          <p:nvPr>
            <p:ph type="body" idx="98" hasCustomPrompt="1"/>
          </p:nvPr>
        </p:nvSpPr>
        <p:spPr>
          <a:xfrm>
            <a:off x="401652" y="4743994"/>
            <a:ext cx="5486400" cy="548640"/>
          </a:xfrm>
        </p:spPr>
        <p:txBody>
          <a:bodyPr>
            <a:normAutofit/>
          </a:bodyPr>
          <a:lstStyle>
            <a:lvl1pPr marL="0" indent="0">
              <a:buNone/>
              <a:defRPr sz="2800">
                <a:solidFill>
                  <a:srgbClr val="F1F3F3"/>
                </a:solidFill>
                <a:latin typeface="+mn-lt"/>
              </a:defRPr>
            </a:lvl1pPr>
          </a:lstStyle>
          <a:p>
            <a:r>
              <a:rPr lang="en-US" dirty="0"/>
              <a:t>Module # - Lesson #</a:t>
            </a:r>
          </a:p>
        </p:txBody>
      </p:sp>
    </p:spTree>
    <p:extLst>
      <p:ext uri="{BB962C8B-B14F-4D97-AF65-F5344CB8AC3E}">
        <p14:creationId xmlns:p14="http://schemas.microsoft.com/office/powerpoint/2010/main" val="321956686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Quote slide">
    <p:bg>
      <p:bgPr>
        <a:gradFill>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FEA5D771-1E37-4674-A454-5B6A887E81B8}"/>
              </a:ext>
            </a:extLst>
          </p:cNvPr>
          <p:cNvSpPr>
            <a:spLocks noGrp="1"/>
          </p:cNvSpPr>
          <p:nvPr>
            <p:ph type="title" idx="1" hasCustomPrompt="1"/>
          </p:nvPr>
        </p:nvSpPr>
        <p:spPr>
          <a:xfrm>
            <a:off x="365760" y="2435469"/>
            <a:ext cx="11472013" cy="1960803"/>
          </a:xfrm>
        </p:spPr>
        <p:txBody>
          <a:bodyPr anchor="ctr">
            <a:normAutofit/>
          </a:bodyPr>
          <a:lstStyle>
            <a:lvl1pPr>
              <a:defRPr sz="4000">
                <a:solidFill>
                  <a:schemeClr val="bg2"/>
                </a:solidFill>
                <a:latin typeface="Amazon Ember Display Heavy"/>
              </a:defRPr>
            </a:lvl1pPr>
          </a:lstStyle>
          <a:p>
            <a:r>
              <a:rPr lang="en-US" dirty="0"/>
              <a:t>“Enter quote here”</a:t>
            </a:r>
          </a:p>
        </p:txBody>
      </p:sp>
      <p:sp>
        <p:nvSpPr>
          <p:cNvPr id="2" name="Attribution">
            <a:extLst>
              <a:ext uri="{FF2B5EF4-FFF2-40B4-BE49-F238E27FC236}">
                <a16:creationId xmlns:a16="http://schemas.microsoft.com/office/drawing/2014/main" id="{0DEABB21-C29F-4E2E-AADE-6FBA5EF95AF4}"/>
              </a:ext>
            </a:extLst>
          </p:cNvPr>
          <p:cNvSpPr>
            <a:spLocks noGrp="1"/>
          </p:cNvSpPr>
          <p:nvPr>
            <p:ph type="body" idx="2" hasCustomPrompt="1"/>
          </p:nvPr>
        </p:nvSpPr>
        <p:spPr>
          <a:xfrm>
            <a:off x="6096000" y="4624991"/>
            <a:ext cx="5741773" cy="770066"/>
          </a:xfrm>
        </p:spPr>
        <p:txBody>
          <a:bodyPr>
            <a:noAutofit/>
          </a:bodyPr>
          <a:lstStyle>
            <a:lvl1pPr marL="0" indent="0">
              <a:buNone/>
              <a:defRPr sz="2800">
                <a:solidFill>
                  <a:schemeClr val="bg2"/>
                </a:solidFill>
              </a:defRPr>
            </a:lvl1pPr>
          </a:lstStyle>
          <a:p>
            <a:r>
              <a:rPr lang="en-US" dirty="0"/>
              <a:t>- Attribution</a:t>
            </a:r>
          </a:p>
        </p:txBody>
      </p:sp>
    </p:spTree>
    <p:extLst>
      <p:ext uri="{BB962C8B-B14F-4D97-AF65-F5344CB8AC3E}">
        <p14:creationId xmlns:p14="http://schemas.microsoft.com/office/powerpoint/2010/main" val="3913796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Topic Introduction">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88A78E8-6AA2-E26A-BE84-51DCD543A1DF}"/>
              </a:ext>
            </a:extLst>
          </p:cNvPr>
          <p:cNvSpPr/>
          <p:nvPr/>
        </p:nvSpPr>
        <p:spPr>
          <a:xfrm>
            <a:off x="0" y="11648"/>
            <a:ext cx="4434840" cy="6858000"/>
          </a:xfrm>
          <a:prstGeom prst="rect">
            <a:avLst/>
          </a:prstGeom>
          <a:gradFill flip="none" rotWithShape="1">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Autofit/>
          </a:bodyPr>
          <a:lstStyle>
            <a:lvl1pPr algn="ctr">
              <a:lnSpc>
                <a:spcPct val="100000"/>
              </a:lnSpc>
              <a:defRPr sz="3600">
                <a:solidFill>
                  <a:srgbClr val="F1F3F3"/>
                </a:solidFill>
                <a:latin typeface="Amazon Ember Display Heavy"/>
              </a:defRPr>
            </a:lvl1pPr>
          </a:lstStyle>
          <a:p>
            <a:r>
              <a:rPr lang="en-US" dirty="0"/>
              <a:t>Type title here</a:t>
            </a:r>
          </a:p>
        </p:txBody>
      </p:sp>
      <p:sp>
        <p:nvSpPr>
          <p:cNvPr id="2" name="LeftPlaceholder">
            <a:extLst>
              <a:ext uri="{FF2B5EF4-FFF2-40B4-BE49-F238E27FC236}">
                <a16:creationId xmlns:a16="http://schemas.microsoft.com/office/drawing/2014/main" id="{84AC47C1-092B-4DE6-902E-A0B393854995}"/>
              </a:ext>
              <a:ext uri="{C183D7F6-B498-43B3-948B-1728B52AA6E4}">
                <adec:decorative xmlns:adec="http://schemas.microsoft.com/office/drawing/2017/decorative" val="1"/>
              </a:ext>
            </a:extLst>
          </p:cNvPr>
          <p:cNvSpPr>
            <a:spLocks noGrp="1"/>
          </p:cNvSpPr>
          <p:nvPr>
            <p:ph idx="2" hasCustomPrompt="1"/>
          </p:nvPr>
        </p:nvSpPr>
        <p:spPr>
          <a:xfrm>
            <a:off x="246888" y="2434960"/>
            <a:ext cx="4060392" cy="3657600"/>
          </a:xfrm>
        </p:spPr>
        <p:txBody>
          <a:bodyPr anchor="t">
            <a:noAutofit/>
          </a:bodyPr>
          <a:lstStyle>
            <a:lvl1pPr marL="0" indent="0" algn="ctr">
              <a:buNone/>
              <a:defRPr>
                <a:solidFill>
                  <a:srgbClr val="F1F3F3"/>
                </a:solidFill>
                <a:latin typeface="+mn-lt"/>
              </a:defRPr>
            </a:lvl1pPr>
          </a:lstStyle>
          <a:p>
            <a:r>
              <a:rPr lang="en-US" dirty="0"/>
              <a:t>Click to add image</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Autofit/>
          </a:bodyPr>
          <a:lstStyle>
            <a:lvl1pPr>
              <a:lnSpc>
                <a:spcPct val="100000"/>
              </a:lnSpc>
              <a:spcAft>
                <a:spcPts val="600"/>
              </a:spcAft>
              <a:buClr>
                <a:schemeClr val="tx2"/>
              </a:buClr>
              <a:defRPr sz="2800">
                <a:solidFill>
                  <a:srgbClr val="232F3E"/>
                </a:solidFill>
                <a:latin typeface="+mn-lt"/>
              </a:defRPr>
            </a:lvl1pPr>
            <a:lvl2pPr marL="461963" indent="-228600">
              <a:lnSpc>
                <a:spcPct val="100000"/>
              </a:lnSpc>
              <a:spcAft>
                <a:spcPts val="600"/>
              </a:spcAft>
              <a:buClr>
                <a:schemeClr val="tx2"/>
              </a:buClr>
              <a:defRPr sz="2400">
                <a:solidFill>
                  <a:srgbClr val="232F3E"/>
                </a:solidFill>
                <a:latin typeface="+mn-lt"/>
              </a:defRPr>
            </a:lvl2pPr>
            <a:lvl3pPr marL="684213" indent="-228600">
              <a:lnSpc>
                <a:spcPct val="100000"/>
              </a:lnSpc>
              <a:spcAft>
                <a:spcPts val="600"/>
              </a:spcAft>
              <a:buClr>
                <a:schemeClr val="tx2"/>
              </a:buClr>
              <a:defRPr sz="2200">
                <a:solidFill>
                  <a:srgbClr val="232F3E"/>
                </a:solidFill>
                <a:latin typeface="+mn-lt"/>
              </a:defRPr>
            </a:lvl3pPr>
            <a:lvl4pPr marL="914400" indent="-228600">
              <a:lnSpc>
                <a:spcPct val="100000"/>
              </a:lnSpc>
              <a:spcAft>
                <a:spcPts val="600"/>
              </a:spcAft>
              <a:buClr>
                <a:schemeClr val="tx2"/>
              </a:buClr>
              <a:defRPr sz="1800">
                <a:solidFill>
                  <a:srgbClr val="232F3E"/>
                </a:solidFill>
                <a:latin typeface="+mn-lt"/>
              </a:defRPr>
            </a:lvl4pPr>
            <a:lvl5pPr marL="1144588" indent="-228600">
              <a:lnSpc>
                <a:spcPct val="100000"/>
              </a:lnSpc>
              <a:spcAft>
                <a:spcPts val="600"/>
              </a:spcAft>
              <a:buClr>
                <a:schemeClr val="tx2"/>
              </a:buClr>
              <a:defRPr sz="1800">
                <a:solidFill>
                  <a:srgbClr val="232F3E"/>
                </a:solidFill>
                <a:latin typeface="+mn-lt"/>
              </a:defRPr>
            </a:lvl5pPr>
            <a:lvl7pPr marL="2743200" indent="0">
              <a:buNone/>
              <a:defRPr/>
            </a:lvl7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117426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and text column</a:t>
            </a:r>
          </a:p>
        </p:txBody>
      </p:sp>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165536"/>
            <a:ext cx="11466576" cy="5262696"/>
          </a:xfrm>
        </p:spPr>
        <p:txBody>
          <a:bodyPr>
            <a:noAutofit/>
          </a:bodyPr>
          <a:lstStyle>
            <a:lvl1pPr>
              <a:lnSpc>
                <a:spcPct val="100000"/>
              </a:lnSpc>
              <a:spcBef>
                <a:spcPts val="1000"/>
              </a:spcBef>
              <a:spcAft>
                <a:spcPts val="600"/>
              </a:spcAft>
              <a:buClr>
                <a:schemeClr val="tx2"/>
              </a:buClr>
              <a:defRPr>
                <a:solidFill>
                  <a:srgbClr val="232F3E"/>
                </a:solidFill>
              </a:defRPr>
            </a:lvl1pPr>
            <a:lvl2pPr marL="457200" indent="-223838">
              <a:lnSpc>
                <a:spcPct val="100000"/>
              </a:lnSpc>
              <a:spcBef>
                <a:spcPts val="500"/>
              </a:spcBef>
              <a:spcAft>
                <a:spcPts val="600"/>
              </a:spcAft>
              <a:buClr>
                <a:schemeClr val="tx2"/>
              </a:buClr>
              <a:tabLst/>
              <a:defRPr>
                <a:solidFill>
                  <a:srgbClr val="232F3E"/>
                </a:solidFill>
              </a:defRPr>
            </a:lvl2pPr>
            <a:lvl3pPr marL="685800" indent="-228600">
              <a:lnSpc>
                <a:spcPct val="100000"/>
              </a:lnSpc>
              <a:spcBef>
                <a:spcPts val="500"/>
              </a:spcBef>
              <a:spcAft>
                <a:spcPts val="600"/>
              </a:spcAft>
              <a:buClr>
                <a:schemeClr val="tx2"/>
              </a:buClr>
              <a:tabLst/>
              <a:defRPr sz="2000">
                <a:solidFill>
                  <a:srgbClr val="232F3E"/>
                </a:solidFill>
              </a:defRPr>
            </a:lvl3pPr>
            <a:lvl4pPr marL="914400" indent="-228600">
              <a:lnSpc>
                <a:spcPct val="100000"/>
              </a:lnSpc>
              <a:spcBef>
                <a:spcPts val="500"/>
              </a:spcBef>
              <a:spcAft>
                <a:spcPts val="600"/>
              </a:spcAft>
              <a:buClr>
                <a:schemeClr val="tx2"/>
              </a:buClr>
              <a:tabLst/>
              <a:defRPr>
                <a:solidFill>
                  <a:srgbClr val="232F3E"/>
                </a:solidFill>
              </a:defRPr>
            </a:lvl4pPr>
            <a:lvl5pPr marL="1147763" indent="-233363">
              <a:lnSpc>
                <a:spcPct val="100000"/>
              </a:lnSpc>
              <a:spcBef>
                <a:spcPts val="500"/>
              </a:spcBef>
              <a:spcAft>
                <a:spcPts val="600"/>
              </a:spcAft>
              <a:buClr>
                <a:schemeClr val="tx2"/>
              </a:buClr>
              <a:buFont typeface="Arial" panose="020B0604020202020204" pitchFamily="34" charset="0"/>
              <a:buChar char="•"/>
              <a:tabLs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00880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Title and Cod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and code</a:t>
            </a:r>
          </a:p>
        </p:txBody>
      </p:sp>
      <p:sp>
        <p:nvSpPr>
          <p:cNvPr id="2" name="Code">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183340"/>
            <a:ext cx="11466576" cy="5244891"/>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dirty="0"/>
              <a:t># Import libraries</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from </a:t>
            </a:r>
            <a:r>
              <a:rPr lang="en-US" dirty="0" err="1"/>
              <a:t>autogluon.tabular</a:t>
            </a:r>
            <a:r>
              <a:rPr lang="en-US" dirty="0"/>
              <a:t> import </a:t>
            </a:r>
            <a:r>
              <a:rPr lang="en-US" dirty="0" err="1"/>
              <a:t>TabularPredictor</a:t>
            </a: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 Create the model</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predictor = </a:t>
            </a:r>
            <a:r>
              <a:rPr lang="en-US" dirty="0" err="1"/>
              <a:t>TabularPredictor</a:t>
            </a:r>
            <a:r>
              <a:rPr lang="en-US" dirty="0"/>
              <a:t>(label="Price").fit("</a:t>
            </a:r>
            <a:r>
              <a:rPr lang="en-US" dirty="0" err="1"/>
              <a:t>train.csv</a:t>
            </a:r>
            <a:r>
              <a:rPr lang="en-US" dirty="0"/>
              <a:t>")</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 Get predictions</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predictions = </a:t>
            </a:r>
            <a:r>
              <a:rPr lang="en-US" dirty="0" err="1"/>
              <a:t>predictor.predict</a:t>
            </a:r>
            <a:r>
              <a:rPr lang="en-US" dirty="0"/>
              <a:t>("</a:t>
            </a:r>
            <a:r>
              <a:rPr lang="en-US" dirty="0" err="1"/>
              <a:t>test.csv</a:t>
            </a:r>
            <a:r>
              <a:rPr lang="en-US" dirty="0"/>
              <a:t>")</a:t>
            </a:r>
          </a:p>
        </p:txBody>
      </p:sp>
    </p:spTree>
    <p:custDataLst>
      <p:tags r:id="rId1"/>
    </p:custDataLst>
    <p:extLst>
      <p:ext uri="{BB962C8B-B14F-4D97-AF65-F5344CB8AC3E}">
        <p14:creationId xmlns:p14="http://schemas.microsoft.com/office/powerpoint/2010/main" val="410025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Title, Text, and Small Pictur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2/3 Column, and picture</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1000"/>
              </a:spcBef>
              <a:spcAft>
                <a:spcPts val="600"/>
              </a:spcAft>
              <a:buClr>
                <a:schemeClr val="tx2"/>
              </a:buClr>
              <a:defRPr>
                <a:solidFill>
                  <a:srgbClr val="232F3E"/>
                </a:solidFill>
              </a:defRPr>
            </a:lvl1pPr>
            <a:lvl2pPr marL="461963" indent="-228600">
              <a:lnSpc>
                <a:spcPct val="100000"/>
              </a:lnSpc>
              <a:spcBef>
                <a:spcPts val="500"/>
              </a:spcBef>
              <a:spcAft>
                <a:spcPts val="600"/>
              </a:spcAft>
              <a:buClr>
                <a:schemeClr val="tx2"/>
              </a:buClr>
              <a:defRPr>
                <a:solidFill>
                  <a:srgbClr val="232F3E"/>
                </a:solidFill>
              </a:defRPr>
            </a:lvl2pPr>
            <a:lvl3pPr marL="682625" indent="-228600">
              <a:lnSpc>
                <a:spcPct val="100000"/>
              </a:lnSpc>
              <a:spcBef>
                <a:spcPts val="500"/>
              </a:spcBef>
              <a:spcAft>
                <a:spcPts val="600"/>
              </a:spcAft>
              <a:buClr>
                <a:schemeClr val="tx2"/>
              </a:buClr>
              <a:defRPr sz="2200">
                <a:solidFill>
                  <a:srgbClr val="232F3E"/>
                </a:solidFill>
              </a:defRPr>
            </a:lvl3pPr>
            <a:lvl4pPr marL="914400" indent="-228600">
              <a:lnSpc>
                <a:spcPct val="100000"/>
              </a:lnSpc>
              <a:spcBef>
                <a:spcPts val="500"/>
              </a:spcBef>
              <a:spcAft>
                <a:spcPts val="600"/>
              </a:spcAft>
              <a:buClr>
                <a:schemeClr val="tx2"/>
              </a:buClr>
              <a:defRPr sz="2000">
                <a:solidFill>
                  <a:srgbClr val="232F3E"/>
                </a:solidFill>
              </a:defRPr>
            </a:lvl4pPr>
            <a:lvl5pPr marL="1146175" indent="-228600">
              <a:lnSpc>
                <a:spcPct val="100000"/>
              </a:lnSpc>
              <a:spcBef>
                <a:spcPts val="500"/>
              </a:spcBef>
              <a:spcAft>
                <a:spcPts val="600"/>
              </a:spcAft>
              <a:buClr>
                <a:schemeClr val="tx2"/>
              </a:buClr>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1971729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Title and 2 Conten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defRPr>
            </a:lvl1pPr>
          </a:lstStyle>
          <a:p>
            <a:r>
              <a:rPr lang="en-US" dirty="0">
                <a:latin typeface="Amazon Ember Display Heavy" panose="04020705040A02060702" pitchFamily="82" charset="0"/>
              </a:rPr>
              <a:t>Title and 2 content columns</a:t>
            </a:r>
          </a:p>
        </p:txBody>
      </p:sp>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600"/>
              </a:spcAft>
              <a:defRPr sz="2800">
                <a:solidFill>
                  <a:srgbClr val="232F3E"/>
                </a:solidFill>
              </a:defRPr>
            </a:lvl1pPr>
            <a:lvl2pPr marL="461963"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6163056" y="1097280"/>
            <a:ext cx="5669280" cy="5330952"/>
          </a:xfrm>
        </p:spPr>
        <p:txBody>
          <a:bodyPr>
            <a:noAutofit/>
          </a:bodyPr>
          <a:lstStyle>
            <a:lvl1pPr>
              <a:lnSpc>
                <a:spcPct val="100000"/>
              </a:lnSpc>
              <a:spcAft>
                <a:spcPts val="600"/>
              </a:spcAft>
              <a:defRPr sz="2800">
                <a:solidFill>
                  <a:srgbClr val="232F3E"/>
                </a:solidFill>
              </a:defRPr>
            </a:lvl1pPr>
            <a:lvl2pPr marL="461963"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61907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only</a:t>
            </a:r>
          </a:p>
        </p:txBody>
      </p:sp>
    </p:spTree>
    <p:custDataLst>
      <p:tags r:id="rId1"/>
    </p:custDataLst>
    <p:extLst>
      <p:ext uri="{BB962C8B-B14F-4D97-AF65-F5344CB8AC3E}">
        <p14:creationId xmlns:p14="http://schemas.microsoft.com/office/powerpoint/2010/main" val="3232598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ptional">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optional</a:t>
            </a:r>
          </a:p>
        </p:txBody>
      </p:sp>
    </p:spTree>
    <p:custDataLst>
      <p:tags r:id="rId1"/>
    </p:custDataLst>
    <p:extLst>
      <p:ext uri="{BB962C8B-B14F-4D97-AF65-F5344CB8AC3E}">
        <p14:creationId xmlns:p14="http://schemas.microsoft.com/office/powerpoint/2010/main" val="1999876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ank You">
    <p:bg>
      <p:bgPr>
        <a:gradFill flip="none" rotWithShape="1">
          <a:gsLst>
            <a:gs pos="0">
              <a:srgbClr val="2C2C2C"/>
            </a:gs>
            <a:gs pos="40000">
              <a:srgbClr val="330066"/>
            </a:gs>
            <a:gs pos="75000">
              <a:srgbClr val="0070C0"/>
            </a:gs>
            <a:gs pos="97000">
              <a:srgbClr val="2C2C2C"/>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4" name="TextBox 3">
            <a:extLst>
              <a:ext uri="{FF2B5EF4-FFF2-40B4-BE49-F238E27FC236}">
                <a16:creationId xmlns:a16="http://schemas.microsoft.com/office/drawing/2014/main" id="{D71A17E9-D485-4DA4-B2AE-3F2D6BBB097D}"/>
              </a:ext>
            </a:extLst>
          </p:cNvPr>
          <p:cNvSpPr txBox="1"/>
          <p:nvPr/>
        </p:nvSpPr>
        <p:spPr>
          <a:xfrm>
            <a:off x="6671462" y="5121212"/>
            <a:ext cx="4415246" cy="769441"/>
          </a:xfrm>
          <a:prstGeom prst="rect">
            <a:avLst/>
          </a:prstGeom>
          <a:noFill/>
        </p:spPr>
        <p:txBody>
          <a:bodyPr wrap="square" rtlCol="0">
            <a:spAutoFit/>
          </a:bodyPr>
          <a:lstStyle/>
          <a:p>
            <a:pPr algn="ctr"/>
            <a:r>
              <a:rPr lang="en-US" sz="4400" dirty="0">
                <a:solidFill>
                  <a:schemeClr val="bg1"/>
                </a:solidFill>
              </a:rPr>
              <a:t>Thank you!</a:t>
            </a:r>
          </a:p>
        </p:txBody>
      </p:sp>
      <p:grpSp>
        <p:nvGrpSpPr>
          <p:cNvPr id="5" name="Group 4">
            <a:extLst>
              <a:ext uri="{FF2B5EF4-FFF2-40B4-BE49-F238E27FC236}">
                <a16:creationId xmlns:a16="http://schemas.microsoft.com/office/drawing/2014/main" id="{3603BAED-C218-4493-92DB-15D5FF4C08C1}"/>
              </a:ext>
            </a:extLst>
          </p:cNvPr>
          <p:cNvGrpSpPr/>
          <p:nvPr/>
        </p:nvGrpSpPr>
        <p:grpSpPr>
          <a:xfrm>
            <a:off x="7405848" y="2400065"/>
            <a:ext cx="2946474" cy="2615329"/>
            <a:chOff x="3288681" y="1271382"/>
            <a:chExt cx="3657600" cy="3246535"/>
          </a:xfrm>
        </p:grpSpPr>
        <p:grpSp>
          <p:nvGrpSpPr>
            <p:cNvPr id="8" name="Group 7">
              <a:extLst>
                <a:ext uri="{FF2B5EF4-FFF2-40B4-BE49-F238E27FC236}">
                  <a16:creationId xmlns:a16="http://schemas.microsoft.com/office/drawing/2014/main" id="{97EE457E-20AD-45C7-9922-9F6A90981CF3}"/>
                </a:ext>
              </a:extLst>
            </p:cNvPr>
            <p:cNvGrpSpPr/>
            <p:nvPr/>
          </p:nvGrpSpPr>
          <p:grpSpPr>
            <a:xfrm>
              <a:off x="4520584" y="2134033"/>
              <a:ext cx="1206148" cy="365126"/>
              <a:chOff x="5424840" y="3468510"/>
              <a:chExt cx="1206148" cy="365126"/>
            </a:xfrm>
            <a:solidFill>
              <a:schemeClr val="bg1"/>
            </a:solidFill>
          </p:grpSpPr>
          <p:sp>
            <p:nvSpPr>
              <p:cNvPr id="9" name="Oval 8">
                <a:extLst>
                  <a:ext uri="{FF2B5EF4-FFF2-40B4-BE49-F238E27FC236}">
                    <a16:creationId xmlns:a16="http://schemas.microsoft.com/office/drawing/2014/main" id="{7C872F8E-C191-47BD-A5D0-340D828994BF}"/>
                  </a:ext>
                </a:extLst>
              </p:cNvPr>
              <p:cNvSpPr/>
              <p:nvPr/>
            </p:nvSpPr>
            <p:spPr>
              <a:xfrm>
                <a:off x="5424840" y="3468510"/>
                <a:ext cx="365126" cy="365126"/>
              </a:xfrm>
              <a:prstGeom prst="ellipse">
                <a:avLst/>
              </a:prstGeom>
              <a:grpFill/>
              <a:ln w="1174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DE3F5C2-97FE-480F-B861-BCDAD2A408AC}"/>
                  </a:ext>
                </a:extLst>
              </p:cNvPr>
              <p:cNvSpPr/>
              <p:nvPr/>
            </p:nvSpPr>
            <p:spPr>
              <a:xfrm>
                <a:off x="6265862" y="3468510"/>
                <a:ext cx="365126" cy="365126"/>
              </a:xfrm>
              <a:prstGeom prst="ellipse">
                <a:avLst/>
              </a:prstGeom>
              <a:grpFill/>
              <a:ln w="1174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AAF6B964-0C6D-4A72-AAB3-59AF6B7E5AC7}"/>
                </a:ext>
              </a:extLst>
            </p:cNvPr>
            <p:cNvSpPr/>
            <p:nvPr/>
          </p:nvSpPr>
          <p:spPr>
            <a:xfrm>
              <a:off x="4026378" y="1729398"/>
              <a:ext cx="2194560" cy="118872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E6825AB-CA44-4652-9932-F35604DBDEC4}"/>
                </a:ext>
              </a:extLst>
            </p:cNvPr>
            <p:cNvSpPr/>
            <p:nvPr/>
          </p:nvSpPr>
          <p:spPr>
            <a:xfrm>
              <a:off x="4026378" y="1272198"/>
              <a:ext cx="2194560" cy="45720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7B2B4B5E-1650-4605-B6D3-AD8004E2324E}"/>
                </a:ext>
              </a:extLst>
            </p:cNvPr>
            <p:cNvCxnSpPr>
              <a:cxnSpLocks/>
            </p:cNvCxnSpPr>
            <p:nvPr/>
          </p:nvCxnSpPr>
          <p:spPr>
            <a:xfrm>
              <a:off x="3288681" y="1271382"/>
              <a:ext cx="3657600" cy="0"/>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D723D12-12B1-494E-BB81-55C2CC9CF193}"/>
                </a:ext>
              </a:extLst>
            </p:cNvPr>
            <p:cNvCxnSpPr>
              <a:cxnSpLocks/>
            </p:cNvCxnSpPr>
            <p:nvPr/>
          </p:nvCxnSpPr>
          <p:spPr>
            <a:xfrm>
              <a:off x="3621747" y="1325147"/>
              <a:ext cx="0" cy="567545"/>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08C2E83B-9A5C-4B09-8EF1-304F16F06266}"/>
                </a:ext>
              </a:extLst>
            </p:cNvPr>
            <p:cNvSpPr/>
            <p:nvPr/>
          </p:nvSpPr>
          <p:spPr>
            <a:xfrm>
              <a:off x="4575018" y="2917332"/>
              <a:ext cx="1097280" cy="102158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10F5C88A-DF5B-4449-97AC-74904B4DF3B6}"/>
                </a:ext>
              </a:extLst>
            </p:cNvPr>
            <p:cNvGrpSpPr/>
            <p:nvPr/>
          </p:nvGrpSpPr>
          <p:grpSpPr>
            <a:xfrm>
              <a:off x="4297506" y="3097059"/>
              <a:ext cx="1652305" cy="567544"/>
              <a:chOff x="5175577" y="4431536"/>
              <a:chExt cx="1652305" cy="567544"/>
            </a:xfrm>
          </p:grpSpPr>
          <p:cxnSp>
            <p:nvCxnSpPr>
              <p:cNvPr id="17" name="Straight Connector 16">
                <a:extLst>
                  <a:ext uri="{FF2B5EF4-FFF2-40B4-BE49-F238E27FC236}">
                    <a16:creationId xmlns:a16="http://schemas.microsoft.com/office/drawing/2014/main" id="{556C72D9-DCFF-4844-905D-A1FA40AF318A}"/>
                  </a:ext>
                </a:extLst>
              </p:cNvPr>
              <p:cNvCxnSpPr>
                <a:cxnSpLocks/>
              </p:cNvCxnSpPr>
              <p:nvPr/>
            </p:nvCxnSpPr>
            <p:spPr>
              <a:xfrm>
                <a:off x="5175577" y="4431536"/>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ACD66E4-DCDC-423C-92F8-A6BCB7C9F7F1}"/>
                  </a:ext>
                </a:extLst>
              </p:cNvPr>
              <p:cNvCxnSpPr>
                <a:cxnSpLocks/>
              </p:cNvCxnSpPr>
              <p:nvPr/>
            </p:nvCxnSpPr>
            <p:spPr>
              <a:xfrm>
                <a:off x="6827882" y="4431536"/>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D45858A7-4589-4E1D-A7C8-6D1EF02FDDEF}"/>
                </a:ext>
              </a:extLst>
            </p:cNvPr>
            <p:cNvGrpSpPr/>
            <p:nvPr/>
          </p:nvGrpSpPr>
          <p:grpSpPr>
            <a:xfrm>
              <a:off x="4881204" y="3949770"/>
              <a:ext cx="484909" cy="568147"/>
              <a:chOff x="5768311" y="5309299"/>
              <a:chExt cx="484909" cy="568147"/>
            </a:xfrm>
          </p:grpSpPr>
          <p:cxnSp>
            <p:nvCxnSpPr>
              <p:cNvPr id="20" name="Straight Connector 19">
                <a:extLst>
                  <a:ext uri="{FF2B5EF4-FFF2-40B4-BE49-F238E27FC236}">
                    <a16:creationId xmlns:a16="http://schemas.microsoft.com/office/drawing/2014/main" id="{C54C8AC8-EC33-4E49-8D93-3DE13BFC98D8}"/>
                  </a:ext>
                </a:extLst>
              </p:cNvPr>
              <p:cNvCxnSpPr>
                <a:cxnSpLocks/>
              </p:cNvCxnSpPr>
              <p:nvPr/>
            </p:nvCxnSpPr>
            <p:spPr>
              <a:xfrm>
                <a:off x="5768311" y="5309299"/>
                <a:ext cx="0" cy="567545"/>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A20822B-432B-4785-8E1A-968761BFE9C2}"/>
                  </a:ext>
                </a:extLst>
              </p:cNvPr>
              <p:cNvCxnSpPr>
                <a:cxnSpLocks/>
              </p:cNvCxnSpPr>
              <p:nvPr/>
            </p:nvCxnSpPr>
            <p:spPr>
              <a:xfrm>
                <a:off x="6253220" y="5309902"/>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Tree>
    <p:custDataLst>
      <p:tags r:id="rId1"/>
    </p:custDataLst>
    <p:extLst>
      <p:ext uri="{BB962C8B-B14F-4D97-AF65-F5344CB8AC3E}">
        <p14:creationId xmlns:p14="http://schemas.microsoft.com/office/powerpoint/2010/main" val="1066275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5BD4D1B-B3EB-4C0C-8CE3-A35C1F88F6BC}"/>
              </a:ext>
            </a:extLst>
          </p:cNvPr>
          <p:cNvSpPr>
            <a:spLocks noGrp="1"/>
          </p:cNvSpPr>
          <p:nvPr>
            <p:ph type="title" idx="1"/>
          </p:nvPr>
        </p:nvSpPr>
        <p:spPr>
          <a:xfrm>
            <a:off x="365760" y="301752"/>
            <a:ext cx="11567160" cy="731520"/>
          </a:xfrm>
          <a:prstGeom prst="rect">
            <a:avLst/>
          </a:prstGeom>
        </p:spPr>
        <p:txBody>
          <a:bodyPr vert="horz" lIns="91440" tIns="45720" rIns="91440" bIns="45720" rtlCol="0" anchor="ctr">
            <a:normAutofit/>
          </a:bodyPr>
          <a:lstStyle/>
          <a:p>
            <a:r>
              <a:rPr lang="en-US">
                <a:latin typeface="Amazon Ember Display Heavy" panose="04020705040A02060702" pitchFamily="82" charset="0"/>
              </a:rPr>
              <a:t>Click to edit Master title style</a:t>
            </a:r>
            <a:endParaRPr lang="en-US" dirty="0"/>
          </a:p>
        </p:txBody>
      </p:sp>
      <p:sp>
        <p:nvSpPr>
          <p:cNvPr id="2" name="Content">
            <a:extLst>
              <a:ext uri="{FF2B5EF4-FFF2-40B4-BE49-F238E27FC236}">
                <a16:creationId xmlns:a16="http://schemas.microsoft.com/office/drawing/2014/main" id="{3AF961A5-759C-41EF-B858-64D5160112BA}"/>
              </a:ext>
            </a:extLst>
          </p:cNvPr>
          <p:cNvSpPr>
            <a:spLocks noGrp="1"/>
          </p:cNvSpPr>
          <p:nvPr>
            <p:ph type="body" idx="2"/>
          </p:nvPr>
        </p:nvSpPr>
        <p:spPr>
          <a:xfrm>
            <a:off x="365760" y="1143000"/>
            <a:ext cx="11567160" cy="5294376"/>
          </a:xfrm>
          <a:prstGeom prst="rect">
            <a:avLst/>
          </a:prstGeom>
        </p:spPr>
        <p:txBody>
          <a:bodyPr vert="horz" lIns="91440" tIns="45720" rIns="91440" bIns="45720" rtlCol="0">
            <a:normAutofit/>
          </a:bodyPr>
          <a:lstStyle/>
          <a:p>
            <a:pPr marL="230188" lvl="0" indent="-230188" defTabSz="228600">
              <a:lnSpc>
                <a:spcPct val="100000"/>
              </a:lnSpc>
              <a:spcBef>
                <a:spcPts val="500"/>
              </a:spcBef>
              <a:spcAft>
                <a:spcPts val="600"/>
              </a:spcAft>
              <a:buFont typeface="Amazon Ember Display"/>
            </a:pPr>
            <a:r>
              <a:rPr lang="en-US"/>
              <a:t>Click to edit Master text styles</a:t>
            </a:r>
          </a:p>
          <a:p>
            <a:pPr marL="230188" lvl="1" indent="-230188" defTabSz="228600">
              <a:lnSpc>
                <a:spcPct val="100000"/>
              </a:lnSpc>
              <a:spcBef>
                <a:spcPts val="500"/>
              </a:spcBef>
              <a:spcAft>
                <a:spcPts val="600"/>
              </a:spcAft>
              <a:buFont typeface="Amazon Ember Display"/>
            </a:pPr>
            <a:r>
              <a:rPr lang="en-US"/>
              <a:t>Second level</a:t>
            </a:r>
          </a:p>
          <a:p>
            <a:pPr marL="230188" lvl="2" indent="-230188" defTabSz="228600">
              <a:lnSpc>
                <a:spcPct val="100000"/>
              </a:lnSpc>
              <a:spcBef>
                <a:spcPts val="500"/>
              </a:spcBef>
              <a:spcAft>
                <a:spcPts val="600"/>
              </a:spcAft>
              <a:buFont typeface="Amazon Ember Display"/>
            </a:pPr>
            <a:r>
              <a:rPr lang="en-US"/>
              <a:t>Third level</a:t>
            </a:r>
          </a:p>
          <a:p>
            <a:pPr marL="230188" lvl="3" indent="-230188" defTabSz="228600">
              <a:lnSpc>
                <a:spcPct val="100000"/>
              </a:lnSpc>
              <a:spcBef>
                <a:spcPts val="500"/>
              </a:spcBef>
              <a:spcAft>
                <a:spcPts val="600"/>
              </a:spcAft>
              <a:buFont typeface="Amazon Ember Display"/>
            </a:pPr>
            <a:r>
              <a:rPr lang="en-US"/>
              <a:t>Fourth level</a:t>
            </a:r>
          </a:p>
          <a:p>
            <a:pPr marL="230188" lvl="4" indent="-230188" defTabSz="228600">
              <a:lnSpc>
                <a:spcPct val="100000"/>
              </a:lnSpc>
              <a:spcBef>
                <a:spcPts val="500"/>
              </a:spcBef>
              <a:spcAft>
                <a:spcPts val="600"/>
              </a:spcAft>
              <a:buFont typeface="Amazon Ember Display"/>
            </a:pPr>
            <a:r>
              <a:rPr lang="en-US"/>
              <a:t>Fifth level</a:t>
            </a:r>
            <a:endParaRPr lang="en-US" dirty="0"/>
          </a:p>
        </p:txBody>
      </p:sp>
      <p:sp>
        <p:nvSpPr>
          <p:cNvPr id="89" name="Slide Number">
            <a:extLst>
              <a:ext uri="{FF2B5EF4-FFF2-40B4-BE49-F238E27FC236}">
                <a16:creationId xmlns:a16="http://schemas.microsoft.com/office/drawing/2014/main" id="{A07A00D0-EC0A-44D2-9309-40C08E7F67D5}"/>
              </a:ext>
            </a:extLst>
          </p:cNvPr>
          <p:cNvSpPr>
            <a:spLocks noGrp="1"/>
          </p:cNvSpPr>
          <p:nvPr>
            <p:ph type="sldNum" idx="89"/>
          </p:nvPr>
        </p:nvSpPr>
        <p:spPr>
          <a:xfrm>
            <a:off x="11466576" y="6446520"/>
            <a:ext cx="484632" cy="228600"/>
          </a:xfrm>
          <a:prstGeom prst="rect">
            <a:avLst/>
          </a:prstGeom>
        </p:spPr>
        <p:txBody>
          <a:bodyPr vert="horz" lIns="0" tIns="0" rIns="0" bIns="0" rtlCol="0" anchor="ctr"/>
          <a:lstStyle>
            <a:lvl1pPr algn="r">
              <a:defRPr sz="1200">
                <a:solidFill>
                  <a:srgbClr val="232F3E"/>
                </a:solidFill>
              </a:defRPr>
            </a:lvl1pPr>
          </a:lstStyle>
          <a:p>
            <a:fld id="{86A8BF56-6CB3-514C-9A64-F39D95C9E25B}" type="slidenum">
              <a:rPr lang="en-US" smtClean="0"/>
              <a:t>‹#›</a:t>
            </a:fld>
            <a:endParaRPr lang="en-US"/>
          </a:p>
        </p:txBody>
      </p:sp>
    </p:spTree>
    <p:extLst>
      <p:ext uri="{BB962C8B-B14F-4D97-AF65-F5344CB8AC3E}">
        <p14:creationId xmlns:p14="http://schemas.microsoft.com/office/powerpoint/2010/main" val="2252613718"/>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Lst>
  <p:hf hdr="0" ftr="0" dt="0"/>
  <p:txStyles>
    <p:titleStyle>
      <a:lvl1pPr algn="l" defTabSz="914400" rtl="0" eaLnBrk="1" latinLnBrk="0" hangingPunct="1">
        <a:lnSpc>
          <a:spcPct val="90000"/>
        </a:lnSpc>
        <a:spcBef>
          <a:spcPct val="0"/>
        </a:spcBef>
        <a:buNone/>
        <a:defRPr sz="3600" kern="1200">
          <a:solidFill>
            <a:srgbClr val="232F3E"/>
          </a:solidFill>
          <a:latin typeface="Amazon Ember Display"/>
        </a:defRPr>
      </a:lvl1pPr>
    </p:titleStyle>
    <p:bodyStyle>
      <a:lvl1pPr marL="228600" indent="-228600" algn="l" defTabSz="914400" rtl="0" eaLnBrk="1" latinLnBrk="0" hangingPunct="1">
        <a:lnSpc>
          <a:spcPct val="90000"/>
        </a:lnSpc>
        <a:spcBef>
          <a:spcPts val="1000"/>
        </a:spcBef>
        <a:buFont typeface="Amazon Ember Display"/>
        <a:buChar char="•"/>
        <a:defRPr lang="en-US" sz="2800" kern="1200" dirty="0">
          <a:solidFill>
            <a:srgbClr val="232F3E"/>
          </a:solidFill>
          <a:latin typeface="Amazon Ember Display"/>
        </a:defRPr>
      </a:lvl1pPr>
      <a:lvl2pPr marL="685800" indent="-228600" algn="l" defTabSz="914400" rtl="0" eaLnBrk="1" latinLnBrk="0" hangingPunct="1">
        <a:lnSpc>
          <a:spcPct val="90000"/>
        </a:lnSpc>
        <a:spcBef>
          <a:spcPts val="500"/>
        </a:spcBef>
        <a:buFont typeface="Amazon Ember Display"/>
        <a:buChar char="•"/>
        <a:defRPr lang="en-US" sz="2400" kern="1200" dirty="0">
          <a:solidFill>
            <a:srgbClr val="232F3E"/>
          </a:solidFill>
          <a:latin typeface="Amazon Ember Display"/>
        </a:defRPr>
      </a:lvl2pPr>
      <a:lvl3pPr marL="1143000" indent="-228600" algn="l" defTabSz="914400" rtl="0" eaLnBrk="1" latinLnBrk="0" hangingPunct="1">
        <a:lnSpc>
          <a:spcPct val="90000"/>
        </a:lnSpc>
        <a:spcBef>
          <a:spcPts val="500"/>
        </a:spcBef>
        <a:buFont typeface="Amazon Ember Display"/>
        <a:buChar char="•"/>
        <a:defRPr lang="en-US" sz="2400" kern="1200" dirty="0">
          <a:solidFill>
            <a:srgbClr val="232F3E"/>
          </a:solidFill>
          <a:latin typeface="Amazon Ember Display"/>
        </a:defRPr>
      </a:lvl3pPr>
      <a:lvl4pPr marL="1600200" indent="-228600" algn="l" defTabSz="914400" rtl="0" eaLnBrk="1" latinLnBrk="0" hangingPunct="1">
        <a:lnSpc>
          <a:spcPct val="90000"/>
        </a:lnSpc>
        <a:spcBef>
          <a:spcPts val="500"/>
        </a:spcBef>
        <a:buFont typeface="Amazon Ember Display"/>
        <a:buChar char="•"/>
        <a:defRPr lang="en-US" sz="1800" kern="1200" dirty="0">
          <a:solidFill>
            <a:srgbClr val="232F3E"/>
          </a:solidFill>
          <a:latin typeface="Amazon Ember Display"/>
        </a:defRPr>
      </a:lvl4pPr>
      <a:lvl5pPr marL="2057400" indent="-228600" algn="l" defTabSz="914400" rtl="0" eaLnBrk="1" latinLnBrk="0" hangingPunct="1">
        <a:lnSpc>
          <a:spcPct val="90000"/>
        </a:lnSpc>
        <a:spcBef>
          <a:spcPts val="500"/>
        </a:spcBef>
        <a:buFont typeface="Amazon Ember Display"/>
        <a:buChar char="•"/>
        <a:defRPr lang="en-US" sz="2000" kern="1200" dirty="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p:bodyStyle>
    <p:otherStyle>
      <a:defPPr>
        <a:defRPr lang="en-US"/>
      </a:defPPr>
      <a:lvl1pPr marL="0" algn="l" defTabSz="914400" rtl="0" eaLnBrk="1" latinLnBrk="0" hangingPunct="1">
        <a:defRPr sz="1800" kern="1200">
          <a:solidFill>
            <a:schemeClr val="tx1"/>
          </a:solidFill>
          <a:latin typeface="Amazon Ember Display"/>
        </a:defRPr>
      </a:lvl1pPr>
      <a:lvl2pPr marL="457200" algn="l" defTabSz="914400" rtl="0" eaLnBrk="1" latinLnBrk="0" hangingPunct="1">
        <a:defRPr sz="1800" kern="1200">
          <a:solidFill>
            <a:schemeClr val="tx1"/>
          </a:solidFill>
          <a:latin typeface="Amazon Ember Display"/>
        </a:defRPr>
      </a:lvl2pPr>
      <a:lvl3pPr marL="914400" algn="l" defTabSz="914400" rtl="0" eaLnBrk="1" latinLnBrk="0" hangingPunct="1">
        <a:defRPr sz="1800" kern="1200">
          <a:solidFill>
            <a:schemeClr val="tx1"/>
          </a:solidFill>
          <a:latin typeface="Amazon Ember Display"/>
        </a:defRPr>
      </a:lvl3pPr>
      <a:lvl4pPr marL="1371600" algn="l" defTabSz="914400" rtl="0" eaLnBrk="1" latinLnBrk="0" hangingPunct="1">
        <a:defRPr sz="1800" kern="1200">
          <a:solidFill>
            <a:schemeClr val="tx1"/>
          </a:solidFill>
          <a:latin typeface="Amazon Ember Display"/>
        </a:defRPr>
      </a:lvl4pPr>
      <a:lvl5pPr marL="1828800" algn="l" defTabSz="914400" rtl="0" eaLnBrk="1" latinLnBrk="0" hangingPunct="1">
        <a:defRPr sz="1800" kern="1200">
          <a:solidFill>
            <a:schemeClr val="tx1"/>
          </a:solidFill>
          <a:latin typeface="Amazon Ember Display"/>
        </a:defRPr>
      </a:lvl5pPr>
      <a:lvl6pPr marL="2286000" algn="l" defTabSz="914400" rtl="0" eaLnBrk="1" latinLnBrk="0" hangingPunct="1">
        <a:defRPr sz="1800" kern="1200">
          <a:solidFill>
            <a:schemeClr val="tx1"/>
          </a:solidFill>
          <a:latin typeface="Amazon Ember Display"/>
        </a:defRPr>
      </a:lvl6pPr>
      <a:lvl7pPr marL="2743200" algn="l" defTabSz="914400" rtl="0" eaLnBrk="1" latinLnBrk="0" hangingPunct="1">
        <a:defRPr sz="1800" kern="1200">
          <a:solidFill>
            <a:schemeClr val="tx1"/>
          </a:solidFill>
          <a:latin typeface="Amazon Ember Display"/>
        </a:defRPr>
      </a:lvl7pPr>
      <a:lvl8pPr marL="3200400" algn="l" defTabSz="914400" rtl="0" eaLnBrk="1" latinLnBrk="0" hangingPunct="1">
        <a:defRPr sz="1800" kern="1200">
          <a:solidFill>
            <a:schemeClr val="tx1"/>
          </a:solidFill>
          <a:latin typeface="Amazon Ember Display"/>
        </a:defRPr>
      </a:lvl8pPr>
      <a:lvl9pPr marL="3657600" algn="l" defTabSz="914400" rtl="0" eaLnBrk="1" latinLnBrk="0" hangingPunct="1">
        <a:defRPr sz="1800" kern="1200">
          <a:solidFill>
            <a:schemeClr val="tx1"/>
          </a:solidFill>
          <a:latin typeface="Amazon Ember Display"/>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3.sv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6.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F1F73E-D2C7-4E1E-3A62-9E4B2709DE46}"/>
              </a:ext>
            </a:extLst>
          </p:cNvPr>
          <p:cNvSpPr>
            <a:spLocks noGrp="1"/>
          </p:cNvSpPr>
          <p:nvPr>
            <p:ph type="sldNum" idx="97"/>
          </p:nvPr>
        </p:nvSpPr>
        <p:spPr/>
        <p:txBody>
          <a:bodyPr/>
          <a:lstStyle/>
          <a:p>
            <a:fld id="{86A8BF56-6CB3-514C-9A64-F39D95C9E25B}" type="slidenum">
              <a:rPr lang="en-US" smtClean="0"/>
              <a:t>1</a:t>
            </a:fld>
            <a:endParaRPr lang="en-US"/>
          </a:p>
        </p:txBody>
      </p:sp>
      <p:sp>
        <p:nvSpPr>
          <p:cNvPr id="4" name="Title 3">
            <a:extLst>
              <a:ext uri="{FF2B5EF4-FFF2-40B4-BE49-F238E27FC236}">
                <a16:creationId xmlns:a16="http://schemas.microsoft.com/office/drawing/2014/main" id="{B8280F18-C51C-09D1-32D4-15F8BDE9C811}"/>
              </a:ext>
            </a:extLst>
          </p:cNvPr>
          <p:cNvSpPr>
            <a:spLocks noGrp="1"/>
          </p:cNvSpPr>
          <p:nvPr>
            <p:ph type="title" idx="1"/>
          </p:nvPr>
        </p:nvSpPr>
        <p:spPr>
          <a:xfrm>
            <a:off x="457200" y="1554163"/>
            <a:ext cx="8080131" cy="2195512"/>
          </a:xfrm>
        </p:spPr>
        <p:txBody>
          <a:bodyPr/>
          <a:lstStyle/>
          <a:p>
            <a:r>
              <a:rPr lang="en-US" dirty="0" err="1"/>
              <a:t>LangChain</a:t>
            </a:r>
            <a:r>
              <a:rPr lang="en-US" dirty="0"/>
              <a:t> Modules</a:t>
            </a:r>
          </a:p>
        </p:txBody>
      </p:sp>
      <p:sp>
        <p:nvSpPr>
          <p:cNvPr id="3" name="Text Placeholder 2">
            <a:extLst>
              <a:ext uri="{FF2B5EF4-FFF2-40B4-BE49-F238E27FC236}">
                <a16:creationId xmlns:a16="http://schemas.microsoft.com/office/drawing/2014/main" id="{F26F2F8D-DD81-7F1D-BB15-F73AC3486DCF}"/>
              </a:ext>
            </a:extLst>
          </p:cNvPr>
          <p:cNvSpPr>
            <a:spLocks noGrp="1"/>
          </p:cNvSpPr>
          <p:nvPr>
            <p:ph type="body" idx="2"/>
          </p:nvPr>
        </p:nvSpPr>
        <p:spPr/>
        <p:txBody>
          <a:bodyPr/>
          <a:lstStyle/>
          <a:p>
            <a:r>
              <a:rPr lang="en-US" dirty="0"/>
              <a:t>Generative AI</a:t>
            </a:r>
          </a:p>
        </p:txBody>
      </p:sp>
      <p:sp>
        <p:nvSpPr>
          <p:cNvPr id="6" name="Text Placeholder 5">
            <a:extLst>
              <a:ext uri="{FF2B5EF4-FFF2-40B4-BE49-F238E27FC236}">
                <a16:creationId xmlns:a16="http://schemas.microsoft.com/office/drawing/2014/main" id="{5E84E6F1-2BAF-2DDC-6136-75863B99AC93}"/>
              </a:ext>
            </a:extLst>
          </p:cNvPr>
          <p:cNvSpPr>
            <a:spLocks noGrp="1"/>
          </p:cNvSpPr>
          <p:nvPr>
            <p:ph type="body" idx="98"/>
          </p:nvPr>
        </p:nvSpPr>
        <p:spPr/>
        <p:txBody>
          <a:bodyPr/>
          <a:lstStyle/>
          <a:p>
            <a:r>
              <a:rPr lang="en-US" dirty="0"/>
              <a:t>Module 3 – Lesson 1</a:t>
            </a:r>
          </a:p>
          <a:p>
            <a:endParaRPr lang="en-US" dirty="0"/>
          </a:p>
        </p:txBody>
      </p:sp>
    </p:spTree>
    <p:extLst>
      <p:ext uri="{BB962C8B-B14F-4D97-AF65-F5344CB8AC3E}">
        <p14:creationId xmlns:p14="http://schemas.microsoft.com/office/powerpoint/2010/main" val="3507483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C7811CD-26D7-E907-3201-CD5EDB64B447}"/>
              </a:ext>
            </a:extLst>
          </p:cNvPr>
          <p:cNvSpPr>
            <a:spLocks noGrp="1"/>
          </p:cNvSpPr>
          <p:nvPr>
            <p:ph type="sldNum" idx="97"/>
          </p:nvPr>
        </p:nvSpPr>
        <p:spPr/>
        <p:txBody>
          <a:bodyPr/>
          <a:lstStyle/>
          <a:p>
            <a:fld id="{86A8BF56-6CB3-514C-9A64-F39D95C9E25B}" type="slidenum">
              <a:rPr lang="en-US" smtClean="0"/>
              <a:t>2</a:t>
            </a:fld>
            <a:endParaRPr lang="en-US"/>
          </a:p>
        </p:txBody>
      </p:sp>
      <p:sp>
        <p:nvSpPr>
          <p:cNvPr id="2" name="Title 1">
            <a:extLst>
              <a:ext uri="{FF2B5EF4-FFF2-40B4-BE49-F238E27FC236}">
                <a16:creationId xmlns:a16="http://schemas.microsoft.com/office/drawing/2014/main" id="{3C3EF600-126B-961F-2078-65133C5C20C8}"/>
              </a:ext>
            </a:extLst>
          </p:cNvPr>
          <p:cNvSpPr>
            <a:spLocks noGrp="1"/>
          </p:cNvSpPr>
          <p:nvPr>
            <p:ph type="title" idx="1"/>
          </p:nvPr>
        </p:nvSpPr>
        <p:spPr/>
        <p:txBody>
          <a:bodyPr/>
          <a:lstStyle/>
          <a:p>
            <a:r>
              <a:rPr lang="en-US" dirty="0"/>
              <a:t>Today’s activities</a:t>
            </a:r>
          </a:p>
        </p:txBody>
      </p:sp>
      <p:sp>
        <p:nvSpPr>
          <p:cNvPr id="4" name="Text Placeholder 3">
            <a:extLst>
              <a:ext uri="{FF2B5EF4-FFF2-40B4-BE49-F238E27FC236}">
                <a16:creationId xmlns:a16="http://schemas.microsoft.com/office/drawing/2014/main" id="{426F30B1-5C59-1BDF-5D0A-1A71D24ADC14}"/>
              </a:ext>
            </a:extLst>
          </p:cNvPr>
          <p:cNvSpPr>
            <a:spLocks noGrp="1"/>
          </p:cNvSpPr>
          <p:nvPr>
            <p:ph type="body" idx="3"/>
          </p:nvPr>
        </p:nvSpPr>
        <p:spPr>
          <a:xfrm>
            <a:off x="4607859" y="292100"/>
            <a:ext cx="7207623" cy="6142038"/>
          </a:xfrm>
        </p:spPr>
        <p:txBody>
          <a:bodyPr/>
          <a:lstStyle/>
          <a:p>
            <a:r>
              <a:rPr lang="en-US" dirty="0"/>
              <a:t>Review of module 2</a:t>
            </a:r>
          </a:p>
          <a:p>
            <a:r>
              <a:rPr lang="en-US" dirty="0"/>
              <a:t>Introduction to </a:t>
            </a:r>
            <a:r>
              <a:rPr lang="en-US" dirty="0" err="1"/>
              <a:t>LangChain</a:t>
            </a:r>
            <a:endParaRPr lang="en-US" dirty="0"/>
          </a:p>
          <a:p>
            <a:r>
              <a:rPr lang="en-US" dirty="0" err="1"/>
              <a:t>LangChain</a:t>
            </a:r>
            <a:r>
              <a:rPr lang="en-US" dirty="0"/>
              <a:t> modules</a:t>
            </a:r>
          </a:p>
          <a:p>
            <a:r>
              <a:rPr lang="en-US" dirty="0"/>
              <a:t>Memory</a:t>
            </a:r>
          </a:p>
        </p:txBody>
      </p:sp>
      <p:grpSp>
        <p:nvGrpSpPr>
          <p:cNvPr id="3" name="Graphic 250">
            <a:extLst>
              <a:ext uri="{FF2B5EF4-FFF2-40B4-BE49-F238E27FC236}">
                <a16:creationId xmlns:a16="http://schemas.microsoft.com/office/drawing/2014/main" id="{C1E3D88D-E910-0FEA-10DE-609FAEBBFB80}"/>
              </a:ext>
              <a:ext uri="{C183D7F6-B498-43B3-948B-1728B52AA6E4}">
                <adec:decorative xmlns:adec="http://schemas.microsoft.com/office/drawing/2017/decorative" val="1"/>
              </a:ext>
            </a:extLst>
          </p:cNvPr>
          <p:cNvGrpSpPr>
            <a:grpSpLocks noChangeAspect="1"/>
          </p:cNvGrpSpPr>
          <p:nvPr/>
        </p:nvGrpSpPr>
        <p:grpSpPr>
          <a:xfrm>
            <a:off x="794343" y="2732784"/>
            <a:ext cx="2959853" cy="2959853"/>
            <a:chOff x="9704553" y="322847"/>
            <a:chExt cx="643689" cy="643689"/>
          </a:xfrm>
          <a:effectLst>
            <a:outerShdw blurRad="50800" dist="38100" dir="2700000" algn="tl" rotWithShape="0">
              <a:prstClr val="black">
                <a:alpha val="40000"/>
              </a:prstClr>
            </a:outerShdw>
          </a:effectLst>
        </p:grpSpPr>
        <p:sp>
          <p:nvSpPr>
            <p:cNvPr id="5" name="Freeform: Shape 20">
              <a:extLst>
                <a:ext uri="{FF2B5EF4-FFF2-40B4-BE49-F238E27FC236}">
                  <a16:creationId xmlns:a16="http://schemas.microsoft.com/office/drawing/2014/main" id="{2373917E-4A6D-8227-D15D-D1E40A72AE62}"/>
                </a:ext>
              </a:extLst>
            </p:cNvPr>
            <p:cNvSpPr/>
            <p:nvPr/>
          </p:nvSpPr>
          <p:spPr>
            <a:xfrm>
              <a:off x="9831038" y="599633"/>
              <a:ext cx="9655" cy="93335"/>
            </a:xfrm>
            <a:custGeom>
              <a:avLst/>
              <a:gdLst>
                <a:gd name="connsiteX0" fmla="*/ 4828 w 9655"/>
                <a:gd name="connsiteY0" fmla="*/ 89473 h 93334"/>
                <a:gd name="connsiteX1" fmla="*/ 4828 w 9655"/>
                <a:gd name="connsiteY1" fmla="*/ 46989 h 93334"/>
                <a:gd name="connsiteX2" fmla="*/ 4828 w 9655"/>
                <a:gd name="connsiteY2" fmla="*/ 4828 h 93334"/>
              </a:gdLst>
              <a:ahLst/>
              <a:cxnLst>
                <a:cxn ang="0">
                  <a:pos x="connsiteX0" y="connsiteY0"/>
                </a:cxn>
                <a:cxn ang="0">
                  <a:pos x="connsiteX1" y="connsiteY1"/>
                </a:cxn>
                <a:cxn ang="0">
                  <a:pos x="connsiteX2" y="connsiteY2"/>
                </a:cxn>
              </a:cxnLst>
              <a:rect l="l" t="t" r="r" b="b"/>
              <a:pathLst>
                <a:path w="9655" h="93334">
                  <a:moveTo>
                    <a:pt x="4828" y="89473"/>
                  </a:moveTo>
                  <a:lnTo>
                    <a:pt x="4828" y="46989"/>
                  </a:lnTo>
                  <a:lnTo>
                    <a:pt x="4828" y="4828"/>
                  </a:lnTo>
                  <a:close/>
                </a:path>
              </a:pathLst>
            </a:custGeom>
            <a:noFill/>
            <a:ln w="53975" cap="flat">
              <a:solidFill>
                <a:schemeClr val="bg1"/>
              </a:solidFill>
              <a:prstDash val="solid"/>
              <a:round/>
            </a:ln>
          </p:spPr>
          <p:txBody>
            <a:bodyPr rtlCol="0" anchor="ctr"/>
            <a:lstStyle/>
            <a:p>
              <a:pPr algn="ctr"/>
              <a:endParaRPr lang="en-US" dirty="0"/>
            </a:p>
          </p:txBody>
        </p:sp>
        <p:sp>
          <p:nvSpPr>
            <p:cNvPr id="6" name="Freeform: Shape 21">
              <a:extLst>
                <a:ext uri="{FF2B5EF4-FFF2-40B4-BE49-F238E27FC236}">
                  <a16:creationId xmlns:a16="http://schemas.microsoft.com/office/drawing/2014/main" id="{BEA3466D-A8DE-C974-0119-677E55A7B847}"/>
                </a:ext>
              </a:extLst>
            </p:cNvPr>
            <p:cNvSpPr/>
            <p:nvPr/>
          </p:nvSpPr>
          <p:spPr>
            <a:xfrm>
              <a:off x="9926304" y="520781"/>
              <a:ext cx="54714" cy="128738"/>
            </a:xfrm>
            <a:custGeom>
              <a:avLst/>
              <a:gdLst>
                <a:gd name="connsiteX0" fmla="*/ 4828 w 54713"/>
                <a:gd name="connsiteY0" fmla="*/ 125841 h 128737"/>
                <a:gd name="connsiteX1" fmla="*/ 4828 w 54713"/>
                <a:gd name="connsiteY1" fmla="*/ 76277 h 128737"/>
                <a:gd name="connsiteX2" fmla="*/ 52461 w 54713"/>
                <a:gd name="connsiteY2" fmla="*/ 52461 h 128737"/>
                <a:gd name="connsiteX3" fmla="*/ 52461 w 54713"/>
                <a:gd name="connsiteY3" fmla="*/ 4828 h 128737"/>
              </a:gdLst>
              <a:ahLst/>
              <a:cxnLst>
                <a:cxn ang="0">
                  <a:pos x="connsiteX0" y="connsiteY0"/>
                </a:cxn>
                <a:cxn ang="0">
                  <a:pos x="connsiteX1" y="connsiteY1"/>
                </a:cxn>
                <a:cxn ang="0">
                  <a:pos x="connsiteX2" y="connsiteY2"/>
                </a:cxn>
                <a:cxn ang="0">
                  <a:pos x="connsiteX3" y="connsiteY3"/>
                </a:cxn>
              </a:cxnLst>
              <a:rect l="l" t="t" r="r" b="b"/>
              <a:pathLst>
                <a:path w="54713" h="128737">
                  <a:moveTo>
                    <a:pt x="4828" y="125841"/>
                  </a:moveTo>
                  <a:lnTo>
                    <a:pt x="4828" y="76277"/>
                  </a:lnTo>
                  <a:lnTo>
                    <a:pt x="52461" y="52461"/>
                  </a:lnTo>
                  <a:lnTo>
                    <a:pt x="52461" y="4828"/>
                  </a:lnTo>
                </a:path>
              </a:pathLst>
            </a:custGeom>
            <a:noFill/>
            <a:ln w="53975" cap="flat">
              <a:solidFill>
                <a:schemeClr val="bg1"/>
              </a:solidFill>
              <a:prstDash val="solid"/>
              <a:round/>
            </a:ln>
          </p:spPr>
          <p:txBody>
            <a:bodyPr rtlCol="0" anchor="ctr"/>
            <a:lstStyle/>
            <a:p>
              <a:pPr algn="ctr"/>
              <a:endParaRPr lang="en-US" dirty="0"/>
            </a:p>
          </p:txBody>
        </p:sp>
        <p:sp>
          <p:nvSpPr>
            <p:cNvPr id="8" name="Freeform: Shape 22">
              <a:extLst>
                <a:ext uri="{FF2B5EF4-FFF2-40B4-BE49-F238E27FC236}">
                  <a16:creationId xmlns:a16="http://schemas.microsoft.com/office/drawing/2014/main" id="{8684E791-CDDB-20B1-B39B-C735079EBB1D}"/>
                </a:ext>
              </a:extLst>
            </p:cNvPr>
            <p:cNvSpPr/>
            <p:nvPr/>
          </p:nvSpPr>
          <p:spPr>
            <a:xfrm>
              <a:off x="9878671" y="568414"/>
              <a:ext cx="54714" cy="32184"/>
            </a:xfrm>
            <a:custGeom>
              <a:avLst/>
              <a:gdLst>
                <a:gd name="connsiteX0" fmla="*/ 52461 w 54713"/>
                <a:gd name="connsiteY0" fmla="*/ 28644 h 32184"/>
                <a:gd name="connsiteX1" fmla="*/ 4828 w 54713"/>
                <a:gd name="connsiteY1" fmla="*/ 4828 h 32184"/>
              </a:gdLst>
              <a:ahLst/>
              <a:cxnLst>
                <a:cxn ang="0">
                  <a:pos x="connsiteX0" y="connsiteY0"/>
                </a:cxn>
                <a:cxn ang="0">
                  <a:pos x="connsiteX1" y="connsiteY1"/>
                </a:cxn>
              </a:cxnLst>
              <a:rect l="l" t="t" r="r" b="b"/>
              <a:pathLst>
                <a:path w="54713" h="32184">
                  <a:moveTo>
                    <a:pt x="52461" y="28644"/>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9" name="Freeform: Shape 23">
              <a:extLst>
                <a:ext uri="{FF2B5EF4-FFF2-40B4-BE49-F238E27FC236}">
                  <a16:creationId xmlns:a16="http://schemas.microsoft.com/office/drawing/2014/main" id="{EBDFCB67-8AD3-858E-2A25-EE349137D0CE}"/>
                </a:ext>
              </a:extLst>
            </p:cNvPr>
            <p:cNvSpPr/>
            <p:nvPr/>
          </p:nvSpPr>
          <p:spPr>
            <a:xfrm>
              <a:off x="9926304" y="477976"/>
              <a:ext cx="9655" cy="67587"/>
            </a:xfrm>
            <a:custGeom>
              <a:avLst/>
              <a:gdLst>
                <a:gd name="connsiteX0" fmla="*/ 4828 w 9655"/>
                <a:gd name="connsiteY0" fmla="*/ 63403 h 67587"/>
                <a:gd name="connsiteX1" fmla="*/ 4828 w 9655"/>
                <a:gd name="connsiteY1" fmla="*/ 4828 h 67587"/>
              </a:gdLst>
              <a:ahLst/>
              <a:cxnLst>
                <a:cxn ang="0">
                  <a:pos x="connsiteX0" y="connsiteY0"/>
                </a:cxn>
                <a:cxn ang="0">
                  <a:pos x="connsiteX1" y="connsiteY1"/>
                </a:cxn>
              </a:cxnLst>
              <a:rect l="l" t="t" r="r" b="b"/>
              <a:pathLst>
                <a:path w="9655" h="67587">
                  <a:moveTo>
                    <a:pt x="4828" y="63403"/>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10" name="Freeform: Shape 24">
              <a:extLst>
                <a:ext uri="{FF2B5EF4-FFF2-40B4-BE49-F238E27FC236}">
                  <a16:creationId xmlns:a16="http://schemas.microsoft.com/office/drawing/2014/main" id="{D6E3A5D0-36C2-7B7F-8E3B-C5720986B951}"/>
                </a:ext>
              </a:extLst>
            </p:cNvPr>
            <p:cNvSpPr/>
            <p:nvPr/>
          </p:nvSpPr>
          <p:spPr>
            <a:xfrm>
              <a:off x="9831038" y="615404"/>
              <a:ext cx="54714" cy="35403"/>
            </a:xfrm>
            <a:custGeom>
              <a:avLst/>
              <a:gdLst>
                <a:gd name="connsiteX0" fmla="*/ 4828 w 54713"/>
                <a:gd name="connsiteY0" fmla="*/ 31863 h 35402"/>
                <a:gd name="connsiteX1" fmla="*/ 50530 w 54713"/>
                <a:gd name="connsiteY1" fmla="*/ 4828 h 35402"/>
              </a:gdLst>
              <a:ahLst/>
              <a:cxnLst>
                <a:cxn ang="0">
                  <a:pos x="connsiteX0" y="connsiteY0"/>
                </a:cxn>
                <a:cxn ang="0">
                  <a:pos x="connsiteX1" y="connsiteY1"/>
                </a:cxn>
              </a:cxnLst>
              <a:rect l="l" t="t" r="r" b="b"/>
              <a:pathLst>
                <a:path w="54713" h="35402">
                  <a:moveTo>
                    <a:pt x="4828" y="31863"/>
                  </a:moveTo>
                  <a:lnTo>
                    <a:pt x="50530" y="4828"/>
                  </a:lnTo>
                </a:path>
              </a:pathLst>
            </a:custGeom>
            <a:ln w="53975" cap="flat">
              <a:solidFill>
                <a:schemeClr val="bg1"/>
              </a:solidFill>
              <a:prstDash val="solid"/>
              <a:round/>
            </a:ln>
          </p:spPr>
          <p:txBody>
            <a:bodyPr rtlCol="0" anchor="ctr"/>
            <a:lstStyle/>
            <a:p>
              <a:pPr algn="ctr"/>
              <a:endParaRPr lang="en-US" dirty="0"/>
            </a:p>
          </p:txBody>
        </p:sp>
        <p:sp>
          <p:nvSpPr>
            <p:cNvPr id="11" name="Freeform: Shape 25">
              <a:extLst>
                <a:ext uri="{FF2B5EF4-FFF2-40B4-BE49-F238E27FC236}">
                  <a16:creationId xmlns:a16="http://schemas.microsoft.com/office/drawing/2014/main" id="{E265FFC2-8801-4BB4-D9FC-A421AB315A68}"/>
                </a:ext>
              </a:extLst>
            </p:cNvPr>
            <p:cNvSpPr/>
            <p:nvPr/>
          </p:nvSpPr>
          <p:spPr>
            <a:xfrm>
              <a:off x="9878671" y="687497"/>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12" name="Freeform: Shape 26">
              <a:extLst>
                <a:ext uri="{FF2B5EF4-FFF2-40B4-BE49-F238E27FC236}">
                  <a16:creationId xmlns:a16="http://schemas.microsoft.com/office/drawing/2014/main" id="{C67ADB15-9176-C4EE-43D8-2EE3DDC3F1A3}"/>
                </a:ext>
              </a:extLst>
            </p:cNvPr>
            <p:cNvSpPr/>
            <p:nvPr/>
          </p:nvSpPr>
          <p:spPr>
            <a:xfrm>
              <a:off x="9922120" y="777613"/>
              <a:ext cx="54714" cy="35403"/>
            </a:xfrm>
            <a:custGeom>
              <a:avLst/>
              <a:gdLst>
                <a:gd name="connsiteX0" fmla="*/ 4828 w 54713"/>
                <a:gd name="connsiteY0" fmla="*/ 31863 h 35402"/>
                <a:gd name="connsiteX1" fmla="*/ 50851 w 54713"/>
                <a:gd name="connsiteY1" fmla="*/ 4828 h 35402"/>
              </a:gdLst>
              <a:ahLst/>
              <a:cxnLst>
                <a:cxn ang="0">
                  <a:pos x="connsiteX0" y="connsiteY0"/>
                </a:cxn>
                <a:cxn ang="0">
                  <a:pos x="connsiteX1" y="connsiteY1"/>
                </a:cxn>
              </a:cxnLst>
              <a:rect l="l" t="t" r="r" b="b"/>
              <a:pathLst>
                <a:path w="54713" h="35402">
                  <a:moveTo>
                    <a:pt x="4828" y="31863"/>
                  </a:moveTo>
                  <a:lnTo>
                    <a:pt x="50851" y="4828"/>
                  </a:lnTo>
                </a:path>
              </a:pathLst>
            </a:custGeom>
            <a:ln w="53975" cap="flat">
              <a:solidFill>
                <a:schemeClr val="bg1"/>
              </a:solidFill>
              <a:prstDash val="solid"/>
              <a:round/>
            </a:ln>
          </p:spPr>
          <p:txBody>
            <a:bodyPr rtlCol="0" anchor="ctr"/>
            <a:lstStyle/>
            <a:p>
              <a:pPr algn="ctr"/>
              <a:endParaRPr lang="en-US" dirty="0"/>
            </a:p>
          </p:txBody>
        </p:sp>
        <p:sp>
          <p:nvSpPr>
            <p:cNvPr id="13" name="Freeform: Shape 34">
              <a:extLst>
                <a:ext uri="{FF2B5EF4-FFF2-40B4-BE49-F238E27FC236}">
                  <a16:creationId xmlns:a16="http://schemas.microsoft.com/office/drawing/2014/main" id="{F3777154-9E6D-B317-0FD7-69BC075A72E9}"/>
                </a:ext>
              </a:extLst>
            </p:cNvPr>
            <p:cNvSpPr/>
            <p:nvPr/>
          </p:nvSpPr>
          <p:spPr>
            <a:xfrm>
              <a:off x="9918258" y="687497"/>
              <a:ext cx="112646" cy="64369"/>
            </a:xfrm>
            <a:custGeom>
              <a:avLst/>
              <a:gdLst>
                <a:gd name="connsiteX0" fmla="*/ 4828 w 112645"/>
                <a:gd name="connsiteY0" fmla="*/ 60507 h 64368"/>
                <a:gd name="connsiteX1" fmla="*/ 108140 w 112645"/>
                <a:gd name="connsiteY1" fmla="*/ 4828 h 64368"/>
              </a:gdLst>
              <a:ahLst/>
              <a:cxnLst>
                <a:cxn ang="0">
                  <a:pos x="connsiteX0" y="connsiteY0"/>
                </a:cxn>
                <a:cxn ang="0">
                  <a:pos x="connsiteX1" y="connsiteY1"/>
                </a:cxn>
              </a:cxnLst>
              <a:rect l="l" t="t" r="r" b="b"/>
              <a:pathLst>
                <a:path w="112645" h="64368">
                  <a:moveTo>
                    <a:pt x="4828" y="60507"/>
                  </a:moveTo>
                  <a:lnTo>
                    <a:pt x="108140" y="4828"/>
                  </a:lnTo>
                </a:path>
              </a:pathLst>
            </a:custGeom>
            <a:ln w="53975" cap="flat">
              <a:solidFill>
                <a:schemeClr val="bg1"/>
              </a:solidFill>
              <a:prstDash val="solid"/>
              <a:round/>
            </a:ln>
          </p:spPr>
          <p:txBody>
            <a:bodyPr rtlCol="0" anchor="ctr"/>
            <a:lstStyle/>
            <a:p>
              <a:pPr algn="ctr"/>
              <a:endParaRPr lang="en-US" dirty="0"/>
            </a:p>
          </p:txBody>
        </p:sp>
        <p:sp>
          <p:nvSpPr>
            <p:cNvPr id="14" name="Freeform: Shape 28">
              <a:extLst>
                <a:ext uri="{FF2B5EF4-FFF2-40B4-BE49-F238E27FC236}">
                  <a16:creationId xmlns:a16="http://schemas.microsoft.com/office/drawing/2014/main" id="{8BD8B8E5-9515-86BE-D4C5-D47A838C745D}"/>
                </a:ext>
              </a:extLst>
            </p:cNvPr>
            <p:cNvSpPr/>
            <p:nvPr/>
          </p:nvSpPr>
          <p:spPr>
            <a:xfrm>
              <a:off x="9878671" y="639864"/>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15" name="Freeform: Shape 29">
              <a:extLst>
                <a:ext uri="{FF2B5EF4-FFF2-40B4-BE49-F238E27FC236}">
                  <a16:creationId xmlns:a16="http://schemas.microsoft.com/office/drawing/2014/main" id="{1DE11587-8E91-ABC8-43C6-4E6EDBEB294B}"/>
                </a:ext>
              </a:extLst>
            </p:cNvPr>
            <p:cNvSpPr/>
            <p:nvPr/>
          </p:nvSpPr>
          <p:spPr>
            <a:xfrm>
              <a:off x="9831038" y="449332"/>
              <a:ext cx="199544" cy="389432"/>
            </a:xfrm>
            <a:custGeom>
              <a:avLst/>
              <a:gdLst>
                <a:gd name="connsiteX0" fmla="*/ 195360 w 199543"/>
                <a:gd name="connsiteY0" fmla="*/ 36368 h 389431"/>
                <a:gd name="connsiteX1" fmla="*/ 147727 w 199543"/>
                <a:gd name="connsiteY1" fmla="*/ 4828 h 389431"/>
                <a:gd name="connsiteX2" fmla="*/ 52461 w 199543"/>
                <a:gd name="connsiteY2" fmla="*/ 60185 h 389431"/>
                <a:gd name="connsiteX3" fmla="*/ 52461 w 199543"/>
                <a:gd name="connsiteY3" fmla="*/ 123588 h 389431"/>
                <a:gd name="connsiteX4" fmla="*/ 4828 w 199543"/>
                <a:gd name="connsiteY4" fmla="*/ 147727 h 389431"/>
                <a:gd name="connsiteX5" fmla="*/ 4828 w 199543"/>
                <a:gd name="connsiteY5" fmla="*/ 197291 h 389431"/>
                <a:gd name="connsiteX6" fmla="*/ 4828 w 199543"/>
                <a:gd name="connsiteY6" fmla="*/ 242993 h 389431"/>
                <a:gd name="connsiteX7" fmla="*/ 52461 w 199543"/>
                <a:gd name="connsiteY7" fmla="*/ 274855 h 389431"/>
                <a:gd name="connsiteX8" fmla="*/ 52461 w 199543"/>
                <a:gd name="connsiteY8" fmla="*/ 330534 h 389431"/>
                <a:gd name="connsiteX9" fmla="*/ 147727 w 199543"/>
                <a:gd name="connsiteY9" fmla="*/ 385892 h 389431"/>
                <a:gd name="connsiteX10" fmla="*/ 195360 w 199543"/>
                <a:gd name="connsiteY10" fmla="*/ 360466 h 389431"/>
                <a:gd name="connsiteX11" fmla="*/ 195360 w 199543"/>
                <a:gd name="connsiteY11" fmla="*/ 195360 h 389431"/>
                <a:gd name="connsiteX12" fmla="*/ 147727 w 199543"/>
                <a:gd name="connsiteY12" fmla="*/ 171543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543" h="389431">
                  <a:moveTo>
                    <a:pt x="195360" y="36368"/>
                  </a:moveTo>
                  <a:lnTo>
                    <a:pt x="147727" y="4828"/>
                  </a:lnTo>
                  <a:lnTo>
                    <a:pt x="52461" y="60185"/>
                  </a:lnTo>
                  <a:lnTo>
                    <a:pt x="52461" y="123588"/>
                  </a:lnTo>
                  <a:lnTo>
                    <a:pt x="4828" y="147727"/>
                  </a:lnTo>
                  <a:lnTo>
                    <a:pt x="4828" y="197291"/>
                  </a:lnTo>
                  <a:lnTo>
                    <a:pt x="4828" y="242993"/>
                  </a:lnTo>
                  <a:lnTo>
                    <a:pt x="52461" y="274855"/>
                  </a:lnTo>
                  <a:lnTo>
                    <a:pt x="52461" y="330534"/>
                  </a:lnTo>
                  <a:lnTo>
                    <a:pt x="147727" y="385892"/>
                  </a:lnTo>
                  <a:lnTo>
                    <a:pt x="195360" y="360466"/>
                  </a:lnTo>
                  <a:lnTo>
                    <a:pt x="195360" y="195360"/>
                  </a:lnTo>
                  <a:lnTo>
                    <a:pt x="147727" y="171543"/>
                  </a:lnTo>
                </a:path>
              </a:pathLst>
            </a:custGeom>
            <a:noFill/>
            <a:ln w="53975" cap="flat">
              <a:solidFill>
                <a:schemeClr val="bg1"/>
              </a:solidFill>
              <a:prstDash val="solid"/>
              <a:round/>
            </a:ln>
          </p:spPr>
          <p:txBody>
            <a:bodyPr rtlCol="0" anchor="ctr"/>
            <a:lstStyle/>
            <a:p>
              <a:pPr algn="ctr"/>
              <a:endParaRPr lang="en-US" dirty="0"/>
            </a:p>
          </p:txBody>
        </p:sp>
        <p:sp>
          <p:nvSpPr>
            <p:cNvPr id="16" name="Freeform: Shape 30">
              <a:extLst>
                <a:ext uri="{FF2B5EF4-FFF2-40B4-BE49-F238E27FC236}">
                  <a16:creationId xmlns:a16="http://schemas.microsoft.com/office/drawing/2014/main" id="{BADB42FE-1774-3256-F839-CFF881D2AED6}"/>
                </a:ext>
              </a:extLst>
            </p:cNvPr>
            <p:cNvSpPr/>
            <p:nvPr/>
          </p:nvSpPr>
          <p:spPr>
            <a:xfrm>
              <a:off x="9926304" y="639864"/>
              <a:ext cx="54714" cy="80461"/>
            </a:xfrm>
            <a:custGeom>
              <a:avLst/>
              <a:gdLst>
                <a:gd name="connsiteX0" fmla="*/ 52461 w 54713"/>
                <a:gd name="connsiteY0" fmla="*/ 76277 h 80461"/>
                <a:gd name="connsiteX1" fmla="*/ 52461 w 54713"/>
                <a:gd name="connsiteY1" fmla="*/ 36690 h 80461"/>
                <a:gd name="connsiteX2" fmla="*/ 4828 w 54713"/>
                <a:gd name="connsiteY2" fmla="*/ 4828 h 80461"/>
              </a:gdLst>
              <a:ahLst/>
              <a:cxnLst>
                <a:cxn ang="0">
                  <a:pos x="connsiteX0" y="connsiteY0"/>
                </a:cxn>
                <a:cxn ang="0">
                  <a:pos x="connsiteX1" y="connsiteY1"/>
                </a:cxn>
                <a:cxn ang="0">
                  <a:pos x="connsiteX2" y="connsiteY2"/>
                </a:cxn>
              </a:cxnLst>
              <a:rect l="l" t="t" r="r" b="b"/>
              <a:pathLst>
                <a:path w="54713" h="80461">
                  <a:moveTo>
                    <a:pt x="52461" y="76277"/>
                  </a:moveTo>
                  <a:lnTo>
                    <a:pt x="52461" y="36690"/>
                  </a:lnTo>
                  <a:lnTo>
                    <a:pt x="4828" y="4828"/>
                  </a:lnTo>
                </a:path>
              </a:pathLst>
            </a:custGeom>
            <a:noFill/>
            <a:ln w="53975" cap="flat">
              <a:solidFill>
                <a:schemeClr val="bg1"/>
              </a:solidFill>
              <a:prstDash val="solid"/>
              <a:round/>
            </a:ln>
          </p:spPr>
          <p:txBody>
            <a:bodyPr rtlCol="0" anchor="ctr"/>
            <a:lstStyle/>
            <a:p>
              <a:pPr algn="ctr"/>
              <a:endParaRPr lang="en-US" dirty="0"/>
            </a:p>
          </p:txBody>
        </p:sp>
        <p:sp>
          <p:nvSpPr>
            <p:cNvPr id="17" name="Freeform: Shape 31">
              <a:extLst>
                <a:ext uri="{FF2B5EF4-FFF2-40B4-BE49-F238E27FC236}">
                  <a16:creationId xmlns:a16="http://schemas.microsoft.com/office/drawing/2014/main" id="{0E08636D-2D75-3627-315B-68C62A67E6F6}"/>
                </a:ext>
              </a:extLst>
            </p:cNvPr>
            <p:cNvSpPr/>
            <p:nvPr/>
          </p:nvSpPr>
          <p:spPr>
            <a:xfrm>
              <a:off x="10212102" y="599633"/>
              <a:ext cx="9655" cy="93335"/>
            </a:xfrm>
            <a:custGeom>
              <a:avLst/>
              <a:gdLst>
                <a:gd name="connsiteX0" fmla="*/ 4828 w 9655"/>
                <a:gd name="connsiteY0" fmla="*/ 4828 h 93334"/>
                <a:gd name="connsiteX1" fmla="*/ 4828 w 9655"/>
                <a:gd name="connsiteY1" fmla="*/ 46989 h 93334"/>
                <a:gd name="connsiteX2" fmla="*/ 4828 w 9655"/>
                <a:gd name="connsiteY2" fmla="*/ 89473 h 93334"/>
              </a:gdLst>
              <a:ahLst/>
              <a:cxnLst>
                <a:cxn ang="0">
                  <a:pos x="connsiteX0" y="connsiteY0"/>
                </a:cxn>
                <a:cxn ang="0">
                  <a:pos x="connsiteX1" y="connsiteY1"/>
                </a:cxn>
                <a:cxn ang="0">
                  <a:pos x="connsiteX2" y="connsiteY2"/>
                </a:cxn>
              </a:cxnLst>
              <a:rect l="l" t="t" r="r" b="b"/>
              <a:pathLst>
                <a:path w="9655" h="93334">
                  <a:moveTo>
                    <a:pt x="4828" y="4828"/>
                  </a:moveTo>
                  <a:lnTo>
                    <a:pt x="4828" y="46989"/>
                  </a:lnTo>
                  <a:lnTo>
                    <a:pt x="4828" y="89473"/>
                  </a:lnTo>
                  <a:close/>
                </a:path>
              </a:pathLst>
            </a:custGeom>
            <a:noFill/>
            <a:ln w="53975" cap="flat">
              <a:solidFill>
                <a:schemeClr val="bg1"/>
              </a:solidFill>
              <a:prstDash val="solid"/>
              <a:round/>
            </a:ln>
          </p:spPr>
          <p:txBody>
            <a:bodyPr rtlCol="0" anchor="ctr"/>
            <a:lstStyle/>
            <a:p>
              <a:pPr algn="ctr"/>
              <a:endParaRPr lang="en-US" dirty="0"/>
            </a:p>
          </p:txBody>
        </p:sp>
        <p:sp>
          <p:nvSpPr>
            <p:cNvPr id="18" name="Freeform: Shape 32">
              <a:extLst>
                <a:ext uri="{FF2B5EF4-FFF2-40B4-BE49-F238E27FC236}">
                  <a16:creationId xmlns:a16="http://schemas.microsoft.com/office/drawing/2014/main" id="{81FB9901-A4D2-E077-F06A-CC42DFF79E4C}"/>
                </a:ext>
              </a:extLst>
            </p:cNvPr>
            <p:cNvSpPr/>
            <p:nvPr/>
          </p:nvSpPr>
          <p:spPr>
            <a:xfrm>
              <a:off x="10164469" y="663680"/>
              <a:ext cx="54714" cy="32184"/>
            </a:xfrm>
            <a:custGeom>
              <a:avLst/>
              <a:gdLst>
                <a:gd name="connsiteX0" fmla="*/ 4828 w 54713"/>
                <a:gd name="connsiteY0" fmla="*/ 4828 h 32184"/>
                <a:gd name="connsiteX1" fmla="*/ 52461 w 54713"/>
                <a:gd name="connsiteY1" fmla="*/ 28644 h 32184"/>
              </a:gdLst>
              <a:ahLst/>
              <a:cxnLst>
                <a:cxn ang="0">
                  <a:pos x="connsiteX0" y="connsiteY0"/>
                </a:cxn>
                <a:cxn ang="0">
                  <a:pos x="connsiteX1" y="connsiteY1"/>
                </a:cxn>
              </a:cxnLst>
              <a:rect l="l" t="t" r="r" b="b"/>
              <a:pathLst>
                <a:path w="54713" h="32184">
                  <a:moveTo>
                    <a:pt x="4828" y="4828"/>
                  </a:moveTo>
                  <a:lnTo>
                    <a:pt x="52461" y="28644"/>
                  </a:lnTo>
                </a:path>
              </a:pathLst>
            </a:custGeom>
            <a:ln w="53975" cap="flat">
              <a:solidFill>
                <a:schemeClr val="bg1"/>
              </a:solidFill>
              <a:prstDash val="solid"/>
              <a:round/>
            </a:ln>
          </p:spPr>
          <p:txBody>
            <a:bodyPr rtlCol="0" anchor="ctr"/>
            <a:lstStyle/>
            <a:p>
              <a:pPr algn="ctr"/>
              <a:endParaRPr lang="en-US" dirty="0"/>
            </a:p>
          </p:txBody>
        </p:sp>
        <p:sp>
          <p:nvSpPr>
            <p:cNvPr id="19" name="Freeform: Shape 33">
              <a:extLst>
                <a:ext uri="{FF2B5EF4-FFF2-40B4-BE49-F238E27FC236}">
                  <a16:creationId xmlns:a16="http://schemas.microsoft.com/office/drawing/2014/main" id="{772656DD-8F5B-971E-92B1-F281D3B718E1}"/>
                </a:ext>
              </a:extLst>
            </p:cNvPr>
            <p:cNvSpPr/>
            <p:nvPr/>
          </p:nvSpPr>
          <p:spPr>
            <a:xfrm>
              <a:off x="10132928" y="536552"/>
              <a:ext cx="38621" cy="9655"/>
            </a:xfrm>
            <a:custGeom>
              <a:avLst/>
              <a:gdLst>
                <a:gd name="connsiteX0" fmla="*/ 36368 w 38621"/>
                <a:gd name="connsiteY0" fmla="*/ 4828 h 9655"/>
                <a:gd name="connsiteX1" fmla="*/ 4828 w 38621"/>
                <a:gd name="connsiteY1" fmla="*/ 4828 h 9655"/>
              </a:gdLst>
              <a:ahLst/>
              <a:cxnLst>
                <a:cxn ang="0">
                  <a:pos x="connsiteX0" y="connsiteY0"/>
                </a:cxn>
                <a:cxn ang="0">
                  <a:pos x="connsiteX1" y="connsiteY1"/>
                </a:cxn>
              </a:cxnLst>
              <a:rect l="l" t="t" r="r" b="b"/>
              <a:pathLst>
                <a:path w="38621" h="9655">
                  <a:moveTo>
                    <a:pt x="36368" y="4828"/>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20" name="Freeform: Shape 34">
              <a:extLst>
                <a:ext uri="{FF2B5EF4-FFF2-40B4-BE49-F238E27FC236}">
                  <a16:creationId xmlns:a16="http://schemas.microsoft.com/office/drawing/2014/main" id="{678B85A6-843B-B6B0-ACBF-5CCA3D2F7D3A}"/>
                </a:ext>
              </a:extLst>
            </p:cNvPr>
            <p:cNvSpPr/>
            <p:nvPr/>
          </p:nvSpPr>
          <p:spPr>
            <a:xfrm>
              <a:off x="10021570" y="751222"/>
              <a:ext cx="54714" cy="9655"/>
            </a:xfrm>
            <a:custGeom>
              <a:avLst/>
              <a:gdLst>
                <a:gd name="connsiteX0" fmla="*/ 4828 w 54713"/>
                <a:gd name="connsiteY0" fmla="*/ 4828 h 9655"/>
                <a:gd name="connsiteX1" fmla="*/ 52461 w 54713"/>
                <a:gd name="connsiteY1" fmla="*/ 4828 h 9655"/>
              </a:gdLst>
              <a:ahLst/>
              <a:cxnLst>
                <a:cxn ang="0">
                  <a:pos x="connsiteX0" y="connsiteY0"/>
                </a:cxn>
                <a:cxn ang="0">
                  <a:pos x="connsiteX1" y="connsiteY1"/>
                </a:cxn>
              </a:cxnLst>
              <a:rect l="l" t="t" r="r" b="b"/>
              <a:pathLst>
                <a:path w="54713" h="9655">
                  <a:moveTo>
                    <a:pt x="4828" y="4828"/>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21" name="Freeform: Shape 35">
              <a:extLst>
                <a:ext uri="{FF2B5EF4-FFF2-40B4-BE49-F238E27FC236}">
                  <a16:creationId xmlns:a16="http://schemas.microsoft.com/office/drawing/2014/main" id="{36A65E3B-1EF8-9C38-9056-CB6FF60A363E}"/>
                </a:ext>
              </a:extLst>
            </p:cNvPr>
            <p:cNvSpPr/>
            <p:nvPr/>
          </p:nvSpPr>
          <p:spPr>
            <a:xfrm>
              <a:off x="10101065" y="520781"/>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2" name="Freeform: Shape 36">
              <a:extLst>
                <a:ext uri="{FF2B5EF4-FFF2-40B4-BE49-F238E27FC236}">
                  <a16:creationId xmlns:a16="http://schemas.microsoft.com/office/drawing/2014/main" id="{6BCDD264-30B3-71DC-E482-5566B5A6839E}"/>
                </a:ext>
              </a:extLst>
            </p:cNvPr>
            <p:cNvSpPr/>
            <p:nvPr/>
          </p:nvSpPr>
          <p:spPr>
            <a:xfrm>
              <a:off x="10132928" y="639864"/>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3" name="Freeform: Shape 37">
              <a:extLst>
                <a:ext uri="{FF2B5EF4-FFF2-40B4-BE49-F238E27FC236}">
                  <a16:creationId xmlns:a16="http://schemas.microsoft.com/office/drawing/2014/main" id="{AFFB09EA-AABF-863A-529C-571D10D1FA3C}"/>
                </a:ext>
              </a:extLst>
            </p:cNvPr>
            <p:cNvSpPr/>
            <p:nvPr/>
          </p:nvSpPr>
          <p:spPr>
            <a:xfrm>
              <a:off x="10069203" y="600277"/>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4" name="Freeform: Shape 38">
              <a:extLst>
                <a:ext uri="{FF2B5EF4-FFF2-40B4-BE49-F238E27FC236}">
                  <a16:creationId xmlns:a16="http://schemas.microsoft.com/office/drawing/2014/main" id="{DEC23D03-819A-F36E-C5DF-E87198BEC109}"/>
                </a:ext>
              </a:extLst>
            </p:cNvPr>
            <p:cNvSpPr/>
            <p:nvPr/>
          </p:nvSpPr>
          <p:spPr>
            <a:xfrm>
              <a:off x="10069203" y="735452"/>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5" name="Freeform: Shape 39">
              <a:extLst>
                <a:ext uri="{FF2B5EF4-FFF2-40B4-BE49-F238E27FC236}">
                  <a16:creationId xmlns:a16="http://schemas.microsoft.com/office/drawing/2014/main" id="{517EC036-A0DC-C7B7-8A04-3868B2A32B4D}"/>
                </a:ext>
              </a:extLst>
            </p:cNvPr>
            <p:cNvSpPr/>
            <p:nvPr/>
          </p:nvSpPr>
          <p:spPr>
            <a:xfrm>
              <a:off x="10021570" y="449332"/>
              <a:ext cx="199544" cy="389432"/>
            </a:xfrm>
            <a:custGeom>
              <a:avLst/>
              <a:gdLst>
                <a:gd name="connsiteX0" fmla="*/ 52461 w 199543"/>
                <a:gd name="connsiteY0" fmla="*/ 163497 h 389431"/>
                <a:gd name="connsiteX1" fmla="*/ 4828 w 199543"/>
                <a:gd name="connsiteY1" fmla="*/ 131956 h 389431"/>
                <a:gd name="connsiteX2" fmla="*/ 4828 w 199543"/>
                <a:gd name="connsiteY2" fmla="*/ 36368 h 389431"/>
                <a:gd name="connsiteX3" fmla="*/ 52461 w 199543"/>
                <a:gd name="connsiteY3" fmla="*/ 4828 h 389431"/>
                <a:gd name="connsiteX4" fmla="*/ 147727 w 199543"/>
                <a:gd name="connsiteY4" fmla="*/ 61794 h 389431"/>
                <a:gd name="connsiteX5" fmla="*/ 147727 w 199543"/>
                <a:gd name="connsiteY5" fmla="*/ 123588 h 389431"/>
                <a:gd name="connsiteX6" fmla="*/ 195360 w 199543"/>
                <a:gd name="connsiteY6" fmla="*/ 150623 h 389431"/>
                <a:gd name="connsiteX7" fmla="*/ 195360 w 199543"/>
                <a:gd name="connsiteY7" fmla="*/ 197291 h 389431"/>
                <a:gd name="connsiteX8" fmla="*/ 195360 w 199543"/>
                <a:gd name="connsiteY8" fmla="*/ 242993 h 389431"/>
                <a:gd name="connsiteX9" fmla="*/ 147727 w 199543"/>
                <a:gd name="connsiteY9" fmla="*/ 274855 h 389431"/>
                <a:gd name="connsiteX10" fmla="*/ 147727 w 199543"/>
                <a:gd name="connsiteY10" fmla="*/ 330534 h 389431"/>
                <a:gd name="connsiteX11" fmla="*/ 52461 w 199543"/>
                <a:gd name="connsiteY11" fmla="*/ 385892 h 389431"/>
                <a:gd name="connsiteX12" fmla="*/ 4828 w 199543"/>
                <a:gd name="connsiteY12" fmla="*/ 362075 h 389431"/>
                <a:gd name="connsiteX13" fmla="*/ 4828 w 199543"/>
                <a:gd name="connsiteY13" fmla="*/ 197934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543" h="389431">
                  <a:moveTo>
                    <a:pt x="52461" y="163497"/>
                  </a:moveTo>
                  <a:lnTo>
                    <a:pt x="4828" y="131956"/>
                  </a:lnTo>
                  <a:lnTo>
                    <a:pt x="4828" y="36368"/>
                  </a:lnTo>
                  <a:lnTo>
                    <a:pt x="52461" y="4828"/>
                  </a:lnTo>
                  <a:lnTo>
                    <a:pt x="147727" y="61794"/>
                  </a:lnTo>
                  <a:lnTo>
                    <a:pt x="147727" y="123588"/>
                  </a:lnTo>
                  <a:lnTo>
                    <a:pt x="195360" y="150623"/>
                  </a:lnTo>
                  <a:lnTo>
                    <a:pt x="195360" y="197291"/>
                  </a:lnTo>
                  <a:lnTo>
                    <a:pt x="195360" y="242993"/>
                  </a:lnTo>
                  <a:lnTo>
                    <a:pt x="147727" y="274855"/>
                  </a:lnTo>
                  <a:lnTo>
                    <a:pt x="147727" y="330534"/>
                  </a:lnTo>
                  <a:lnTo>
                    <a:pt x="52461" y="385892"/>
                  </a:lnTo>
                  <a:lnTo>
                    <a:pt x="4828" y="362075"/>
                  </a:lnTo>
                  <a:lnTo>
                    <a:pt x="4828" y="197934"/>
                  </a:lnTo>
                </a:path>
              </a:pathLst>
            </a:custGeom>
            <a:noFill/>
            <a:ln w="53975" cap="flat">
              <a:solidFill>
                <a:schemeClr val="bg1"/>
              </a:solidFill>
              <a:prstDash val="solid"/>
              <a:round/>
            </a:ln>
          </p:spPr>
          <p:txBody>
            <a:bodyPr rtlCol="0" anchor="ctr"/>
            <a:lstStyle/>
            <a:p>
              <a:pPr algn="ctr"/>
              <a:endParaRPr lang="en-US" dirty="0"/>
            </a:p>
          </p:txBody>
        </p:sp>
      </p:grpSp>
    </p:spTree>
    <p:extLst>
      <p:ext uri="{BB962C8B-B14F-4D97-AF65-F5344CB8AC3E}">
        <p14:creationId xmlns:p14="http://schemas.microsoft.com/office/powerpoint/2010/main" val="4213367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298E5D-DB53-CB3D-C595-33A96958AF7D}"/>
              </a:ext>
            </a:extLst>
          </p:cNvPr>
          <p:cNvSpPr>
            <a:spLocks noGrp="1"/>
          </p:cNvSpPr>
          <p:nvPr>
            <p:ph type="sldNum" idx="97"/>
          </p:nvPr>
        </p:nvSpPr>
        <p:spPr/>
        <p:txBody>
          <a:bodyPr/>
          <a:lstStyle/>
          <a:p>
            <a:fld id="{86A8BF56-6CB3-514C-9A64-F39D95C9E25B}" type="slidenum">
              <a:rPr lang="en-US" smtClean="0"/>
              <a:t>3</a:t>
            </a:fld>
            <a:endParaRPr lang="en-US"/>
          </a:p>
        </p:txBody>
      </p:sp>
      <p:sp>
        <p:nvSpPr>
          <p:cNvPr id="3" name="Title 2">
            <a:extLst>
              <a:ext uri="{FF2B5EF4-FFF2-40B4-BE49-F238E27FC236}">
                <a16:creationId xmlns:a16="http://schemas.microsoft.com/office/drawing/2014/main" id="{C6FD5729-C3F3-1050-E60B-93A227504F14}"/>
              </a:ext>
            </a:extLst>
          </p:cNvPr>
          <p:cNvSpPr>
            <a:spLocks noGrp="1"/>
          </p:cNvSpPr>
          <p:nvPr>
            <p:ph type="title" idx="1"/>
          </p:nvPr>
        </p:nvSpPr>
        <p:spPr/>
        <p:txBody>
          <a:bodyPr/>
          <a:lstStyle/>
          <a:p>
            <a:r>
              <a:rPr lang="en-US" dirty="0"/>
              <a:t>Review: Core dimensions of responsible AI</a:t>
            </a:r>
          </a:p>
        </p:txBody>
      </p:sp>
      <p:grpSp>
        <p:nvGrpSpPr>
          <p:cNvPr id="13" name="Group 12" descr="Controllability: Having mechanisms to monitor and steer AI system behavior.">
            <a:extLst>
              <a:ext uri="{FF2B5EF4-FFF2-40B4-BE49-F238E27FC236}">
                <a16:creationId xmlns:a16="http://schemas.microsoft.com/office/drawing/2014/main" id="{FEADF1A7-5281-9111-8558-8A48F1EF5AEC}"/>
              </a:ext>
            </a:extLst>
          </p:cNvPr>
          <p:cNvGrpSpPr/>
          <p:nvPr/>
        </p:nvGrpSpPr>
        <p:grpSpPr>
          <a:xfrm>
            <a:off x="625283" y="1490639"/>
            <a:ext cx="2560320" cy="2103120"/>
            <a:chOff x="625283" y="1332143"/>
            <a:chExt cx="2560320" cy="2103120"/>
          </a:xfrm>
        </p:grpSpPr>
        <p:sp>
          <p:nvSpPr>
            <p:cNvPr id="14" name="Rectangle: Rounded Corners 4">
              <a:extLst>
                <a:ext uri="{FF2B5EF4-FFF2-40B4-BE49-F238E27FC236}">
                  <a16:creationId xmlns:a16="http://schemas.microsoft.com/office/drawing/2014/main" id="{831B8258-79A8-3E7E-E8C5-8A5FAC00EF39}"/>
                </a:ext>
              </a:extLst>
            </p:cNvPr>
            <p:cNvSpPr/>
            <p:nvPr/>
          </p:nvSpPr>
          <p:spPr>
            <a:xfrm>
              <a:off x="625283" y="1332143"/>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15" name="Rectangle: Rounded Corners 22">
              <a:extLst>
                <a:ext uri="{FF2B5EF4-FFF2-40B4-BE49-F238E27FC236}">
                  <a16:creationId xmlns:a16="http://schemas.microsoft.com/office/drawing/2014/main" id="{F127A14F-D596-0E3E-6B1B-CD34ED5861E2}"/>
                </a:ext>
              </a:extLst>
            </p:cNvPr>
            <p:cNvSpPr/>
            <p:nvPr/>
          </p:nvSpPr>
          <p:spPr>
            <a:xfrm>
              <a:off x="625283" y="1332143"/>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Controllability</a:t>
              </a:r>
            </a:p>
          </p:txBody>
        </p:sp>
        <p:sp>
          <p:nvSpPr>
            <p:cNvPr id="16" name="Rectangle: Rounded Corners 38">
              <a:extLst>
                <a:ext uri="{FF2B5EF4-FFF2-40B4-BE49-F238E27FC236}">
                  <a16:creationId xmlns:a16="http://schemas.microsoft.com/office/drawing/2014/main" id="{438101E2-338E-0BB8-222D-A2F2500D693A}"/>
                </a:ext>
              </a:extLst>
            </p:cNvPr>
            <p:cNvSpPr/>
            <p:nvPr/>
          </p:nvSpPr>
          <p:spPr>
            <a:xfrm>
              <a:off x="625283" y="2277397"/>
              <a:ext cx="2560320"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Having mechanisms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 to monitor and steer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AI system behavior</a:t>
              </a:r>
              <a:endParaRPr kumimoji="0" lang="en-US" b="0" i="1" u="none" strike="noStrike" kern="0" cap="none" spc="0" normalizeH="0" baseline="0" noProof="0" dirty="0">
                <a:ln>
                  <a:noFill/>
                </a:ln>
                <a:solidFill>
                  <a:srgbClr val="000000"/>
                </a:solidFill>
                <a:effectLst/>
                <a:uLnTx/>
                <a:uFillTx/>
                <a:latin typeface="Amazon Ember Display"/>
                <a:ea typeface="+mn-ea"/>
                <a:cs typeface="+mn-cs"/>
              </a:endParaRPr>
            </a:p>
          </p:txBody>
        </p:sp>
      </p:grpSp>
      <p:grpSp>
        <p:nvGrpSpPr>
          <p:cNvPr id="17" name="Group 16" descr="Privacy and security: Appropriately obtaining, using and protecting data and models.">
            <a:extLst>
              <a:ext uri="{FF2B5EF4-FFF2-40B4-BE49-F238E27FC236}">
                <a16:creationId xmlns:a16="http://schemas.microsoft.com/office/drawing/2014/main" id="{19592991-0AF1-8F0E-DF51-7948C4AE9433}"/>
              </a:ext>
            </a:extLst>
          </p:cNvPr>
          <p:cNvGrpSpPr/>
          <p:nvPr/>
        </p:nvGrpSpPr>
        <p:grpSpPr>
          <a:xfrm>
            <a:off x="3428062" y="1504927"/>
            <a:ext cx="2560320" cy="2103120"/>
            <a:chOff x="3428062" y="1332143"/>
            <a:chExt cx="2560320" cy="2103120"/>
          </a:xfrm>
        </p:grpSpPr>
        <p:sp>
          <p:nvSpPr>
            <p:cNvPr id="18" name="Rectangle: Rounded Corners 43">
              <a:extLst>
                <a:ext uri="{FF2B5EF4-FFF2-40B4-BE49-F238E27FC236}">
                  <a16:creationId xmlns:a16="http://schemas.microsoft.com/office/drawing/2014/main" id="{CEA7E484-2729-DE0E-41F1-453815D3D337}"/>
                </a:ext>
              </a:extLst>
            </p:cNvPr>
            <p:cNvSpPr/>
            <p:nvPr/>
          </p:nvSpPr>
          <p:spPr>
            <a:xfrm>
              <a:off x="3428062" y="1332143"/>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19" name="Rectangle: Rounded Corners 20">
              <a:extLst>
                <a:ext uri="{FF2B5EF4-FFF2-40B4-BE49-F238E27FC236}">
                  <a16:creationId xmlns:a16="http://schemas.microsoft.com/office/drawing/2014/main" id="{E071C7E0-3834-D053-3EC1-88617E99E24D}"/>
                </a:ext>
              </a:extLst>
            </p:cNvPr>
            <p:cNvSpPr/>
            <p:nvPr/>
          </p:nvSpPr>
          <p:spPr>
            <a:xfrm>
              <a:off x="3428062" y="1332143"/>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Privacy &amp;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Security</a:t>
              </a:r>
            </a:p>
          </p:txBody>
        </p:sp>
        <p:sp>
          <p:nvSpPr>
            <p:cNvPr id="20" name="Rectangle: Rounded Corners 41">
              <a:extLst>
                <a:ext uri="{FF2B5EF4-FFF2-40B4-BE49-F238E27FC236}">
                  <a16:creationId xmlns:a16="http://schemas.microsoft.com/office/drawing/2014/main" id="{7F309426-10CC-10EB-5F11-9B53778CEAFF}"/>
                </a:ext>
              </a:extLst>
            </p:cNvPr>
            <p:cNvSpPr/>
            <p:nvPr/>
          </p:nvSpPr>
          <p:spPr>
            <a:xfrm>
              <a:off x="3428062" y="2277397"/>
              <a:ext cx="2560320"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Appropriately obtaining,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using and protecting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data and models</a:t>
              </a:r>
            </a:p>
          </p:txBody>
        </p:sp>
      </p:grpSp>
      <p:grpSp>
        <p:nvGrpSpPr>
          <p:cNvPr id="21" name="Group 20" descr="Safety: Preventing harmful system output and misuse.">
            <a:extLst>
              <a:ext uri="{FF2B5EF4-FFF2-40B4-BE49-F238E27FC236}">
                <a16:creationId xmlns:a16="http://schemas.microsoft.com/office/drawing/2014/main" id="{0CA3C0AC-3E4F-9607-639B-4822AD4D6E13}"/>
              </a:ext>
            </a:extLst>
          </p:cNvPr>
          <p:cNvGrpSpPr/>
          <p:nvPr/>
        </p:nvGrpSpPr>
        <p:grpSpPr>
          <a:xfrm>
            <a:off x="6230841" y="1490639"/>
            <a:ext cx="2560320" cy="2103120"/>
            <a:chOff x="6230841" y="1332143"/>
            <a:chExt cx="2560320" cy="2103120"/>
          </a:xfrm>
        </p:grpSpPr>
        <p:sp>
          <p:nvSpPr>
            <p:cNvPr id="22" name="Rectangle: Rounded Corners 44">
              <a:extLst>
                <a:ext uri="{FF2B5EF4-FFF2-40B4-BE49-F238E27FC236}">
                  <a16:creationId xmlns:a16="http://schemas.microsoft.com/office/drawing/2014/main" id="{93A58C46-2658-8884-7A86-BA850602BE25}"/>
                </a:ext>
              </a:extLst>
            </p:cNvPr>
            <p:cNvSpPr/>
            <p:nvPr/>
          </p:nvSpPr>
          <p:spPr>
            <a:xfrm>
              <a:off x="6230841" y="1332143"/>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23" name="Rectangle: Rounded Corners 10">
              <a:extLst>
                <a:ext uri="{FF2B5EF4-FFF2-40B4-BE49-F238E27FC236}">
                  <a16:creationId xmlns:a16="http://schemas.microsoft.com/office/drawing/2014/main" id="{9AC7304D-A309-2675-FF2D-7D30253C1DE8}"/>
                </a:ext>
              </a:extLst>
            </p:cNvPr>
            <p:cNvSpPr/>
            <p:nvPr/>
          </p:nvSpPr>
          <p:spPr>
            <a:xfrm>
              <a:off x="6230841" y="1332143"/>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Safety</a:t>
              </a:r>
            </a:p>
          </p:txBody>
        </p:sp>
        <p:sp>
          <p:nvSpPr>
            <p:cNvPr id="24" name="Rectangle: Rounded Corners 40">
              <a:extLst>
                <a:ext uri="{FF2B5EF4-FFF2-40B4-BE49-F238E27FC236}">
                  <a16:creationId xmlns:a16="http://schemas.microsoft.com/office/drawing/2014/main" id="{034729B4-E81C-BF25-820C-6889BE001523}"/>
                </a:ext>
              </a:extLst>
            </p:cNvPr>
            <p:cNvSpPr/>
            <p:nvPr/>
          </p:nvSpPr>
          <p:spPr>
            <a:xfrm>
              <a:off x="6230841" y="2277397"/>
              <a:ext cx="2560320"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Preventing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harmful system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output and misuse</a:t>
              </a:r>
            </a:p>
          </p:txBody>
        </p:sp>
      </p:grpSp>
      <p:grpSp>
        <p:nvGrpSpPr>
          <p:cNvPr id="25" name="Group 24" descr="Fairness: Considering impacts on different groups of stakeholders.">
            <a:extLst>
              <a:ext uri="{FF2B5EF4-FFF2-40B4-BE49-F238E27FC236}">
                <a16:creationId xmlns:a16="http://schemas.microsoft.com/office/drawing/2014/main" id="{2C37D318-14B4-54AA-4579-1F72886DE789}"/>
              </a:ext>
            </a:extLst>
          </p:cNvPr>
          <p:cNvGrpSpPr/>
          <p:nvPr/>
        </p:nvGrpSpPr>
        <p:grpSpPr>
          <a:xfrm>
            <a:off x="9033619" y="1490639"/>
            <a:ext cx="2560320" cy="2103120"/>
            <a:chOff x="9033619" y="1332143"/>
            <a:chExt cx="2560320" cy="2103120"/>
          </a:xfrm>
        </p:grpSpPr>
        <p:sp>
          <p:nvSpPr>
            <p:cNvPr id="26" name="Rectangle: Rounded Corners 45">
              <a:extLst>
                <a:ext uri="{FF2B5EF4-FFF2-40B4-BE49-F238E27FC236}">
                  <a16:creationId xmlns:a16="http://schemas.microsoft.com/office/drawing/2014/main" id="{1575682A-40ED-3ABF-E8B1-10DC33C275A4}"/>
                </a:ext>
              </a:extLst>
            </p:cNvPr>
            <p:cNvSpPr/>
            <p:nvPr/>
          </p:nvSpPr>
          <p:spPr>
            <a:xfrm>
              <a:off x="9033619" y="1332143"/>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27" name="Rectangle: Rounded Corners 63">
              <a:extLst>
                <a:ext uri="{FF2B5EF4-FFF2-40B4-BE49-F238E27FC236}">
                  <a16:creationId xmlns:a16="http://schemas.microsoft.com/office/drawing/2014/main" id="{A1D061BE-BD00-7452-7F69-2070F2BBE749}"/>
                </a:ext>
              </a:extLst>
            </p:cNvPr>
            <p:cNvSpPr/>
            <p:nvPr/>
          </p:nvSpPr>
          <p:spPr>
            <a:xfrm>
              <a:off x="9033619" y="1332143"/>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Fairness</a:t>
              </a:r>
            </a:p>
          </p:txBody>
        </p:sp>
        <p:sp>
          <p:nvSpPr>
            <p:cNvPr id="28" name="Rectangle: Rounded Corners 42">
              <a:extLst>
                <a:ext uri="{FF2B5EF4-FFF2-40B4-BE49-F238E27FC236}">
                  <a16:creationId xmlns:a16="http://schemas.microsoft.com/office/drawing/2014/main" id="{30B1162B-0B57-5325-58CA-A6D641341FB1}"/>
                </a:ext>
              </a:extLst>
            </p:cNvPr>
            <p:cNvSpPr/>
            <p:nvPr/>
          </p:nvSpPr>
          <p:spPr>
            <a:xfrm>
              <a:off x="9033619" y="2277397"/>
              <a:ext cx="2560320"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Considering impacts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on different groups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of stakeholders</a:t>
              </a:r>
            </a:p>
          </p:txBody>
        </p:sp>
      </p:grpSp>
      <p:grpSp>
        <p:nvGrpSpPr>
          <p:cNvPr id="29" name="Group 28" descr="Governance: Incorporating best practices into the AI supply chain, including providers and deployers.">
            <a:extLst>
              <a:ext uri="{FF2B5EF4-FFF2-40B4-BE49-F238E27FC236}">
                <a16:creationId xmlns:a16="http://schemas.microsoft.com/office/drawing/2014/main" id="{3A481A47-1B13-654E-AC12-A5A32CAAAF4F}"/>
              </a:ext>
            </a:extLst>
          </p:cNvPr>
          <p:cNvGrpSpPr/>
          <p:nvPr/>
        </p:nvGrpSpPr>
        <p:grpSpPr>
          <a:xfrm>
            <a:off x="9033619" y="4121487"/>
            <a:ext cx="2560320" cy="2103120"/>
            <a:chOff x="9033619" y="3962991"/>
            <a:chExt cx="2560320" cy="2103120"/>
          </a:xfrm>
        </p:grpSpPr>
        <p:sp>
          <p:nvSpPr>
            <p:cNvPr id="30" name="Rectangle: Rounded Corners 46">
              <a:extLst>
                <a:ext uri="{FF2B5EF4-FFF2-40B4-BE49-F238E27FC236}">
                  <a16:creationId xmlns:a16="http://schemas.microsoft.com/office/drawing/2014/main" id="{39D5DB3D-86F7-0D41-C28A-D1C06589CD74}"/>
                </a:ext>
              </a:extLst>
            </p:cNvPr>
            <p:cNvSpPr/>
            <p:nvPr/>
          </p:nvSpPr>
          <p:spPr>
            <a:xfrm>
              <a:off x="9033619" y="3962991"/>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31" name="Rectangle: Rounded Corners 18">
              <a:extLst>
                <a:ext uri="{FF2B5EF4-FFF2-40B4-BE49-F238E27FC236}">
                  <a16:creationId xmlns:a16="http://schemas.microsoft.com/office/drawing/2014/main" id="{F9616826-E0A0-75DA-D0DD-1902DE056FB4}"/>
                </a:ext>
              </a:extLst>
            </p:cNvPr>
            <p:cNvSpPr/>
            <p:nvPr/>
          </p:nvSpPr>
          <p:spPr>
            <a:xfrm>
              <a:off x="9033619" y="3962991"/>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Governance</a:t>
              </a:r>
            </a:p>
          </p:txBody>
        </p:sp>
        <p:sp>
          <p:nvSpPr>
            <p:cNvPr id="32" name="Rectangle: Rounded Corners 31">
              <a:extLst>
                <a:ext uri="{FF2B5EF4-FFF2-40B4-BE49-F238E27FC236}">
                  <a16:creationId xmlns:a16="http://schemas.microsoft.com/office/drawing/2014/main" id="{2C5D868D-1CBA-A66B-4A9C-B83C85F7E310}"/>
                </a:ext>
              </a:extLst>
            </p:cNvPr>
            <p:cNvSpPr/>
            <p:nvPr/>
          </p:nvSpPr>
          <p:spPr>
            <a:xfrm>
              <a:off x="9167730" y="4660225"/>
              <a:ext cx="2292097"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Incorporating best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practices into the AI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supply chain, including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providers and deployers</a:t>
              </a:r>
            </a:p>
          </p:txBody>
        </p:sp>
      </p:grpSp>
      <p:grpSp>
        <p:nvGrpSpPr>
          <p:cNvPr id="33" name="Group 32" descr="Transparency: Enabling stakeholders to make informed choices about their engagement with an AI system.">
            <a:extLst>
              <a:ext uri="{FF2B5EF4-FFF2-40B4-BE49-F238E27FC236}">
                <a16:creationId xmlns:a16="http://schemas.microsoft.com/office/drawing/2014/main" id="{88F7ECB7-8629-8719-220D-5604062921E6}"/>
              </a:ext>
            </a:extLst>
          </p:cNvPr>
          <p:cNvGrpSpPr/>
          <p:nvPr/>
        </p:nvGrpSpPr>
        <p:grpSpPr>
          <a:xfrm>
            <a:off x="6230841" y="4121487"/>
            <a:ext cx="2560320" cy="2103120"/>
            <a:chOff x="6230841" y="3962991"/>
            <a:chExt cx="2560320" cy="2103120"/>
          </a:xfrm>
        </p:grpSpPr>
        <p:sp>
          <p:nvSpPr>
            <p:cNvPr id="34" name="Rectangle: Rounded Corners 47">
              <a:extLst>
                <a:ext uri="{FF2B5EF4-FFF2-40B4-BE49-F238E27FC236}">
                  <a16:creationId xmlns:a16="http://schemas.microsoft.com/office/drawing/2014/main" id="{1456BD81-CDBC-1D4C-A589-328B8A295BCA}"/>
                </a:ext>
              </a:extLst>
            </p:cNvPr>
            <p:cNvSpPr/>
            <p:nvPr/>
          </p:nvSpPr>
          <p:spPr>
            <a:xfrm>
              <a:off x="6230841" y="3962991"/>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35" name="Rectangle: Rounded Corners 19">
              <a:extLst>
                <a:ext uri="{FF2B5EF4-FFF2-40B4-BE49-F238E27FC236}">
                  <a16:creationId xmlns:a16="http://schemas.microsoft.com/office/drawing/2014/main" id="{B7E62DB9-17B1-1F3F-0329-A1017E443653}"/>
                </a:ext>
              </a:extLst>
            </p:cNvPr>
            <p:cNvSpPr/>
            <p:nvPr/>
          </p:nvSpPr>
          <p:spPr>
            <a:xfrm>
              <a:off x="6230841" y="3962991"/>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Transparency</a:t>
              </a:r>
              <a:endParaRPr kumimoji="0" lang="en-US" sz="1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36" name="Rectangle: Rounded Corners 29">
              <a:extLst>
                <a:ext uri="{FF2B5EF4-FFF2-40B4-BE49-F238E27FC236}">
                  <a16:creationId xmlns:a16="http://schemas.microsoft.com/office/drawing/2014/main" id="{43A0A585-91DE-FE58-61AF-14CBCFA52BC2}"/>
                </a:ext>
              </a:extLst>
            </p:cNvPr>
            <p:cNvSpPr/>
            <p:nvPr/>
          </p:nvSpPr>
          <p:spPr>
            <a:xfrm>
              <a:off x="6346665" y="4660225"/>
              <a:ext cx="2328672"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Enabling stakeholders to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make informed choices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about their engagement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with an AI system</a:t>
              </a:r>
            </a:p>
          </p:txBody>
        </p:sp>
      </p:grpSp>
      <p:grpSp>
        <p:nvGrpSpPr>
          <p:cNvPr id="37" name="Group 36" descr="Veracity and robustness: Achieving correct system outputs, even with unexpected or adversarial inputs.">
            <a:extLst>
              <a:ext uri="{FF2B5EF4-FFF2-40B4-BE49-F238E27FC236}">
                <a16:creationId xmlns:a16="http://schemas.microsoft.com/office/drawing/2014/main" id="{624AA425-FA00-0369-24F7-CC98BC6B519E}"/>
              </a:ext>
            </a:extLst>
          </p:cNvPr>
          <p:cNvGrpSpPr/>
          <p:nvPr/>
        </p:nvGrpSpPr>
        <p:grpSpPr>
          <a:xfrm>
            <a:off x="625283" y="4121487"/>
            <a:ext cx="2560320" cy="2103120"/>
            <a:chOff x="625283" y="3962991"/>
            <a:chExt cx="2560320" cy="2103120"/>
          </a:xfrm>
        </p:grpSpPr>
        <p:sp>
          <p:nvSpPr>
            <p:cNvPr id="38" name="Rectangle: Rounded Corners 48">
              <a:extLst>
                <a:ext uri="{FF2B5EF4-FFF2-40B4-BE49-F238E27FC236}">
                  <a16:creationId xmlns:a16="http://schemas.microsoft.com/office/drawing/2014/main" id="{C4480639-71E0-481E-5F74-3B0F8947B44F}"/>
                </a:ext>
              </a:extLst>
            </p:cNvPr>
            <p:cNvSpPr/>
            <p:nvPr/>
          </p:nvSpPr>
          <p:spPr>
            <a:xfrm>
              <a:off x="625283" y="3962991"/>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39" name="Rectangle: Rounded Corners 17">
              <a:extLst>
                <a:ext uri="{FF2B5EF4-FFF2-40B4-BE49-F238E27FC236}">
                  <a16:creationId xmlns:a16="http://schemas.microsoft.com/office/drawing/2014/main" id="{79E87C94-21F6-4B7F-BF6D-72EE816B17E6}"/>
                </a:ext>
              </a:extLst>
            </p:cNvPr>
            <p:cNvSpPr/>
            <p:nvPr/>
          </p:nvSpPr>
          <p:spPr>
            <a:xfrm>
              <a:off x="625283" y="3962991"/>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Veracity &amp;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Robustness</a:t>
              </a:r>
            </a:p>
          </p:txBody>
        </p:sp>
        <p:sp>
          <p:nvSpPr>
            <p:cNvPr id="40" name="Rectangle: Rounded Corners 33">
              <a:extLst>
                <a:ext uri="{FF2B5EF4-FFF2-40B4-BE49-F238E27FC236}">
                  <a16:creationId xmlns:a16="http://schemas.microsoft.com/office/drawing/2014/main" id="{468F382C-0B09-5A5D-FD4D-A40204DF0CE8}"/>
                </a:ext>
              </a:extLst>
            </p:cNvPr>
            <p:cNvSpPr/>
            <p:nvPr/>
          </p:nvSpPr>
          <p:spPr>
            <a:xfrm>
              <a:off x="625283" y="4856479"/>
              <a:ext cx="2560320"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Achieving correct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system outputs,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even with unexpected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or adversarial inputs</a:t>
              </a:r>
            </a:p>
          </p:txBody>
        </p:sp>
      </p:grpSp>
      <p:grpSp>
        <p:nvGrpSpPr>
          <p:cNvPr id="41" name="Group 40" descr="Explainability: Understanding and evaluating outputs generated by an AI system.">
            <a:extLst>
              <a:ext uri="{FF2B5EF4-FFF2-40B4-BE49-F238E27FC236}">
                <a16:creationId xmlns:a16="http://schemas.microsoft.com/office/drawing/2014/main" id="{410FB74E-AEEE-B1A3-AEA8-F4682B12AC6C}"/>
              </a:ext>
            </a:extLst>
          </p:cNvPr>
          <p:cNvGrpSpPr/>
          <p:nvPr/>
        </p:nvGrpSpPr>
        <p:grpSpPr>
          <a:xfrm>
            <a:off x="3428062" y="4121487"/>
            <a:ext cx="2560320" cy="2103120"/>
            <a:chOff x="3428062" y="3962991"/>
            <a:chExt cx="2560320" cy="2103120"/>
          </a:xfrm>
        </p:grpSpPr>
        <p:sp>
          <p:nvSpPr>
            <p:cNvPr id="42" name="Rectangle: Rounded Corners 49">
              <a:extLst>
                <a:ext uri="{FF2B5EF4-FFF2-40B4-BE49-F238E27FC236}">
                  <a16:creationId xmlns:a16="http://schemas.microsoft.com/office/drawing/2014/main" id="{D5B13A6B-D8BB-7772-00A4-957B156DF2EA}"/>
                </a:ext>
              </a:extLst>
            </p:cNvPr>
            <p:cNvSpPr/>
            <p:nvPr/>
          </p:nvSpPr>
          <p:spPr>
            <a:xfrm>
              <a:off x="3428062" y="3962991"/>
              <a:ext cx="2560320" cy="2103120"/>
            </a:xfrm>
            <a:prstGeom prst="roundRect">
              <a:avLst/>
            </a:prstGeom>
            <a:noFill/>
            <a:ln w="34925" cap="flat" cmpd="sng" algn="ctr">
              <a:gradFill flip="none" rotWithShape="1">
                <a:gsLst>
                  <a:gs pos="0">
                    <a:srgbClr val="F66C02"/>
                  </a:gs>
                  <a:gs pos="53000">
                    <a:srgbClr val="FF28EF"/>
                  </a:gs>
                  <a:gs pos="100000">
                    <a:srgbClr val="0F65F9"/>
                  </a:gs>
                </a:gsLst>
                <a:path path="circle">
                  <a:fillToRect t="100000" r="100000"/>
                </a:path>
                <a:tileRect l="-100000" b="-100000"/>
              </a:gradFill>
              <a:prstDash val="solid"/>
              <a:miter lim="800000"/>
            </a:ln>
            <a:effectLst/>
          </p:spPr>
          <p:txBody>
            <a:bodyPr tIns="18288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mazon Ember Display"/>
                <a:ea typeface="+mn-ea"/>
                <a:cs typeface="+mn-cs"/>
              </a:endParaRPr>
            </a:p>
          </p:txBody>
        </p:sp>
        <p:sp>
          <p:nvSpPr>
            <p:cNvPr id="43" name="Rectangle: Rounded Corners 15">
              <a:extLst>
                <a:ext uri="{FF2B5EF4-FFF2-40B4-BE49-F238E27FC236}">
                  <a16:creationId xmlns:a16="http://schemas.microsoft.com/office/drawing/2014/main" id="{ECC49D2B-EA73-5F12-4267-A4DEE7502F0E}"/>
                </a:ext>
              </a:extLst>
            </p:cNvPr>
            <p:cNvSpPr/>
            <p:nvPr/>
          </p:nvSpPr>
          <p:spPr>
            <a:xfrm>
              <a:off x="3428062" y="3962991"/>
              <a:ext cx="2560320" cy="914400"/>
            </a:xfrm>
            <a:prstGeom prst="roundRect">
              <a:avLst>
                <a:gd name="adj" fmla="val 4396"/>
              </a:avLst>
            </a:prstGeom>
            <a:noFill/>
            <a:ln w="28575" cap="flat" cmpd="sng" algn="ctr">
              <a:noFill/>
              <a:prstDash val="solid"/>
              <a:miter lim="800000"/>
            </a:ln>
            <a:effectLst/>
          </p:spPr>
          <p:txBody>
            <a:bodyPr wrap="non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mazon Ember"/>
                  <a:ea typeface="+mn-ea"/>
                  <a:cs typeface="+mn-cs"/>
                </a:rPr>
                <a:t>Explainability</a:t>
              </a:r>
            </a:p>
          </p:txBody>
        </p:sp>
        <p:sp>
          <p:nvSpPr>
            <p:cNvPr id="44" name="Rectangle: Rounded Corners 36">
              <a:extLst>
                <a:ext uri="{FF2B5EF4-FFF2-40B4-BE49-F238E27FC236}">
                  <a16:creationId xmlns:a16="http://schemas.microsoft.com/office/drawing/2014/main" id="{8156E242-1EDF-FE70-44DC-45DD9E9FFBC8}"/>
                </a:ext>
              </a:extLst>
            </p:cNvPr>
            <p:cNvSpPr/>
            <p:nvPr/>
          </p:nvSpPr>
          <p:spPr>
            <a:xfrm>
              <a:off x="3428062" y="4660225"/>
              <a:ext cx="2560320" cy="1097280"/>
            </a:xfrm>
            <a:prstGeom prst="roundRect">
              <a:avLst>
                <a:gd name="adj" fmla="val 4396"/>
              </a:avLst>
            </a:prstGeom>
            <a:noFill/>
            <a:ln w="28575" cap="flat" cmpd="sng" algn="ctr">
              <a:noFill/>
              <a:prstDash val="solid"/>
              <a:miter lim="800000"/>
            </a:ln>
            <a:effectLst/>
          </p:spPr>
          <p:txBody>
            <a:bodyPr wrap="non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Understanding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and evaluating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outputs generated by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mazon Ember Display"/>
                  <a:ea typeface="+mn-ea"/>
                  <a:cs typeface="+mn-cs"/>
                </a:rPr>
                <a:t>an AI system</a:t>
              </a:r>
            </a:p>
          </p:txBody>
        </p:sp>
      </p:grpSp>
    </p:spTree>
    <p:extLst>
      <p:ext uri="{BB962C8B-B14F-4D97-AF65-F5344CB8AC3E}">
        <p14:creationId xmlns:p14="http://schemas.microsoft.com/office/powerpoint/2010/main" val="3206443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5D07BBF-5A50-4D15-A318-7D7E5206E85C}"/>
              </a:ext>
            </a:extLst>
          </p:cNvPr>
          <p:cNvSpPr>
            <a:spLocks noGrp="1"/>
          </p:cNvSpPr>
          <p:nvPr>
            <p:ph type="sldNum" idx="97"/>
          </p:nvPr>
        </p:nvSpPr>
        <p:spPr/>
        <p:txBody>
          <a:bodyPr/>
          <a:lstStyle/>
          <a:p>
            <a:fld id="{86A8BF56-6CB3-514C-9A64-F39D95C9E25B}" type="slidenum">
              <a:rPr lang="en-US" smtClean="0"/>
              <a:pPr/>
              <a:t>4</a:t>
            </a:fld>
            <a:endParaRPr lang="en-US" dirty="0"/>
          </a:p>
        </p:txBody>
      </p:sp>
      <p:sp>
        <p:nvSpPr>
          <p:cNvPr id="2" name="Title 1">
            <a:extLst>
              <a:ext uri="{FF2B5EF4-FFF2-40B4-BE49-F238E27FC236}">
                <a16:creationId xmlns:a16="http://schemas.microsoft.com/office/drawing/2014/main" id="{C506E617-B183-98CA-235F-C917887272DD}"/>
              </a:ext>
            </a:extLst>
          </p:cNvPr>
          <p:cNvSpPr>
            <a:spLocks noGrp="1"/>
          </p:cNvSpPr>
          <p:nvPr>
            <p:ph type="title" idx="1"/>
          </p:nvPr>
        </p:nvSpPr>
        <p:spPr/>
        <p:txBody>
          <a:bodyPr/>
          <a:lstStyle/>
          <a:p>
            <a:r>
              <a:rPr lang="en-US" dirty="0" err="1"/>
              <a:t>LangChain</a:t>
            </a:r>
            <a:endParaRPr lang="en-US" dirty="0"/>
          </a:p>
        </p:txBody>
      </p:sp>
    </p:spTree>
    <p:extLst>
      <p:ext uri="{BB962C8B-B14F-4D97-AF65-F5344CB8AC3E}">
        <p14:creationId xmlns:p14="http://schemas.microsoft.com/office/powerpoint/2010/main" val="1291583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298E5D-DB53-CB3D-C595-33A96958AF7D}"/>
              </a:ext>
            </a:extLst>
          </p:cNvPr>
          <p:cNvSpPr>
            <a:spLocks noGrp="1"/>
          </p:cNvSpPr>
          <p:nvPr>
            <p:ph type="sldNum" idx="97"/>
          </p:nvPr>
        </p:nvSpPr>
        <p:spPr/>
        <p:txBody>
          <a:bodyPr/>
          <a:lstStyle/>
          <a:p>
            <a:fld id="{86A8BF56-6CB3-514C-9A64-F39D95C9E25B}" type="slidenum">
              <a:rPr lang="en-US" smtClean="0"/>
              <a:t>5</a:t>
            </a:fld>
            <a:endParaRPr lang="en-US"/>
          </a:p>
        </p:txBody>
      </p:sp>
      <p:sp>
        <p:nvSpPr>
          <p:cNvPr id="3" name="Title 2">
            <a:extLst>
              <a:ext uri="{FF2B5EF4-FFF2-40B4-BE49-F238E27FC236}">
                <a16:creationId xmlns:a16="http://schemas.microsoft.com/office/drawing/2014/main" id="{C6FD5729-C3F3-1050-E60B-93A227504F14}"/>
              </a:ext>
            </a:extLst>
          </p:cNvPr>
          <p:cNvSpPr>
            <a:spLocks noGrp="1"/>
          </p:cNvSpPr>
          <p:nvPr>
            <p:ph type="title" idx="1"/>
          </p:nvPr>
        </p:nvSpPr>
        <p:spPr/>
        <p:txBody>
          <a:bodyPr/>
          <a:lstStyle/>
          <a:p>
            <a:r>
              <a:rPr lang="en-US" dirty="0" err="1"/>
              <a:t>LangChain</a:t>
            </a:r>
            <a:endParaRPr lang="en-US" dirty="0"/>
          </a:p>
        </p:txBody>
      </p:sp>
      <p:sp>
        <p:nvSpPr>
          <p:cNvPr id="4" name="Content Placeholder 3">
            <a:extLst>
              <a:ext uri="{FF2B5EF4-FFF2-40B4-BE49-F238E27FC236}">
                <a16:creationId xmlns:a16="http://schemas.microsoft.com/office/drawing/2014/main" id="{0E5B8E16-5803-9B1F-FD9D-E7B429EE86B2}"/>
              </a:ext>
            </a:extLst>
          </p:cNvPr>
          <p:cNvSpPr>
            <a:spLocks noGrp="1"/>
          </p:cNvSpPr>
          <p:nvPr>
            <p:ph idx="2"/>
          </p:nvPr>
        </p:nvSpPr>
        <p:spPr/>
        <p:txBody>
          <a:bodyPr/>
          <a:lstStyle/>
          <a:p>
            <a:r>
              <a:rPr lang="en-US" dirty="0"/>
              <a:t>One of the most popular frameworks for </a:t>
            </a:r>
            <a:r>
              <a:rPr lang="en-US" dirty="0">
                <a:solidFill>
                  <a:schemeClr val="accent6"/>
                </a:solidFill>
              </a:rPr>
              <a:t>LLM-based applications</a:t>
            </a:r>
          </a:p>
          <a:p>
            <a:r>
              <a:rPr lang="en-US" dirty="0"/>
              <a:t>A framework for developing applications powered by language models</a:t>
            </a:r>
          </a:p>
          <a:p>
            <a:pPr lvl="1"/>
            <a:r>
              <a:rPr lang="en-US" dirty="0"/>
              <a:t>Modular components</a:t>
            </a:r>
          </a:p>
          <a:p>
            <a:pPr lvl="1"/>
            <a:r>
              <a:rPr lang="en-US" dirty="0"/>
              <a:t>Flexible and scalable</a:t>
            </a:r>
          </a:p>
          <a:p>
            <a:pPr lvl="1"/>
            <a:r>
              <a:rPr lang="en-US" dirty="0"/>
              <a:t>Long list of third-party integrations</a:t>
            </a:r>
          </a:p>
          <a:p>
            <a:endParaRPr lang="en-US" dirty="0"/>
          </a:p>
        </p:txBody>
      </p:sp>
    </p:spTree>
    <p:extLst>
      <p:ext uri="{BB962C8B-B14F-4D97-AF65-F5344CB8AC3E}">
        <p14:creationId xmlns:p14="http://schemas.microsoft.com/office/powerpoint/2010/main" val="1555340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6AED28-ABB6-6307-C025-774732B30A47}"/>
              </a:ext>
            </a:extLst>
          </p:cNvPr>
          <p:cNvSpPr>
            <a:spLocks noGrp="1"/>
          </p:cNvSpPr>
          <p:nvPr>
            <p:ph type="sldNum" idx="97"/>
          </p:nvPr>
        </p:nvSpPr>
        <p:spPr/>
        <p:txBody>
          <a:bodyPr/>
          <a:lstStyle/>
          <a:p>
            <a:fld id="{86A8BF56-6CB3-514C-9A64-F39D95C9E25B}" type="slidenum">
              <a:rPr lang="en-US" smtClean="0"/>
              <a:t>6</a:t>
            </a:fld>
            <a:endParaRPr lang="en-US"/>
          </a:p>
        </p:txBody>
      </p:sp>
      <p:sp>
        <p:nvSpPr>
          <p:cNvPr id="3" name="Title 2">
            <a:extLst>
              <a:ext uri="{FF2B5EF4-FFF2-40B4-BE49-F238E27FC236}">
                <a16:creationId xmlns:a16="http://schemas.microsoft.com/office/drawing/2014/main" id="{87752628-7A35-1594-879E-75683404D97F}"/>
              </a:ext>
            </a:extLst>
          </p:cNvPr>
          <p:cNvSpPr>
            <a:spLocks noGrp="1"/>
          </p:cNvSpPr>
          <p:nvPr>
            <p:ph type="title" idx="1"/>
          </p:nvPr>
        </p:nvSpPr>
        <p:spPr/>
        <p:txBody>
          <a:bodyPr/>
          <a:lstStyle/>
          <a:p>
            <a:r>
              <a:rPr lang="en-US" dirty="0" err="1"/>
              <a:t>LangChain</a:t>
            </a:r>
            <a:r>
              <a:rPr lang="en-US" dirty="0"/>
              <a:t> Use Cases</a:t>
            </a:r>
          </a:p>
        </p:txBody>
      </p:sp>
      <p:sp>
        <p:nvSpPr>
          <p:cNvPr id="4" name="Content Placeholder 3">
            <a:extLst>
              <a:ext uri="{FF2B5EF4-FFF2-40B4-BE49-F238E27FC236}">
                <a16:creationId xmlns:a16="http://schemas.microsoft.com/office/drawing/2014/main" id="{89E6F660-2698-422F-4837-64EBCA9F9E23}"/>
              </a:ext>
            </a:extLst>
          </p:cNvPr>
          <p:cNvSpPr>
            <a:spLocks noGrp="1"/>
          </p:cNvSpPr>
          <p:nvPr>
            <p:ph idx="2"/>
          </p:nvPr>
        </p:nvSpPr>
        <p:spPr/>
        <p:txBody>
          <a:bodyPr/>
          <a:lstStyle/>
          <a:p>
            <a:r>
              <a:rPr lang="en-US" dirty="0"/>
              <a:t>Text generation</a:t>
            </a:r>
          </a:p>
          <a:p>
            <a:r>
              <a:rPr lang="en-US" dirty="0"/>
              <a:t>Summarization</a:t>
            </a:r>
          </a:p>
          <a:p>
            <a:r>
              <a:rPr lang="en-US" dirty="0"/>
              <a:t>Conversational chatbots</a:t>
            </a:r>
          </a:p>
          <a:p>
            <a:r>
              <a:rPr lang="en-US" dirty="0"/>
              <a:t>Code implementation/understanding</a:t>
            </a:r>
          </a:p>
          <a:p>
            <a:r>
              <a:rPr lang="en-US" dirty="0"/>
              <a:t>Retrieval augmented generation (RAG)</a:t>
            </a:r>
          </a:p>
          <a:p>
            <a:r>
              <a:rPr lang="en-US" dirty="0"/>
              <a:t>Reasoning agents</a:t>
            </a:r>
          </a:p>
          <a:p>
            <a:endParaRPr lang="en-US" dirty="0"/>
          </a:p>
          <a:p>
            <a:r>
              <a:rPr lang="en-US" dirty="0">
                <a:solidFill>
                  <a:schemeClr val="accent6"/>
                </a:solidFill>
                <a:latin typeface="+mj-lt"/>
              </a:rPr>
              <a:t>And so much more!</a:t>
            </a:r>
          </a:p>
        </p:txBody>
      </p:sp>
    </p:spTree>
    <p:extLst>
      <p:ext uri="{BB962C8B-B14F-4D97-AF65-F5344CB8AC3E}">
        <p14:creationId xmlns:p14="http://schemas.microsoft.com/office/powerpoint/2010/main" val="753162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021F7E-815F-DE72-ACED-F639F82089C2}"/>
              </a:ext>
            </a:extLst>
          </p:cNvPr>
          <p:cNvSpPr>
            <a:spLocks noGrp="1"/>
          </p:cNvSpPr>
          <p:nvPr>
            <p:ph type="sldNum" idx="97"/>
          </p:nvPr>
        </p:nvSpPr>
        <p:spPr/>
        <p:txBody>
          <a:bodyPr/>
          <a:lstStyle/>
          <a:p>
            <a:fld id="{86A8BF56-6CB3-514C-9A64-F39D95C9E25B}" type="slidenum">
              <a:rPr lang="en-US" smtClean="0"/>
              <a:t>7</a:t>
            </a:fld>
            <a:endParaRPr lang="en-US"/>
          </a:p>
        </p:txBody>
      </p:sp>
      <p:sp>
        <p:nvSpPr>
          <p:cNvPr id="3" name="Title 2">
            <a:extLst>
              <a:ext uri="{FF2B5EF4-FFF2-40B4-BE49-F238E27FC236}">
                <a16:creationId xmlns:a16="http://schemas.microsoft.com/office/drawing/2014/main" id="{14C4D7DA-A5DD-9DAF-F5B2-002A4702C33E}"/>
              </a:ext>
            </a:extLst>
          </p:cNvPr>
          <p:cNvSpPr>
            <a:spLocks noGrp="1"/>
          </p:cNvSpPr>
          <p:nvPr>
            <p:ph type="title" idx="1"/>
          </p:nvPr>
        </p:nvSpPr>
        <p:spPr/>
        <p:txBody>
          <a:bodyPr/>
          <a:lstStyle/>
          <a:p>
            <a:r>
              <a:rPr lang="en-US" dirty="0"/>
              <a:t>Why </a:t>
            </a:r>
            <a:r>
              <a:rPr lang="en-US" dirty="0" err="1"/>
              <a:t>LangChain</a:t>
            </a:r>
            <a:r>
              <a:rPr lang="en-US" dirty="0"/>
              <a:t>? Prompt, don’t train!</a:t>
            </a:r>
          </a:p>
        </p:txBody>
      </p:sp>
      <p:sp>
        <p:nvSpPr>
          <p:cNvPr id="4" name="Content Placeholder 3">
            <a:extLst>
              <a:ext uri="{FF2B5EF4-FFF2-40B4-BE49-F238E27FC236}">
                <a16:creationId xmlns:a16="http://schemas.microsoft.com/office/drawing/2014/main" id="{602275C1-2232-B6DC-3E24-3E193B5BC35E}"/>
              </a:ext>
            </a:extLst>
          </p:cNvPr>
          <p:cNvSpPr>
            <a:spLocks noGrp="1"/>
          </p:cNvSpPr>
          <p:nvPr>
            <p:ph idx="2"/>
          </p:nvPr>
        </p:nvSpPr>
        <p:spPr/>
        <p:txBody>
          <a:bodyPr/>
          <a:lstStyle/>
          <a:p>
            <a:r>
              <a:rPr lang="en-US" dirty="0"/>
              <a:t>Focus on </a:t>
            </a:r>
            <a:r>
              <a:rPr lang="en-US" dirty="0">
                <a:solidFill>
                  <a:schemeClr val="accent6"/>
                </a:solidFill>
                <a:latin typeface="+mj-lt"/>
              </a:rPr>
              <a:t>using</a:t>
            </a:r>
            <a:r>
              <a:rPr lang="en-US" dirty="0"/>
              <a:t> existing LLMs instead of training or fine-tuning</a:t>
            </a:r>
          </a:p>
          <a:p>
            <a:endParaRPr lang="en-US" dirty="0"/>
          </a:p>
          <a:p>
            <a:r>
              <a:rPr lang="en-US" dirty="0"/>
              <a:t>Several LLMs are generally very capable</a:t>
            </a:r>
          </a:p>
          <a:p>
            <a:pPr lvl="1"/>
            <a:r>
              <a:rPr lang="en-US" dirty="0"/>
              <a:t>Can be adapted using prompts and scripts</a:t>
            </a:r>
          </a:p>
          <a:p>
            <a:pPr lvl="1"/>
            <a:endParaRPr lang="en-US" dirty="0"/>
          </a:p>
          <a:p>
            <a:r>
              <a:rPr lang="en-US" dirty="0"/>
              <a:t>Training or fine-tuning is usually more expensive and demanding</a:t>
            </a:r>
          </a:p>
          <a:p>
            <a:endParaRPr lang="en-US" dirty="0"/>
          </a:p>
          <a:p>
            <a:r>
              <a:rPr lang="en-US" dirty="0"/>
              <a:t>Compatible with existing APIs</a:t>
            </a:r>
          </a:p>
          <a:p>
            <a:endParaRPr lang="en-US" dirty="0"/>
          </a:p>
          <a:p>
            <a:endParaRPr lang="en-US" dirty="0"/>
          </a:p>
        </p:txBody>
      </p:sp>
    </p:spTree>
    <p:extLst>
      <p:ext uri="{BB962C8B-B14F-4D97-AF65-F5344CB8AC3E}">
        <p14:creationId xmlns:p14="http://schemas.microsoft.com/office/powerpoint/2010/main" val="2184217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487246D-4500-D1EF-075B-6394A6CA8FA8}"/>
              </a:ext>
            </a:extLst>
          </p:cNvPr>
          <p:cNvSpPr>
            <a:spLocks noGrp="1"/>
          </p:cNvSpPr>
          <p:nvPr>
            <p:ph type="sldNum" idx="97"/>
          </p:nvPr>
        </p:nvSpPr>
        <p:spPr/>
        <p:txBody>
          <a:bodyPr/>
          <a:lstStyle/>
          <a:p>
            <a:fld id="{86A8BF56-6CB3-514C-9A64-F39D95C9E25B}" type="slidenum">
              <a:rPr lang="en-US" smtClean="0"/>
              <a:t>8</a:t>
            </a:fld>
            <a:endParaRPr lang="en-US"/>
          </a:p>
        </p:txBody>
      </p:sp>
      <p:sp>
        <p:nvSpPr>
          <p:cNvPr id="3" name="Title 2">
            <a:extLst>
              <a:ext uri="{FF2B5EF4-FFF2-40B4-BE49-F238E27FC236}">
                <a16:creationId xmlns:a16="http://schemas.microsoft.com/office/drawing/2014/main" id="{59583748-FCF5-B291-A881-833ACC6BB93E}"/>
              </a:ext>
            </a:extLst>
          </p:cNvPr>
          <p:cNvSpPr>
            <a:spLocks noGrp="1"/>
          </p:cNvSpPr>
          <p:nvPr>
            <p:ph type="title" idx="1"/>
          </p:nvPr>
        </p:nvSpPr>
        <p:spPr/>
        <p:txBody>
          <a:bodyPr/>
          <a:lstStyle/>
          <a:p>
            <a:r>
              <a:rPr lang="en-US" dirty="0"/>
              <a:t>Why </a:t>
            </a:r>
            <a:r>
              <a:rPr lang="en-US" dirty="0" err="1"/>
              <a:t>LangChain</a:t>
            </a:r>
            <a:r>
              <a:rPr lang="en-US" dirty="0"/>
              <a:t>? Standard interface</a:t>
            </a:r>
          </a:p>
        </p:txBody>
      </p:sp>
      <p:sp>
        <p:nvSpPr>
          <p:cNvPr id="4" name="Content Placeholder 3">
            <a:extLst>
              <a:ext uri="{FF2B5EF4-FFF2-40B4-BE49-F238E27FC236}">
                <a16:creationId xmlns:a16="http://schemas.microsoft.com/office/drawing/2014/main" id="{C64E2711-C061-C071-3F6E-A146BD8116C1}"/>
              </a:ext>
            </a:extLst>
          </p:cNvPr>
          <p:cNvSpPr>
            <a:spLocks noGrp="1"/>
          </p:cNvSpPr>
          <p:nvPr>
            <p:ph idx="2"/>
          </p:nvPr>
        </p:nvSpPr>
        <p:spPr/>
        <p:txBody>
          <a:bodyPr/>
          <a:lstStyle/>
          <a:p>
            <a:r>
              <a:rPr lang="en-US" dirty="0"/>
              <a:t>Common interfaces for components</a:t>
            </a:r>
          </a:p>
          <a:p>
            <a:pPr lvl="1"/>
            <a:r>
              <a:rPr lang="en-US" dirty="0"/>
              <a:t>Growing number of models, APIs, services, etc.</a:t>
            </a:r>
          </a:p>
          <a:p>
            <a:pPr lvl="1"/>
            <a:r>
              <a:rPr lang="en-US" dirty="0"/>
              <a:t>Diverse formats and structures to use them</a:t>
            </a:r>
          </a:p>
          <a:p>
            <a:endParaRPr lang="en-US" dirty="0"/>
          </a:p>
          <a:p>
            <a:r>
              <a:rPr lang="en-US" dirty="0"/>
              <a:t>Easily switch between providers</a:t>
            </a:r>
          </a:p>
          <a:p>
            <a:pPr lvl="1"/>
            <a:r>
              <a:rPr lang="en-US" dirty="0"/>
              <a:t>Modular framework</a:t>
            </a:r>
          </a:p>
        </p:txBody>
      </p:sp>
    </p:spTree>
    <p:extLst>
      <p:ext uri="{BB962C8B-B14F-4D97-AF65-F5344CB8AC3E}">
        <p14:creationId xmlns:p14="http://schemas.microsoft.com/office/powerpoint/2010/main" val="4276257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C7B0363-E001-05A4-6063-FDE9C41C5FF2}"/>
              </a:ext>
            </a:extLst>
          </p:cNvPr>
          <p:cNvSpPr>
            <a:spLocks noGrp="1"/>
          </p:cNvSpPr>
          <p:nvPr>
            <p:ph type="sldNum" idx="97"/>
          </p:nvPr>
        </p:nvSpPr>
        <p:spPr/>
        <p:txBody>
          <a:bodyPr/>
          <a:lstStyle/>
          <a:p>
            <a:fld id="{86A8BF56-6CB3-514C-9A64-F39D95C9E25B}" type="slidenum">
              <a:rPr lang="en-US" smtClean="0"/>
              <a:t>9</a:t>
            </a:fld>
            <a:endParaRPr lang="en-US"/>
          </a:p>
        </p:txBody>
      </p:sp>
      <p:sp>
        <p:nvSpPr>
          <p:cNvPr id="3" name="Title 2">
            <a:extLst>
              <a:ext uri="{FF2B5EF4-FFF2-40B4-BE49-F238E27FC236}">
                <a16:creationId xmlns:a16="http://schemas.microsoft.com/office/drawing/2014/main" id="{4CEB1FE5-939A-518A-AF5F-A0F81EC6B98E}"/>
              </a:ext>
            </a:extLst>
          </p:cNvPr>
          <p:cNvSpPr>
            <a:spLocks noGrp="1"/>
          </p:cNvSpPr>
          <p:nvPr>
            <p:ph type="title" idx="1"/>
          </p:nvPr>
        </p:nvSpPr>
        <p:spPr/>
        <p:txBody>
          <a:bodyPr/>
          <a:lstStyle/>
          <a:p>
            <a:r>
              <a:rPr lang="en-US" dirty="0"/>
              <a:t>Why </a:t>
            </a:r>
            <a:r>
              <a:rPr lang="en-US" dirty="0" err="1"/>
              <a:t>LangChain</a:t>
            </a:r>
            <a:r>
              <a:rPr lang="en-US" dirty="0"/>
              <a:t>? Orchestration</a:t>
            </a:r>
          </a:p>
        </p:txBody>
      </p:sp>
      <p:sp>
        <p:nvSpPr>
          <p:cNvPr id="4" name="Content Placeholder 3">
            <a:extLst>
              <a:ext uri="{FF2B5EF4-FFF2-40B4-BE49-F238E27FC236}">
                <a16:creationId xmlns:a16="http://schemas.microsoft.com/office/drawing/2014/main" id="{CC6883BF-F2E1-D082-BEA1-77FDA2ADEA5B}"/>
              </a:ext>
            </a:extLst>
          </p:cNvPr>
          <p:cNvSpPr>
            <a:spLocks noGrp="1"/>
          </p:cNvSpPr>
          <p:nvPr>
            <p:ph idx="2"/>
          </p:nvPr>
        </p:nvSpPr>
        <p:spPr/>
        <p:txBody>
          <a:bodyPr/>
          <a:lstStyle/>
          <a:p>
            <a:r>
              <a:rPr lang="en-US" dirty="0"/>
              <a:t>AI applications are becoming more complex!</a:t>
            </a:r>
          </a:p>
          <a:p>
            <a:endParaRPr lang="en-US" dirty="0"/>
          </a:p>
          <a:p>
            <a:r>
              <a:rPr lang="en-US" dirty="0"/>
              <a:t>Efficiently connect elements into custom controlled flows</a:t>
            </a:r>
          </a:p>
          <a:p>
            <a:pPr lvl="1"/>
            <a:r>
              <a:rPr lang="en-US" dirty="0"/>
              <a:t>Loop over the task plan until goal achieved</a:t>
            </a:r>
          </a:p>
          <a:p>
            <a:pPr lvl="1"/>
            <a:r>
              <a:rPr lang="en-US" dirty="0"/>
              <a:t>Persist data across multiple stages</a:t>
            </a:r>
          </a:p>
          <a:p>
            <a:pPr lvl="1"/>
            <a:r>
              <a:rPr lang="en-US" dirty="0"/>
              <a:t>Include humans in decision making, reviewing, etc.</a:t>
            </a:r>
          </a:p>
          <a:p>
            <a:pPr lvl="1"/>
            <a:endParaRPr lang="en-US" dirty="0"/>
          </a:p>
          <a:p>
            <a:r>
              <a:rPr lang="en-US" dirty="0"/>
              <a:t>Accomplish diverse tasks</a:t>
            </a:r>
          </a:p>
          <a:p>
            <a:endParaRPr lang="en-US" dirty="0"/>
          </a:p>
        </p:txBody>
      </p:sp>
    </p:spTree>
    <p:extLst>
      <p:ext uri="{BB962C8B-B14F-4D97-AF65-F5344CB8AC3E}">
        <p14:creationId xmlns:p14="http://schemas.microsoft.com/office/powerpoint/2010/main" val="726595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8ACC99-01FB-1253-389E-39DF953C5B71}"/>
              </a:ext>
            </a:extLst>
          </p:cNvPr>
          <p:cNvSpPr>
            <a:spLocks noGrp="1"/>
          </p:cNvSpPr>
          <p:nvPr>
            <p:ph type="sldNum" idx="97"/>
          </p:nvPr>
        </p:nvSpPr>
        <p:spPr/>
        <p:txBody>
          <a:bodyPr/>
          <a:lstStyle/>
          <a:p>
            <a:fld id="{86A8BF56-6CB3-514C-9A64-F39D95C9E25B}" type="slidenum">
              <a:rPr lang="en-US" smtClean="0"/>
              <a:t>10</a:t>
            </a:fld>
            <a:endParaRPr lang="en-US"/>
          </a:p>
        </p:txBody>
      </p:sp>
      <p:sp>
        <p:nvSpPr>
          <p:cNvPr id="3" name="Title 2">
            <a:extLst>
              <a:ext uri="{FF2B5EF4-FFF2-40B4-BE49-F238E27FC236}">
                <a16:creationId xmlns:a16="http://schemas.microsoft.com/office/drawing/2014/main" id="{C3D7931A-1E38-606A-659E-88217899626A}"/>
              </a:ext>
            </a:extLst>
          </p:cNvPr>
          <p:cNvSpPr>
            <a:spLocks noGrp="1"/>
          </p:cNvSpPr>
          <p:nvPr>
            <p:ph type="title" idx="1"/>
          </p:nvPr>
        </p:nvSpPr>
        <p:spPr/>
        <p:txBody>
          <a:bodyPr/>
          <a:lstStyle/>
          <a:p>
            <a:r>
              <a:rPr lang="en-US" dirty="0"/>
              <a:t>Why </a:t>
            </a:r>
            <a:r>
              <a:rPr lang="en-US" dirty="0" err="1"/>
              <a:t>LangChain</a:t>
            </a:r>
            <a:r>
              <a:rPr lang="en-US" dirty="0"/>
              <a:t>? Observability and evaluation</a:t>
            </a:r>
          </a:p>
        </p:txBody>
      </p:sp>
      <p:sp>
        <p:nvSpPr>
          <p:cNvPr id="4" name="Content Placeholder 3">
            <a:extLst>
              <a:ext uri="{FF2B5EF4-FFF2-40B4-BE49-F238E27FC236}">
                <a16:creationId xmlns:a16="http://schemas.microsoft.com/office/drawing/2014/main" id="{BE02153B-7919-E686-43CF-1C63E0CB7F86}"/>
              </a:ext>
            </a:extLst>
          </p:cNvPr>
          <p:cNvSpPr>
            <a:spLocks noGrp="1"/>
          </p:cNvSpPr>
          <p:nvPr>
            <p:ph idx="2"/>
          </p:nvPr>
        </p:nvSpPr>
        <p:spPr/>
        <p:txBody>
          <a:bodyPr/>
          <a:lstStyle/>
          <a:p>
            <a:r>
              <a:rPr lang="en-US" dirty="0">
                <a:solidFill>
                  <a:schemeClr val="accent6"/>
                </a:solidFill>
                <a:latin typeface="+mj-lt"/>
              </a:rPr>
              <a:t>Traceability</a:t>
            </a:r>
            <a:r>
              <a:rPr lang="en-US" dirty="0"/>
              <a:t> features to observe outputs at all stages</a:t>
            </a:r>
          </a:p>
          <a:p>
            <a:endParaRPr lang="en-US" dirty="0"/>
          </a:p>
          <a:p>
            <a:r>
              <a:rPr lang="en-US" dirty="0"/>
              <a:t>Test portions of the application without running the whole workflow</a:t>
            </a:r>
          </a:p>
          <a:p>
            <a:endParaRPr lang="en-US" dirty="0"/>
          </a:p>
          <a:p>
            <a:r>
              <a:rPr lang="en-US" dirty="0"/>
              <a:t>Tools in measuring and achieving desired outcomes</a:t>
            </a:r>
          </a:p>
          <a:p>
            <a:pPr lvl="1"/>
            <a:r>
              <a:rPr lang="en-US" dirty="0"/>
              <a:t>Latency</a:t>
            </a:r>
          </a:p>
          <a:p>
            <a:pPr lvl="1"/>
            <a:r>
              <a:rPr lang="en-US" dirty="0"/>
              <a:t>Performance</a:t>
            </a:r>
          </a:p>
          <a:p>
            <a:pPr lvl="1"/>
            <a:r>
              <a:rPr lang="en-US" dirty="0"/>
              <a:t>Cost</a:t>
            </a:r>
          </a:p>
          <a:p>
            <a:endParaRPr lang="en-US" dirty="0"/>
          </a:p>
        </p:txBody>
      </p:sp>
    </p:spTree>
    <p:extLst>
      <p:ext uri="{BB962C8B-B14F-4D97-AF65-F5344CB8AC3E}">
        <p14:creationId xmlns:p14="http://schemas.microsoft.com/office/powerpoint/2010/main" val="3987674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19390-6973-2F61-E504-67AD93574D9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30360C8-1498-A5AB-E579-34CE85A6B19F}"/>
              </a:ext>
            </a:extLst>
          </p:cNvPr>
          <p:cNvSpPr>
            <a:spLocks noGrp="1"/>
          </p:cNvSpPr>
          <p:nvPr>
            <p:ph type="sldNum" idx="97"/>
          </p:nvPr>
        </p:nvSpPr>
        <p:spPr/>
        <p:txBody>
          <a:bodyPr/>
          <a:lstStyle/>
          <a:p>
            <a:fld id="{86A8BF56-6CB3-514C-9A64-F39D95C9E25B}" type="slidenum">
              <a:rPr lang="en-US" smtClean="0"/>
              <a:pPr/>
              <a:t>11</a:t>
            </a:fld>
            <a:endParaRPr lang="en-US" dirty="0"/>
          </a:p>
        </p:txBody>
      </p:sp>
      <p:sp>
        <p:nvSpPr>
          <p:cNvPr id="2" name="Title 1">
            <a:extLst>
              <a:ext uri="{FF2B5EF4-FFF2-40B4-BE49-F238E27FC236}">
                <a16:creationId xmlns:a16="http://schemas.microsoft.com/office/drawing/2014/main" id="{0E40AF9D-B93C-57D8-A22F-F21C11B1E8B8}"/>
              </a:ext>
            </a:extLst>
          </p:cNvPr>
          <p:cNvSpPr>
            <a:spLocks noGrp="1"/>
          </p:cNvSpPr>
          <p:nvPr>
            <p:ph type="title" idx="1"/>
          </p:nvPr>
        </p:nvSpPr>
        <p:spPr/>
        <p:txBody>
          <a:bodyPr/>
          <a:lstStyle/>
          <a:p>
            <a:r>
              <a:rPr lang="en-US" dirty="0" err="1"/>
              <a:t>LangChain</a:t>
            </a:r>
            <a:r>
              <a:rPr lang="en-US" dirty="0"/>
              <a:t> Modules</a:t>
            </a:r>
          </a:p>
        </p:txBody>
      </p:sp>
    </p:spTree>
    <p:extLst>
      <p:ext uri="{BB962C8B-B14F-4D97-AF65-F5344CB8AC3E}">
        <p14:creationId xmlns:p14="http://schemas.microsoft.com/office/powerpoint/2010/main" val="3659843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7544C5-A0E9-5E6C-F64F-0BA72A2C7C7B}"/>
              </a:ext>
            </a:extLst>
          </p:cNvPr>
          <p:cNvSpPr>
            <a:spLocks noGrp="1"/>
          </p:cNvSpPr>
          <p:nvPr>
            <p:ph type="sldNum" idx="97"/>
          </p:nvPr>
        </p:nvSpPr>
        <p:spPr/>
        <p:txBody>
          <a:bodyPr/>
          <a:lstStyle/>
          <a:p>
            <a:fld id="{86A8BF56-6CB3-514C-9A64-F39D95C9E25B}" type="slidenum">
              <a:rPr lang="en-US" smtClean="0"/>
              <a:t>12</a:t>
            </a:fld>
            <a:endParaRPr lang="en-US"/>
          </a:p>
        </p:txBody>
      </p:sp>
      <p:sp>
        <p:nvSpPr>
          <p:cNvPr id="3" name="Title 2">
            <a:extLst>
              <a:ext uri="{FF2B5EF4-FFF2-40B4-BE49-F238E27FC236}">
                <a16:creationId xmlns:a16="http://schemas.microsoft.com/office/drawing/2014/main" id="{E4C2DD86-DFE9-8F94-379F-78C8759DEE34}"/>
              </a:ext>
            </a:extLst>
          </p:cNvPr>
          <p:cNvSpPr>
            <a:spLocks noGrp="1"/>
          </p:cNvSpPr>
          <p:nvPr>
            <p:ph type="title" idx="1"/>
          </p:nvPr>
        </p:nvSpPr>
        <p:spPr/>
        <p:txBody>
          <a:bodyPr/>
          <a:lstStyle/>
          <a:p>
            <a:r>
              <a:rPr lang="en-US" dirty="0"/>
              <a:t>Prompt templates</a:t>
            </a:r>
          </a:p>
        </p:txBody>
      </p:sp>
      <p:sp>
        <p:nvSpPr>
          <p:cNvPr id="4" name="Content Placeholder 3">
            <a:extLst>
              <a:ext uri="{FF2B5EF4-FFF2-40B4-BE49-F238E27FC236}">
                <a16:creationId xmlns:a16="http://schemas.microsoft.com/office/drawing/2014/main" id="{45CDF743-6559-2753-0FF9-B13F5317697C}"/>
              </a:ext>
            </a:extLst>
          </p:cNvPr>
          <p:cNvSpPr>
            <a:spLocks noGrp="1"/>
          </p:cNvSpPr>
          <p:nvPr>
            <p:ph idx="2"/>
          </p:nvPr>
        </p:nvSpPr>
        <p:spPr/>
        <p:txBody>
          <a:bodyPr/>
          <a:lstStyle/>
          <a:p>
            <a:r>
              <a:rPr lang="en-US" dirty="0"/>
              <a:t>Parameterized inputs serving as pre-defined recipes for LLMs</a:t>
            </a:r>
          </a:p>
          <a:p>
            <a:pPr lvl="1"/>
            <a:r>
              <a:rPr lang="en-US" dirty="0"/>
              <a:t>Templates may include instructions, context, few-shot examples </a:t>
            </a:r>
            <a:r>
              <a:rPr lang="en-US" dirty="0" err="1"/>
              <a:t>etc</a:t>
            </a:r>
            <a:endParaRPr lang="en-US" dirty="0"/>
          </a:p>
          <a:p>
            <a:r>
              <a:rPr lang="en-US" dirty="0"/>
              <a:t>Model agnostic</a:t>
            </a:r>
          </a:p>
          <a:p>
            <a:r>
              <a:rPr lang="en-US" dirty="0"/>
              <a:t>Reusable </a:t>
            </a:r>
          </a:p>
          <a:p>
            <a:endParaRPr lang="en-US" dirty="0"/>
          </a:p>
          <a:p>
            <a:endParaRPr lang="en-US" dirty="0"/>
          </a:p>
          <a:p>
            <a:endParaRPr lang="en-US" dirty="0"/>
          </a:p>
        </p:txBody>
      </p:sp>
      <p:grpSp>
        <p:nvGrpSpPr>
          <p:cNvPr id="14" name="Group 13">
            <a:extLst>
              <a:ext uri="{FF2B5EF4-FFF2-40B4-BE49-F238E27FC236}">
                <a16:creationId xmlns:a16="http://schemas.microsoft.com/office/drawing/2014/main" id="{B7729172-4DFB-DF33-8CF7-44D78A6715EA}"/>
              </a:ext>
            </a:extLst>
          </p:cNvPr>
          <p:cNvGrpSpPr/>
          <p:nvPr/>
        </p:nvGrpSpPr>
        <p:grpSpPr>
          <a:xfrm>
            <a:off x="1682853" y="4135051"/>
            <a:ext cx="9186447" cy="1929319"/>
            <a:chOff x="1015588" y="4055101"/>
            <a:chExt cx="9186447" cy="1929319"/>
          </a:xfrm>
        </p:grpSpPr>
        <p:sp>
          <p:nvSpPr>
            <p:cNvPr id="15" name="Rounded Rectangle 14">
              <a:extLst>
                <a:ext uri="{FF2B5EF4-FFF2-40B4-BE49-F238E27FC236}">
                  <a16:creationId xmlns:a16="http://schemas.microsoft.com/office/drawing/2014/main" id="{F8E913D9-A6C6-5788-150F-C6364281B46B}"/>
                </a:ext>
              </a:extLst>
            </p:cNvPr>
            <p:cNvSpPr/>
            <p:nvPr/>
          </p:nvSpPr>
          <p:spPr>
            <a:xfrm>
              <a:off x="3866377" y="4368178"/>
              <a:ext cx="3562598" cy="1056904"/>
            </a:xfrm>
            <a:prstGeom prst="roundRect">
              <a:avLst/>
            </a:prstGeom>
            <a:solidFill>
              <a:srgbClr val="DF2A5D">
                <a:lumMod val="20000"/>
                <a:lumOff val="8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w="0"/>
                  <a:solidFill>
                    <a:srgbClr val="232F3E"/>
                  </a:solidFill>
                  <a:effectLst/>
                  <a:uLnTx/>
                  <a:uFillTx/>
                  <a:latin typeface="Amazon Ember Medium"/>
                  <a:ea typeface="+mn-ea"/>
                  <a:cs typeface="+mn-cs"/>
                </a:rPr>
                <a:t>Plan a three-day itinerary for a trip to </a:t>
              </a:r>
              <a:r>
                <a:rPr kumimoji="0" lang="en-US" sz="2000" b="1" i="0" u="none" strike="noStrike" kern="0" cap="none" spc="0" normalizeH="0" baseline="0" noProof="0" dirty="0">
                  <a:ln>
                    <a:noFill/>
                  </a:ln>
                  <a:solidFill>
                    <a:srgbClr val="FF0066"/>
                  </a:solidFill>
                  <a:effectLst/>
                  <a:uLnTx/>
                  <a:uFillTx/>
                  <a:latin typeface="Amazon Ember Medium"/>
                  <a:ea typeface="+mn-ea"/>
                  <a:cs typeface="+mn-cs"/>
                </a:rPr>
                <a:t>{city}</a:t>
              </a:r>
              <a:r>
                <a:rPr kumimoji="0" lang="en-US" sz="2000" b="0" i="0" u="none" strike="noStrike" kern="0" cap="none" spc="0" normalizeH="0" baseline="0" noProof="0" dirty="0">
                  <a:ln>
                    <a:noFill/>
                  </a:ln>
                  <a:solidFill>
                    <a:srgbClr val="F46EBB"/>
                  </a:solidFill>
                  <a:effectLst/>
                  <a:uLnTx/>
                  <a:uFillTx/>
                  <a:latin typeface="Amazon Ember Medium"/>
                  <a:ea typeface="+mn-ea"/>
                  <a:cs typeface="+mn-cs"/>
                </a:rPr>
                <a:t>.</a:t>
              </a:r>
            </a:p>
          </p:txBody>
        </p:sp>
        <p:sp>
          <p:nvSpPr>
            <p:cNvPr id="16" name="TextBox 15">
              <a:extLst>
                <a:ext uri="{FF2B5EF4-FFF2-40B4-BE49-F238E27FC236}">
                  <a16:creationId xmlns:a16="http://schemas.microsoft.com/office/drawing/2014/main" id="{E48A80D7-4043-1EE2-A013-5EFD2453C99C}"/>
                </a:ext>
              </a:extLst>
            </p:cNvPr>
            <p:cNvSpPr txBox="1"/>
            <p:nvPr/>
          </p:nvSpPr>
          <p:spPr>
            <a:xfrm>
              <a:off x="4661668" y="5615088"/>
              <a:ext cx="2013693"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rPr>
                <a:t>Prompt template</a:t>
              </a:r>
            </a:p>
          </p:txBody>
        </p:sp>
        <p:sp>
          <p:nvSpPr>
            <p:cNvPr id="17" name="Rounded Rectangle 16">
              <a:extLst>
                <a:ext uri="{FF2B5EF4-FFF2-40B4-BE49-F238E27FC236}">
                  <a16:creationId xmlns:a16="http://schemas.microsoft.com/office/drawing/2014/main" id="{F413BAEF-A7D3-927F-23EA-D1A60A619CC6}"/>
                </a:ext>
              </a:extLst>
            </p:cNvPr>
            <p:cNvSpPr/>
            <p:nvPr/>
          </p:nvSpPr>
          <p:spPr>
            <a:xfrm>
              <a:off x="1015588" y="4366011"/>
              <a:ext cx="1805760" cy="1061238"/>
            </a:xfrm>
            <a:prstGeom prst="roundRect">
              <a:avLst/>
            </a:prstGeom>
            <a:solidFill>
              <a:srgbClr val="7C5AED">
                <a:lumMod val="20000"/>
                <a:lumOff val="8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w="0"/>
                  <a:solidFill>
                    <a:srgbClr val="FF0066"/>
                  </a:solidFill>
                  <a:effectLst/>
                  <a:uLnTx/>
                  <a:uFillTx/>
                  <a:latin typeface="Amazon Ember Medium"/>
                  <a:ea typeface="+mn-ea"/>
                  <a:cs typeface="+mn-cs"/>
                </a:rPr>
                <a:t>city</a:t>
              </a:r>
              <a:r>
                <a:rPr kumimoji="0" lang="en-US" sz="2000" b="0" i="0" u="none" strike="noStrike" kern="0" cap="none" spc="0" normalizeH="0" baseline="0" noProof="0" dirty="0">
                  <a:ln w="0"/>
                  <a:solidFill>
                    <a:srgbClr val="232F3E"/>
                  </a:solidFill>
                  <a:effectLst/>
                  <a:uLnTx/>
                  <a:uFillTx/>
                  <a:latin typeface="Amazon Ember Medium"/>
                  <a:ea typeface="+mn-ea"/>
                  <a:cs typeface="+mn-cs"/>
                </a:rPr>
                <a:t> = “Paris”</a:t>
              </a:r>
              <a:endParaRPr kumimoji="0" lang="en-US" sz="2000" b="0" i="0" u="none" strike="noStrike" kern="0" cap="none" spc="0" normalizeH="0" baseline="0" noProof="0" dirty="0">
                <a:ln>
                  <a:noFill/>
                </a:ln>
                <a:solidFill>
                  <a:srgbClr val="FFFFFF"/>
                </a:solidFill>
                <a:effectLst/>
                <a:uLnTx/>
                <a:uFillTx/>
                <a:latin typeface="Amazon Ember Medium"/>
                <a:ea typeface="+mn-ea"/>
                <a:cs typeface="+mn-cs"/>
              </a:endParaRPr>
            </a:p>
          </p:txBody>
        </p:sp>
        <p:sp>
          <p:nvSpPr>
            <p:cNvPr id="18" name="TextBox 17">
              <a:extLst>
                <a:ext uri="{FF2B5EF4-FFF2-40B4-BE49-F238E27FC236}">
                  <a16:creationId xmlns:a16="http://schemas.microsoft.com/office/drawing/2014/main" id="{62722C9A-AAC2-B987-F997-378C85B9D6A4}"/>
                </a:ext>
              </a:extLst>
            </p:cNvPr>
            <p:cNvSpPr txBox="1"/>
            <p:nvPr/>
          </p:nvSpPr>
          <p:spPr>
            <a:xfrm>
              <a:off x="1541602" y="5615088"/>
              <a:ext cx="753732"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rPr>
                <a:t>Input</a:t>
              </a:r>
            </a:p>
          </p:txBody>
        </p:sp>
        <p:sp>
          <p:nvSpPr>
            <p:cNvPr id="19" name="Right Arrow 18">
              <a:extLst>
                <a:ext uri="{FF2B5EF4-FFF2-40B4-BE49-F238E27FC236}">
                  <a16:creationId xmlns:a16="http://schemas.microsoft.com/office/drawing/2014/main" id="{FD5BA43A-B7C1-BD0F-BFFA-74C9BC7DC031}"/>
                </a:ext>
              </a:extLst>
            </p:cNvPr>
            <p:cNvSpPr/>
            <p:nvPr/>
          </p:nvSpPr>
          <p:spPr>
            <a:xfrm>
              <a:off x="2846254" y="4709664"/>
              <a:ext cx="1020124" cy="373931"/>
            </a:xfrm>
            <a:prstGeom prst="rightArrow">
              <a:avLst>
                <a:gd name="adj1" fmla="val 42592"/>
                <a:gd name="adj2" fmla="val 50000"/>
              </a:avLst>
            </a:prstGeom>
            <a:solidFill>
              <a:srgbClr val="232F3E"/>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Light"/>
                <a:ea typeface="+mn-ea"/>
                <a:cs typeface="+mn-cs"/>
              </a:endParaRPr>
            </a:p>
          </p:txBody>
        </p:sp>
        <p:sp>
          <p:nvSpPr>
            <p:cNvPr id="20" name="Right Arrow 19">
              <a:extLst>
                <a:ext uri="{FF2B5EF4-FFF2-40B4-BE49-F238E27FC236}">
                  <a16:creationId xmlns:a16="http://schemas.microsoft.com/office/drawing/2014/main" id="{809564C1-0F10-510F-00B1-E0115BF585AD}"/>
                </a:ext>
              </a:extLst>
            </p:cNvPr>
            <p:cNvSpPr/>
            <p:nvPr/>
          </p:nvSpPr>
          <p:spPr>
            <a:xfrm>
              <a:off x="7428975" y="4709664"/>
              <a:ext cx="1045029" cy="373931"/>
            </a:xfrm>
            <a:prstGeom prst="rightArrow">
              <a:avLst>
                <a:gd name="adj1" fmla="val 42592"/>
                <a:gd name="adj2" fmla="val 50000"/>
              </a:avLst>
            </a:prstGeom>
            <a:solidFill>
              <a:srgbClr val="232F3E"/>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Light"/>
                <a:ea typeface="+mn-ea"/>
                <a:cs typeface="+mn-cs"/>
              </a:endParaRPr>
            </a:p>
          </p:txBody>
        </p:sp>
        <p:pic>
          <p:nvPicPr>
            <p:cNvPr id="21" name="Picture 7">
              <a:extLst>
                <a:ext uri="{FF2B5EF4-FFF2-40B4-BE49-F238E27FC236}">
                  <a16:creationId xmlns:a16="http://schemas.microsoft.com/office/drawing/2014/main" id="{E82239C7-D88A-C904-9268-26963CB36C0C}"/>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1046" b="1275"/>
            <a:stretch/>
          </p:blipFill>
          <p:spPr>
            <a:xfrm>
              <a:off x="8515112" y="4055101"/>
              <a:ext cx="1686923" cy="1683056"/>
            </a:xfrm>
            <a:prstGeom prst="rect">
              <a:avLst/>
            </a:prstGeom>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3811434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1292C0-7E24-9EAB-60B5-57BF0B393BE0}"/>
              </a:ext>
            </a:extLst>
          </p:cNvPr>
          <p:cNvSpPr>
            <a:spLocks noGrp="1"/>
          </p:cNvSpPr>
          <p:nvPr>
            <p:ph type="sldNum" idx="97"/>
          </p:nvPr>
        </p:nvSpPr>
        <p:spPr/>
        <p:txBody>
          <a:bodyPr/>
          <a:lstStyle/>
          <a:p>
            <a:fld id="{86A8BF56-6CB3-514C-9A64-F39D95C9E25B}" type="slidenum">
              <a:rPr lang="en-US" smtClean="0"/>
              <a:t>13</a:t>
            </a:fld>
            <a:endParaRPr lang="en-US"/>
          </a:p>
        </p:txBody>
      </p:sp>
      <p:sp>
        <p:nvSpPr>
          <p:cNvPr id="3" name="Title 2">
            <a:extLst>
              <a:ext uri="{FF2B5EF4-FFF2-40B4-BE49-F238E27FC236}">
                <a16:creationId xmlns:a16="http://schemas.microsoft.com/office/drawing/2014/main" id="{69CCB2F6-C66F-9B6E-7866-45335320DEE7}"/>
              </a:ext>
            </a:extLst>
          </p:cNvPr>
          <p:cNvSpPr>
            <a:spLocks noGrp="1"/>
          </p:cNvSpPr>
          <p:nvPr>
            <p:ph type="title" idx="1"/>
          </p:nvPr>
        </p:nvSpPr>
        <p:spPr/>
        <p:txBody>
          <a:bodyPr/>
          <a:lstStyle/>
          <a:p>
            <a:r>
              <a:rPr lang="en-US" dirty="0"/>
              <a:t>Output parsers</a:t>
            </a:r>
          </a:p>
        </p:txBody>
      </p:sp>
      <p:sp>
        <p:nvSpPr>
          <p:cNvPr id="4" name="Content Placeholder 3">
            <a:extLst>
              <a:ext uri="{FF2B5EF4-FFF2-40B4-BE49-F238E27FC236}">
                <a16:creationId xmlns:a16="http://schemas.microsoft.com/office/drawing/2014/main" id="{9B8E7615-A9A7-FF34-9055-0E233A27B1AC}"/>
              </a:ext>
            </a:extLst>
          </p:cNvPr>
          <p:cNvSpPr>
            <a:spLocks noGrp="1"/>
          </p:cNvSpPr>
          <p:nvPr>
            <p:ph idx="2"/>
          </p:nvPr>
        </p:nvSpPr>
        <p:spPr/>
        <p:txBody>
          <a:bodyPr/>
          <a:lstStyle/>
          <a:p>
            <a:r>
              <a:rPr lang="en-US" dirty="0"/>
              <a:t>Parse the output of LLM into various formats</a:t>
            </a:r>
          </a:p>
          <a:p>
            <a:pPr lvl="1"/>
            <a:r>
              <a:rPr lang="en-US" b="0" i="0" dirty="0" err="1">
                <a:solidFill>
                  <a:schemeClr val="accent6"/>
                </a:solidFill>
                <a:effectLst/>
                <a:latin typeface="+mj-lt"/>
              </a:rPr>
              <a:t>StrOutputParser</a:t>
            </a:r>
            <a:endParaRPr lang="en-US" dirty="0">
              <a:solidFill>
                <a:schemeClr val="accent6"/>
              </a:solidFill>
              <a:latin typeface="+mj-lt"/>
            </a:endParaRPr>
          </a:p>
          <a:p>
            <a:pPr lvl="1"/>
            <a:r>
              <a:rPr lang="en-US" b="0" i="0" dirty="0" err="1">
                <a:solidFill>
                  <a:schemeClr val="accent6"/>
                </a:solidFill>
                <a:effectLst/>
                <a:latin typeface="+mj-lt"/>
              </a:rPr>
              <a:t>JsonOutputParser</a:t>
            </a:r>
            <a:endParaRPr lang="en-US" b="0" i="0" dirty="0">
              <a:solidFill>
                <a:schemeClr val="accent6"/>
              </a:solidFill>
              <a:effectLst/>
              <a:latin typeface="+mj-lt"/>
            </a:endParaRPr>
          </a:p>
          <a:p>
            <a:pPr lvl="1"/>
            <a:r>
              <a:rPr lang="en-US" b="0" i="0" dirty="0" err="1">
                <a:solidFill>
                  <a:schemeClr val="accent6"/>
                </a:solidFill>
                <a:effectLst/>
                <a:latin typeface="+mj-lt"/>
              </a:rPr>
              <a:t>XMLOutputParser</a:t>
            </a:r>
            <a:endParaRPr lang="en-US" b="0" i="0" dirty="0">
              <a:solidFill>
                <a:schemeClr val="accent6"/>
              </a:solidFill>
              <a:effectLst/>
              <a:latin typeface="+mj-lt"/>
            </a:endParaRPr>
          </a:p>
          <a:p>
            <a:pPr lvl="1"/>
            <a:r>
              <a:rPr lang="en-US" b="0" i="0" dirty="0" err="1">
                <a:solidFill>
                  <a:schemeClr val="accent6"/>
                </a:solidFill>
                <a:effectLst/>
                <a:latin typeface="+mj-lt"/>
              </a:rPr>
              <a:t>BooleanOutputParser</a:t>
            </a:r>
            <a:endParaRPr lang="en-US" b="0" i="0" dirty="0">
              <a:solidFill>
                <a:schemeClr val="accent6"/>
              </a:solidFill>
              <a:effectLst/>
              <a:latin typeface="+mj-lt"/>
            </a:endParaRPr>
          </a:p>
          <a:p>
            <a:pPr lvl="1"/>
            <a:endParaRPr lang="en-US" dirty="0"/>
          </a:p>
          <a:p>
            <a:r>
              <a:rPr lang="en-US" dirty="0"/>
              <a:t>Useful of the output of the LLM needs to adhere to specific formats for downstream tasks</a:t>
            </a:r>
          </a:p>
          <a:p>
            <a:endParaRPr lang="en-US" dirty="0"/>
          </a:p>
        </p:txBody>
      </p:sp>
    </p:spTree>
    <p:extLst>
      <p:ext uri="{BB962C8B-B14F-4D97-AF65-F5344CB8AC3E}">
        <p14:creationId xmlns:p14="http://schemas.microsoft.com/office/powerpoint/2010/main" val="15553251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E71C494-725D-38BF-D8AA-A5E8590DB4B3}"/>
              </a:ext>
            </a:extLst>
          </p:cNvPr>
          <p:cNvSpPr>
            <a:spLocks noGrp="1"/>
          </p:cNvSpPr>
          <p:nvPr>
            <p:ph type="sldNum" idx="97"/>
          </p:nvPr>
        </p:nvSpPr>
        <p:spPr/>
        <p:txBody>
          <a:bodyPr/>
          <a:lstStyle/>
          <a:p>
            <a:fld id="{86A8BF56-6CB3-514C-9A64-F39D95C9E25B}" type="slidenum">
              <a:rPr lang="en-US" smtClean="0"/>
              <a:t>14</a:t>
            </a:fld>
            <a:endParaRPr lang="en-US"/>
          </a:p>
        </p:txBody>
      </p:sp>
      <p:sp>
        <p:nvSpPr>
          <p:cNvPr id="3" name="Title 2">
            <a:extLst>
              <a:ext uri="{FF2B5EF4-FFF2-40B4-BE49-F238E27FC236}">
                <a16:creationId xmlns:a16="http://schemas.microsoft.com/office/drawing/2014/main" id="{6061AF97-01E2-CE83-A6D1-0984661C8FF3}"/>
              </a:ext>
            </a:extLst>
          </p:cNvPr>
          <p:cNvSpPr>
            <a:spLocks noGrp="1"/>
          </p:cNvSpPr>
          <p:nvPr>
            <p:ph type="title" idx="1"/>
          </p:nvPr>
        </p:nvSpPr>
        <p:spPr/>
        <p:txBody>
          <a:bodyPr/>
          <a:lstStyle/>
          <a:p>
            <a:r>
              <a:rPr lang="en-US" dirty="0"/>
              <a:t>Chains</a:t>
            </a:r>
          </a:p>
        </p:txBody>
      </p:sp>
      <p:sp>
        <p:nvSpPr>
          <p:cNvPr id="4" name="Content Placeholder 3">
            <a:extLst>
              <a:ext uri="{FF2B5EF4-FFF2-40B4-BE49-F238E27FC236}">
                <a16:creationId xmlns:a16="http://schemas.microsoft.com/office/drawing/2014/main" id="{FFE64DAF-1CC9-9486-1945-18EBB0E334DF}"/>
              </a:ext>
            </a:extLst>
          </p:cNvPr>
          <p:cNvSpPr>
            <a:spLocks noGrp="1"/>
          </p:cNvSpPr>
          <p:nvPr>
            <p:ph idx="2"/>
          </p:nvPr>
        </p:nvSpPr>
        <p:spPr/>
        <p:txBody>
          <a:bodyPr/>
          <a:lstStyle/>
          <a:p>
            <a:r>
              <a:rPr lang="en-US" dirty="0"/>
              <a:t>Enables building complex applications by </a:t>
            </a:r>
            <a:r>
              <a:rPr lang="en-US" dirty="0">
                <a:solidFill>
                  <a:schemeClr val="accent6"/>
                </a:solidFill>
                <a:latin typeface="+mj-lt"/>
              </a:rPr>
              <a:t>chaining</a:t>
            </a:r>
            <a:r>
              <a:rPr lang="en-US" dirty="0"/>
              <a:t> modules</a:t>
            </a:r>
          </a:p>
          <a:p>
            <a:pPr lvl="1"/>
            <a:r>
              <a:rPr lang="en-US" dirty="0">
                <a:solidFill>
                  <a:schemeClr val="accent6"/>
                </a:solidFill>
                <a:latin typeface="+mj-lt"/>
              </a:rPr>
              <a:t>Sequence of calls</a:t>
            </a:r>
            <a:r>
              <a:rPr lang="en-US" dirty="0">
                <a:solidFill>
                  <a:schemeClr val="accent4"/>
                </a:solidFill>
              </a:rPr>
              <a:t> </a:t>
            </a:r>
            <a:r>
              <a:rPr lang="en-US" dirty="0"/>
              <a:t>to LLM, tool, etc.</a:t>
            </a:r>
          </a:p>
          <a:p>
            <a:pPr lvl="1"/>
            <a:endParaRPr lang="en-US" dirty="0"/>
          </a:p>
          <a:p>
            <a:r>
              <a:rPr lang="en-US" dirty="0">
                <a:solidFill>
                  <a:schemeClr val="accent6"/>
                </a:solidFill>
                <a:latin typeface="+mj-lt"/>
              </a:rPr>
              <a:t>Simplifies</a:t>
            </a:r>
            <a:r>
              <a:rPr lang="en-US" dirty="0"/>
              <a:t> complex tasks using multiple steps and components</a:t>
            </a:r>
          </a:p>
          <a:p>
            <a:endParaRPr lang="en-US" dirty="0"/>
          </a:p>
          <a:p>
            <a:r>
              <a:rPr lang="en-US" dirty="0"/>
              <a:t>Easy to </a:t>
            </a:r>
            <a:r>
              <a:rPr lang="en-US" dirty="0">
                <a:solidFill>
                  <a:schemeClr val="accent6"/>
                </a:solidFill>
                <a:latin typeface="+mj-lt"/>
              </a:rPr>
              <a:t>switch components </a:t>
            </a:r>
            <a:r>
              <a:rPr lang="en-US" dirty="0"/>
              <a:t>without disrupting the entire workflow</a:t>
            </a:r>
          </a:p>
          <a:p>
            <a:endParaRPr lang="en-US" dirty="0"/>
          </a:p>
          <a:p>
            <a:r>
              <a:rPr lang="en-US" dirty="0"/>
              <a:t>Easiest to use LCEL</a:t>
            </a:r>
          </a:p>
          <a:p>
            <a:pPr lvl="1"/>
            <a:r>
              <a:rPr lang="en-US" dirty="0" err="1">
                <a:solidFill>
                  <a:schemeClr val="accent5"/>
                </a:solidFill>
                <a:latin typeface="+mj-lt"/>
              </a:rPr>
              <a:t>LangChain</a:t>
            </a:r>
            <a:r>
              <a:rPr lang="en-US" dirty="0">
                <a:solidFill>
                  <a:schemeClr val="accent5"/>
                </a:solidFill>
                <a:latin typeface="+mj-lt"/>
              </a:rPr>
              <a:t> Expression Language</a:t>
            </a:r>
          </a:p>
        </p:txBody>
      </p:sp>
    </p:spTree>
    <p:extLst>
      <p:ext uri="{BB962C8B-B14F-4D97-AF65-F5344CB8AC3E}">
        <p14:creationId xmlns:p14="http://schemas.microsoft.com/office/powerpoint/2010/main" val="3093983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D12B13-52C9-8C6F-FA42-B4DF47174116}"/>
              </a:ext>
            </a:extLst>
          </p:cNvPr>
          <p:cNvSpPr>
            <a:spLocks noGrp="1"/>
          </p:cNvSpPr>
          <p:nvPr>
            <p:ph type="sldNum" idx="97"/>
          </p:nvPr>
        </p:nvSpPr>
        <p:spPr/>
        <p:txBody>
          <a:bodyPr/>
          <a:lstStyle/>
          <a:p>
            <a:fld id="{86A8BF56-6CB3-514C-9A64-F39D95C9E25B}" type="slidenum">
              <a:rPr lang="en-US" smtClean="0"/>
              <a:t>15</a:t>
            </a:fld>
            <a:endParaRPr lang="en-US"/>
          </a:p>
        </p:txBody>
      </p:sp>
      <p:sp>
        <p:nvSpPr>
          <p:cNvPr id="3" name="Title 2">
            <a:extLst>
              <a:ext uri="{FF2B5EF4-FFF2-40B4-BE49-F238E27FC236}">
                <a16:creationId xmlns:a16="http://schemas.microsoft.com/office/drawing/2014/main" id="{A685BD79-CA1C-8E05-8D90-715FF399D068}"/>
              </a:ext>
            </a:extLst>
          </p:cNvPr>
          <p:cNvSpPr>
            <a:spLocks noGrp="1"/>
          </p:cNvSpPr>
          <p:nvPr>
            <p:ph type="title" idx="1"/>
          </p:nvPr>
        </p:nvSpPr>
        <p:spPr/>
        <p:txBody>
          <a:bodyPr/>
          <a:lstStyle/>
          <a:p>
            <a:r>
              <a:rPr lang="en-US" dirty="0" err="1"/>
              <a:t>LangChain</a:t>
            </a:r>
            <a:r>
              <a:rPr lang="en-US" dirty="0"/>
              <a:t> Expression Language (LCEL)</a:t>
            </a:r>
          </a:p>
        </p:txBody>
      </p:sp>
      <p:sp>
        <p:nvSpPr>
          <p:cNvPr id="4" name="Content Placeholder 3">
            <a:extLst>
              <a:ext uri="{FF2B5EF4-FFF2-40B4-BE49-F238E27FC236}">
                <a16:creationId xmlns:a16="http://schemas.microsoft.com/office/drawing/2014/main" id="{3E1C4B87-D210-3B3B-29DA-3451C5CF9FD5}"/>
              </a:ext>
            </a:extLst>
          </p:cNvPr>
          <p:cNvSpPr>
            <a:spLocks noGrp="1"/>
          </p:cNvSpPr>
          <p:nvPr>
            <p:ph idx="2"/>
          </p:nvPr>
        </p:nvSpPr>
        <p:spPr/>
        <p:txBody>
          <a:bodyPr/>
          <a:lstStyle/>
          <a:p>
            <a:r>
              <a:rPr lang="en-US" dirty="0"/>
              <a:t>Easily compose chains</a:t>
            </a:r>
          </a:p>
          <a:p>
            <a:endParaRPr lang="en-US" dirty="0"/>
          </a:p>
          <a:p>
            <a:r>
              <a:rPr lang="en-US" dirty="0">
                <a:solidFill>
                  <a:schemeClr val="accent6"/>
                </a:solidFill>
                <a:latin typeface="+mj-lt"/>
              </a:rPr>
              <a:t>Several benefits</a:t>
            </a:r>
          </a:p>
          <a:p>
            <a:pPr lvl="1"/>
            <a:r>
              <a:rPr lang="en-US" dirty="0"/>
              <a:t>Streaming support</a:t>
            </a:r>
          </a:p>
          <a:p>
            <a:pPr lvl="1"/>
            <a:r>
              <a:rPr lang="en-US" dirty="0"/>
              <a:t>Parallel execution</a:t>
            </a:r>
          </a:p>
          <a:p>
            <a:pPr lvl="1"/>
            <a:r>
              <a:rPr lang="en-US" dirty="0"/>
              <a:t>Configure retried and fallbacks</a:t>
            </a:r>
          </a:p>
          <a:p>
            <a:pPr lvl="1"/>
            <a:r>
              <a:rPr lang="en-US" dirty="0"/>
              <a:t>Access intermediate steps</a:t>
            </a:r>
          </a:p>
          <a:p>
            <a:pPr lvl="1"/>
            <a:r>
              <a:rPr lang="en-US" dirty="0"/>
              <a:t>Specify input/output schema for conformity</a:t>
            </a:r>
          </a:p>
          <a:p>
            <a:endParaRPr lang="en-US" dirty="0"/>
          </a:p>
        </p:txBody>
      </p:sp>
    </p:spTree>
    <p:extLst>
      <p:ext uri="{BB962C8B-B14F-4D97-AF65-F5344CB8AC3E}">
        <p14:creationId xmlns:p14="http://schemas.microsoft.com/office/powerpoint/2010/main" val="1020342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3738F8-1469-38D2-5403-86D196DE27BC}"/>
              </a:ext>
            </a:extLst>
          </p:cNvPr>
          <p:cNvSpPr>
            <a:spLocks noGrp="1"/>
          </p:cNvSpPr>
          <p:nvPr>
            <p:ph type="sldNum" idx="97"/>
          </p:nvPr>
        </p:nvSpPr>
        <p:spPr/>
        <p:txBody>
          <a:bodyPr/>
          <a:lstStyle/>
          <a:p>
            <a:fld id="{86A8BF56-6CB3-514C-9A64-F39D95C9E25B}" type="slidenum">
              <a:rPr lang="en-US" smtClean="0"/>
              <a:t>16</a:t>
            </a:fld>
            <a:endParaRPr lang="en-US"/>
          </a:p>
        </p:txBody>
      </p:sp>
      <p:sp>
        <p:nvSpPr>
          <p:cNvPr id="3" name="Title 2">
            <a:extLst>
              <a:ext uri="{FF2B5EF4-FFF2-40B4-BE49-F238E27FC236}">
                <a16:creationId xmlns:a16="http://schemas.microsoft.com/office/drawing/2014/main" id="{B3818F40-B8ED-F78E-48FC-5B26BA9ECC40}"/>
              </a:ext>
            </a:extLst>
          </p:cNvPr>
          <p:cNvSpPr>
            <a:spLocks noGrp="1"/>
          </p:cNvSpPr>
          <p:nvPr>
            <p:ph type="title" idx="1"/>
          </p:nvPr>
        </p:nvSpPr>
        <p:spPr/>
        <p:txBody>
          <a:bodyPr/>
          <a:lstStyle/>
          <a:p>
            <a:r>
              <a:rPr lang="en-US" dirty="0"/>
              <a:t>Simple LLM chain</a:t>
            </a:r>
          </a:p>
        </p:txBody>
      </p:sp>
      <p:sp>
        <p:nvSpPr>
          <p:cNvPr id="4" name="Content Placeholder 3">
            <a:extLst>
              <a:ext uri="{FF2B5EF4-FFF2-40B4-BE49-F238E27FC236}">
                <a16:creationId xmlns:a16="http://schemas.microsoft.com/office/drawing/2014/main" id="{87DEE923-5698-CC6F-70E7-CC3C4AF507F2}"/>
              </a:ext>
            </a:extLst>
          </p:cNvPr>
          <p:cNvSpPr>
            <a:spLocks noGrp="1"/>
          </p:cNvSpPr>
          <p:nvPr>
            <p:ph idx="2"/>
          </p:nvPr>
        </p:nvSpPr>
        <p:spPr>
          <a:xfrm>
            <a:off x="365760" y="1165536"/>
            <a:ext cx="11466576" cy="968064"/>
          </a:xfrm>
        </p:spPr>
        <p:txBody>
          <a:bodyPr/>
          <a:lstStyle/>
          <a:p>
            <a:r>
              <a:rPr lang="en-US" dirty="0"/>
              <a:t>Combine an LLM, prompt template and output parser</a:t>
            </a:r>
          </a:p>
          <a:p>
            <a:endParaRPr lang="en-US" dirty="0"/>
          </a:p>
        </p:txBody>
      </p:sp>
      <p:sp>
        <p:nvSpPr>
          <p:cNvPr id="6" name="Rectangle 5">
            <a:extLst>
              <a:ext uri="{FF2B5EF4-FFF2-40B4-BE49-F238E27FC236}">
                <a16:creationId xmlns:a16="http://schemas.microsoft.com/office/drawing/2014/main" id="{47A35741-DB00-A658-FF0C-DFD199B6454B}"/>
              </a:ext>
            </a:extLst>
          </p:cNvPr>
          <p:cNvSpPr/>
          <p:nvPr/>
        </p:nvSpPr>
        <p:spPr>
          <a:xfrm>
            <a:off x="1036292" y="2416611"/>
            <a:ext cx="10119416" cy="3416320"/>
          </a:xfrm>
          <a:prstGeom prst="rect">
            <a:avLst/>
          </a:prstGeom>
          <a:solidFill>
            <a:srgbClr val="FFFFFF"/>
          </a:solidFill>
          <a:ln w="38100">
            <a:solidFill>
              <a:srgbClr val="330066">
                <a:lumMod val="40000"/>
                <a:lumOff val="60000"/>
              </a:srgbClr>
            </a:solidFill>
          </a:ln>
          <a:effectLst>
            <a:outerShdw blurRad="50800" dist="38100" dir="2700000" algn="tl" rotWithShape="0">
              <a:prstClr val="black">
                <a:alpha val="40000"/>
              </a:prstClr>
            </a:outerShdw>
          </a:effec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lumMod val="50000"/>
                  </a:srgbClr>
                </a:solidFill>
                <a:effectLst/>
                <a:uLnTx/>
                <a:uFillTx/>
                <a:latin typeface="Courier New" panose="02070309020205020404" pitchFamily="49" charset="0"/>
                <a:cs typeface="Courier New" panose="02070309020205020404" pitchFamily="49" charset="0"/>
              </a:rPr>
              <a:t># Define prompt template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prompt_template</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 </a:t>
            </a: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PromptTemplate.</a:t>
            </a:r>
            <a:r>
              <a:rPr kumimoji="0" lang="en-US" sz="1800" b="1" i="0" u="none" strike="noStrike" kern="0" cap="none" spc="0" normalizeH="0" baseline="0" noProof="0" dirty="0" err="1">
                <a:ln>
                  <a:noFill/>
                </a:ln>
                <a:solidFill>
                  <a:srgbClr val="7C5AED"/>
                </a:solidFill>
                <a:effectLst/>
                <a:uLnTx/>
                <a:uFillTx/>
                <a:latin typeface="Courier New" panose="02070309020205020404" pitchFamily="49" charset="0"/>
                <a:cs typeface="Courier New" panose="02070309020205020404" pitchFamily="49" charset="0"/>
              </a:rPr>
              <a:t>from_template</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a:t>
            </a:r>
            <a:r>
              <a:rPr kumimoji="0" lang="en-US" sz="1800" b="1" i="0" u="none" strike="noStrike" kern="0" cap="none" spc="0" normalizeH="0" baseline="0" noProof="0" dirty="0">
                <a:ln>
                  <a:noFill/>
                </a:ln>
                <a:solidFill>
                  <a:srgbClr val="DF2A5D"/>
                </a:solidFill>
                <a:effectLst/>
                <a:uLnTx/>
                <a:uFillTx/>
                <a:latin typeface="Courier New" panose="02070309020205020404" pitchFamily="49" charset="0"/>
                <a:cs typeface="Courier New" panose="02070309020205020404" pitchFamily="49" charset="0"/>
              </a:rPr>
              <a:t>“Tell me a {</a:t>
            </a:r>
            <a:r>
              <a:rPr kumimoji="0" lang="en-US" sz="1800" b="1" i="0" u="none" strike="noStrike" kern="0" cap="none" spc="0" normalizeH="0" baseline="0" noProof="0" dirty="0" err="1">
                <a:ln>
                  <a:noFill/>
                </a:ln>
                <a:solidFill>
                  <a:srgbClr val="DF2A5D"/>
                </a:solidFill>
                <a:effectLst/>
                <a:uLnTx/>
                <a:uFillTx/>
                <a:latin typeface="Courier New" panose="02070309020205020404" pitchFamily="49" charset="0"/>
                <a:cs typeface="Courier New" panose="02070309020205020404" pitchFamily="49" charset="0"/>
              </a:rPr>
              <a:t>content_type</a:t>
            </a:r>
            <a:r>
              <a:rPr kumimoji="0" lang="en-US" sz="1800" b="1" i="0" u="none" strike="noStrike" kern="0" cap="none" spc="0" normalizeH="0" baseline="0" noProof="0" dirty="0">
                <a:ln>
                  <a:noFill/>
                </a:ln>
                <a:solidFill>
                  <a:srgbClr val="DF2A5D"/>
                </a:solidFill>
                <a:effectLst/>
                <a:uLnTx/>
                <a:uFillTx/>
                <a:latin typeface="Courier New" panose="02070309020205020404" pitchFamily="49" charset="0"/>
                <a:cs typeface="Courier New" panose="02070309020205020404" pitchFamily="49" charset="0"/>
              </a:rPr>
              <a:t>} about {topic}.”</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dirty="0">
              <a:ln>
                <a:noFill/>
              </a:ln>
              <a:solidFill>
                <a:srgbClr val="FFFFFF">
                  <a:lumMod val="65000"/>
                </a:srgbClr>
              </a:solidFill>
              <a:effectLst/>
              <a:uLnTx/>
              <a:uFillTx/>
              <a:latin typeface="Courier New" panose="02070309020205020404" pitchFamily="49" charset="0"/>
              <a:cs typeface="Courier New" panose="020703090202050204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lumMod val="50000"/>
                  </a:srgbClr>
                </a:solidFill>
                <a:effectLst/>
                <a:uLnTx/>
                <a:uFillTx/>
                <a:latin typeface="Courier New" panose="02070309020205020404" pitchFamily="49" charset="0"/>
                <a:cs typeface="Courier New" panose="02070309020205020404" pitchFamily="49" charset="0"/>
              </a:rPr>
              <a:t># Create a simple LLM Chain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chain = </a:t>
            </a: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prompt_template</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 </a:t>
            </a: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llm</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 </a:t>
            </a: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StrOutputParser</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a:t>
            </a:r>
            <a:endParaRPr kumimoji="0" lang="en-US" sz="1800" b="1" i="0" u="none" strike="noStrike" kern="0" cap="none" spc="0" normalizeH="0" baseline="0" noProof="0" dirty="0">
              <a:ln>
                <a:noFill/>
              </a:ln>
              <a:solidFill>
                <a:srgbClr val="00B0F0"/>
              </a:solidFill>
              <a:effectLst/>
              <a:uLnTx/>
              <a:uFillTx/>
              <a:latin typeface="Courier New" panose="02070309020205020404" pitchFamily="49" charset="0"/>
              <a:cs typeface="Courier New" panose="020703090202050204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dirty="0">
              <a:ln>
                <a:noFill/>
              </a:ln>
              <a:solidFill>
                <a:srgbClr val="00B0F0"/>
              </a:solidFill>
              <a:effectLst/>
              <a:uLnTx/>
              <a:uFillTx/>
              <a:latin typeface="Courier New" panose="02070309020205020404" pitchFamily="49" charset="0"/>
              <a:cs typeface="Courier New" panose="020703090202050204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chain.invoke</a:t>
            </a:r>
            <a:r>
              <a:rPr kumimoji="0" lang="en-US" sz="1800" b="1" i="0" u="none" strike="noStrike" kern="0" cap="none" spc="0" normalizeH="0" baseline="0" noProof="0" dirty="0">
                <a:ln>
                  <a:noFill/>
                </a:ln>
                <a:solidFill>
                  <a:srgbClr val="00B0F0"/>
                </a:solidFill>
                <a:effectLst/>
                <a:uLnTx/>
                <a:uFillTx/>
                <a:latin typeface="Courier New" panose="02070309020205020404" pitchFamily="49" charset="0"/>
                <a:cs typeface="Courier New" panose="02070309020205020404" pitchFamily="49" charset="0"/>
              </a:rPr>
              <a:t>({</a:t>
            </a: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content_type:</a:t>
            </a:r>
            <a:r>
              <a:rPr kumimoji="0" lang="en-US" sz="1800" b="1" i="0" u="none" strike="noStrike" kern="0" cap="none" spc="0" normalizeH="0" baseline="0" noProof="0" dirty="0" err="1">
                <a:ln>
                  <a:noFill/>
                </a:ln>
                <a:solidFill>
                  <a:srgbClr val="DF2A5D"/>
                </a:solidFill>
                <a:effectLst/>
                <a:uLnTx/>
                <a:uFillTx/>
                <a:latin typeface="Courier New" panose="02070309020205020404" pitchFamily="49" charset="0"/>
                <a:cs typeface="Courier New" panose="02070309020205020404" pitchFamily="49" charset="0"/>
              </a:rPr>
              <a:t>“bedtime</a:t>
            </a:r>
            <a:r>
              <a:rPr kumimoji="0" lang="en-US" sz="1800" b="1" i="0" u="none" strike="noStrike" kern="0" cap="none" spc="0" normalizeH="0" baseline="0" noProof="0" dirty="0">
                <a:ln>
                  <a:noFill/>
                </a:ln>
                <a:solidFill>
                  <a:srgbClr val="DF2A5D"/>
                </a:solidFill>
                <a:effectLst/>
                <a:uLnTx/>
                <a:uFillTx/>
                <a:latin typeface="Courier New" panose="02070309020205020404" pitchFamily="49" charset="0"/>
                <a:cs typeface="Courier New" panose="02070309020205020404" pitchFamily="49" charset="0"/>
              </a:rPr>
              <a:t> story”</a:t>
            </a:r>
            <a:r>
              <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rPr>
              <a:t>, </a:t>
            </a:r>
            <a:r>
              <a:rPr kumimoji="0" lang="en-US" sz="1800" b="1" i="0" u="none" strike="noStrike" kern="0" cap="none" spc="0" normalizeH="0" baseline="0" noProof="0" dirty="0" err="1">
                <a:ln>
                  <a:noFill/>
                </a:ln>
                <a:solidFill>
                  <a:srgbClr val="232F3E"/>
                </a:solidFill>
                <a:effectLst/>
                <a:uLnTx/>
                <a:uFillTx/>
                <a:latin typeface="Courier New" panose="02070309020205020404" pitchFamily="49" charset="0"/>
                <a:cs typeface="Courier New" panose="02070309020205020404" pitchFamily="49" charset="0"/>
              </a:rPr>
              <a:t>topic:</a:t>
            </a:r>
            <a:r>
              <a:rPr kumimoji="0" lang="en-US" sz="1800" b="1" i="0" u="none" strike="noStrike" kern="0" cap="none" spc="0" normalizeH="0" baseline="0" noProof="0" dirty="0" err="1">
                <a:ln>
                  <a:noFill/>
                </a:ln>
                <a:solidFill>
                  <a:srgbClr val="DF2A5D"/>
                </a:solidFill>
                <a:effectLst/>
                <a:uLnTx/>
                <a:uFillTx/>
                <a:latin typeface="Courier New" panose="02070309020205020404" pitchFamily="49" charset="0"/>
                <a:cs typeface="Courier New" panose="02070309020205020404" pitchFamily="49" charset="0"/>
              </a:rPr>
              <a:t>“a</a:t>
            </a:r>
            <a:r>
              <a:rPr kumimoji="0" lang="en-US" sz="1800" b="1" i="0" u="none" strike="noStrike" kern="0" cap="none" spc="0" normalizeH="0" baseline="0" noProof="0" dirty="0">
                <a:ln>
                  <a:noFill/>
                </a:ln>
                <a:solidFill>
                  <a:srgbClr val="DF2A5D"/>
                </a:solidFill>
                <a:effectLst/>
                <a:uLnTx/>
                <a:uFillTx/>
                <a:latin typeface="Courier New" panose="02070309020205020404" pitchFamily="49" charset="0"/>
                <a:cs typeface="Courier New" panose="02070309020205020404" pitchFamily="49" charset="0"/>
              </a:rPr>
              <a:t> cat”</a:t>
            </a:r>
            <a:r>
              <a:rPr kumimoji="0" lang="en-US" sz="1800" b="1" i="0" u="none" strike="noStrike" kern="0" cap="none" spc="0" normalizeH="0" baseline="0" noProof="0" dirty="0">
                <a:ln>
                  <a:noFill/>
                </a:ln>
                <a:solidFill>
                  <a:srgbClr val="00B0F0"/>
                </a:solidFill>
                <a:effectLst/>
                <a:uLnTx/>
                <a:uFillTx/>
                <a:latin typeface="Courier New" panose="02070309020205020404" pitchFamily="49" charset="0"/>
                <a:cs typeface="Courier New" panose="020703090202050204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dirty="0">
              <a:ln>
                <a:noFill/>
              </a:ln>
              <a:solidFill>
                <a:srgbClr val="232F3E"/>
              </a:solidFill>
              <a:effectLst/>
              <a:uLnTx/>
              <a:uFillTx/>
              <a:latin typeface="Courier New" panose="02070309020205020404" pitchFamily="49" charset="0"/>
              <a:cs typeface="Courier New" panose="020703090202050204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00D200"/>
                </a:solidFill>
                <a:effectLst/>
                <a:uLnTx/>
                <a:uFillTx/>
                <a:latin typeface="Courier New" panose="02070309020205020404" pitchFamily="49" charset="0"/>
                <a:cs typeface="Courier New" panose="02070309020205020404" pitchFamily="49" charset="0"/>
              </a:rPr>
              <a:t>&gt;&gt; </a:t>
            </a:r>
            <a:r>
              <a:rPr kumimoji="0" lang="en-US" sz="1800" b="1" i="0" u="none" strike="noStrike" kern="0" cap="none" spc="0" normalizeH="0" baseline="0" noProof="0" dirty="0">
                <a:ln>
                  <a:noFill/>
                </a:ln>
                <a:solidFill>
                  <a:srgbClr val="38EF7D">
                    <a:lumMod val="50000"/>
                  </a:srgbClr>
                </a:solidFill>
                <a:effectLst/>
                <a:uLnTx/>
                <a:uFillTx/>
                <a:latin typeface="Courier New" panose="02070309020205020404" pitchFamily="49" charset="0"/>
                <a:cs typeface="Courier New" panose="02070309020205020404" pitchFamily="49" charset="0"/>
              </a:rPr>
              <a:t>Once upon a time, there was a little black cat named Midnight. Midnight was a very curious cat, and …</a:t>
            </a:r>
          </a:p>
        </p:txBody>
      </p:sp>
    </p:spTree>
    <p:extLst>
      <p:ext uri="{BB962C8B-B14F-4D97-AF65-F5344CB8AC3E}">
        <p14:creationId xmlns:p14="http://schemas.microsoft.com/office/powerpoint/2010/main" val="41406420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B72022-9F13-7E98-0240-E58A93561C46}"/>
              </a:ext>
            </a:extLst>
          </p:cNvPr>
          <p:cNvSpPr>
            <a:spLocks noGrp="1"/>
          </p:cNvSpPr>
          <p:nvPr>
            <p:ph type="sldNum" idx="97"/>
          </p:nvPr>
        </p:nvSpPr>
        <p:spPr/>
        <p:txBody>
          <a:bodyPr/>
          <a:lstStyle/>
          <a:p>
            <a:fld id="{86A8BF56-6CB3-514C-9A64-F39D95C9E25B}" type="slidenum">
              <a:rPr lang="en-US" smtClean="0"/>
              <a:t>17</a:t>
            </a:fld>
            <a:endParaRPr lang="en-US"/>
          </a:p>
        </p:txBody>
      </p:sp>
      <p:sp>
        <p:nvSpPr>
          <p:cNvPr id="3" name="Title 2">
            <a:extLst>
              <a:ext uri="{FF2B5EF4-FFF2-40B4-BE49-F238E27FC236}">
                <a16:creationId xmlns:a16="http://schemas.microsoft.com/office/drawing/2014/main" id="{6338E648-9966-AD23-0DDF-AB13062CD061}"/>
              </a:ext>
            </a:extLst>
          </p:cNvPr>
          <p:cNvSpPr>
            <a:spLocks noGrp="1"/>
          </p:cNvSpPr>
          <p:nvPr>
            <p:ph type="title" idx="1"/>
          </p:nvPr>
        </p:nvSpPr>
        <p:spPr/>
        <p:txBody>
          <a:bodyPr/>
          <a:lstStyle/>
          <a:p>
            <a:r>
              <a:rPr lang="en-US" dirty="0"/>
              <a:t>Connecting multiple chains</a:t>
            </a:r>
          </a:p>
        </p:txBody>
      </p:sp>
      <p:sp>
        <p:nvSpPr>
          <p:cNvPr id="4" name="Content Placeholder 3">
            <a:extLst>
              <a:ext uri="{FF2B5EF4-FFF2-40B4-BE49-F238E27FC236}">
                <a16:creationId xmlns:a16="http://schemas.microsoft.com/office/drawing/2014/main" id="{6DBB104E-CA6A-172A-8286-FFD0A2D0A0BC}"/>
              </a:ext>
            </a:extLst>
          </p:cNvPr>
          <p:cNvSpPr>
            <a:spLocks noGrp="1"/>
          </p:cNvSpPr>
          <p:nvPr>
            <p:ph idx="2"/>
          </p:nvPr>
        </p:nvSpPr>
        <p:spPr>
          <a:xfrm>
            <a:off x="365760" y="1165536"/>
            <a:ext cx="11466576" cy="1211904"/>
          </a:xfrm>
        </p:spPr>
        <p:txBody>
          <a:bodyPr/>
          <a:lstStyle/>
          <a:p>
            <a:r>
              <a:rPr lang="en-US" dirty="0"/>
              <a:t>Connect multiple chains together to create complex workflows</a:t>
            </a:r>
          </a:p>
          <a:p>
            <a:pPr lvl="1"/>
            <a:r>
              <a:rPr lang="en-US" dirty="0"/>
              <a:t>Define the flow using the proper input and output variables</a:t>
            </a:r>
          </a:p>
          <a:p>
            <a:endParaRPr lang="en-US" dirty="0"/>
          </a:p>
        </p:txBody>
      </p:sp>
      <p:grpSp>
        <p:nvGrpSpPr>
          <p:cNvPr id="24" name="Group 23">
            <a:extLst>
              <a:ext uri="{FF2B5EF4-FFF2-40B4-BE49-F238E27FC236}">
                <a16:creationId xmlns:a16="http://schemas.microsoft.com/office/drawing/2014/main" id="{C4AD4F1A-0A93-EF89-2346-04B204A0B7FE}"/>
              </a:ext>
            </a:extLst>
          </p:cNvPr>
          <p:cNvGrpSpPr/>
          <p:nvPr/>
        </p:nvGrpSpPr>
        <p:grpSpPr>
          <a:xfrm>
            <a:off x="247057" y="2927653"/>
            <a:ext cx="11697885" cy="3775402"/>
            <a:chOff x="494115" y="2692234"/>
            <a:chExt cx="11697885" cy="3775402"/>
          </a:xfrm>
        </p:grpSpPr>
        <p:sp>
          <p:nvSpPr>
            <p:cNvPr id="25" name="Rounded Rectangle 24">
              <a:extLst>
                <a:ext uri="{FF2B5EF4-FFF2-40B4-BE49-F238E27FC236}">
                  <a16:creationId xmlns:a16="http://schemas.microsoft.com/office/drawing/2014/main" id="{34C72830-709C-C839-4654-F8092A1F23B6}"/>
                </a:ext>
              </a:extLst>
            </p:cNvPr>
            <p:cNvSpPr/>
            <p:nvPr/>
          </p:nvSpPr>
          <p:spPr>
            <a:xfrm>
              <a:off x="494115" y="2826072"/>
              <a:ext cx="2126751" cy="602927"/>
            </a:xfrm>
            <a:prstGeom prst="roundRect">
              <a:avLst/>
            </a:prstGeom>
            <a:solidFill>
              <a:srgbClr val="DF2A5D">
                <a:lumMod val="40000"/>
                <a:lumOff val="6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Input</a:t>
              </a:r>
            </a:p>
          </p:txBody>
        </p:sp>
        <p:sp>
          <p:nvSpPr>
            <p:cNvPr id="26" name="Rounded Rectangle 25">
              <a:extLst>
                <a:ext uri="{FF2B5EF4-FFF2-40B4-BE49-F238E27FC236}">
                  <a16:creationId xmlns:a16="http://schemas.microsoft.com/office/drawing/2014/main" id="{FFC1C862-61FE-5D16-C011-1BD7A61D61EC}"/>
                </a:ext>
              </a:extLst>
            </p:cNvPr>
            <p:cNvSpPr/>
            <p:nvPr/>
          </p:nvSpPr>
          <p:spPr>
            <a:xfrm>
              <a:off x="4179728" y="2826072"/>
              <a:ext cx="2277169" cy="602927"/>
            </a:xfrm>
            <a:prstGeom prst="roundRect">
              <a:avLst/>
            </a:prstGeom>
            <a:solidFill>
              <a:srgbClr val="7C5AED">
                <a:lumMod val="40000"/>
                <a:lumOff val="6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Screenwriter chain</a:t>
              </a:r>
            </a:p>
          </p:txBody>
        </p:sp>
        <p:cxnSp>
          <p:nvCxnSpPr>
            <p:cNvPr id="27" name="Straight Arrow Connector 26">
              <a:extLst>
                <a:ext uri="{FF2B5EF4-FFF2-40B4-BE49-F238E27FC236}">
                  <a16:creationId xmlns:a16="http://schemas.microsoft.com/office/drawing/2014/main" id="{1197A774-0661-B9D8-3E4B-4077F2AC9628}"/>
                </a:ext>
              </a:extLst>
            </p:cNvPr>
            <p:cNvCxnSpPr>
              <a:cxnSpLocks/>
              <a:stCxn id="25" idx="3"/>
              <a:endCxn id="26" idx="1"/>
            </p:cNvCxnSpPr>
            <p:nvPr/>
          </p:nvCxnSpPr>
          <p:spPr>
            <a:xfrm>
              <a:off x="2620866" y="3127536"/>
              <a:ext cx="1558862" cy="0"/>
            </a:xfrm>
            <a:prstGeom prst="straightConnector1">
              <a:avLst/>
            </a:prstGeom>
            <a:noFill/>
            <a:ln w="63500" cap="flat" cmpd="sng" algn="ctr">
              <a:solidFill>
                <a:srgbClr val="232F3E"/>
              </a:solidFill>
              <a:prstDash val="solid"/>
              <a:miter lim="800000"/>
              <a:tailEnd type="triangle"/>
            </a:ln>
            <a:effectLst/>
          </p:spPr>
        </p:cxnSp>
        <p:sp>
          <p:nvSpPr>
            <p:cNvPr id="28" name="Rounded Rectangle 27">
              <a:extLst>
                <a:ext uri="{FF2B5EF4-FFF2-40B4-BE49-F238E27FC236}">
                  <a16:creationId xmlns:a16="http://schemas.microsoft.com/office/drawing/2014/main" id="{E9A01C84-DA8A-14CA-CBC3-482833F79D98}"/>
                </a:ext>
              </a:extLst>
            </p:cNvPr>
            <p:cNvSpPr/>
            <p:nvPr/>
          </p:nvSpPr>
          <p:spPr>
            <a:xfrm>
              <a:off x="4179728" y="4200958"/>
              <a:ext cx="2277169" cy="602927"/>
            </a:xfrm>
            <a:prstGeom prst="roundRect">
              <a:avLst/>
            </a:prstGeom>
            <a:solidFill>
              <a:srgbClr val="7C5AED">
                <a:lumMod val="40000"/>
                <a:lumOff val="6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Movie critic chain</a:t>
              </a:r>
            </a:p>
          </p:txBody>
        </p:sp>
        <p:cxnSp>
          <p:nvCxnSpPr>
            <p:cNvPr id="29" name="Straight Arrow Connector 28">
              <a:extLst>
                <a:ext uri="{FF2B5EF4-FFF2-40B4-BE49-F238E27FC236}">
                  <a16:creationId xmlns:a16="http://schemas.microsoft.com/office/drawing/2014/main" id="{4138884A-F6FA-7C55-5A3A-D4C8D2F8BA28}"/>
                </a:ext>
              </a:extLst>
            </p:cNvPr>
            <p:cNvCxnSpPr>
              <a:cxnSpLocks/>
              <a:stCxn id="26" idx="2"/>
              <a:endCxn id="28" idx="0"/>
            </p:cNvCxnSpPr>
            <p:nvPr/>
          </p:nvCxnSpPr>
          <p:spPr>
            <a:xfrm>
              <a:off x="5318313" y="3428999"/>
              <a:ext cx="0" cy="771959"/>
            </a:xfrm>
            <a:prstGeom prst="straightConnector1">
              <a:avLst/>
            </a:prstGeom>
            <a:noFill/>
            <a:ln w="63500" cap="flat" cmpd="sng" algn="ctr">
              <a:solidFill>
                <a:srgbClr val="232F3E"/>
              </a:solidFill>
              <a:prstDash val="solid"/>
              <a:miter lim="800000"/>
              <a:tailEnd type="triangle"/>
            </a:ln>
            <a:effectLst/>
          </p:spPr>
        </p:cxnSp>
        <p:sp>
          <p:nvSpPr>
            <p:cNvPr id="30" name="Rounded Rectangle 29">
              <a:extLst>
                <a:ext uri="{FF2B5EF4-FFF2-40B4-BE49-F238E27FC236}">
                  <a16:creationId xmlns:a16="http://schemas.microsoft.com/office/drawing/2014/main" id="{85D0F6A7-4C57-7313-8B09-4CC8EC0E4459}"/>
                </a:ext>
              </a:extLst>
            </p:cNvPr>
            <p:cNvSpPr/>
            <p:nvPr/>
          </p:nvSpPr>
          <p:spPr>
            <a:xfrm>
              <a:off x="4179728" y="5575844"/>
              <a:ext cx="2277169" cy="801832"/>
            </a:xfrm>
            <a:prstGeom prst="roundRect">
              <a:avLst/>
            </a:prstGeom>
            <a:solidFill>
              <a:srgbClr val="7C5AED">
                <a:lumMod val="40000"/>
                <a:lumOff val="6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Target demographic chain</a:t>
              </a:r>
            </a:p>
          </p:txBody>
        </p:sp>
        <p:cxnSp>
          <p:nvCxnSpPr>
            <p:cNvPr id="31" name="Straight Arrow Connector 30">
              <a:extLst>
                <a:ext uri="{FF2B5EF4-FFF2-40B4-BE49-F238E27FC236}">
                  <a16:creationId xmlns:a16="http://schemas.microsoft.com/office/drawing/2014/main" id="{925223DB-BE78-C7B8-D629-6D59737B855B}"/>
                </a:ext>
              </a:extLst>
            </p:cNvPr>
            <p:cNvCxnSpPr>
              <a:cxnSpLocks/>
              <a:stCxn id="28" idx="2"/>
              <a:endCxn id="30" idx="0"/>
            </p:cNvCxnSpPr>
            <p:nvPr/>
          </p:nvCxnSpPr>
          <p:spPr>
            <a:xfrm>
              <a:off x="5318313" y="4803885"/>
              <a:ext cx="0" cy="771959"/>
            </a:xfrm>
            <a:prstGeom prst="straightConnector1">
              <a:avLst/>
            </a:prstGeom>
            <a:noFill/>
            <a:ln w="63500" cap="flat" cmpd="sng" algn="ctr">
              <a:solidFill>
                <a:srgbClr val="232F3E"/>
              </a:solidFill>
              <a:prstDash val="solid"/>
              <a:miter lim="800000"/>
              <a:tailEnd type="triangle"/>
            </a:ln>
            <a:effectLst/>
          </p:spPr>
        </p:cxnSp>
        <p:sp>
          <p:nvSpPr>
            <p:cNvPr id="32" name="Rounded Rectangle 31">
              <a:extLst>
                <a:ext uri="{FF2B5EF4-FFF2-40B4-BE49-F238E27FC236}">
                  <a16:creationId xmlns:a16="http://schemas.microsoft.com/office/drawing/2014/main" id="{6222BB6C-F89B-CCFE-5F31-D22301160C42}"/>
                </a:ext>
              </a:extLst>
            </p:cNvPr>
            <p:cNvSpPr/>
            <p:nvPr/>
          </p:nvSpPr>
          <p:spPr>
            <a:xfrm>
              <a:off x="7713103" y="4803885"/>
              <a:ext cx="2126751" cy="801832"/>
            </a:xfrm>
            <a:prstGeom prst="roundRect">
              <a:avLst/>
            </a:prstGeom>
            <a:solidFill>
              <a:srgbClr val="FFFFFF">
                <a:lumMod val="75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Social media manager chain</a:t>
              </a:r>
            </a:p>
          </p:txBody>
        </p:sp>
        <p:cxnSp>
          <p:nvCxnSpPr>
            <p:cNvPr id="33" name="Straight Arrow Connector 32">
              <a:extLst>
                <a:ext uri="{FF2B5EF4-FFF2-40B4-BE49-F238E27FC236}">
                  <a16:creationId xmlns:a16="http://schemas.microsoft.com/office/drawing/2014/main" id="{349DB412-DD14-7692-3FE7-8EDE24AD92FA}"/>
                </a:ext>
              </a:extLst>
            </p:cNvPr>
            <p:cNvCxnSpPr>
              <a:cxnSpLocks/>
              <a:stCxn id="28" idx="3"/>
            </p:cNvCxnSpPr>
            <p:nvPr/>
          </p:nvCxnSpPr>
          <p:spPr>
            <a:xfrm>
              <a:off x="6456897" y="4502422"/>
              <a:ext cx="1256206" cy="500541"/>
            </a:xfrm>
            <a:prstGeom prst="straightConnector1">
              <a:avLst/>
            </a:prstGeom>
            <a:noFill/>
            <a:ln w="63500" cap="flat" cmpd="sng" algn="ctr">
              <a:solidFill>
                <a:srgbClr val="232F3E"/>
              </a:solidFill>
              <a:prstDash val="solid"/>
              <a:miter lim="800000"/>
              <a:tailEnd type="triangle"/>
            </a:ln>
            <a:effectLst/>
          </p:spPr>
        </p:cxnSp>
        <p:cxnSp>
          <p:nvCxnSpPr>
            <p:cNvPr id="34" name="Straight Arrow Connector 33">
              <a:extLst>
                <a:ext uri="{FF2B5EF4-FFF2-40B4-BE49-F238E27FC236}">
                  <a16:creationId xmlns:a16="http://schemas.microsoft.com/office/drawing/2014/main" id="{0EE3B35B-BB0C-C06F-3775-52E2269D4E18}"/>
                </a:ext>
              </a:extLst>
            </p:cNvPr>
            <p:cNvCxnSpPr>
              <a:cxnSpLocks/>
              <a:stCxn id="30" idx="3"/>
            </p:cNvCxnSpPr>
            <p:nvPr/>
          </p:nvCxnSpPr>
          <p:spPr>
            <a:xfrm flipV="1">
              <a:off x="6456897" y="5404857"/>
              <a:ext cx="1256206" cy="571903"/>
            </a:xfrm>
            <a:prstGeom prst="straightConnector1">
              <a:avLst/>
            </a:prstGeom>
            <a:noFill/>
            <a:ln w="63500" cap="flat" cmpd="sng" algn="ctr">
              <a:solidFill>
                <a:srgbClr val="232F3E"/>
              </a:solidFill>
              <a:prstDash val="solid"/>
              <a:miter lim="800000"/>
              <a:tailEnd type="triangle"/>
            </a:ln>
            <a:effectLst/>
          </p:spPr>
        </p:cxnSp>
        <p:sp>
          <p:nvSpPr>
            <p:cNvPr id="35" name="TextBox 34">
              <a:extLst>
                <a:ext uri="{FF2B5EF4-FFF2-40B4-BE49-F238E27FC236}">
                  <a16:creationId xmlns:a16="http://schemas.microsoft.com/office/drawing/2014/main" id="{1DF2BD03-E4FB-61EC-F7E0-1D9119138D82}"/>
                </a:ext>
              </a:extLst>
            </p:cNvPr>
            <p:cNvSpPr txBox="1"/>
            <p:nvPr/>
          </p:nvSpPr>
          <p:spPr>
            <a:xfrm>
              <a:off x="2656343" y="2692234"/>
              <a:ext cx="1487908"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rPr>
                <a:t>Movie title</a:t>
              </a:r>
              <a:endParaRPr kumimoji="0" lang="en-US" sz="1800" b="0" i="0" u="none" strike="noStrike" kern="0" cap="none" spc="0" normalizeH="0" baseline="0" noProof="0" dirty="0">
                <a:ln>
                  <a:noFill/>
                </a:ln>
                <a:solidFill>
                  <a:srgbClr val="232F3E"/>
                </a:solidFill>
                <a:effectLst/>
                <a:uLnTx/>
                <a:uFillTx/>
                <a:latin typeface="Amazon Ember Medium"/>
              </a:endParaRPr>
            </a:p>
          </p:txBody>
        </p:sp>
        <p:sp>
          <p:nvSpPr>
            <p:cNvPr id="36" name="TextBox 35">
              <a:extLst>
                <a:ext uri="{FF2B5EF4-FFF2-40B4-BE49-F238E27FC236}">
                  <a16:creationId xmlns:a16="http://schemas.microsoft.com/office/drawing/2014/main" id="{9D986C7F-449B-7CC9-ACC0-400BEA003252}"/>
                </a:ext>
              </a:extLst>
            </p:cNvPr>
            <p:cNvSpPr txBox="1"/>
            <p:nvPr/>
          </p:nvSpPr>
          <p:spPr>
            <a:xfrm>
              <a:off x="5318296" y="3570028"/>
              <a:ext cx="1213794"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rPr>
                <a:t>Synopsis</a:t>
              </a:r>
              <a:endParaRPr kumimoji="0" lang="en-US" sz="1800" b="0" i="0" u="none" strike="noStrike" kern="0" cap="none" spc="0" normalizeH="0" baseline="0" noProof="0" dirty="0">
                <a:ln>
                  <a:noFill/>
                </a:ln>
                <a:solidFill>
                  <a:srgbClr val="232F3E"/>
                </a:solidFill>
                <a:effectLst/>
                <a:uLnTx/>
                <a:uFillTx/>
                <a:latin typeface="Amazon Ember Medium"/>
              </a:endParaRPr>
            </a:p>
          </p:txBody>
        </p:sp>
        <p:sp>
          <p:nvSpPr>
            <p:cNvPr id="37" name="TextBox 36">
              <a:extLst>
                <a:ext uri="{FF2B5EF4-FFF2-40B4-BE49-F238E27FC236}">
                  <a16:creationId xmlns:a16="http://schemas.microsoft.com/office/drawing/2014/main" id="{A09C98C2-A4D0-B860-46B5-F86EE34092CA}"/>
                </a:ext>
              </a:extLst>
            </p:cNvPr>
            <p:cNvSpPr txBox="1"/>
            <p:nvPr/>
          </p:nvSpPr>
          <p:spPr>
            <a:xfrm>
              <a:off x="5318296" y="4946691"/>
              <a:ext cx="1019831"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rPr>
                <a:t>Review</a:t>
              </a:r>
              <a:endParaRPr kumimoji="0" lang="en-US" sz="1800" b="0" i="0" u="none" strike="noStrike" kern="0" cap="none" spc="0" normalizeH="0" baseline="0" noProof="0" dirty="0">
                <a:ln>
                  <a:noFill/>
                </a:ln>
                <a:solidFill>
                  <a:srgbClr val="232F3E"/>
                </a:solidFill>
                <a:effectLst/>
                <a:uLnTx/>
                <a:uFillTx/>
                <a:latin typeface="Amazon Ember Medium"/>
              </a:endParaRPr>
            </a:p>
          </p:txBody>
        </p:sp>
        <p:sp>
          <p:nvSpPr>
            <p:cNvPr id="38" name="TextBox 37">
              <a:extLst>
                <a:ext uri="{FF2B5EF4-FFF2-40B4-BE49-F238E27FC236}">
                  <a16:creationId xmlns:a16="http://schemas.microsoft.com/office/drawing/2014/main" id="{BC475A68-B105-8751-E13D-9B15809D08FA}"/>
                </a:ext>
              </a:extLst>
            </p:cNvPr>
            <p:cNvSpPr txBox="1"/>
            <p:nvPr/>
          </p:nvSpPr>
          <p:spPr>
            <a:xfrm>
              <a:off x="6813361" y="4302366"/>
              <a:ext cx="1213794"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rPr>
                <a:t>Synopsis</a:t>
              </a:r>
              <a:endParaRPr kumimoji="0" lang="en-US" sz="1800" b="0" i="0" u="none" strike="noStrike" kern="0" cap="none" spc="0" normalizeH="0" baseline="0" noProof="0" dirty="0">
                <a:ln>
                  <a:noFill/>
                </a:ln>
                <a:solidFill>
                  <a:srgbClr val="232F3E"/>
                </a:solidFill>
                <a:effectLst/>
                <a:uLnTx/>
                <a:uFillTx/>
                <a:latin typeface="Amazon Ember Medium"/>
              </a:endParaRPr>
            </a:p>
          </p:txBody>
        </p:sp>
        <p:sp>
          <p:nvSpPr>
            <p:cNvPr id="39" name="TextBox 38">
              <a:extLst>
                <a:ext uri="{FF2B5EF4-FFF2-40B4-BE49-F238E27FC236}">
                  <a16:creationId xmlns:a16="http://schemas.microsoft.com/office/drawing/2014/main" id="{2592E89A-9CD6-314D-06EF-B99B8AB4C329}"/>
                </a:ext>
              </a:extLst>
            </p:cNvPr>
            <p:cNvSpPr txBox="1"/>
            <p:nvPr/>
          </p:nvSpPr>
          <p:spPr>
            <a:xfrm>
              <a:off x="6804482" y="5759750"/>
              <a:ext cx="1808939" cy="707886"/>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rPr>
                <a:t>Target demographic</a:t>
              </a:r>
              <a:endParaRPr kumimoji="0" lang="en-US" sz="1800" b="0" i="0" u="none" strike="noStrike" kern="0" cap="none" spc="0" normalizeH="0" baseline="0" noProof="0" dirty="0">
                <a:ln>
                  <a:noFill/>
                </a:ln>
                <a:solidFill>
                  <a:srgbClr val="232F3E"/>
                </a:solidFill>
                <a:effectLst/>
                <a:uLnTx/>
                <a:uFillTx/>
                <a:latin typeface="Amazon Ember Medium"/>
              </a:endParaRPr>
            </a:p>
          </p:txBody>
        </p:sp>
        <p:cxnSp>
          <p:nvCxnSpPr>
            <p:cNvPr id="40" name="Straight Arrow Connector 39">
              <a:extLst>
                <a:ext uri="{FF2B5EF4-FFF2-40B4-BE49-F238E27FC236}">
                  <a16:creationId xmlns:a16="http://schemas.microsoft.com/office/drawing/2014/main" id="{D4FBDDFF-A45B-39BA-6FDA-4D598A3D55AB}"/>
                </a:ext>
              </a:extLst>
            </p:cNvPr>
            <p:cNvCxnSpPr>
              <a:cxnSpLocks/>
              <a:stCxn id="32" idx="3"/>
            </p:cNvCxnSpPr>
            <p:nvPr/>
          </p:nvCxnSpPr>
          <p:spPr>
            <a:xfrm>
              <a:off x="9839854" y="5204801"/>
              <a:ext cx="2352146" cy="0"/>
            </a:xfrm>
            <a:prstGeom prst="straightConnector1">
              <a:avLst/>
            </a:prstGeom>
            <a:noFill/>
            <a:ln w="63500" cap="flat" cmpd="sng" algn="ctr">
              <a:solidFill>
                <a:srgbClr val="232F3E"/>
              </a:solidFill>
              <a:prstDash val="solid"/>
              <a:miter lim="800000"/>
              <a:tailEnd type="triangle"/>
            </a:ln>
            <a:effectLst/>
          </p:spPr>
        </p:cxnSp>
        <p:sp>
          <p:nvSpPr>
            <p:cNvPr id="41" name="TextBox 40">
              <a:extLst>
                <a:ext uri="{FF2B5EF4-FFF2-40B4-BE49-F238E27FC236}">
                  <a16:creationId xmlns:a16="http://schemas.microsoft.com/office/drawing/2014/main" id="{F8BE44E8-7E6D-B74F-E782-E3EA9B21F6F6}"/>
                </a:ext>
              </a:extLst>
            </p:cNvPr>
            <p:cNvSpPr txBox="1"/>
            <p:nvPr/>
          </p:nvSpPr>
          <p:spPr>
            <a:xfrm>
              <a:off x="9839854" y="4789754"/>
              <a:ext cx="2246128"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rPr>
                <a:t>Social media post</a:t>
              </a:r>
              <a:endParaRPr kumimoji="0" lang="en-US" sz="1800" b="0" i="0" u="none" strike="noStrike" kern="0" cap="none" spc="0" normalizeH="0" baseline="0" noProof="0" dirty="0">
                <a:ln>
                  <a:noFill/>
                </a:ln>
                <a:solidFill>
                  <a:srgbClr val="232F3E"/>
                </a:solidFill>
                <a:effectLst/>
                <a:uLnTx/>
                <a:uFillTx/>
                <a:latin typeface="Amazon Ember Medium"/>
              </a:endParaRPr>
            </a:p>
          </p:txBody>
        </p:sp>
      </p:grpSp>
    </p:spTree>
    <p:extLst>
      <p:ext uri="{BB962C8B-B14F-4D97-AF65-F5344CB8AC3E}">
        <p14:creationId xmlns:p14="http://schemas.microsoft.com/office/powerpoint/2010/main" val="2068565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E9BBB-69AF-0CB8-0E4C-1C189827EA6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63529D6-D2AF-3235-4C19-8A79C089AE97}"/>
              </a:ext>
            </a:extLst>
          </p:cNvPr>
          <p:cNvSpPr>
            <a:spLocks noGrp="1"/>
          </p:cNvSpPr>
          <p:nvPr>
            <p:ph type="sldNum" idx="97"/>
          </p:nvPr>
        </p:nvSpPr>
        <p:spPr/>
        <p:txBody>
          <a:bodyPr/>
          <a:lstStyle/>
          <a:p>
            <a:fld id="{86A8BF56-6CB3-514C-9A64-F39D95C9E25B}" type="slidenum">
              <a:rPr lang="en-US" smtClean="0"/>
              <a:pPr/>
              <a:t>18</a:t>
            </a:fld>
            <a:endParaRPr lang="en-US" dirty="0"/>
          </a:p>
        </p:txBody>
      </p:sp>
      <p:sp>
        <p:nvSpPr>
          <p:cNvPr id="2" name="Title 1">
            <a:extLst>
              <a:ext uri="{FF2B5EF4-FFF2-40B4-BE49-F238E27FC236}">
                <a16:creationId xmlns:a16="http://schemas.microsoft.com/office/drawing/2014/main" id="{44BE76F3-18EB-8FAF-902D-F32F4D29C235}"/>
              </a:ext>
            </a:extLst>
          </p:cNvPr>
          <p:cNvSpPr>
            <a:spLocks noGrp="1"/>
          </p:cNvSpPr>
          <p:nvPr>
            <p:ph type="title" idx="1"/>
          </p:nvPr>
        </p:nvSpPr>
        <p:spPr/>
        <p:txBody>
          <a:bodyPr/>
          <a:lstStyle/>
          <a:p>
            <a:r>
              <a:rPr lang="en-US" dirty="0"/>
              <a:t>Memory</a:t>
            </a:r>
          </a:p>
        </p:txBody>
      </p:sp>
    </p:spTree>
    <p:extLst>
      <p:ext uri="{BB962C8B-B14F-4D97-AF65-F5344CB8AC3E}">
        <p14:creationId xmlns:p14="http://schemas.microsoft.com/office/powerpoint/2010/main" val="25563343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777A16-9534-EA11-8968-2A018F2BDF1D}"/>
              </a:ext>
            </a:extLst>
          </p:cNvPr>
          <p:cNvSpPr>
            <a:spLocks noGrp="1"/>
          </p:cNvSpPr>
          <p:nvPr>
            <p:ph type="sldNum" idx="97"/>
          </p:nvPr>
        </p:nvSpPr>
        <p:spPr/>
        <p:txBody>
          <a:bodyPr/>
          <a:lstStyle/>
          <a:p>
            <a:fld id="{86A8BF56-6CB3-514C-9A64-F39D95C9E25B}" type="slidenum">
              <a:rPr lang="en-US" smtClean="0"/>
              <a:t>19</a:t>
            </a:fld>
            <a:endParaRPr lang="en-US"/>
          </a:p>
        </p:txBody>
      </p:sp>
      <p:sp>
        <p:nvSpPr>
          <p:cNvPr id="3" name="Title 2">
            <a:extLst>
              <a:ext uri="{FF2B5EF4-FFF2-40B4-BE49-F238E27FC236}">
                <a16:creationId xmlns:a16="http://schemas.microsoft.com/office/drawing/2014/main" id="{FE093108-8AFC-9C0B-A38D-30265045F77D}"/>
              </a:ext>
            </a:extLst>
          </p:cNvPr>
          <p:cNvSpPr>
            <a:spLocks noGrp="1"/>
          </p:cNvSpPr>
          <p:nvPr>
            <p:ph type="title" idx="1"/>
          </p:nvPr>
        </p:nvSpPr>
        <p:spPr/>
        <p:txBody>
          <a:bodyPr/>
          <a:lstStyle/>
          <a:p>
            <a:r>
              <a:rPr lang="en-US" dirty="0"/>
              <a:t>Simple prompting</a:t>
            </a:r>
          </a:p>
        </p:txBody>
      </p:sp>
      <p:pic>
        <p:nvPicPr>
          <p:cNvPr id="5" name="Content Placeholder 5">
            <a:extLst>
              <a:ext uri="{FF2B5EF4-FFF2-40B4-BE49-F238E27FC236}">
                <a16:creationId xmlns:a16="http://schemas.microsoft.com/office/drawing/2014/main" id="{45B94ED9-1631-DD06-D27B-FC360CA83CF6}"/>
              </a:ext>
            </a:extLst>
          </p:cNvPr>
          <p:cNvPicPr>
            <a:picLocks noChangeAspect="1"/>
          </p:cNvPicPr>
          <p:nvPr/>
        </p:nvPicPr>
        <p:blipFill>
          <a:blip r:embed="rId3"/>
          <a:stretch>
            <a:fillRect/>
          </a:stretch>
        </p:blipFill>
        <p:spPr>
          <a:xfrm>
            <a:off x="3890989" y="1902344"/>
            <a:ext cx="1242992" cy="1174081"/>
          </a:xfrm>
          <a:prstGeom prst="rect">
            <a:avLst/>
          </a:prstGeom>
          <a:effectLst>
            <a:outerShdw blurRad="50800" dist="38100" dir="2700000" algn="tl" rotWithShape="0">
              <a:prstClr val="black">
                <a:alpha val="40000"/>
              </a:prstClr>
            </a:outerShdw>
          </a:effectLst>
        </p:spPr>
      </p:pic>
      <p:sp>
        <p:nvSpPr>
          <p:cNvPr id="6" name="Rounded Rectangle 5">
            <a:extLst>
              <a:ext uri="{FF2B5EF4-FFF2-40B4-BE49-F238E27FC236}">
                <a16:creationId xmlns:a16="http://schemas.microsoft.com/office/drawing/2014/main" id="{73B794A3-65FA-8C7E-912B-4F4447367ED0}"/>
              </a:ext>
            </a:extLst>
          </p:cNvPr>
          <p:cNvSpPr/>
          <p:nvPr/>
        </p:nvSpPr>
        <p:spPr>
          <a:xfrm>
            <a:off x="3107628" y="3522124"/>
            <a:ext cx="2465798" cy="1204645"/>
          </a:xfrm>
          <a:prstGeom prst="roundRect">
            <a:avLst/>
          </a:prstGeom>
          <a:solidFill>
            <a:srgbClr val="7C5AED">
              <a:lumMod val="20000"/>
              <a:lumOff val="8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ea typeface="+mn-ea"/>
                <a:cs typeface="+mn-cs"/>
              </a:rPr>
              <a:t>Hi, my name is Andy</a:t>
            </a:r>
          </a:p>
        </p:txBody>
      </p:sp>
      <p:sp>
        <p:nvSpPr>
          <p:cNvPr id="7" name="Rounded Rectangle 6">
            <a:extLst>
              <a:ext uri="{FF2B5EF4-FFF2-40B4-BE49-F238E27FC236}">
                <a16:creationId xmlns:a16="http://schemas.microsoft.com/office/drawing/2014/main" id="{47B36429-47EC-4590-032E-807433E9D498}"/>
              </a:ext>
            </a:extLst>
          </p:cNvPr>
          <p:cNvSpPr/>
          <p:nvPr/>
        </p:nvSpPr>
        <p:spPr>
          <a:xfrm>
            <a:off x="6949673" y="3522123"/>
            <a:ext cx="2743200" cy="1204645"/>
          </a:xfrm>
          <a:prstGeom prst="roundRect">
            <a:avLst/>
          </a:prstGeom>
          <a:solidFill>
            <a:srgbClr val="DF2A5D">
              <a:lumMod val="20000"/>
              <a:lumOff val="8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ea typeface="+mn-ea"/>
                <a:cs typeface="+mn-cs"/>
              </a:rPr>
              <a:t>Hi Andy, it is nice to meet you. </a:t>
            </a:r>
          </a:p>
        </p:txBody>
      </p:sp>
      <p:sp>
        <p:nvSpPr>
          <p:cNvPr id="8" name="Rounded Rectangle 7">
            <a:extLst>
              <a:ext uri="{FF2B5EF4-FFF2-40B4-BE49-F238E27FC236}">
                <a16:creationId xmlns:a16="http://schemas.microsoft.com/office/drawing/2014/main" id="{69F1B796-AEBA-960A-A732-2A9DBD3A1033}"/>
              </a:ext>
            </a:extLst>
          </p:cNvPr>
          <p:cNvSpPr/>
          <p:nvPr/>
        </p:nvSpPr>
        <p:spPr>
          <a:xfrm>
            <a:off x="3107628" y="5152221"/>
            <a:ext cx="2465798" cy="1204645"/>
          </a:xfrm>
          <a:prstGeom prst="roundRect">
            <a:avLst/>
          </a:prstGeom>
          <a:solidFill>
            <a:srgbClr val="7C5AED">
              <a:lumMod val="20000"/>
              <a:lumOff val="8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ea typeface="+mn-ea"/>
                <a:cs typeface="+mn-cs"/>
              </a:rPr>
              <a:t>What is my name?</a:t>
            </a:r>
          </a:p>
        </p:txBody>
      </p:sp>
      <p:sp>
        <p:nvSpPr>
          <p:cNvPr id="9" name="Rounded Rectangle 8">
            <a:extLst>
              <a:ext uri="{FF2B5EF4-FFF2-40B4-BE49-F238E27FC236}">
                <a16:creationId xmlns:a16="http://schemas.microsoft.com/office/drawing/2014/main" id="{C52AD53C-7821-A9E8-E51A-1E296D52065E}"/>
              </a:ext>
            </a:extLst>
          </p:cNvPr>
          <p:cNvSpPr/>
          <p:nvPr/>
        </p:nvSpPr>
        <p:spPr>
          <a:xfrm>
            <a:off x="6949673" y="5152220"/>
            <a:ext cx="2743200" cy="1204645"/>
          </a:xfrm>
          <a:prstGeom prst="roundRect">
            <a:avLst/>
          </a:prstGeom>
          <a:solidFill>
            <a:srgbClr val="DF2A5D">
              <a:lumMod val="20000"/>
              <a:lumOff val="8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ea typeface="+mn-ea"/>
                <a:cs typeface="+mn-cs"/>
              </a:rPr>
              <a:t>I don’t know. What do I call you?</a:t>
            </a:r>
          </a:p>
        </p:txBody>
      </p:sp>
      <p:cxnSp>
        <p:nvCxnSpPr>
          <p:cNvPr id="10" name="Straight Connector 9">
            <a:extLst>
              <a:ext uri="{FF2B5EF4-FFF2-40B4-BE49-F238E27FC236}">
                <a16:creationId xmlns:a16="http://schemas.microsoft.com/office/drawing/2014/main" id="{4F63C08D-18AE-53DB-AB26-21E91C60450C}"/>
              </a:ext>
            </a:extLst>
          </p:cNvPr>
          <p:cNvCxnSpPr>
            <a:cxnSpLocks/>
          </p:cNvCxnSpPr>
          <p:nvPr/>
        </p:nvCxnSpPr>
        <p:spPr>
          <a:xfrm>
            <a:off x="3200618" y="3261969"/>
            <a:ext cx="6400800" cy="27432"/>
          </a:xfrm>
          <a:prstGeom prst="line">
            <a:avLst/>
          </a:prstGeom>
          <a:noFill/>
          <a:ln w="63500" cap="flat" cmpd="sng" algn="ctr">
            <a:solidFill>
              <a:srgbClr val="DF2A5D"/>
            </a:solidFill>
            <a:prstDash val="solid"/>
            <a:miter lim="800000"/>
          </a:ln>
          <a:effectLst/>
        </p:spPr>
      </p:cxnSp>
      <p:cxnSp>
        <p:nvCxnSpPr>
          <p:cNvPr id="11" name="Straight Connector 10">
            <a:extLst>
              <a:ext uri="{FF2B5EF4-FFF2-40B4-BE49-F238E27FC236}">
                <a16:creationId xmlns:a16="http://schemas.microsoft.com/office/drawing/2014/main" id="{78452AB1-DFDE-05BB-6152-4DBF9479EE94}"/>
              </a:ext>
            </a:extLst>
          </p:cNvPr>
          <p:cNvCxnSpPr>
            <a:cxnSpLocks/>
          </p:cNvCxnSpPr>
          <p:nvPr/>
        </p:nvCxnSpPr>
        <p:spPr>
          <a:xfrm flipV="1">
            <a:off x="3200618" y="4936668"/>
            <a:ext cx="6400800" cy="28384"/>
          </a:xfrm>
          <a:prstGeom prst="line">
            <a:avLst/>
          </a:prstGeom>
          <a:noFill/>
          <a:ln w="63500" cap="flat" cmpd="sng" algn="ctr">
            <a:solidFill>
              <a:srgbClr val="DF2A5D"/>
            </a:solidFill>
            <a:prstDash val="solid"/>
            <a:miter lim="800000"/>
          </a:ln>
          <a:effectLst/>
        </p:spPr>
      </p:cxnSp>
      <p:sp>
        <p:nvSpPr>
          <p:cNvPr id="12" name="TextBox 11">
            <a:extLst>
              <a:ext uri="{FF2B5EF4-FFF2-40B4-BE49-F238E27FC236}">
                <a16:creationId xmlns:a16="http://schemas.microsoft.com/office/drawing/2014/main" id="{2EBBD235-8A0C-8B3E-02B7-46D862698760}"/>
              </a:ext>
            </a:extLst>
          </p:cNvPr>
          <p:cNvSpPr txBox="1"/>
          <p:nvPr/>
        </p:nvSpPr>
        <p:spPr>
          <a:xfrm>
            <a:off x="1386147" y="3924390"/>
            <a:ext cx="1290738" cy="400110"/>
          </a:xfrm>
          <a:prstGeom prst="rect">
            <a:avLst/>
          </a:prstGeom>
          <a:noFill/>
        </p:spPr>
        <p:txBody>
          <a:bodyPr wrap="none" rtlCol="0">
            <a:spAutoFit/>
          </a:bodyPr>
          <a:lstStyle/>
          <a:p>
            <a:r>
              <a:rPr lang="en-US" sz="2000" dirty="0">
                <a:solidFill>
                  <a:srgbClr val="232F3E"/>
                </a:solidFill>
                <a:latin typeface="Amazon Ember Medium"/>
              </a:rPr>
              <a:t>Prompt 1</a:t>
            </a:r>
            <a:endParaRPr lang="en-US" dirty="0">
              <a:solidFill>
                <a:srgbClr val="232F3E"/>
              </a:solidFill>
              <a:latin typeface="Amazon Ember Medium"/>
            </a:endParaRPr>
          </a:p>
        </p:txBody>
      </p:sp>
      <p:sp>
        <p:nvSpPr>
          <p:cNvPr id="13" name="TextBox 12">
            <a:extLst>
              <a:ext uri="{FF2B5EF4-FFF2-40B4-BE49-F238E27FC236}">
                <a16:creationId xmlns:a16="http://schemas.microsoft.com/office/drawing/2014/main" id="{116CBC2B-A504-93FF-73DE-A31BC21FB107}"/>
              </a:ext>
            </a:extLst>
          </p:cNvPr>
          <p:cNvSpPr txBox="1"/>
          <p:nvPr/>
        </p:nvSpPr>
        <p:spPr>
          <a:xfrm>
            <a:off x="1386147" y="5569876"/>
            <a:ext cx="6097712" cy="369332"/>
          </a:xfrm>
          <a:prstGeom prst="rect">
            <a:avLst/>
          </a:prstGeom>
          <a:noFill/>
        </p:spPr>
        <p:txBody>
          <a:bodyPr wrap="square">
            <a:spAutoFit/>
          </a:bodyPr>
          <a:lstStyle/>
          <a:p>
            <a:r>
              <a:rPr lang="en-US" dirty="0">
                <a:solidFill>
                  <a:srgbClr val="232F3E"/>
                </a:solidFill>
                <a:latin typeface="Amazon Ember Medium"/>
              </a:rPr>
              <a:t>Prompt 2</a:t>
            </a:r>
          </a:p>
        </p:txBody>
      </p:sp>
      <p:sp>
        <p:nvSpPr>
          <p:cNvPr id="15" name="TextBox 14">
            <a:extLst>
              <a:ext uri="{FF2B5EF4-FFF2-40B4-BE49-F238E27FC236}">
                <a16:creationId xmlns:a16="http://schemas.microsoft.com/office/drawing/2014/main" id="{2B824CFD-0703-852E-A5B9-B22E529EC42E}"/>
              </a:ext>
            </a:extLst>
          </p:cNvPr>
          <p:cNvSpPr txBox="1"/>
          <p:nvPr/>
        </p:nvSpPr>
        <p:spPr>
          <a:xfrm>
            <a:off x="66960" y="1538155"/>
            <a:ext cx="2516466" cy="1384995"/>
          </a:xfrm>
          <a:prstGeom prst="rect">
            <a:avLst/>
          </a:prstGeom>
          <a:noFill/>
        </p:spPr>
        <p:txBody>
          <a:bodyPr wrap="square" rtlCol="0">
            <a:spAutoFit/>
          </a:bodyPr>
          <a:lstStyle/>
          <a:p>
            <a:pPr algn="ctr"/>
            <a:r>
              <a:rPr lang="en-US" sz="2800" dirty="0">
                <a:solidFill>
                  <a:srgbClr val="DF2A5D"/>
                </a:solidFill>
                <a:latin typeface="Amazon Ember Medium"/>
              </a:rPr>
              <a:t>What seems to be the problem?</a:t>
            </a:r>
          </a:p>
        </p:txBody>
      </p:sp>
      <p:pic>
        <p:nvPicPr>
          <p:cNvPr id="4" name="Picture 7">
            <a:extLst>
              <a:ext uri="{FF2B5EF4-FFF2-40B4-BE49-F238E27FC236}">
                <a16:creationId xmlns:a16="http://schemas.microsoft.com/office/drawing/2014/main" id="{BF3827FC-16E1-B10B-9210-FC491DFED741}"/>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t="-1046" b="1275"/>
          <a:stretch/>
        </p:blipFill>
        <p:spPr>
          <a:xfrm>
            <a:off x="7619290" y="1737962"/>
            <a:ext cx="1403966" cy="140074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2085174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A26C13-AB81-3EEC-4941-3A22DE2742E0}"/>
              </a:ext>
            </a:extLst>
          </p:cNvPr>
          <p:cNvSpPr>
            <a:spLocks noGrp="1"/>
          </p:cNvSpPr>
          <p:nvPr>
            <p:ph type="sldNum" idx="97"/>
          </p:nvPr>
        </p:nvSpPr>
        <p:spPr/>
        <p:txBody>
          <a:bodyPr/>
          <a:lstStyle/>
          <a:p>
            <a:fld id="{86A8BF56-6CB3-514C-9A64-F39D95C9E25B}" type="slidenum">
              <a:rPr lang="en-US" smtClean="0"/>
              <a:t>20</a:t>
            </a:fld>
            <a:endParaRPr lang="en-US"/>
          </a:p>
        </p:txBody>
      </p:sp>
      <p:sp>
        <p:nvSpPr>
          <p:cNvPr id="3" name="Title 2">
            <a:extLst>
              <a:ext uri="{FF2B5EF4-FFF2-40B4-BE49-F238E27FC236}">
                <a16:creationId xmlns:a16="http://schemas.microsoft.com/office/drawing/2014/main" id="{9CC6DD48-F15F-8C6E-3CC4-334D4C19975C}"/>
              </a:ext>
            </a:extLst>
          </p:cNvPr>
          <p:cNvSpPr>
            <a:spLocks noGrp="1"/>
          </p:cNvSpPr>
          <p:nvPr>
            <p:ph type="title" idx="1"/>
          </p:nvPr>
        </p:nvSpPr>
        <p:spPr/>
        <p:txBody>
          <a:bodyPr/>
          <a:lstStyle/>
          <a:p>
            <a:r>
              <a:rPr lang="en-US" dirty="0"/>
              <a:t>Simple LLM application</a:t>
            </a:r>
          </a:p>
        </p:txBody>
      </p:sp>
      <p:sp>
        <p:nvSpPr>
          <p:cNvPr id="4" name="Content Placeholder 3">
            <a:extLst>
              <a:ext uri="{FF2B5EF4-FFF2-40B4-BE49-F238E27FC236}">
                <a16:creationId xmlns:a16="http://schemas.microsoft.com/office/drawing/2014/main" id="{8F43F855-3A5D-A549-4D5B-606C3585FA11}"/>
              </a:ext>
            </a:extLst>
          </p:cNvPr>
          <p:cNvSpPr>
            <a:spLocks noGrp="1"/>
          </p:cNvSpPr>
          <p:nvPr>
            <p:ph idx="2"/>
          </p:nvPr>
        </p:nvSpPr>
        <p:spPr>
          <a:xfrm>
            <a:off x="365760" y="1165536"/>
            <a:ext cx="11466576" cy="1565472"/>
          </a:xfrm>
        </p:spPr>
        <p:txBody>
          <a:bodyPr/>
          <a:lstStyle/>
          <a:p>
            <a:pPr marL="344488" marR="0" lvl="0" indent="-344488" algn="l" defTabSz="91440" rtl="0" eaLnBrk="1" fontAlgn="auto" latinLnBrk="0" hangingPunct="1">
              <a:lnSpc>
                <a:spcPct val="100000"/>
              </a:lnSpc>
              <a:spcBef>
                <a:spcPts val="0"/>
              </a:spcBef>
              <a:spcAft>
                <a:spcPts val="600"/>
              </a:spcAft>
              <a:buClr>
                <a:srgbClr val="1D212E"/>
              </a:buClr>
              <a:buSzPct val="100000"/>
              <a:buFontTx/>
              <a:buBlip>
                <a:blip r:embed="rId3">
                  <a:extLst>
                    <a:ext uri="{96DAC541-7B7A-43D3-8B79-37D633B846F1}">
                      <asvg:svgBlip xmlns:asvg="http://schemas.microsoft.com/office/drawing/2016/SVG/main" r:embed="rId4"/>
                    </a:ext>
                  </a:extLst>
                </a:blip>
              </a:buBlip>
              <a:tabLst>
                <a:tab pos="227013" algn="l"/>
              </a:tabLst>
              <a:defRPr/>
            </a:pPr>
            <a:r>
              <a:rPr kumimoji="0" lang="en-US" sz="2800" b="0" i="0" u="none" strike="noStrike" kern="1200" cap="none" spc="0" normalizeH="0" baseline="0" noProof="0" dirty="0">
                <a:ln>
                  <a:noFill/>
                </a:ln>
                <a:solidFill>
                  <a:srgbClr val="232F3E"/>
                </a:solidFill>
                <a:effectLst/>
                <a:uLnTx/>
                <a:uFillTx/>
                <a:latin typeface="Amazon Ember Light" panose="020B0403020204020204" pitchFamily="34" charset="0"/>
              </a:rPr>
              <a:t>Without any component persisting context, the LLM is unaware of prior interactions</a:t>
            </a:r>
          </a:p>
          <a:p>
            <a:pPr marL="627063" marR="0" lvl="1" indent="-284163"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a:pPr>
            <a:r>
              <a:rPr kumimoji="0" lang="en-US" sz="2400" b="0" i="0" u="none" strike="noStrike" kern="1200" cap="none" spc="0" normalizeH="0" baseline="0" noProof="0" dirty="0">
                <a:ln>
                  <a:noFill/>
                </a:ln>
                <a:solidFill>
                  <a:srgbClr val="7C5AED"/>
                </a:solidFill>
                <a:effectLst/>
                <a:uLnTx/>
                <a:uFillTx/>
                <a:latin typeface="Amazon Ember Medium"/>
              </a:rPr>
              <a:t>LLMs are stateless</a:t>
            </a:r>
          </a:p>
          <a:p>
            <a:endParaRPr lang="en-US" dirty="0"/>
          </a:p>
        </p:txBody>
      </p:sp>
      <p:grpSp>
        <p:nvGrpSpPr>
          <p:cNvPr id="15" name="Group 14">
            <a:extLst>
              <a:ext uri="{FF2B5EF4-FFF2-40B4-BE49-F238E27FC236}">
                <a16:creationId xmlns:a16="http://schemas.microsoft.com/office/drawing/2014/main" id="{21F57990-778E-F1C8-C1F7-D307328BEEE5}"/>
              </a:ext>
            </a:extLst>
          </p:cNvPr>
          <p:cNvGrpSpPr/>
          <p:nvPr/>
        </p:nvGrpSpPr>
        <p:grpSpPr>
          <a:xfrm>
            <a:off x="492017" y="3572917"/>
            <a:ext cx="11084632" cy="1559379"/>
            <a:chOff x="492017" y="3006835"/>
            <a:chExt cx="11084632" cy="1559379"/>
          </a:xfrm>
        </p:grpSpPr>
        <p:sp>
          <p:nvSpPr>
            <p:cNvPr id="16" name="Rounded Rectangle 15">
              <a:extLst>
                <a:ext uri="{FF2B5EF4-FFF2-40B4-BE49-F238E27FC236}">
                  <a16:creationId xmlns:a16="http://schemas.microsoft.com/office/drawing/2014/main" id="{B061FBC2-93BC-87EC-751F-3539E165EC8F}"/>
                </a:ext>
              </a:extLst>
            </p:cNvPr>
            <p:cNvSpPr/>
            <p:nvPr/>
          </p:nvSpPr>
          <p:spPr>
            <a:xfrm>
              <a:off x="3882925" y="3006835"/>
              <a:ext cx="4474029" cy="1559379"/>
            </a:xfrm>
            <a:prstGeom prst="roundRect">
              <a:avLst/>
            </a:prstGeom>
            <a:solidFill>
              <a:srgbClr val="FFFFFF"/>
            </a:solidFill>
            <a:ln w="41275" cap="flat" cmpd="sng" algn="ctr">
              <a:solidFill>
                <a:srgbClr val="330066"/>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32F3E"/>
                </a:solidFill>
                <a:effectLst/>
                <a:uLnTx/>
                <a:uFillTx/>
                <a:latin typeface="Amazon Ember Light"/>
                <a:ea typeface="+mn-ea"/>
                <a:cs typeface="+mn-cs"/>
              </a:endParaRPr>
            </a:p>
          </p:txBody>
        </p:sp>
        <p:sp>
          <p:nvSpPr>
            <p:cNvPr id="17" name="Rounded Rectangle 16">
              <a:extLst>
                <a:ext uri="{FF2B5EF4-FFF2-40B4-BE49-F238E27FC236}">
                  <a16:creationId xmlns:a16="http://schemas.microsoft.com/office/drawing/2014/main" id="{020AD3A4-58A1-382C-33A0-BF6F3F8527D6}"/>
                </a:ext>
              </a:extLst>
            </p:cNvPr>
            <p:cNvSpPr/>
            <p:nvPr/>
          </p:nvSpPr>
          <p:spPr>
            <a:xfrm>
              <a:off x="4284489" y="3401243"/>
              <a:ext cx="2093772" cy="770562"/>
            </a:xfrm>
            <a:prstGeom prst="roundRect">
              <a:avLst/>
            </a:prstGeom>
            <a:solidFill>
              <a:srgbClr val="DF2A5D">
                <a:lumMod val="20000"/>
                <a:lumOff val="8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Prompt</a:t>
              </a:r>
            </a:p>
          </p:txBody>
        </p:sp>
        <p:sp>
          <p:nvSpPr>
            <p:cNvPr id="18" name="Rounded Rectangle 17">
              <a:extLst>
                <a:ext uri="{FF2B5EF4-FFF2-40B4-BE49-F238E27FC236}">
                  <a16:creationId xmlns:a16="http://schemas.microsoft.com/office/drawing/2014/main" id="{B23579D5-9BE3-A297-6120-ED531FE673A7}"/>
                </a:ext>
              </a:extLst>
            </p:cNvPr>
            <p:cNvSpPr/>
            <p:nvPr/>
          </p:nvSpPr>
          <p:spPr>
            <a:xfrm>
              <a:off x="492017" y="3258689"/>
              <a:ext cx="2126751" cy="1055670"/>
            </a:xfrm>
            <a:prstGeom prst="roundRect">
              <a:avLst/>
            </a:prstGeom>
            <a:solidFill>
              <a:srgbClr val="7C5AED">
                <a:lumMod val="20000"/>
                <a:lumOff val="8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Input</a:t>
              </a:r>
            </a:p>
          </p:txBody>
        </p:sp>
        <p:cxnSp>
          <p:nvCxnSpPr>
            <p:cNvPr id="19" name="Straight Arrow Connector 18">
              <a:extLst>
                <a:ext uri="{FF2B5EF4-FFF2-40B4-BE49-F238E27FC236}">
                  <a16:creationId xmlns:a16="http://schemas.microsoft.com/office/drawing/2014/main" id="{97626BCF-2B04-6B8A-07CD-F622105E4703}"/>
                </a:ext>
              </a:extLst>
            </p:cNvPr>
            <p:cNvCxnSpPr>
              <a:cxnSpLocks/>
            </p:cNvCxnSpPr>
            <p:nvPr/>
          </p:nvCxnSpPr>
          <p:spPr>
            <a:xfrm>
              <a:off x="2618768" y="3786524"/>
              <a:ext cx="1264157" cy="1"/>
            </a:xfrm>
            <a:prstGeom prst="straightConnector1">
              <a:avLst/>
            </a:prstGeom>
            <a:noFill/>
            <a:ln w="63500" cap="flat" cmpd="sng" algn="ctr">
              <a:solidFill>
                <a:srgbClr val="DF2A5D"/>
              </a:solidFill>
              <a:prstDash val="solid"/>
              <a:miter lim="800000"/>
              <a:tailEnd type="triangle"/>
            </a:ln>
            <a:effectLst/>
          </p:spPr>
        </p:cxnSp>
        <p:sp>
          <p:nvSpPr>
            <p:cNvPr id="20" name="Rounded Rectangle 19">
              <a:extLst>
                <a:ext uri="{FF2B5EF4-FFF2-40B4-BE49-F238E27FC236}">
                  <a16:creationId xmlns:a16="http://schemas.microsoft.com/office/drawing/2014/main" id="{5E3B6E2F-AD1B-9F9F-8EAE-582F45250E68}"/>
                </a:ext>
              </a:extLst>
            </p:cNvPr>
            <p:cNvSpPr/>
            <p:nvPr/>
          </p:nvSpPr>
          <p:spPr>
            <a:xfrm>
              <a:off x="9361704" y="3258689"/>
              <a:ext cx="2214945" cy="1055670"/>
            </a:xfrm>
            <a:prstGeom prst="roundRect">
              <a:avLst/>
            </a:prstGeom>
            <a:solidFill>
              <a:srgbClr val="7C5AED">
                <a:lumMod val="20000"/>
                <a:lumOff val="8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Response/output</a:t>
              </a:r>
            </a:p>
          </p:txBody>
        </p:sp>
        <p:cxnSp>
          <p:nvCxnSpPr>
            <p:cNvPr id="21" name="Straight Arrow Connector 20">
              <a:extLst>
                <a:ext uri="{FF2B5EF4-FFF2-40B4-BE49-F238E27FC236}">
                  <a16:creationId xmlns:a16="http://schemas.microsoft.com/office/drawing/2014/main" id="{99A6CC41-8995-9C0D-A95C-2CDC1196F477}"/>
                </a:ext>
              </a:extLst>
            </p:cNvPr>
            <p:cNvCxnSpPr>
              <a:cxnSpLocks/>
            </p:cNvCxnSpPr>
            <p:nvPr/>
          </p:nvCxnSpPr>
          <p:spPr>
            <a:xfrm flipV="1">
              <a:off x="8356954" y="3780172"/>
              <a:ext cx="1004750" cy="1"/>
            </a:xfrm>
            <a:prstGeom prst="straightConnector1">
              <a:avLst/>
            </a:prstGeom>
            <a:noFill/>
            <a:ln w="63500" cap="flat" cmpd="sng" algn="ctr">
              <a:solidFill>
                <a:srgbClr val="DF2A5D"/>
              </a:solidFill>
              <a:prstDash val="solid"/>
              <a:miter lim="800000"/>
              <a:tailEnd type="triangle"/>
            </a:ln>
            <a:effectLst/>
          </p:spPr>
        </p:cxnSp>
        <p:cxnSp>
          <p:nvCxnSpPr>
            <p:cNvPr id="22" name="Straight Arrow Connector 21">
              <a:extLst>
                <a:ext uri="{FF2B5EF4-FFF2-40B4-BE49-F238E27FC236}">
                  <a16:creationId xmlns:a16="http://schemas.microsoft.com/office/drawing/2014/main" id="{3D9BD0FB-4DB3-0ED7-12C7-4EFE09A5C988}"/>
                </a:ext>
              </a:extLst>
            </p:cNvPr>
            <p:cNvCxnSpPr>
              <a:cxnSpLocks/>
            </p:cNvCxnSpPr>
            <p:nvPr/>
          </p:nvCxnSpPr>
          <p:spPr>
            <a:xfrm>
              <a:off x="6378261" y="3786524"/>
              <a:ext cx="678094" cy="0"/>
            </a:xfrm>
            <a:prstGeom prst="straightConnector1">
              <a:avLst/>
            </a:prstGeom>
            <a:noFill/>
            <a:ln w="63500" cap="flat" cmpd="sng" algn="ctr">
              <a:solidFill>
                <a:srgbClr val="DF2A5D"/>
              </a:solidFill>
              <a:prstDash val="solid"/>
              <a:miter lim="800000"/>
              <a:tailEnd type="triangle"/>
            </a:ln>
            <a:effectLst/>
          </p:spPr>
        </p:cxnSp>
        <p:pic>
          <p:nvPicPr>
            <p:cNvPr id="23" name="Picture 7">
              <a:extLst>
                <a:ext uri="{FF2B5EF4-FFF2-40B4-BE49-F238E27FC236}">
                  <a16:creationId xmlns:a16="http://schemas.microsoft.com/office/drawing/2014/main" id="{FF0F0B1A-102B-D6AE-195A-BFACF0534664}"/>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t="-1046" b="1275"/>
            <a:stretch/>
          </p:blipFill>
          <p:spPr>
            <a:xfrm>
              <a:off x="7114273" y="3213731"/>
              <a:ext cx="1056290" cy="1053869"/>
            </a:xfrm>
            <a:prstGeom prst="rect">
              <a:avLst/>
            </a:prstGeom>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39927688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34F775-04F0-9C3C-8FB1-E13E519B2198}"/>
              </a:ext>
            </a:extLst>
          </p:cNvPr>
          <p:cNvSpPr>
            <a:spLocks noGrp="1"/>
          </p:cNvSpPr>
          <p:nvPr>
            <p:ph type="sldNum" idx="97"/>
          </p:nvPr>
        </p:nvSpPr>
        <p:spPr/>
        <p:txBody>
          <a:bodyPr/>
          <a:lstStyle/>
          <a:p>
            <a:fld id="{86A8BF56-6CB3-514C-9A64-F39D95C9E25B}" type="slidenum">
              <a:rPr lang="en-US" smtClean="0"/>
              <a:t>21</a:t>
            </a:fld>
            <a:endParaRPr lang="en-US"/>
          </a:p>
        </p:txBody>
      </p:sp>
      <p:sp>
        <p:nvSpPr>
          <p:cNvPr id="3" name="Title 2">
            <a:extLst>
              <a:ext uri="{FF2B5EF4-FFF2-40B4-BE49-F238E27FC236}">
                <a16:creationId xmlns:a16="http://schemas.microsoft.com/office/drawing/2014/main" id="{305F6C4F-08FE-40FA-AD03-71DB2254F46F}"/>
              </a:ext>
            </a:extLst>
          </p:cNvPr>
          <p:cNvSpPr>
            <a:spLocks noGrp="1"/>
          </p:cNvSpPr>
          <p:nvPr>
            <p:ph type="title" idx="1"/>
          </p:nvPr>
        </p:nvSpPr>
        <p:spPr/>
        <p:txBody>
          <a:bodyPr/>
          <a:lstStyle/>
          <a:p>
            <a:r>
              <a:rPr lang="en-US" dirty="0"/>
              <a:t>Memory</a:t>
            </a:r>
          </a:p>
        </p:txBody>
      </p:sp>
      <p:sp>
        <p:nvSpPr>
          <p:cNvPr id="4" name="Content Placeholder 3">
            <a:extLst>
              <a:ext uri="{FF2B5EF4-FFF2-40B4-BE49-F238E27FC236}">
                <a16:creationId xmlns:a16="http://schemas.microsoft.com/office/drawing/2014/main" id="{3ED6EDEF-9246-A8F7-15A5-EE1F075D9866}"/>
              </a:ext>
            </a:extLst>
          </p:cNvPr>
          <p:cNvSpPr>
            <a:spLocks noGrp="1"/>
          </p:cNvSpPr>
          <p:nvPr>
            <p:ph idx="2"/>
          </p:nvPr>
        </p:nvSpPr>
        <p:spPr/>
        <p:txBody>
          <a:bodyPr/>
          <a:lstStyle/>
          <a:p>
            <a:r>
              <a:rPr lang="en-US" dirty="0"/>
              <a:t>Maintaining information that the LLM can refer to</a:t>
            </a:r>
          </a:p>
          <a:p>
            <a:pPr lvl="1"/>
            <a:r>
              <a:rPr lang="en-US" dirty="0"/>
              <a:t>Remembering </a:t>
            </a:r>
            <a:r>
              <a:rPr lang="en-US" dirty="0">
                <a:solidFill>
                  <a:schemeClr val="accent6"/>
                </a:solidFill>
                <a:latin typeface="+mj-lt"/>
              </a:rPr>
              <a:t>past interactions</a:t>
            </a:r>
          </a:p>
          <a:p>
            <a:pPr lvl="1"/>
            <a:r>
              <a:rPr lang="en-US" dirty="0"/>
              <a:t>Persisting </a:t>
            </a:r>
            <a:r>
              <a:rPr lang="en-US" dirty="0">
                <a:solidFill>
                  <a:schemeClr val="accent6"/>
                </a:solidFill>
                <a:latin typeface="+mj-lt"/>
              </a:rPr>
              <a:t>context, roles, rules</a:t>
            </a:r>
            <a:r>
              <a:rPr lang="en-US" dirty="0"/>
              <a:t>, and so on</a:t>
            </a:r>
          </a:p>
          <a:p>
            <a:pPr lvl="1"/>
            <a:endParaRPr lang="en-US" dirty="0"/>
          </a:p>
          <a:p>
            <a:r>
              <a:rPr lang="en-US" dirty="0"/>
              <a:t>Allows the LLM to dynamically store and access information</a:t>
            </a:r>
          </a:p>
          <a:p>
            <a:endParaRPr lang="en-US" dirty="0"/>
          </a:p>
          <a:p>
            <a:r>
              <a:rPr lang="en-US" dirty="0"/>
              <a:t>Commonly used for chatbots and other conversational applications</a:t>
            </a:r>
          </a:p>
          <a:p>
            <a:endParaRPr lang="en-US" dirty="0"/>
          </a:p>
          <a:p>
            <a:endParaRPr lang="en-US" dirty="0"/>
          </a:p>
          <a:p>
            <a:endParaRPr lang="en-US" dirty="0"/>
          </a:p>
        </p:txBody>
      </p:sp>
    </p:spTree>
    <p:extLst>
      <p:ext uri="{BB962C8B-B14F-4D97-AF65-F5344CB8AC3E}">
        <p14:creationId xmlns:p14="http://schemas.microsoft.com/office/powerpoint/2010/main" val="17703149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7E14EF-A5AE-9102-5BEE-CC417E7CA46C}"/>
              </a:ext>
            </a:extLst>
          </p:cNvPr>
          <p:cNvSpPr>
            <a:spLocks noGrp="1"/>
          </p:cNvSpPr>
          <p:nvPr>
            <p:ph type="sldNum" idx="97"/>
          </p:nvPr>
        </p:nvSpPr>
        <p:spPr/>
        <p:txBody>
          <a:bodyPr/>
          <a:lstStyle/>
          <a:p>
            <a:fld id="{86A8BF56-6CB3-514C-9A64-F39D95C9E25B}" type="slidenum">
              <a:rPr lang="en-US" smtClean="0"/>
              <a:t>22</a:t>
            </a:fld>
            <a:endParaRPr lang="en-US"/>
          </a:p>
        </p:txBody>
      </p:sp>
      <p:sp>
        <p:nvSpPr>
          <p:cNvPr id="3" name="Title 2">
            <a:extLst>
              <a:ext uri="{FF2B5EF4-FFF2-40B4-BE49-F238E27FC236}">
                <a16:creationId xmlns:a16="http://schemas.microsoft.com/office/drawing/2014/main" id="{66888859-DD4F-5EED-A522-476C3BFF3196}"/>
              </a:ext>
            </a:extLst>
          </p:cNvPr>
          <p:cNvSpPr>
            <a:spLocks noGrp="1"/>
          </p:cNvSpPr>
          <p:nvPr>
            <p:ph type="title" idx="1"/>
          </p:nvPr>
        </p:nvSpPr>
        <p:spPr/>
        <p:txBody>
          <a:bodyPr/>
          <a:lstStyle/>
          <a:p>
            <a:r>
              <a:rPr lang="en-US" dirty="0"/>
              <a:t>LLM Application with memory</a:t>
            </a:r>
          </a:p>
        </p:txBody>
      </p:sp>
      <p:grpSp>
        <p:nvGrpSpPr>
          <p:cNvPr id="21" name="Group 20">
            <a:extLst>
              <a:ext uri="{FF2B5EF4-FFF2-40B4-BE49-F238E27FC236}">
                <a16:creationId xmlns:a16="http://schemas.microsoft.com/office/drawing/2014/main" id="{FCF5897B-9CAA-BD6B-54F6-043EB0BCCFED}"/>
              </a:ext>
            </a:extLst>
          </p:cNvPr>
          <p:cNvGrpSpPr/>
          <p:nvPr/>
        </p:nvGrpSpPr>
        <p:grpSpPr>
          <a:xfrm>
            <a:off x="380992" y="2057400"/>
            <a:ext cx="11084632" cy="4113087"/>
            <a:chOff x="380992" y="2057400"/>
            <a:chExt cx="11084632" cy="4113087"/>
          </a:xfrm>
        </p:grpSpPr>
        <p:sp>
          <p:nvSpPr>
            <p:cNvPr id="22" name="Rounded Rectangle 21">
              <a:extLst>
                <a:ext uri="{FF2B5EF4-FFF2-40B4-BE49-F238E27FC236}">
                  <a16:creationId xmlns:a16="http://schemas.microsoft.com/office/drawing/2014/main" id="{1945B5A8-8F60-A297-32E5-1EF66BC9DFA4}"/>
                </a:ext>
              </a:extLst>
            </p:cNvPr>
            <p:cNvSpPr/>
            <p:nvPr/>
          </p:nvSpPr>
          <p:spPr>
            <a:xfrm>
              <a:off x="3771900" y="2057400"/>
              <a:ext cx="4474029" cy="1559379"/>
            </a:xfrm>
            <a:prstGeom prst="roundRect">
              <a:avLst/>
            </a:prstGeom>
            <a:solidFill>
              <a:srgbClr val="FFFFFF"/>
            </a:solidFill>
            <a:ln w="41275" cap="flat" cmpd="sng" algn="ctr">
              <a:solidFill>
                <a:srgbClr val="330066"/>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32F3E"/>
                </a:solidFill>
                <a:effectLst/>
                <a:uLnTx/>
                <a:uFillTx/>
                <a:latin typeface="Amazon Ember Light"/>
                <a:ea typeface="+mn-ea"/>
                <a:cs typeface="+mn-cs"/>
              </a:endParaRPr>
            </a:p>
          </p:txBody>
        </p:sp>
        <p:sp>
          <p:nvSpPr>
            <p:cNvPr id="23" name="Rounded Rectangle 22">
              <a:extLst>
                <a:ext uri="{FF2B5EF4-FFF2-40B4-BE49-F238E27FC236}">
                  <a16:creationId xmlns:a16="http://schemas.microsoft.com/office/drawing/2014/main" id="{9CAFCA29-1A61-5E39-068F-E301A8402BD1}"/>
                </a:ext>
              </a:extLst>
            </p:cNvPr>
            <p:cNvSpPr/>
            <p:nvPr/>
          </p:nvSpPr>
          <p:spPr>
            <a:xfrm>
              <a:off x="4173464" y="2373330"/>
              <a:ext cx="2093772" cy="770562"/>
            </a:xfrm>
            <a:prstGeom prst="roundRect">
              <a:avLst/>
            </a:prstGeom>
            <a:solidFill>
              <a:srgbClr val="DF2A5D">
                <a:lumMod val="20000"/>
                <a:lumOff val="8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Prompt: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Memory + input</a:t>
              </a:r>
            </a:p>
          </p:txBody>
        </p:sp>
        <p:sp>
          <p:nvSpPr>
            <p:cNvPr id="24" name="Rounded Rectangle 23">
              <a:extLst>
                <a:ext uri="{FF2B5EF4-FFF2-40B4-BE49-F238E27FC236}">
                  <a16:creationId xmlns:a16="http://schemas.microsoft.com/office/drawing/2014/main" id="{243C8C50-4795-F49F-C0DB-EF7D219B0446}"/>
                </a:ext>
              </a:extLst>
            </p:cNvPr>
            <p:cNvSpPr/>
            <p:nvPr/>
          </p:nvSpPr>
          <p:spPr>
            <a:xfrm>
              <a:off x="380992" y="2309254"/>
              <a:ext cx="2126751" cy="1055670"/>
            </a:xfrm>
            <a:prstGeom prst="roundRect">
              <a:avLst/>
            </a:prstGeom>
            <a:solidFill>
              <a:srgbClr val="7C5AED">
                <a:lumMod val="20000"/>
                <a:lumOff val="8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Input</a:t>
              </a:r>
            </a:p>
          </p:txBody>
        </p:sp>
        <p:sp>
          <p:nvSpPr>
            <p:cNvPr id="25" name="Rounded Rectangle 24">
              <a:extLst>
                <a:ext uri="{FF2B5EF4-FFF2-40B4-BE49-F238E27FC236}">
                  <a16:creationId xmlns:a16="http://schemas.microsoft.com/office/drawing/2014/main" id="{C762CF0C-334D-51EF-18FF-97ED9C6D813E}"/>
                </a:ext>
              </a:extLst>
            </p:cNvPr>
            <p:cNvSpPr/>
            <p:nvPr/>
          </p:nvSpPr>
          <p:spPr>
            <a:xfrm>
              <a:off x="5203860" y="5114817"/>
              <a:ext cx="2126751" cy="1055670"/>
            </a:xfrm>
            <a:prstGeom prst="roundRect">
              <a:avLst/>
            </a:prstGeom>
            <a:solidFill>
              <a:srgbClr val="7CE8F4">
                <a:lumMod val="60000"/>
                <a:lumOff val="4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Memory</a:t>
              </a:r>
            </a:p>
          </p:txBody>
        </p:sp>
        <p:cxnSp>
          <p:nvCxnSpPr>
            <p:cNvPr id="26" name="Elbow Connector 25">
              <a:extLst>
                <a:ext uri="{FF2B5EF4-FFF2-40B4-BE49-F238E27FC236}">
                  <a16:creationId xmlns:a16="http://schemas.microsoft.com/office/drawing/2014/main" id="{CA17389B-EB8C-7FBB-AB9E-E18B916BEC04}"/>
                </a:ext>
              </a:extLst>
            </p:cNvPr>
            <p:cNvCxnSpPr>
              <a:cxnSpLocks/>
              <a:stCxn id="24" idx="2"/>
              <a:endCxn id="25" idx="1"/>
            </p:cNvCxnSpPr>
            <p:nvPr/>
          </p:nvCxnSpPr>
          <p:spPr>
            <a:xfrm rot="16200000" flipH="1">
              <a:off x="2185250" y="2624042"/>
              <a:ext cx="2277728" cy="3759492"/>
            </a:xfrm>
            <a:prstGeom prst="bentConnector2">
              <a:avLst/>
            </a:prstGeom>
            <a:noFill/>
            <a:ln w="63500" cap="flat" cmpd="sng" algn="ctr">
              <a:solidFill>
                <a:srgbClr val="7CE8F4">
                  <a:lumMod val="75000"/>
                </a:srgbClr>
              </a:solidFill>
              <a:prstDash val="solid"/>
              <a:miter lim="800000"/>
              <a:tailEnd type="triangle"/>
            </a:ln>
            <a:effectLst/>
          </p:spPr>
        </p:cxnSp>
        <p:cxnSp>
          <p:nvCxnSpPr>
            <p:cNvPr id="27" name="Straight Arrow Connector 26">
              <a:extLst>
                <a:ext uri="{FF2B5EF4-FFF2-40B4-BE49-F238E27FC236}">
                  <a16:creationId xmlns:a16="http://schemas.microsoft.com/office/drawing/2014/main" id="{3120A013-0474-2340-E723-7DC7F6B329CD}"/>
                </a:ext>
              </a:extLst>
            </p:cNvPr>
            <p:cNvCxnSpPr>
              <a:cxnSpLocks/>
              <a:stCxn id="24" idx="3"/>
              <a:endCxn id="22" idx="1"/>
            </p:cNvCxnSpPr>
            <p:nvPr/>
          </p:nvCxnSpPr>
          <p:spPr>
            <a:xfrm>
              <a:off x="2507743" y="2837089"/>
              <a:ext cx="1264157" cy="1"/>
            </a:xfrm>
            <a:prstGeom prst="straightConnector1">
              <a:avLst/>
            </a:prstGeom>
            <a:noFill/>
            <a:ln w="63500" cap="flat" cmpd="sng" algn="ctr">
              <a:solidFill>
                <a:srgbClr val="DF2A5D"/>
              </a:solidFill>
              <a:prstDash val="solid"/>
              <a:miter lim="800000"/>
              <a:tailEnd type="triangle"/>
            </a:ln>
            <a:effectLst/>
          </p:spPr>
        </p:cxnSp>
        <p:sp>
          <p:nvSpPr>
            <p:cNvPr id="28" name="Rounded Rectangle 27">
              <a:extLst>
                <a:ext uri="{FF2B5EF4-FFF2-40B4-BE49-F238E27FC236}">
                  <a16:creationId xmlns:a16="http://schemas.microsoft.com/office/drawing/2014/main" id="{15024E53-8D0E-8777-CF49-E36E3EE42279}"/>
                </a:ext>
              </a:extLst>
            </p:cNvPr>
            <p:cNvSpPr/>
            <p:nvPr/>
          </p:nvSpPr>
          <p:spPr>
            <a:xfrm>
              <a:off x="9250679" y="2321959"/>
              <a:ext cx="2214945" cy="1055670"/>
            </a:xfrm>
            <a:prstGeom prst="roundRect">
              <a:avLst/>
            </a:prstGeom>
            <a:solidFill>
              <a:srgbClr val="7C5AED">
                <a:lumMod val="20000"/>
                <a:lumOff val="80000"/>
              </a:srgbClr>
            </a:solidFill>
            <a:ln w="12700" cap="flat" cmpd="sng" algn="ctr">
              <a:solidFill>
                <a:srgbClr val="DF2A5D">
                  <a:shade val="15000"/>
                </a:srgb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232F3E"/>
                  </a:solidFill>
                  <a:effectLst/>
                  <a:uLnTx/>
                  <a:uFillTx/>
                  <a:latin typeface="Amazon Ember Medium"/>
                  <a:ea typeface="+mn-ea"/>
                  <a:cs typeface="+mn-cs"/>
                </a:rPr>
                <a:t>Response/output</a:t>
              </a:r>
            </a:p>
          </p:txBody>
        </p:sp>
        <p:cxnSp>
          <p:nvCxnSpPr>
            <p:cNvPr id="29" name="Straight Arrow Connector 28">
              <a:extLst>
                <a:ext uri="{FF2B5EF4-FFF2-40B4-BE49-F238E27FC236}">
                  <a16:creationId xmlns:a16="http://schemas.microsoft.com/office/drawing/2014/main" id="{4B7C3330-1310-95DC-9386-B24CE71A08AE}"/>
                </a:ext>
              </a:extLst>
            </p:cNvPr>
            <p:cNvCxnSpPr>
              <a:cxnSpLocks/>
              <a:stCxn id="22" idx="3"/>
              <a:endCxn id="28" idx="1"/>
            </p:cNvCxnSpPr>
            <p:nvPr/>
          </p:nvCxnSpPr>
          <p:spPr>
            <a:xfrm>
              <a:off x="8245929" y="2837090"/>
              <a:ext cx="1004750" cy="12704"/>
            </a:xfrm>
            <a:prstGeom prst="straightConnector1">
              <a:avLst/>
            </a:prstGeom>
            <a:noFill/>
            <a:ln w="63500" cap="flat" cmpd="sng" algn="ctr">
              <a:solidFill>
                <a:srgbClr val="DF2A5D"/>
              </a:solidFill>
              <a:prstDash val="solid"/>
              <a:miter lim="800000"/>
              <a:tailEnd type="triangle"/>
            </a:ln>
            <a:effectLst/>
          </p:spPr>
        </p:cxnSp>
        <p:cxnSp>
          <p:nvCxnSpPr>
            <p:cNvPr id="30" name="Elbow Connector 29">
              <a:extLst>
                <a:ext uri="{FF2B5EF4-FFF2-40B4-BE49-F238E27FC236}">
                  <a16:creationId xmlns:a16="http://schemas.microsoft.com/office/drawing/2014/main" id="{13BC15D2-F9C4-FA20-AE17-679FF29184D8}"/>
                </a:ext>
              </a:extLst>
            </p:cNvPr>
            <p:cNvCxnSpPr>
              <a:cxnSpLocks/>
              <a:stCxn id="28" idx="2"/>
              <a:endCxn id="25" idx="3"/>
            </p:cNvCxnSpPr>
            <p:nvPr/>
          </p:nvCxnSpPr>
          <p:spPr>
            <a:xfrm rot="5400000">
              <a:off x="7711871" y="2996370"/>
              <a:ext cx="2265023" cy="3027541"/>
            </a:xfrm>
            <a:prstGeom prst="bentConnector2">
              <a:avLst/>
            </a:prstGeom>
            <a:noFill/>
            <a:ln w="63500" cap="flat" cmpd="sng" algn="ctr">
              <a:solidFill>
                <a:srgbClr val="7CE8F4">
                  <a:lumMod val="75000"/>
                </a:srgbClr>
              </a:solidFill>
              <a:prstDash val="solid"/>
              <a:miter lim="800000"/>
              <a:tailEnd type="triangle"/>
            </a:ln>
            <a:effectLst/>
          </p:spPr>
        </p:cxnSp>
        <p:sp>
          <p:nvSpPr>
            <p:cNvPr id="31" name="TextBox 30">
              <a:extLst>
                <a:ext uri="{FF2B5EF4-FFF2-40B4-BE49-F238E27FC236}">
                  <a16:creationId xmlns:a16="http://schemas.microsoft.com/office/drawing/2014/main" id="{E355B0E8-0EF0-7CCC-D7B9-D3740F762E71}"/>
                </a:ext>
              </a:extLst>
            </p:cNvPr>
            <p:cNvSpPr txBox="1"/>
            <p:nvPr/>
          </p:nvSpPr>
          <p:spPr>
            <a:xfrm>
              <a:off x="3786831" y="4396469"/>
              <a:ext cx="2161169"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rPr>
                <a:t>Retrieved results</a:t>
              </a:r>
              <a:endParaRPr kumimoji="0" lang="en-US" sz="1800" b="0" i="0" u="none" strike="noStrike" kern="0" cap="none" spc="0" normalizeH="0" baseline="0" noProof="0" dirty="0">
                <a:ln>
                  <a:noFill/>
                </a:ln>
                <a:solidFill>
                  <a:srgbClr val="232F3E"/>
                </a:solidFill>
                <a:effectLst/>
                <a:uLnTx/>
                <a:uFillTx/>
                <a:latin typeface="Amazon Ember Medium"/>
              </a:endParaRPr>
            </a:p>
          </p:txBody>
        </p:sp>
        <p:sp>
          <p:nvSpPr>
            <p:cNvPr id="32" name="TextBox 31">
              <a:extLst>
                <a:ext uri="{FF2B5EF4-FFF2-40B4-BE49-F238E27FC236}">
                  <a16:creationId xmlns:a16="http://schemas.microsoft.com/office/drawing/2014/main" id="{CFC90FCF-BF08-C7E7-3DB6-AEDEE8EDCDDB}"/>
                </a:ext>
              </a:extLst>
            </p:cNvPr>
            <p:cNvSpPr txBox="1"/>
            <p:nvPr/>
          </p:nvSpPr>
          <p:spPr>
            <a:xfrm>
              <a:off x="9250679" y="5184030"/>
              <a:ext cx="829073"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rPr>
                <a:t>Write</a:t>
              </a:r>
              <a:endParaRPr kumimoji="0" lang="en-US" sz="1800" b="0" i="0" u="none" strike="noStrike" kern="0" cap="none" spc="0" normalizeH="0" baseline="0" noProof="0" dirty="0">
                <a:ln>
                  <a:noFill/>
                </a:ln>
                <a:solidFill>
                  <a:srgbClr val="232F3E"/>
                </a:solidFill>
                <a:effectLst/>
                <a:uLnTx/>
                <a:uFillTx/>
                <a:latin typeface="Amazon Ember Medium"/>
              </a:endParaRPr>
            </a:p>
          </p:txBody>
        </p:sp>
        <p:sp>
          <p:nvSpPr>
            <p:cNvPr id="33" name="TextBox 32">
              <a:extLst>
                <a:ext uri="{FF2B5EF4-FFF2-40B4-BE49-F238E27FC236}">
                  <a16:creationId xmlns:a16="http://schemas.microsoft.com/office/drawing/2014/main" id="{83373A74-984F-30E7-4B62-817BA4FD7CF2}"/>
                </a:ext>
              </a:extLst>
            </p:cNvPr>
            <p:cNvSpPr txBox="1"/>
            <p:nvPr/>
          </p:nvSpPr>
          <p:spPr>
            <a:xfrm>
              <a:off x="1786838" y="5184030"/>
              <a:ext cx="1154483"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rPr>
                <a:t>Retrieve</a:t>
              </a:r>
              <a:endParaRPr kumimoji="0" lang="en-US" sz="1800" b="0" i="0" u="none" strike="noStrike" kern="0" cap="none" spc="0" normalizeH="0" baseline="0" noProof="0" dirty="0">
                <a:ln>
                  <a:noFill/>
                </a:ln>
                <a:solidFill>
                  <a:srgbClr val="232F3E"/>
                </a:solidFill>
                <a:effectLst/>
                <a:uLnTx/>
                <a:uFillTx/>
                <a:latin typeface="Amazon Ember Medium"/>
              </a:endParaRPr>
            </a:p>
          </p:txBody>
        </p:sp>
        <p:cxnSp>
          <p:nvCxnSpPr>
            <p:cNvPr id="34" name="Elbow Connector 33">
              <a:extLst>
                <a:ext uri="{FF2B5EF4-FFF2-40B4-BE49-F238E27FC236}">
                  <a16:creationId xmlns:a16="http://schemas.microsoft.com/office/drawing/2014/main" id="{0E160BEE-2BD7-2F33-D937-B2BACA5D64CF}"/>
                </a:ext>
              </a:extLst>
            </p:cNvPr>
            <p:cNvCxnSpPr>
              <a:cxnSpLocks/>
              <a:stCxn id="25" idx="0"/>
              <a:endCxn id="22" idx="1"/>
            </p:cNvCxnSpPr>
            <p:nvPr/>
          </p:nvCxnSpPr>
          <p:spPr>
            <a:xfrm rot="16200000" flipV="1">
              <a:off x="3880705" y="2728286"/>
              <a:ext cx="2277727" cy="2495336"/>
            </a:xfrm>
            <a:prstGeom prst="bentConnector4">
              <a:avLst>
                <a:gd name="adj1" fmla="val 32884"/>
                <a:gd name="adj2" fmla="val 119454"/>
              </a:avLst>
            </a:prstGeom>
            <a:noFill/>
            <a:ln w="63500" cap="flat" cmpd="sng" algn="ctr">
              <a:solidFill>
                <a:srgbClr val="7CE8F4">
                  <a:lumMod val="75000"/>
                </a:srgbClr>
              </a:solidFill>
              <a:prstDash val="solid"/>
              <a:miter lim="800000"/>
              <a:tailEnd type="triangle"/>
            </a:ln>
            <a:effectLst/>
          </p:spPr>
        </p:cxnSp>
        <p:cxnSp>
          <p:nvCxnSpPr>
            <p:cNvPr id="35" name="Straight Arrow Connector 34">
              <a:extLst>
                <a:ext uri="{FF2B5EF4-FFF2-40B4-BE49-F238E27FC236}">
                  <a16:creationId xmlns:a16="http://schemas.microsoft.com/office/drawing/2014/main" id="{D054DF91-70AC-B1E7-314B-80539BB92758}"/>
                </a:ext>
              </a:extLst>
            </p:cNvPr>
            <p:cNvCxnSpPr>
              <a:cxnSpLocks/>
              <a:stCxn id="23" idx="3"/>
            </p:cNvCxnSpPr>
            <p:nvPr/>
          </p:nvCxnSpPr>
          <p:spPr>
            <a:xfrm>
              <a:off x="6267236" y="2758611"/>
              <a:ext cx="678094" cy="0"/>
            </a:xfrm>
            <a:prstGeom prst="straightConnector1">
              <a:avLst/>
            </a:prstGeom>
            <a:noFill/>
            <a:ln w="63500" cap="flat" cmpd="sng" algn="ctr">
              <a:solidFill>
                <a:srgbClr val="DF2A5D"/>
              </a:solidFill>
              <a:prstDash val="solid"/>
              <a:miter lim="800000"/>
              <a:tailEnd type="triangle"/>
            </a:ln>
            <a:effectLst/>
          </p:spPr>
        </p:cxnSp>
        <p:pic>
          <p:nvPicPr>
            <p:cNvPr id="36" name="Picture 7">
              <a:extLst>
                <a:ext uri="{FF2B5EF4-FFF2-40B4-BE49-F238E27FC236}">
                  <a16:creationId xmlns:a16="http://schemas.microsoft.com/office/drawing/2014/main" id="{0B00AA32-7C49-BD89-A611-E946ABC4AAFE}"/>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1046" b="1275"/>
            <a:stretch/>
          </p:blipFill>
          <p:spPr>
            <a:xfrm>
              <a:off x="6945330" y="2274283"/>
              <a:ext cx="1056290" cy="1053869"/>
            </a:xfrm>
            <a:prstGeom prst="rect">
              <a:avLst/>
            </a:prstGeom>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13481078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E43365-A91B-170D-3865-8ADF2C2E8139}"/>
              </a:ext>
            </a:extLst>
          </p:cNvPr>
          <p:cNvSpPr>
            <a:spLocks noGrp="1"/>
          </p:cNvSpPr>
          <p:nvPr>
            <p:ph type="sldNum" idx="97"/>
          </p:nvPr>
        </p:nvSpPr>
        <p:spPr/>
        <p:txBody>
          <a:bodyPr/>
          <a:lstStyle/>
          <a:p>
            <a:fld id="{86A8BF56-6CB3-514C-9A64-F39D95C9E25B}" type="slidenum">
              <a:rPr lang="en-US" smtClean="0"/>
              <a:t>23</a:t>
            </a:fld>
            <a:endParaRPr lang="en-US"/>
          </a:p>
        </p:txBody>
      </p:sp>
      <p:sp>
        <p:nvSpPr>
          <p:cNvPr id="3" name="Title 2">
            <a:extLst>
              <a:ext uri="{FF2B5EF4-FFF2-40B4-BE49-F238E27FC236}">
                <a16:creationId xmlns:a16="http://schemas.microsoft.com/office/drawing/2014/main" id="{9FD83EED-9A89-03BE-1495-D1BEFBD12564}"/>
              </a:ext>
            </a:extLst>
          </p:cNvPr>
          <p:cNvSpPr>
            <a:spLocks noGrp="1"/>
          </p:cNvSpPr>
          <p:nvPr>
            <p:ph type="title" idx="1"/>
          </p:nvPr>
        </p:nvSpPr>
        <p:spPr/>
        <p:txBody>
          <a:bodyPr/>
          <a:lstStyle/>
          <a:p>
            <a:r>
              <a:rPr lang="en-US" dirty="0"/>
              <a:t>Prompting with memory</a:t>
            </a:r>
          </a:p>
        </p:txBody>
      </p:sp>
      <p:pic>
        <p:nvPicPr>
          <p:cNvPr id="5" name="Content Placeholder 5">
            <a:extLst>
              <a:ext uri="{FF2B5EF4-FFF2-40B4-BE49-F238E27FC236}">
                <a16:creationId xmlns:a16="http://schemas.microsoft.com/office/drawing/2014/main" id="{277754B1-BC1E-F6D8-1E6A-A62070BA52A1}"/>
              </a:ext>
            </a:extLst>
          </p:cNvPr>
          <p:cNvPicPr>
            <a:picLocks noChangeAspect="1"/>
          </p:cNvPicPr>
          <p:nvPr/>
        </p:nvPicPr>
        <p:blipFill>
          <a:blip r:embed="rId3"/>
          <a:stretch>
            <a:fillRect/>
          </a:stretch>
        </p:blipFill>
        <p:spPr>
          <a:xfrm>
            <a:off x="1146969" y="1705122"/>
            <a:ext cx="1242992" cy="1174081"/>
          </a:xfrm>
          <a:prstGeom prst="rect">
            <a:avLst/>
          </a:prstGeom>
          <a:effectLst>
            <a:outerShdw blurRad="50800" dist="38100" dir="2700000" algn="tl" rotWithShape="0">
              <a:prstClr val="black">
                <a:alpha val="40000"/>
              </a:prstClr>
            </a:outerShdw>
          </a:effectLst>
        </p:spPr>
      </p:pic>
      <p:sp>
        <p:nvSpPr>
          <p:cNvPr id="6" name="TextBox 5">
            <a:extLst>
              <a:ext uri="{FF2B5EF4-FFF2-40B4-BE49-F238E27FC236}">
                <a16:creationId xmlns:a16="http://schemas.microsoft.com/office/drawing/2014/main" id="{4266702A-24B4-EF97-39DE-90EA2DFFB73C}"/>
              </a:ext>
            </a:extLst>
          </p:cNvPr>
          <p:cNvSpPr txBox="1"/>
          <p:nvPr/>
        </p:nvSpPr>
        <p:spPr>
          <a:xfrm>
            <a:off x="8869637" y="2736784"/>
            <a:ext cx="1151277" cy="369332"/>
          </a:xfrm>
          <a:prstGeom prst="rect">
            <a:avLst/>
          </a:prstGeom>
          <a:noFill/>
        </p:spPr>
        <p:txBody>
          <a:bodyPr wrap="square" rtlCol="0">
            <a:spAutoFit/>
          </a:bodyPr>
          <a:lstStyle/>
          <a:p>
            <a:pPr algn="ctr"/>
            <a:r>
              <a:rPr lang="en-US" dirty="0">
                <a:solidFill>
                  <a:srgbClr val="232F3E"/>
                </a:solidFill>
                <a:latin typeface="Amazon Ember Medium"/>
              </a:rPr>
              <a:t>Memory</a:t>
            </a:r>
          </a:p>
        </p:txBody>
      </p:sp>
      <p:sp>
        <p:nvSpPr>
          <p:cNvPr id="7" name="Rounded Rectangle 6">
            <a:extLst>
              <a:ext uri="{FF2B5EF4-FFF2-40B4-BE49-F238E27FC236}">
                <a16:creationId xmlns:a16="http://schemas.microsoft.com/office/drawing/2014/main" id="{7FF5F433-630A-B4C8-001E-9AAE981986E0}"/>
              </a:ext>
            </a:extLst>
          </p:cNvPr>
          <p:cNvSpPr/>
          <p:nvPr/>
        </p:nvSpPr>
        <p:spPr>
          <a:xfrm>
            <a:off x="348276" y="3436749"/>
            <a:ext cx="2465798" cy="1204645"/>
          </a:xfrm>
          <a:prstGeom prst="roundRect">
            <a:avLst/>
          </a:prstGeom>
          <a:solidFill>
            <a:srgbClr val="7C5AED">
              <a:lumMod val="20000"/>
              <a:lumOff val="80000"/>
            </a:srgbClr>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ea typeface="+mn-ea"/>
                <a:cs typeface="+mn-cs"/>
              </a:rPr>
              <a:t>Hi, my name is Andy</a:t>
            </a:r>
          </a:p>
        </p:txBody>
      </p:sp>
      <p:sp>
        <p:nvSpPr>
          <p:cNvPr id="8" name="Rounded Rectangle 7">
            <a:extLst>
              <a:ext uri="{FF2B5EF4-FFF2-40B4-BE49-F238E27FC236}">
                <a16:creationId xmlns:a16="http://schemas.microsoft.com/office/drawing/2014/main" id="{B00A5D92-3504-48DD-29AF-61612FA23ACA}"/>
              </a:ext>
            </a:extLst>
          </p:cNvPr>
          <p:cNvSpPr/>
          <p:nvPr/>
        </p:nvSpPr>
        <p:spPr>
          <a:xfrm>
            <a:off x="4190321" y="3436748"/>
            <a:ext cx="2465798" cy="1204645"/>
          </a:xfrm>
          <a:prstGeom prst="roundRect">
            <a:avLst/>
          </a:prstGeom>
          <a:solidFill>
            <a:srgbClr val="DF2A5D">
              <a:lumMod val="20000"/>
              <a:lumOff val="80000"/>
            </a:srgbClr>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ea typeface="+mn-ea"/>
                <a:cs typeface="+mn-cs"/>
              </a:rPr>
              <a:t>Hi Andy, it is nice to meet you. </a:t>
            </a:r>
          </a:p>
        </p:txBody>
      </p:sp>
      <p:sp>
        <p:nvSpPr>
          <p:cNvPr id="9" name="Rounded Rectangle 8">
            <a:extLst>
              <a:ext uri="{FF2B5EF4-FFF2-40B4-BE49-F238E27FC236}">
                <a16:creationId xmlns:a16="http://schemas.microsoft.com/office/drawing/2014/main" id="{87406C69-F46E-6229-86BF-7400444339DE}"/>
              </a:ext>
            </a:extLst>
          </p:cNvPr>
          <p:cNvSpPr/>
          <p:nvPr/>
        </p:nvSpPr>
        <p:spPr>
          <a:xfrm>
            <a:off x="7346197" y="3436747"/>
            <a:ext cx="4529684" cy="1204645"/>
          </a:xfrm>
          <a:prstGeom prst="roundRect">
            <a:avLst/>
          </a:prstGeom>
          <a:solidFill>
            <a:srgbClr val="7CE8F4">
              <a:lumMod val="40000"/>
              <a:lumOff val="60000"/>
            </a:srgbClr>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ea typeface="+mn-ea"/>
                <a:cs typeface="+mn-cs"/>
              </a:rPr>
              <a:t>Human: Hi, my name is Andy.</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ea typeface="+mn-ea"/>
                <a:cs typeface="+mn-cs"/>
              </a:rPr>
              <a:t>AI:  Hi Andy, it is nice to meet you. </a:t>
            </a:r>
          </a:p>
        </p:txBody>
      </p:sp>
      <p:sp>
        <p:nvSpPr>
          <p:cNvPr id="10" name="Rounded Rectangle 9">
            <a:extLst>
              <a:ext uri="{FF2B5EF4-FFF2-40B4-BE49-F238E27FC236}">
                <a16:creationId xmlns:a16="http://schemas.microsoft.com/office/drawing/2014/main" id="{3BAA9165-39FF-1853-C657-60FE90282478}"/>
              </a:ext>
            </a:extLst>
          </p:cNvPr>
          <p:cNvSpPr/>
          <p:nvPr/>
        </p:nvSpPr>
        <p:spPr>
          <a:xfrm>
            <a:off x="348276" y="5066846"/>
            <a:ext cx="2465798" cy="1204645"/>
          </a:xfrm>
          <a:prstGeom prst="roundRect">
            <a:avLst/>
          </a:prstGeom>
          <a:solidFill>
            <a:srgbClr val="7C5AED">
              <a:lumMod val="20000"/>
              <a:lumOff val="80000"/>
            </a:srgbClr>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ea typeface="+mn-ea"/>
                <a:cs typeface="+mn-cs"/>
              </a:rPr>
              <a:t>What is my name?</a:t>
            </a:r>
          </a:p>
        </p:txBody>
      </p:sp>
      <p:sp>
        <p:nvSpPr>
          <p:cNvPr id="11" name="Rounded Rectangle 10">
            <a:extLst>
              <a:ext uri="{FF2B5EF4-FFF2-40B4-BE49-F238E27FC236}">
                <a16:creationId xmlns:a16="http://schemas.microsoft.com/office/drawing/2014/main" id="{7FAF962C-1857-5458-2BD3-A662E0B6A515}"/>
              </a:ext>
            </a:extLst>
          </p:cNvPr>
          <p:cNvSpPr/>
          <p:nvPr/>
        </p:nvSpPr>
        <p:spPr>
          <a:xfrm>
            <a:off x="4190321" y="5066845"/>
            <a:ext cx="2465798" cy="1204645"/>
          </a:xfrm>
          <a:prstGeom prst="roundRect">
            <a:avLst/>
          </a:prstGeom>
          <a:solidFill>
            <a:srgbClr val="DF2A5D">
              <a:lumMod val="20000"/>
              <a:lumOff val="80000"/>
            </a:srgbClr>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232F3E"/>
                </a:solidFill>
                <a:effectLst/>
                <a:uLnTx/>
                <a:uFillTx/>
                <a:latin typeface="Amazon Ember Medium"/>
                <a:ea typeface="+mn-ea"/>
                <a:cs typeface="+mn-cs"/>
              </a:rPr>
              <a:t>You introduced yourself as Andy.</a:t>
            </a:r>
          </a:p>
        </p:txBody>
      </p:sp>
      <p:sp>
        <p:nvSpPr>
          <p:cNvPr id="12" name="Rounded Rectangle 11">
            <a:extLst>
              <a:ext uri="{FF2B5EF4-FFF2-40B4-BE49-F238E27FC236}">
                <a16:creationId xmlns:a16="http://schemas.microsoft.com/office/drawing/2014/main" id="{F590CCC9-53CE-82F5-A73D-29589BD5EBCA}"/>
              </a:ext>
            </a:extLst>
          </p:cNvPr>
          <p:cNvSpPr/>
          <p:nvPr/>
        </p:nvSpPr>
        <p:spPr>
          <a:xfrm>
            <a:off x="7346198" y="5066844"/>
            <a:ext cx="4529683" cy="1204645"/>
          </a:xfrm>
          <a:prstGeom prst="roundRect">
            <a:avLst/>
          </a:prstGeom>
          <a:solidFill>
            <a:srgbClr val="7CE8F4">
              <a:lumMod val="40000"/>
              <a:lumOff val="60000"/>
            </a:srgbClr>
          </a:solidFill>
          <a:ln w="12700" cap="flat" cmpd="sng" algn="ctr">
            <a:solidFill>
              <a:srgbClr val="DF2A5D">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232F3E"/>
                </a:solidFill>
                <a:effectLst/>
                <a:uLnTx/>
                <a:uFillTx/>
                <a:latin typeface="Amazon Ember Medium"/>
                <a:ea typeface="+mn-ea"/>
                <a:cs typeface="+mn-cs"/>
              </a:rPr>
              <a:t>Human: Hi, my name is Andy.</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232F3E"/>
                </a:solidFill>
                <a:effectLst/>
                <a:uLnTx/>
                <a:uFillTx/>
                <a:latin typeface="Amazon Ember Medium"/>
                <a:ea typeface="+mn-ea"/>
                <a:cs typeface="+mn-cs"/>
              </a:rPr>
              <a:t>AI:  Hi Andy, it is nice to meet you.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232F3E"/>
                </a:solidFill>
                <a:effectLst/>
                <a:uLnTx/>
                <a:uFillTx/>
                <a:latin typeface="Amazon Ember Medium"/>
                <a:ea typeface="+mn-ea"/>
                <a:cs typeface="+mn-cs"/>
              </a:rPr>
              <a:t>Human: What is my name?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232F3E"/>
                </a:solidFill>
                <a:effectLst/>
                <a:uLnTx/>
                <a:uFillTx/>
                <a:latin typeface="Amazon Ember Medium"/>
                <a:ea typeface="+mn-ea"/>
                <a:cs typeface="+mn-cs"/>
              </a:rPr>
              <a:t>AI: You introduced yourself as Andy</a:t>
            </a:r>
          </a:p>
        </p:txBody>
      </p:sp>
      <p:cxnSp>
        <p:nvCxnSpPr>
          <p:cNvPr id="13" name="Straight Connector 12">
            <a:extLst>
              <a:ext uri="{FF2B5EF4-FFF2-40B4-BE49-F238E27FC236}">
                <a16:creationId xmlns:a16="http://schemas.microsoft.com/office/drawing/2014/main" id="{BDFCA2BB-36DA-1317-620D-8DCF06005748}"/>
              </a:ext>
            </a:extLst>
          </p:cNvPr>
          <p:cNvCxnSpPr>
            <a:cxnSpLocks/>
          </p:cNvCxnSpPr>
          <p:nvPr/>
        </p:nvCxnSpPr>
        <p:spPr>
          <a:xfrm>
            <a:off x="489789" y="3131744"/>
            <a:ext cx="11386091" cy="0"/>
          </a:xfrm>
          <a:prstGeom prst="line">
            <a:avLst/>
          </a:prstGeom>
          <a:noFill/>
          <a:ln w="63500" cap="flat" cmpd="sng" algn="ctr">
            <a:solidFill>
              <a:srgbClr val="DF2A5D"/>
            </a:solidFill>
            <a:prstDash val="solid"/>
            <a:miter lim="800000"/>
          </a:ln>
          <a:effectLst/>
        </p:spPr>
      </p:cxnSp>
      <p:cxnSp>
        <p:nvCxnSpPr>
          <p:cNvPr id="14" name="Straight Connector 13">
            <a:extLst>
              <a:ext uri="{FF2B5EF4-FFF2-40B4-BE49-F238E27FC236}">
                <a16:creationId xmlns:a16="http://schemas.microsoft.com/office/drawing/2014/main" id="{82E9F19E-9BD6-4C69-39D7-6E633226C1E2}"/>
              </a:ext>
            </a:extLst>
          </p:cNvPr>
          <p:cNvCxnSpPr>
            <a:cxnSpLocks/>
          </p:cNvCxnSpPr>
          <p:nvPr/>
        </p:nvCxnSpPr>
        <p:spPr>
          <a:xfrm flipV="1">
            <a:off x="348276" y="4828558"/>
            <a:ext cx="11527604" cy="51119"/>
          </a:xfrm>
          <a:prstGeom prst="line">
            <a:avLst/>
          </a:prstGeom>
          <a:noFill/>
          <a:ln w="63500" cap="flat" cmpd="sng" algn="ctr">
            <a:solidFill>
              <a:srgbClr val="DF2A5D"/>
            </a:solidFill>
            <a:prstDash val="solid"/>
            <a:miter lim="800000"/>
          </a:ln>
          <a:effectLst/>
        </p:spPr>
      </p:cxnSp>
      <p:pic>
        <p:nvPicPr>
          <p:cNvPr id="16" name="Picture 15">
            <a:extLst>
              <a:ext uri="{FF2B5EF4-FFF2-40B4-BE49-F238E27FC236}">
                <a16:creationId xmlns:a16="http://schemas.microsoft.com/office/drawing/2014/main" id="{46F15AAE-1C0A-3880-2F92-0F5FBBCFDBC4}"/>
              </a:ext>
            </a:extLst>
          </p:cNvPr>
          <p:cNvPicPr>
            <a:picLocks noChangeAspect="1"/>
          </p:cNvPicPr>
          <p:nvPr/>
        </p:nvPicPr>
        <p:blipFill>
          <a:blip r:embed="rId4"/>
          <a:stretch>
            <a:fillRect/>
          </a:stretch>
        </p:blipFill>
        <p:spPr>
          <a:xfrm>
            <a:off x="8823778" y="1583747"/>
            <a:ext cx="1242993" cy="1242993"/>
          </a:xfrm>
          <a:prstGeom prst="rect">
            <a:avLst/>
          </a:prstGeom>
        </p:spPr>
      </p:pic>
      <p:pic>
        <p:nvPicPr>
          <p:cNvPr id="4" name="Picture 7">
            <a:extLst>
              <a:ext uri="{FF2B5EF4-FFF2-40B4-BE49-F238E27FC236}">
                <a16:creationId xmlns:a16="http://schemas.microsoft.com/office/drawing/2014/main" id="{2876AAAA-21EE-DBFE-6B1E-7B4D9BABD823}"/>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t="-1046" b="1275"/>
          <a:stretch/>
        </p:blipFill>
        <p:spPr>
          <a:xfrm>
            <a:off x="4721237" y="1604726"/>
            <a:ext cx="1403966" cy="140074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303511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17CBA5-6F10-B9E6-503E-C494AF42C628}"/>
              </a:ext>
            </a:extLst>
          </p:cNvPr>
          <p:cNvSpPr>
            <a:spLocks noGrp="1"/>
          </p:cNvSpPr>
          <p:nvPr>
            <p:ph type="sldNum" idx="97"/>
          </p:nvPr>
        </p:nvSpPr>
        <p:spPr/>
        <p:txBody>
          <a:bodyPr/>
          <a:lstStyle/>
          <a:p>
            <a:fld id="{86A8BF56-6CB3-514C-9A64-F39D95C9E25B}" type="slidenum">
              <a:rPr lang="en-US" smtClean="0"/>
              <a:t>24</a:t>
            </a:fld>
            <a:endParaRPr lang="en-US"/>
          </a:p>
        </p:txBody>
      </p:sp>
      <p:sp>
        <p:nvSpPr>
          <p:cNvPr id="3" name="Title 2">
            <a:extLst>
              <a:ext uri="{FF2B5EF4-FFF2-40B4-BE49-F238E27FC236}">
                <a16:creationId xmlns:a16="http://schemas.microsoft.com/office/drawing/2014/main" id="{8D735137-99DA-8FAE-21C0-0B6F7F8DAE73}"/>
              </a:ext>
            </a:extLst>
          </p:cNvPr>
          <p:cNvSpPr>
            <a:spLocks noGrp="1"/>
          </p:cNvSpPr>
          <p:nvPr>
            <p:ph type="title" idx="1"/>
          </p:nvPr>
        </p:nvSpPr>
        <p:spPr/>
        <p:txBody>
          <a:bodyPr/>
          <a:lstStyle/>
          <a:p>
            <a:r>
              <a:rPr lang="en-US" dirty="0"/>
              <a:t>Conversational Memory</a:t>
            </a:r>
          </a:p>
        </p:txBody>
      </p:sp>
      <p:sp>
        <p:nvSpPr>
          <p:cNvPr id="4" name="Content Placeholder 3">
            <a:extLst>
              <a:ext uri="{FF2B5EF4-FFF2-40B4-BE49-F238E27FC236}">
                <a16:creationId xmlns:a16="http://schemas.microsoft.com/office/drawing/2014/main" id="{84B40562-EA5C-80AA-B82C-4BA0DCBB7A46}"/>
              </a:ext>
            </a:extLst>
          </p:cNvPr>
          <p:cNvSpPr>
            <a:spLocks noGrp="1"/>
          </p:cNvSpPr>
          <p:nvPr>
            <p:ph idx="2"/>
          </p:nvPr>
        </p:nvSpPr>
        <p:spPr/>
        <p:txBody>
          <a:bodyPr/>
          <a:lstStyle/>
          <a:p>
            <a:r>
              <a:rPr lang="en-US" dirty="0">
                <a:solidFill>
                  <a:schemeClr val="tx1"/>
                </a:solidFill>
                <a:latin typeface="+mn-lt"/>
              </a:rPr>
              <a:t>Storing all interactions and retrieving them as history</a:t>
            </a:r>
          </a:p>
          <a:p>
            <a:pPr lvl="1"/>
            <a:r>
              <a:rPr lang="en-US" dirty="0">
                <a:solidFill>
                  <a:schemeClr val="accent6"/>
                </a:solidFill>
                <a:latin typeface="+mj-lt"/>
              </a:rPr>
              <a:t>Perfect recall</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r>
              <a:rPr lang="en-US" dirty="0"/>
              <a:t>What if the conversation is too long?</a:t>
            </a:r>
          </a:p>
          <a:p>
            <a:pPr lvl="1"/>
            <a:r>
              <a:rPr lang="en-US" dirty="0">
                <a:solidFill>
                  <a:schemeClr val="accent6"/>
                </a:solidFill>
                <a:latin typeface="+mj-lt"/>
              </a:rPr>
              <a:t>We will address this in the next lesson!</a:t>
            </a:r>
          </a:p>
          <a:p>
            <a:endParaRPr lang="en-US" dirty="0"/>
          </a:p>
        </p:txBody>
      </p:sp>
      <p:sp>
        <p:nvSpPr>
          <p:cNvPr id="5" name="Rectangle 4">
            <a:extLst>
              <a:ext uri="{FF2B5EF4-FFF2-40B4-BE49-F238E27FC236}">
                <a16:creationId xmlns:a16="http://schemas.microsoft.com/office/drawing/2014/main" id="{34A48BE2-7F69-A47D-DB61-B3DE3EA98838}"/>
              </a:ext>
            </a:extLst>
          </p:cNvPr>
          <p:cNvSpPr/>
          <p:nvPr/>
        </p:nvSpPr>
        <p:spPr>
          <a:xfrm>
            <a:off x="1664117" y="2669147"/>
            <a:ext cx="8896641" cy="2927866"/>
          </a:xfrm>
          <a:prstGeom prst="rect">
            <a:avLst/>
          </a:prstGeom>
          <a:solidFill>
            <a:schemeClr val="bg1"/>
          </a:solidFill>
          <a:ln>
            <a:solidFill>
              <a:schemeClr val="accent1"/>
            </a:solidFill>
          </a:ln>
          <a:effectLst>
            <a:outerShdw blurRad="50800" dist="38100" dir="2700000" algn="tl" rotWithShape="0">
              <a:prstClr val="black">
                <a:alpha val="40000"/>
              </a:prstClr>
            </a:outerShdw>
          </a:effectLst>
        </p:spPr>
        <p:txBody>
          <a:bodyPr wrap="square" lIns="182880" tIns="91440" rIns="182880" bIns="91440">
            <a:spAutoFit/>
          </a:bodyPr>
          <a:lstStyle/>
          <a:p>
            <a:r>
              <a:rPr lang="en-US" b="1" dirty="0">
                <a:solidFill>
                  <a:schemeClr val="bg1">
                    <a:lumMod val="65000"/>
                  </a:schemeClr>
                </a:solidFill>
                <a:latin typeface="Courier New" panose="02070309020205020404" pitchFamily="49" charset="0"/>
                <a:cs typeface="Courier New" panose="02070309020205020404" pitchFamily="49" charset="0"/>
              </a:rPr>
              <a:t># Create a </a:t>
            </a:r>
            <a:r>
              <a:rPr lang="en-US" b="1" dirty="0" err="1">
                <a:solidFill>
                  <a:schemeClr val="bg1">
                    <a:lumMod val="65000"/>
                  </a:schemeClr>
                </a:solidFill>
                <a:latin typeface="Courier New" panose="02070309020205020404" pitchFamily="49" charset="0"/>
                <a:cs typeface="Courier New" panose="02070309020205020404" pitchFamily="49" charset="0"/>
              </a:rPr>
              <a:t>ConversationBufferMemory</a:t>
            </a:r>
            <a:endParaRPr lang="en-US" b="1" dirty="0">
              <a:latin typeface="Courier New" panose="02070309020205020404" pitchFamily="49" charset="0"/>
              <a:cs typeface="Courier New" panose="02070309020205020404" pitchFamily="49" charset="0"/>
            </a:endParaRPr>
          </a:p>
          <a:p>
            <a:r>
              <a:rPr lang="en-US" b="1" dirty="0">
                <a:latin typeface="Courier New" panose="02070309020205020404" pitchFamily="49" charset="0"/>
                <a:cs typeface="Courier New" panose="02070309020205020404" pitchFamily="49" charset="0"/>
              </a:rPr>
              <a:t>memory = </a:t>
            </a:r>
            <a:r>
              <a:rPr lang="en-US" b="1" dirty="0" err="1">
                <a:latin typeface="Courier New" panose="02070309020205020404" pitchFamily="49" charset="0"/>
                <a:cs typeface="Courier New" panose="02070309020205020404" pitchFamily="49" charset="0"/>
              </a:rPr>
              <a:t>ConversationBufferMemory</a:t>
            </a:r>
            <a:r>
              <a:rPr lang="en-US" b="1" dirty="0">
                <a:solidFill>
                  <a:srgbClr val="00B0F0"/>
                </a:solidFill>
                <a:latin typeface="Courier New" panose="02070309020205020404" pitchFamily="49" charset="0"/>
                <a:cs typeface="Courier New" panose="02070309020205020404" pitchFamily="49" charset="0"/>
              </a:rPr>
              <a:t>()</a:t>
            </a:r>
          </a:p>
          <a:p>
            <a:endParaRPr lang="en-US" b="1" dirty="0">
              <a:solidFill>
                <a:srgbClr val="00B0F0"/>
              </a:solidFill>
              <a:latin typeface="Courier New" panose="02070309020205020404" pitchFamily="49" charset="0"/>
              <a:cs typeface="Courier New" panose="02070309020205020404" pitchFamily="49" charset="0"/>
            </a:endParaRPr>
          </a:p>
          <a:p>
            <a:r>
              <a:rPr lang="en-US" b="1" dirty="0">
                <a:solidFill>
                  <a:schemeClr val="bg1">
                    <a:lumMod val="65000"/>
                  </a:schemeClr>
                </a:solidFill>
                <a:latin typeface="Courier New" panose="02070309020205020404" pitchFamily="49" charset="0"/>
                <a:cs typeface="Courier New" panose="02070309020205020404" pitchFamily="49" charset="0"/>
              </a:rPr>
              <a:t># Save context into memory</a:t>
            </a:r>
            <a:endParaRPr lang="en-US" b="1" dirty="0">
              <a:solidFill>
                <a:srgbClr val="00B0F0"/>
              </a:solidFill>
              <a:latin typeface="Courier New" panose="02070309020205020404" pitchFamily="49" charset="0"/>
              <a:cs typeface="Courier New" panose="02070309020205020404" pitchFamily="49" charset="0"/>
            </a:endParaRPr>
          </a:p>
          <a:p>
            <a:r>
              <a:rPr lang="en-US" b="1" dirty="0" err="1">
                <a:latin typeface="Courier New" panose="02070309020205020404" pitchFamily="49" charset="0"/>
                <a:cs typeface="Courier New" panose="02070309020205020404" pitchFamily="49" charset="0"/>
              </a:rPr>
              <a:t>memory.save_context</a:t>
            </a:r>
            <a:r>
              <a:rPr lang="en-US" b="1" dirty="0">
                <a:solidFill>
                  <a:srgbClr val="00B0F0"/>
                </a:solidFill>
                <a:latin typeface="Courier New" panose="02070309020205020404" pitchFamily="49" charset="0"/>
                <a:cs typeface="Courier New" panose="02070309020205020404" pitchFamily="49" charset="0"/>
              </a:rPr>
              <a:t>({</a:t>
            </a:r>
            <a:r>
              <a:rPr lang="en-US" b="1" dirty="0">
                <a:solidFill>
                  <a:srgbClr val="C00000"/>
                </a:solidFill>
                <a:latin typeface="Courier New" panose="02070309020205020404" pitchFamily="49" charset="0"/>
                <a:cs typeface="Courier New" panose="02070309020205020404" pitchFamily="49" charset="0"/>
              </a:rPr>
              <a:t>“</a:t>
            </a:r>
            <a:r>
              <a:rPr lang="en-US" b="1" dirty="0" err="1">
                <a:solidFill>
                  <a:srgbClr val="C00000"/>
                </a:solidFill>
                <a:latin typeface="Courier New" panose="02070309020205020404" pitchFamily="49" charset="0"/>
                <a:cs typeface="Courier New" panose="02070309020205020404" pitchFamily="49" charset="0"/>
              </a:rPr>
              <a:t>input”</a:t>
            </a:r>
            <a:r>
              <a:rPr lang="en-US" b="1" dirty="0" err="1">
                <a:latin typeface="Courier New" panose="02070309020205020404" pitchFamily="49" charset="0"/>
                <a:cs typeface="Courier New" panose="02070309020205020404" pitchFamily="49" charset="0"/>
              </a:rPr>
              <a:t>:</a:t>
            </a:r>
            <a:r>
              <a:rPr lang="en-US" b="1" dirty="0" err="1">
                <a:solidFill>
                  <a:srgbClr val="C00000"/>
                </a:solidFill>
                <a:latin typeface="Courier New" panose="02070309020205020404" pitchFamily="49" charset="0"/>
                <a:cs typeface="Courier New" panose="02070309020205020404" pitchFamily="49" charset="0"/>
              </a:rPr>
              <a:t>”Hi</a:t>
            </a:r>
            <a:r>
              <a:rPr lang="en-US" b="1" dirty="0">
                <a:solidFill>
                  <a:srgbClr val="C00000"/>
                </a:solidFill>
                <a:latin typeface="Courier New" panose="02070309020205020404" pitchFamily="49" charset="0"/>
                <a:cs typeface="Courier New" panose="02070309020205020404" pitchFamily="49" charset="0"/>
              </a:rPr>
              <a:t>”</a:t>
            </a:r>
            <a:r>
              <a:rPr lang="en-US" b="1" dirty="0">
                <a:solidFill>
                  <a:srgbClr val="00B0F0"/>
                </a:solidFill>
                <a:latin typeface="Courier New" panose="02070309020205020404" pitchFamily="49" charset="0"/>
                <a:cs typeface="Courier New" panose="02070309020205020404" pitchFamily="49" charset="0"/>
              </a:rPr>
              <a:t>}</a:t>
            </a:r>
            <a:r>
              <a:rPr lang="en-US" b="1" dirty="0">
                <a:latin typeface="Courier New" panose="02070309020205020404" pitchFamily="49" charset="0"/>
                <a:cs typeface="Courier New" panose="02070309020205020404" pitchFamily="49" charset="0"/>
              </a:rPr>
              <a:t>,</a:t>
            </a:r>
            <a:r>
              <a:rPr lang="en-US" b="1" dirty="0">
                <a:solidFill>
                  <a:srgbClr val="00B0F0"/>
                </a:solidFill>
                <a:latin typeface="Courier New" panose="02070309020205020404" pitchFamily="49" charset="0"/>
                <a:cs typeface="Courier New" panose="02070309020205020404" pitchFamily="49" charset="0"/>
              </a:rPr>
              <a:t>{</a:t>
            </a:r>
            <a:r>
              <a:rPr lang="en-US" b="1" dirty="0">
                <a:solidFill>
                  <a:srgbClr val="C00000"/>
                </a:solidFill>
                <a:latin typeface="Courier New" panose="02070309020205020404" pitchFamily="49" charset="0"/>
                <a:cs typeface="Courier New" panose="02070309020205020404" pitchFamily="49" charset="0"/>
              </a:rPr>
              <a:t>“</a:t>
            </a:r>
            <a:r>
              <a:rPr lang="en-US" b="1" dirty="0" err="1">
                <a:solidFill>
                  <a:srgbClr val="C00000"/>
                </a:solidFill>
                <a:latin typeface="Courier New" panose="02070309020205020404" pitchFamily="49" charset="0"/>
                <a:cs typeface="Courier New" panose="02070309020205020404" pitchFamily="49" charset="0"/>
              </a:rPr>
              <a:t>output”</a:t>
            </a:r>
            <a:r>
              <a:rPr lang="en-US" b="1" dirty="0" err="1">
                <a:latin typeface="Courier New" panose="02070309020205020404" pitchFamily="49" charset="0"/>
                <a:cs typeface="Courier New" panose="02070309020205020404" pitchFamily="49" charset="0"/>
              </a:rPr>
              <a:t>:</a:t>
            </a:r>
            <a:r>
              <a:rPr lang="en-US" b="1" dirty="0" err="1">
                <a:solidFill>
                  <a:srgbClr val="C00000"/>
                </a:solidFill>
                <a:latin typeface="Courier New" panose="02070309020205020404" pitchFamily="49" charset="0"/>
                <a:cs typeface="Courier New" panose="02070309020205020404" pitchFamily="49" charset="0"/>
              </a:rPr>
              <a:t>”What’s</a:t>
            </a:r>
            <a:r>
              <a:rPr lang="en-US" b="1" dirty="0">
                <a:solidFill>
                  <a:srgbClr val="C00000"/>
                </a:solidFill>
                <a:latin typeface="Courier New" panose="02070309020205020404" pitchFamily="49" charset="0"/>
                <a:cs typeface="Courier New" panose="02070309020205020404" pitchFamily="49" charset="0"/>
              </a:rPr>
              <a:t> up?”</a:t>
            </a:r>
            <a:r>
              <a:rPr lang="en-US" b="1" dirty="0">
                <a:solidFill>
                  <a:srgbClr val="00B0F0"/>
                </a:solidFill>
                <a:latin typeface="Courier New" panose="02070309020205020404" pitchFamily="49" charset="0"/>
                <a:cs typeface="Courier New" panose="02070309020205020404" pitchFamily="49" charset="0"/>
              </a:rPr>
              <a:t>})</a:t>
            </a:r>
          </a:p>
          <a:p>
            <a:endParaRPr lang="en-US" b="1" dirty="0">
              <a:latin typeface="Courier New" panose="02070309020205020404" pitchFamily="49" charset="0"/>
              <a:cs typeface="Courier New" panose="02070309020205020404" pitchFamily="49" charset="0"/>
            </a:endParaRPr>
          </a:p>
          <a:p>
            <a:r>
              <a:rPr lang="en-US" b="1" dirty="0">
                <a:solidFill>
                  <a:schemeClr val="bg1">
                    <a:lumMod val="65000"/>
                  </a:schemeClr>
                </a:solidFill>
                <a:latin typeface="Courier New" panose="02070309020205020404" pitchFamily="49" charset="0"/>
                <a:cs typeface="Courier New" panose="02070309020205020404" pitchFamily="49" charset="0"/>
              </a:rPr>
              <a:t># Output context from memory</a:t>
            </a:r>
            <a:endParaRPr lang="en-US" b="1" dirty="0">
              <a:solidFill>
                <a:srgbClr val="00B0F0"/>
              </a:solidFill>
              <a:latin typeface="Courier New" panose="02070309020205020404" pitchFamily="49" charset="0"/>
              <a:cs typeface="Courier New" panose="02070309020205020404" pitchFamily="49" charset="0"/>
            </a:endParaRPr>
          </a:p>
          <a:p>
            <a:r>
              <a:rPr lang="en-US" b="1" dirty="0" err="1">
                <a:latin typeface="Courier New" panose="02070309020205020404" pitchFamily="49" charset="0"/>
                <a:cs typeface="Courier New" panose="02070309020205020404" pitchFamily="49" charset="0"/>
              </a:rPr>
              <a:t>memory.load_memory_variables</a:t>
            </a:r>
            <a:r>
              <a:rPr lang="en-US" b="1" dirty="0">
                <a:solidFill>
                  <a:srgbClr val="00B0F0"/>
                </a:solidFill>
                <a:latin typeface="Courier New" panose="02070309020205020404" pitchFamily="49" charset="0"/>
                <a:cs typeface="Courier New" panose="02070309020205020404" pitchFamily="49" charset="0"/>
              </a:rPr>
              <a:t>({})</a:t>
            </a:r>
          </a:p>
          <a:p>
            <a:endParaRPr lang="en-US" b="1" dirty="0">
              <a:solidFill>
                <a:srgbClr val="00B0F0"/>
              </a:solidFill>
              <a:latin typeface="Courier New" panose="02070309020205020404" pitchFamily="49" charset="0"/>
              <a:cs typeface="Courier New" panose="02070309020205020404" pitchFamily="49" charset="0"/>
            </a:endParaRPr>
          </a:p>
          <a:p>
            <a:r>
              <a:rPr lang="en-US" b="1" dirty="0">
                <a:solidFill>
                  <a:srgbClr val="00D200"/>
                </a:solidFill>
                <a:latin typeface="Courier New" panose="02070309020205020404" pitchFamily="49" charset="0"/>
                <a:cs typeface="Courier New" panose="02070309020205020404" pitchFamily="49" charset="0"/>
              </a:rPr>
              <a:t>&gt;&gt; {‘history’: ‘</a:t>
            </a:r>
            <a:r>
              <a:rPr lang="en-US" b="1" dirty="0" err="1">
                <a:solidFill>
                  <a:srgbClr val="00D200"/>
                </a:solidFill>
                <a:latin typeface="Courier New" panose="02070309020205020404" pitchFamily="49" charset="0"/>
                <a:cs typeface="Courier New" panose="02070309020205020404" pitchFamily="49" charset="0"/>
              </a:rPr>
              <a:t>Human:Hi</a:t>
            </a:r>
            <a:r>
              <a:rPr lang="en-US" b="1" dirty="0">
                <a:solidFill>
                  <a:srgbClr val="00D200"/>
                </a:solidFill>
                <a:latin typeface="Courier New" panose="02070309020205020404" pitchFamily="49" charset="0"/>
                <a:cs typeface="Courier New" panose="02070309020205020404" pitchFamily="49" charset="0"/>
              </a:rPr>
              <a:t>\</a:t>
            </a:r>
            <a:r>
              <a:rPr lang="en-US" b="1" dirty="0" err="1">
                <a:solidFill>
                  <a:srgbClr val="00D200"/>
                </a:solidFill>
                <a:latin typeface="Courier New" panose="02070309020205020404" pitchFamily="49" charset="0"/>
                <a:cs typeface="Courier New" panose="02070309020205020404" pitchFamily="49" charset="0"/>
              </a:rPr>
              <a:t>nAI</a:t>
            </a:r>
            <a:r>
              <a:rPr lang="en-US" b="1" dirty="0">
                <a:solidFill>
                  <a:srgbClr val="00D200"/>
                </a:solidFill>
                <a:latin typeface="Courier New" panose="02070309020205020404" pitchFamily="49" charset="0"/>
                <a:cs typeface="Courier New" panose="02070309020205020404" pitchFamily="49" charset="0"/>
              </a:rPr>
              <a:t>: What’s up?’}</a:t>
            </a:r>
          </a:p>
        </p:txBody>
      </p:sp>
    </p:spTree>
    <p:extLst>
      <p:ext uri="{BB962C8B-B14F-4D97-AF65-F5344CB8AC3E}">
        <p14:creationId xmlns:p14="http://schemas.microsoft.com/office/powerpoint/2010/main" val="4016404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320EF2D4-4E33-4639-9303-EF711B381B8B}"/>
              </a:ext>
            </a:extLst>
          </p:cNvPr>
          <p:cNvSpPr>
            <a:spLocks noGrp="1"/>
          </p:cNvSpPr>
          <p:nvPr>
            <p:ph type="sldNum" idx="97"/>
          </p:nvPr>
        </p:nvSpPr>
        <p:spPr/>
        <p:txBody>
          <a:bodyPr/>
          <a:lstStyle/>
          <a:p>
            <a:fld id="{86A8BF56-6CB3-514C-9A64-F39D95C9E25B}" type="slidenum">
              <a:rPr lang="en-US" smtClean="0"/>
              <a:pPr/>
              <a:t>25</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lstStyle/>
          <a:p>
            <a:r>
              <a:rPr lang="en-US" dirty="0"/>
              <a:t>Next lesson</a:t>
            </a:r>
          </a:p>
        </p:txBody>
      </p:sp>
      <p:sp>
        <p:nvSpPr>
          <p:cNvPr id="4" name="Content Placeholder 5">
            <a:extLst>
              <a:ext uri="{FF2B5EF4-FFF2-40B4-BE49-F238E27FC236}">
                <a16:creationId xmlns:a16="http://schemas.microsoft.com/office/drawing/2014/main" id="{0FFF8176-240D-94A8-6114-62857B0123DF}"/>
              </a:ext>
            </a:extLst>
          </p:cNvPr>
          <p:cNvSpPr>
            <a:spLocks noGrp="1"/>
          </p:cNvSpPr>
          <p:nvPr>
            <p:ph idx="2"/>
          </p:nvPr>
        </p:nvSpPr>
        <p:spPr>
          <a:xfrm>
            <a:off x="365760" y="1165536"/>
            <a:ext cx="11466576" cy="2128853"/>
          </a:xfrm>
        </p:spPr>
        <p:txBody>
          <a:bodyPr/>
          <a:lstStyle/>
          <a:p>
            <a:r>
              <a:rPr lang="en-US" dirty="0"/>
              <a:t>This lesson covered </a:t>
            </a:r>
            <a:r>
              <a:rPr lang="en-US" dirty="0" err="1"/>
              <a:t>LangChain</a:t>
            </a:r>
            <a:r>
              <a:rPr lang="en-US" dirty="0"/>
              <a:t> and a few modules offered by the framework.</a:t>
            </a:r>
          </a:p>
          <a:p>
            <a:r>
              <a:rPr lang="en-US" dirty="0"/>
              <a:t>In the next lesson, you will learn about developing </a:t>
            </a:r>
            <a:r>
              <a:rPr lang="en-US"/>
              <a:t>conversational applications.</a:t>
            </a:r>
            <a:endParaRPr lang="en-US" dirty="0"/>
          </a:p>
        </p:txBody>
      </p:sp>
      <p:pic>
        <p:nvPicPr>
          <p:cNvPr id="22" name="Picture 21">
            <a:extLst>
              <a:ext uri="{FF2B5EF4-FFF2-40B4-BE49-F238E27FC236}">
                <a16:creationId xmlns:a16="http://schemas.microsoft.com/office/drawing/2014/main" id="{5D21BB7E-05A4-45DA-82D9-FAEF3F63857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858405" y="3563611"/>
            <a:ext cx="2475191" cy="2261812"/>
          </a:xfrm>
          <a:prstGeom prst="rect">
            <a:avLst/>
          </a:prstGeom>
        </p:spPr>
      </p:pic>
    </p:spTree>
    <p:extLst>
      <p:ext uri="{BB962C8B-B14F-4D97-AF65-F5344CB8AC3E}">
        <p14:creationId xmlns:p14="http://schemas.microsoft.com/office/powerpoint/2010/main" val="5630276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5B4AA4-CEC0-189B-3D62-7CAC1F84922E}"/>
              </a:ext>
            </a:extLst>
          </p:cNvPr>
          <p:cNvSpPr>
            <a:spLocks noGrp="1"/>
          </p:cNvSpPr>
          <p:nvPr>
            <p:ph type="sldNum" idx="97"/>
          </p:nvPr>
        </p:nvSpPr>
        <p:spPr/>
        <p:txBody>
          <a:bodyPr/>
          <a:lstStyle/>
          <a:p>
            <a:fld id="{86A8BF56-6CB3-514C-9A64-F39D95C9E25B}" type="slidenum">
              <a:rPr lang="en-US" smtClean="0"/>
              <a:t>26</a:t>
            </a:fld>
            <a:endParaRPr lang="en-US"/>
          </a:p>
        </p:txBody>
      </p:sp>
    </p:spTree>
    <p:extLst>
      <p:ext uri="{BB962C8B-B14F-4D97-AF65-F5344CB8AC3E}">
        <p14:creationId xmlns:p14="http://schemas.microsoft.com/office/powerpoint/2010/main" val="25985451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EEP-GitHub">
  <a:themeElements>
    <a:clrScheme name="MLU-Academy">
      <a:dk1>
        <a:sysClr val="windowText" lastClr="000000"/>
      </a:dk1>
      <a:lt1>
        <a:sysClr val="window" lastClr="FFFFFF"/>
      </a:lt1>
      <a:dk2>
        <a:srgbClr val="232F3E"/>
      </a:dk2>
      <a:lt2>
        <a:srgbClr val="F1F3F3"/>
      </a:lt2>
      <a:accent1>
        <a:srgbClr val="003181"/>
      </a:accent1>
      <a:accent2>
        <a:srgbClr val="FFAD97"/>
      </a:accent2>
      <a:accent3>
        <a:srgbClr val="F46EBB"/>
      </a:accent3>
      <a:accent4>
        <a:srgbClr val="2074D5"/>
      </a:accent4>
      <a:accent5>
        <a:srgbClr val="7C5AED"/>
      </a:accent5>
      <a:accent6>
        <a:srgbClr val="DF2A5D"/>
      </a:accent6>
      <a:hlink>
        <a:srgbClr val="0972D3"/>
      </a:hlink>
      <a:folHlink>
        <a:srgbClr val="0972D3"/>
      </a:folHlink>
    </a:clrScheme>
    <a:fontScheme name="MLU-Academy-fonts">
      <a:majorFont>
        <a:latin typeface="Amazon Ember Display Heavy"/>
        <a:ea typeface=""/>
        <a:cs typeface=""/>
      </a:majorFont>
      <a:minorFont>
        <a:latin typeface="Amazon Ember Display"/>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Squid Ink">
      <a:srgbClr val="161E2D"/>
    </a:custClr>
    <a:custClr name="Squid Ink">
      <a:srgbClr val="232F3E"/>
    </a:custClr>
    <a:custClr name="Stone">
      <a:srgbClr val="D4DADA"/>
    </a:custClr>
    <a:custClr name="Paper">
      <a:srgbClr val="F1F3F3"/>
    </a:custClr>
    <a:custClr name="White">
      <a:srgbClr val="FFFFFF"/>
    </a:custClr>
    <a:custClr name="blank">
      <a:srgbClr val="FFFFFF"/>
    </a:custClr>
    <a:custClr name="blank">
      <a:srgbClr val="FFFFFF"/>
    </a:custClr>
    <a:custClr name="blank">
      <a:srgbClr val="FFFFFF"/>
    </a:custClr>
    <a:custClr name="blank">
      <a:srgbClr val="FFFFFF"/>
    </a:custClr>
    <a:custClr name="blank">
      <a:srgbClr val="FFFFFF"/>
    </a:custClr>
    <a:custClr name="Anchor">
      <a:srgbClr val="003181"/>
    </a:custClr>
    <a:custClr name="Sky">
      <a:srgbClr val="2074D5"/>
    </a:custClr>
    <a:custClr name="Rind">
      <a:srgbClr val="FBD8BF"/>
    </a:custClr>
    <a:custClr name="Smile">
      <a:srgbClr val="FF9900"/>
    </a:custClr>
    <a:custClr name="blank">
      <a:srgbClr val="FFFFFF"/>
    </a:custClr>
    <a:custClr name="Galaxy">
      <a:srgbClr val="330066"/>
    </a:custClr>
    <a:custClr name="Cosmos">
      <a:srgbClr val="DF2A5D"/>
    </a:custClr>
    <a:custClr name="Violet">
      <a:srgbClr val="7C5AED"/>
    </a:custClr>
    <a:custClr name="Cyan">
      <a:srgbClr val="7CE8F4"/>
    </a:custClr>
    <a:custClr name="blank">
      <a:srgbClr val="FFFFFF"/>
    </a:custClr>
    <a:custClr name="Sea Blue">
      <a:srgbClr val="005276"/>
    </a:custClr>
    <a:custClr name="Aqua">
      <a:srgbClr val="007FAA"/>
    </a:custClr>
    <a:custClr name="Lab">
      <a:srgbClr val="38EF7D"/>
    </a:custClr>
    <a:custClr name="Mist">
      <a:srgbClr val="9FFCEA"/>
    </a:custClr>
    <a:custClr name="blank">
      <a:srgbClr val="FFFFFF"/>
    </a:custClr>
    <a:custClr name="Anchor">
      <a:srgbClr val="003181"/>
    </a:custClr>
    <a:custClr name="Sky">
      <a:srgbClr val="2074D5"/>
    </a:custClr>
    <a:custClr name="Magenta">
      <a:srgbClr val="F46EBB"/>
    </a:custClr>
    <a:custClr name="Peach">
      <a:srgbClr val="FFAD97"/>
    </a:custClr>
    <a:custClr name="blank">
      <a:srgbClr val="FFFFFF"/>
    </a:custClr>
  </a:custClrLst>
  <a:extLst>
    <a:ext uri="{05A4C25C-085E-4340-85A3-A5531E510DB2}">
      <thm15:themeFamily xmlns:thm15="http://schemas.microsoft.com/office/thememl/2012/main" name="EEP-GitHub" id="{842962CA-AC46-1D48-882A-3684688E17DC}" vid="{EA6B7C85-BB29-624A-944E-87E8D14E34C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EEP-GitHub</Template>
  <TotalTime>2002</TotalTime>
  <Words>6368</Words>
  <Application>Microsoft Macintosh PowerPoint</Application>
  <PresentationFormat>Widescreen</PresentationFormat>
  <Paragraphs>933</Paragraphs>
  <Slides>26</Slides>
  <Notes>26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26</vt:i4>
      </vt:variant>
    </vt:vector>
  </HeadingPairs>
  <TitlesOfParts>
    <vt:vector size="37" baseType="lpstr">
      <vt:lpstr>Amazon Ember</vt:lpstr>
      <vt:lpstr>Amazon Ember Display</vt:lpstr>
      <vt:lpstr>Amazon Ember Display Heavy</vt:lpstr>
      <vt:lpstr>Amazon Ember Heavy</vt:lpstr>
      <vt:lpstr>Amazon Ember Light</vt:lpstr>
      <vt:lpstr>Amazon Ember Medium</vt:lpstr>
      <vt:lpstr>Arial</vt:lpstr>
      <vt:lpstr>Calibri</vt:lpstr>
      <vt:lpstr>Courier New</vt:lpstr>
      <vt:lpstr>Lucida Console</vt:lpstr>
      <vt:lpstr>EEP-GitHub</vt:lpstr>
      <vt:lpstr>LangChain Modules</vt:lpstr>
      <vt:lpstr>Today’s activities</vt:lpstr>
      <vt:lpstr>Review: Core dimensions of responsible AI</vt:lpstr>
      <vt:lpstr>LangChain</vt:lpstr>
      <vt:lpstr>LangChain</vt:lpstr>
      <vt:lpstr>LangChain Use Cases</vt:lpstr>
      <vt:lpstr>Why LangChain? Prompt, don’t train!</vt:lpstr>
      <vt:lpstr>Why LangChain? Standard interface</vt:lpstr>
      <vt:lpstr>Why LangChain? Orchestration</vt:lpstr>
      <vt:lpstr>Why LangChain? Observability and evaluation</vt:lpstr>
      <vt:lpstr>LangChain Modules</vt:lpstr>
      <vt:lpstr>Prompt templates</vt:lpstr>
      <vt:lpstr>Output parsers</vt:lpstr>
      <vt:lpstr>Chains</vt:lpstr>
      <vt:lpstr>LangChain Expression Language (LCEL)</vt:lpstr>
      <vt:lpstr>Simple LLM chain</vt:lpstr>
      <vt:lpstr>Connecting multiple chains</vt:lpstr>
      <vt:lpstr>Memory</vt:lpstr>
      <vt:lpstr>Simple prompting</vt:lpstr>
      <vt:lpstr>Simple LLM application</vt:lpstr>
      <vt:lpstr>Memory</vt:lpstr>
      <vt:lpstr>LLM Application with memory</vt:lpstr>
      <vt:lpstr>Prompting with memory</vt:lpstr>
      <vt:lpstr>Conversational Memory</vt:lpstr>
      <vt:lpstr>Next lesson</vt:lpstr>
      <vt:lpstr>PowerPoint Presentation</vt:lpstr>
    </vt:vector>
  </TitlesOfParts>
  <Manager/>
  <Company>Amazon,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Educator Enablement Program - Generative AI</dc:title>
  <dc:subject>Foundation Models and Large Language Models</dc:subject>
  <dc:creator>Machine Learning University</dc:creator>
  <cp:keywords/>
  <dc:description/>
  <cp:lastModifiedBy>dos Santos Junior, Jose Cassio</cp:lastModifiedBy>
  <cp:revision>64</cp:revision>
  <cp:lastPrinted>2025-06-19T18:25:30Z</cp:lastPrinted>
  <dcterms:created xsi:type="dcterms:W3CDTF">2022-11-16T15:46:36Z</dcterms:created>
  <dcterms:modified xsi:type="dcterms:W3CDTF">2025-06-19T18:28:38Z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9eed6f-34eb-4453-9f97-09510b9b219f_Enabled">
    <vt:lpwstr>true</vt:lpwstr>
  </property>
  <property fmtid="{D5CDD505-2E9C-101B-9397-08002B2CF9AE}" pid="3" name="MSIP_Label_929eed6f-34eb-4453-9f97-09510b9b219f_SetDate">
    <vt:lpwstr>2025-06-19T16:54:13Z</vt:lpwstr>
  </property>
  <property fmtid="{D5CDD505-2E9C-101B-9397-08002B2CF9AE}" pid="4" name="MSIP_Label_929eed6f-34eb-4453-9f97-09510b9b219f_Method">
    <vt:lpwstr>Standard</vt:lpwstr>
  </property>
  <property fmtid="{D5CDD505-2E9C-101B-9397-08002B2CF9AE}" pid="5" name="MSIP_Label_929eed6f-34eb-4453-9f97-09510b9b219f_Name">
    <vt:lpwstr>Amazon Pending_Classification</vt:lpwstr>
  </property>
  <property fmtid="{D5CDD505-2E9C-101B-9397-08002B2CF9AE}" pid="6" name="MSIP_Label_929eed6f-34eb-4453-9f97-09510b9b219f_SiteId">
    <vt:lpwstr>5280104a-472d-4538-9ccf-1e1d0efe8b1b</vt:lpwstr>
  </property>
  <property fmtid="{D5CDD505-2E9C-101B-9397-08002B2CF9AE}" pid="7" name="MSIP_Label_929eed6f-34eb-4453-9f97-09510b9b219f_ActionId">
    <vt:lpwstr>07fde48b-2dc2-4968-bbbe-8ea85a1dce82</vt:lpwstr>
  </property>
  <property fmtid="{D5CDD505-2E9C-101B-9397-08002B2CF9AE}" pid="8" name="MSIP_Label_929eed6f-34eb-4453-9f97-09510b9b219f_ContentBits">
    <vt:lpwstr>0</vt:lpwstr>
  </property>
  <property fmtid="{D5CDD505-2E9C-101B-9397-08002B2CF9AE}" pid="9" name="MSIP_Label_929eed6f-34eb-4453-9f97-09510b9b219f_Tag">
    <vt:lpwstr>50, 3, 0, 1</vt:lpwstr>
  </property>
</Properties>
</file>