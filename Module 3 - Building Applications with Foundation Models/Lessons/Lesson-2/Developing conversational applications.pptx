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27"/>
  </p:notesMasterIdLst>
  <p:sldIdLst>
    <p:sldId id="256" r:id="rId2"/>
    <p:sldId id="413" r:id="rId3"/>
    <p:sldId id="388" r:id="rId4"/>
    <p:sldId id="2147482836" r:id="rId5"/>
    <p:sldId id="2147482837" r:id="rId6"/>
    <p:sldId id="385" r:id="rId7"/>
    <p:sldId id="2147482819" r:id="rId8"/>
    <p:sldId id="2147482821" r:id="rId9"/>
    <p:sldId id="2147482822" r:id="rId10"/>
    <p:sldId id="2147482823" r:id="rId11"/>
    <p:sldId id="2147482825" r:id="rId12"/>
    <p:sldId id="2147482824" r:id="rId13"/>
    <p:sldId id="2147482826" r:id="rId14"/>
    <p:sldId id="2147482803" r:id="rId15"/>
    <p:sldId id="2147482820" r:id="rId16"/>
    <p:sldId id="2147482827" r:id="rId17"/>
    <p:sldId id="2147482828" r:id="rId18"/>
    <p:sldId id="2147482829" r:id="rId19"/>
    <p:sldId id="2147482830" r:id="rId20"/>
    <p:sldId id="2147482831" r:id="rId21"/>
    <p:sldId id="2147482832" r:id="rId22"/>
    <p:sldId id="2147482833" r:id="rId23"/>
    <p:sldId id="2147482834" r:id="rId24"/>
    <p:sldId id="4042" r:id="rId25"/>
    <p:sldId id="2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55334" autoAdjust="0"/>
  </p:normalViewPr>
  <p:slideViewPr>
    <p:cSldViewPr snapToGrid="0">
      <p:cViewPr varScale="1">
        <p:scale>
          <a:sx n="62" d="100"/>
          <a:sy n="62" d="100"/>
        </p:scale>
        <p:origin x="232" y="2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models and large language models are at the core of generative AI. These powerful models serve as the foundation for numerous advanced applications, enabling us to tackle challenging tasks more effectively. Foundation models and large language models are versatile and can be adapted to various domains. This presentation delves into the concepts and capabilities of these models, which are driving innovation in the field of generative AI.</a:t>
            </a:r>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Framework Popularity</a:t>
            </a:r>
          </a:p>
          <a:p>
            <a:r>
              <a:rPr lang="en-US" dirty="0"/>
              <a:t>- Recognized as one of the leading frameworks for LLM-based applications</a:t>
            </a:r>
          </a:p>
          <a:p>
            <a:r>
              <a:rPr lang="en-US" dirty="0"/>
              <a:t>- Essential tool in modern AI development landscape</a:t>
            </a:r>
          </a:p>
          <a:p>
            <a:endParaRPr lang="en-US" dirty="0"/>
          </a:p>
          <a:p>
            <a:r>
              <a:rPr lang="en-US" dirty="0"/>
              <a:t>2. Core Purpose</a:t>
            </a:r>
          </a:p>
          <a:p>
            <a:r>
              <a:rPr lang="en-US" dirty="0"/>
              <a:t>- Primary framework for developing language model-powered applications</a:t>
            </a:r>
          </a:p>
          <a:p>
            <a:r>
              <a:rPr lang="en-US" dirty="0"/>
              <a:t>- Provides structure and tools for LLM integration</a:t>
            </a:r>
          </a:p>
          <a:p>
            <a:endParaRPr lang="en-US" dirty="0"/>
          </a:p>
          <a:p>
            <a:r>
              <a:rPr lang="en-US" dirty="0"/>
              <a:t>3. Key Features</a:t>
            </a:r>
          </a:p>
          <a:p>
            <a:r>
              <a:rPr lang="en-US" dirty="0"/>
              <a:t>a) Modular Components</a:t>
            </a:r>
          </a:p>
          <a:p>
            <a:r>
              <a:rPr lang="en-US" dirty="0"/>
              <a:t>   - Allows for flexible assembly of different parts</a:t>
            </a:r>
          </a:p>
          <a:p>
            <a:r>
              <a:rPr lang="en-US" dirty="0"/>
              <a:t>   - Enables customization based on specific needs</a:t>
            </a:r>
          </a:p>
          <a:p>
            <a:endParaRPr lang="en-US" dirty="0"/>
          </a:p>
          <a:p>
            <a:r>
              <a:rPr lang="en-US" dirty="0"/>
              <a:t>b) Flexibility &amp; Scalability</a:t>
            </a:r>
          </a:p>
          <a:p>
            <a:r>
              <a:rPr lang="en-US" dirty="0"/>
              <a:t>   - Adaptable to different project sizes</a:t>
            </a:r>
          </a:p>
          <a:p>
            <a:r>
              <a:rPr lang="en-US" dirty="0"/>
              <a:t>   - Can grow with application requirements</a:t>
            </a:r>
          </a:p>
          <a:p>
            <a:r>
              <a:rPr lang="en-US" dirty="0"/>
              <a:t>   - Supports various deployment scenarios</a:t>
            </a:r>
          </a:p>
          <a:p>
            <a:endParaRPr lang="en-US" dirty="0"/>
          </a:p>
          <a:p>
            <a:r>
              <a:rPr lang="en-US" dirty="0"/>
              <a:t>c) Third-Party Integration Support</a:t>
            </a:r>
          </a:p>
          <a:p>
            <a:r>
              <a:rPr lang="en-US" dirty="0"/>
              <a:t>   - Extensive ecosystem of compatible tools</a:t>
            </a:r>
          </a:p>
          <a:p>
            <a:r>
              <a:rPr lang="en-US" dirty="0"/>
              <a:t>   - Wide range of integration options</a:t>
            </a:r>
          </a:p>
          <a:p>
            <a:r>
              <a:rPr lang="en-US" dirty="0"/>
              <a:t>   - Enhances functionality through external services</a:t>
            </a:r>
          </a:p>
          <a:p>
            <a:endParaRPr lang="en-US" dirty="0"/>
          </a:p>
          <a:p>
            <a:r>
              <a:rPr lang="en-US" b="1" dirty="0"/>
              <a:t>EDUCATOR NOTES:</a:t>
            </a:r>
          </a:p>
          <a:p>
            <a:endParaRPr lang="en-US" dirty="0"/>
          </a:p>
          <a:p>
            <a:r>
              <a:rPr lang="en-US" dirty="0"/>
              <a:t>”Let’s review </a:t>
            </a:r>
            <a:r>
              <a:rPr lang="en-US" dirty="0" err="1"/>
              <a:t>LangChain</a:t>
            </a:r>
            <a:r>
              <a:rPr lang="en-US" dirty="0"/>
              <a:t> definition. It has emerged as one of the most influential frameworks in the LLM space. This framework is specifically designed to make building LLM-powered applications more straightforward and efficient.</a:t>
            </a:r>
          </a:p>
          <a:p>
            <a:endParaRPr lang="en-US" dirty="0"/>
          </a:p>
          <a:p>
            <a:r>
              <a:rPr lang="en-US" dirty="0"/>
              <a:t>What makes </a:t>
            </a:r>
            <a:r>
              <a:rPr lang="en-US" dirty="0" err="1"/>
              <a:t>LangChain</a:t>
            </a:r>
            <a:r>
              <a:rPr lang="en-US" dirty="0"/>
              <a:t> particularly valuable is its modular approach - you can mix and match components as needed for your specific use case. Its flexibility means it can handle everything from small prototype projects to large-scale applications.</a:t>
            </a:r>
          </a:p>
          <a:p>
            <a:endParaRPr lang="en-US" dirty="0"/>
          </a:p>
          <a:p>
            <a:r>
              <a:rPr lang="en-US" dirty="0"/>
              <a:t>One of </a:t>
            </a:r>
            <a:r>
              <a:rPr lang="en-US" dirty="0" err="1"/>
              <a:t>LangChain's</a:t>
            </a:r>
            <a:r>
              <a:rPr lang="en-US" dirty="0"/>
              <a:t> greatest strengths is its extensive third-party integration support, which means you can easily connect it with other tools and services you're already using.</a:t>
            </a:r>
          </a:p>
          <a:p>
            <a:endParaRPr lang="en-US" dirty="0"/>
          </a:p>
          <a:p>
            <a:r>
              <a:rPr lang="en-US" dirty="0"/>
              <a:t>Whether you're building a chatbot, an analysis tool, or a complex AI application, </a:t>
            </a:r>
            <a:r>
              <a:rPr lang="en-US" dirty="0" err="1"/>
              <a:t>LangChain</a:t>
            </a:r>
            <a:r>
              <a:rPr lang="en-US" dirty="0"/>
              <a:t> provides the building blocks you need to make it happen efficiently and effectively.”</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1643116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Topic: Simple LLM Chain example</a:t>
            </a:r>
          </a:p>
          <a:p>
            <a:r>
              <a:rPr lang="en-US" dirty="0"/>
              <a:t>2. Purpose: To demonstrate how to combine three key components:</a:t>
            </a:r>
          </a:p>
          <a:p>
            <a:r>
              <a:rPr lang="en-US" dirty="0"/>
              <a:t>   - LLM (Large Language Model)</a:t>
            </a:r>
          </a:p>
          <a:p>
            <a:r>
              <a:rPr lang="en-US" dirty="0"/>
              <a:t>   - Prompt Template</a:t>
            </a:r>
          </a:p>
          <a:p>
            <a:r>
              <a:rPr lang="en-US" dirty="0"/>
              <a:t>   - Output Parser</a:t>
            </a:r>
          </a:p>
          <a:p>
            <a:endParaRPr lang="en-US" dirty="0"/>
          </a:p>
          <a:p>
            <a:r>
              <a:rPr lang="en-US" dirty="0"/>
              <a:t>3. Code Implementation:</a:t>
            </a:r>
          </a:p>
          <a:p>
            <a:r>
              <a:rPr lang="en-US" dirty="0"/>
              <a:t>   - First defines a prompt template using </a:t>
            </a:r>
            <a:r>
              <a:rPr lang="en-US" dirty="0" err="1"/>
              <a:t>PromptTemplate.from_template</a:t>
            </a:r>
            <a:r>
              <a:rPr lang="en-US" dirty="0"/>
              <a:t>()</a:t>
            </a:r>
          </a:p>
          <a:p>
            <a:r>
              <a:rPr lang="en-US" dirty="0"/>
              <a:t>   - Template format: "Tell me a {</a:t>
            </a:r>
            <a:r>
              <a:rPr lang="en-US" dirty="0" err="1"/>
              <a:t>content_type</a:t>
            </a:r>
            <a:r>
              <a:rPr lang="en-US" dirty="0"/>
              <a:t>} about {topic}."</a:t>
            </a:r>
          </a:p>
          <a:p>
            <a:r>
              <a:rPr lang="en-US" dirty="0"/>
              <a:t>   - Creates chain by combining: </a:t>
            </a:r>
            <a:r>
              <a:rPr lang="en-US" dirty="0" err="1"/>
              <a:t>prompt_template</a:t>
            </a:r>
            <a:r>
              <a:rPr lang="en-US" dirty="0"/>
              <a:t> | </a:t>
            </a:r>
            <a:r>
              <a:rPr lang="en-US" dirty="0" err="1"/>
              <a:t>llm</a:t>
            </a:r>
            <a:r>
              <a:rPr lang="en-US" dirty="0"/>
              <a:t> | </a:t>
            </a:r>
            <a:r>
              <a:rPr lang="en-US" dirty="0" err="1"/>
              <a:t>StrOutputParser</a:t>
            </a:r>
            <a:r>
              <a:rPr lang="en-US" dirty="0"/>
              <a:t>()</a:t>
            </a:r>
          </a:p>
          <a:p>
            <a:r>
              <a:rPr lang="en-US" dirty="0"/>
              <a:t>   - Chain execution shown with invoke() method</a:t>
            </a:r>
          </a:p>
          <a:p>
            <a:r>
              <a:rPr lang="en-US" dirty="0"/>
              <a:t>   - Example uses parameters:</a:t>
            </a:r>
          </a:p>
          <a:p>
            <a:r>
              <a:rPr lang="en-US" dirty="0"/>
              <a:t>     * </a:t>
            </a:r>
            <a:r>
              <a:rPr lang="en-US" dirty="0" err="1"/>
              <a:t>content_type</a:t>
            </a:r>
            <a:r>
              <a:rPr lang="en-US" dirty="0"/>
              <a:t>: "bedtime story"</a:t>
            </a:r>
          </a:p>
          <a:p>
            <a:r>
              <a:rPr lang="en-US" dirty="0"/>
              <a:t>     * topic: "a cat"</a:t>
            </a:r>
          </a:p>
          <a:p>
            <a:endParaRPr lang="en-US" dirty="0"/>
          </a:p>
          <a:p>
            <a:r>
              <a:rPr lang="en-US" dirty="0"/>
              <a:t>4. Output Example:</a:t>
            </a:r>
          </a:p>
          <a:p>
            <a:r>
              <a:rPr lang="en-US" dirty="0"/>
              <a:t>   - Generates a bedtime story about a cat named Midnight</a:t>
            </a:r>
          </a:p>
          <a:p>
            <a:r>
              <a:rPr lang="en-US" dirty="0"/>
              <a:t>   - Shows how the chain processes and produces narrative content</a:t>
            </a:r>
          </a:p>
          <a:p>
            <a:endParaRPr lang="en-US" dirty="0"/>
          </a:p>
          <a:p>
            <a:r>
              <a:rPr lang="en-US" b="1" dirty="0"/>
              <a:t>EDUCATOR NOTES:</a:t>
            </a:r>
          </a:p>
          <a:p>
            <a:endParaRPr lang="en-US" b="1" dirty="0"/>
          </a:p>
          <a:p>
            <a:r>
              <a:rPr lang="en-US" dirty="0"/>
              <a:t>"In this slide, we’re reviewing at how to create a basic LLM chain. The power of this approach lies in its simplicity and flexibility. When presenting this:</a:t>
            </a:r>
          </a:p>
          <a:p>
            <a:endParaRPr lang="en-US" dirty="0"/>
          </a:p>
          <a:p>
            <a:r>
              <a:rPr lang="en-US" dirty="0"/>
              <a:t>1. Start by emphasizing how this chain combines three essential components into a single, streamlined pipeline.</a:t>
            </a:r>
          </a:p>
          <a:p>
            <a:r>
              <a:rPr lang="en-US" dirty="0"/>
              <a:t>2. Walk through the template definition, highlighting how variables are incorporated using curly braces.</a:t>
            </a:r>
          </a:p>
          <a:p>
            <a:r>
              <a:rPr lang="en-US" dirty="0"/>
              <a:t>3. Demonstrate the chain construction using the pipe operator, which makes it very readable and maintainable.</a:t>
            </a:r>
          </a:p>
          <a:p>
            <a:r>
              <a:rPr lang="en-US" dirty="0"/>
              <a:t>4. Show the practical application with the bedtime story example, which clearly illustrates how the chain transforms simple parameters into structured output.</a:t>
            </a:r>
          </a:p>
          <a:p>
            <a:r>
              <a:rPr lang="en-US" dirty="0"/>
              <a:t>5. Emphasize that this pattern can be adapted for various use cases by changing the template and parameters.</a:t>
            </a:r>
          </a:p>
          <a:p>
            <a:endParaRPr lang="en-US" dirty="0"/>
          </a:p>
          <a:p>
            <a:r>
              <a:rPr lang="en-US" dirty="0"/>
              <a:t>Remember to mention that this is a fundamental pattern that serves as a building block for more complex chains and applications."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4</a:t>
            </a:fld>
            <a:endParaRPr lang="en-US"/>
          </a:p>
        </p:txBody>
      </p:sp>
    </p:spTree>
    <p:extLst>
      <p:ext uri="{BB962C8B-B14F-4D97-AF65-F5344CB8AC3E}">
        <p14:creationId xmlns:p14="http://schemas.microsoft.com/office/powerpoint/2010/main" val="618374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Topic: Prompting with Memory in AI Conversations</a:t>
            </a:r>
          </a:p>
          <a:p>
            <a:endParaRPr lang="en-US" dirty="0"/>
          </a:p>
          <a:p>
            <a:r>
              <a:rPr lang="en-US" dirty="0"/>
              <a:t>2. Key Concepts Illustrated:</a:t>
            </a:r>
          </a:p>
          <a:p>
            <a:r>
              <a:rPr lang="en-US" dirty="0"/>
              <a:t>- Initial Introduction Scenario</a:t>
            </a:r>
          </a:p>
          <a:p>
            <a:r>
              <a:rPr lang="en-US" dirty="0"/>
              <a:t>- Memory Recall Demonstration</a:t>
            </a:r>
          </a:p>
          <a:p>
            <a:r>
              <a:rPr lang="en-US" dirty="0"/>
              <a:t>- Question-Answer Pattern</a:t>
            </a:r>
          </a:p>
          <a:p>
            <a:endParaRPr lang="en-US" dirty="0"/>
          </a:p>
          <a:p>
            <a:r>
              <a:rPr lang="en-US" dirty="0"/>
              <a:t>3. Example Breakdown:</a:t>
            </a:r>
          </a:p>
          <a:p>
            <a:r>
              <a:rPr lang="en-US" dirty="0"/>
              <a:t>a) First Interaction:</a:t>
            </a:r>
          </a:p>
          <a:p>
            <a:r>
              <a:rPr lang="en-US" dirty="0"/>
              <a:t>   - Human introduces: "Hi, my name is Andy"</a:t>
            </a:r>
          </a:p>
          <a:p>
            <a:r>
              <a:rPr lang="en-US" dirty="0"/>
              <a:t>   - AI responds: "Hi Andy, it is nice to meet you"</a:t>
            </a:r>
          </a:p>
          <a:p>
            <a:endParaRPr lang="en-US" dirty="0"/>
          </a:p>
          <a:p>
            <a:r>
              <a:rPr lang="en-US" dirty="0"/>
              <a:t>b) Second Interaction:</a:t>
            </a:r>
          </a:p>
          <a:p>
            <a:r>
              <a:rPr lang="en-US" dirty="0"/>
              <a:t>   - Human asks: "What is my name?"</a:t>
            </a:r>
          </a:p>
          <a:p>
            <a:r>
              <a:rPr lang="en-US" dirty="0"/>
              <a:t>   - AI demonstrates memory by recalling: "You introduced yourself as Andy"</a:t>
            </a:r>
          </a:p>
          <a:p>
            <a:endParaRPr lang="en-US" dirty="0"/>
          </a:p>
          <a:p>
            <a:r>
              <a:rPr lang="en-US" dirty="0"/>
              <a:t>4. Important Points:</a:t>
            </a:r>
          </a:p>
          <a:p>
            <a:r>
              <a:rPr lang="en-US" dirty="0"/>
              <a:t>- Shows how AI retains information from previous exchanges</a:t>
            </a:r>
          </a:p>
          <a:p>
            <a:r>
              <a:rPr lang="en-US" dirty="0"/>
              <a:t>- Demonstrates contextual awareness</a:t>
            </a:r>
          </a:p>
          <a:p>
            <a:r>
              <a:rPr lang="en-US" dirty="0"/>
              <a:t>- Illustrates natural conversation flow</a:t>
            </a:r>
          </a:p>
          <a:p>
            <a:r>
              <a:rPr lang="en-US" dirty="0"/>
              <a:t>- Shows memory capability in practical application</a:t>
            </a:r>
          </a:p>
          <a:p>
            <a:endParaRPr lang="en-US" dirty="0"/>
          </a:p>
          <a:p>
            <a:r>
              <a:rPr lang="en-US" b="1" dirty="0"/>
              <a:t>EDUCATOR NOTES:</a:t>
            </a:r>
          </a:p>
          <a:p>
            <a:endParaRPr lang="en-US" dirty="0"/>
          </a:p>
          <a:p>
            <a:r>
              <a:rPr lang="en-US" dirty="0"/>
              <a:t>"In this slide, we’re review how AI systems utilize memory in conversations. The example shown demonstrates a simple but powerful concept - the ability of AI to remember and reference previously shared information.</a:t>
            </a:r>
          </a:p>
          <a:p>
            <a:endParaRPr lang="en-US" dirty="0"/>
          </a:p>
          <a:p>
            <a:r>
              <a:rPr lang="en-US" dirty="0"/>
              <a:t>When presenting this slide, emphasize these key points:</a:t>
            </a:r>
          </a:p>
          <a:p>
            <a:r>
              <a:rPr lang="en-US" dirty="0"/>
              <a:t>- Memory retention is crucial for natural conversation flow</a:t>
            </a:r>
          </a:p>
          <a:p>
            <a:r>
              <a:rPr lang="en-US" dirty="0"/>
              <a:t>- The AI maintains context throughout the interaction</a:t>
            </a:r>
          </a:p>
          <a:p>
            <a:r>
              <a:rPr lang="en-US" dirty="0"/>
              <a:t>- This capability enables more meaningful and personalized exchanges</a:t>
            </a:r>
          </a:p>
          <a:p>
            <a:r>
              <a:rPr lang="en-US" dirty="0"/>
              <a:t>- The example shows both storage and retrieval of information</a:t>
            </a:r>
          </a:p>
          <a:p>
            <a:endParaRPr lang="en-US" dirty="0"/>
          </a:p>
          <a:p>
            <a:r>
              <a:rPr lang="en-US" dirty="0"/>
              <a:t>Remember to highlight how this mirrors human conversation patterns, where we naturally remember and reference previously shared information. This feature makes AI interactions more natural and effective.</a:t>
            </a:r>
          </a:p>
          <a:p>
            <a:endParaRPr lang="en-US" dirty="0"/>
          </a:p>
          <a:p>
            <a:r>
              <a:rPr lang="en-US" dirty="0"/>
              <a:t>Timing: Spend approximately 3-5 minutes on this slide to allow for proper explanation and possible audience questions about the memory mechanism."</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2179613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Large Language Models (LLMs) and Chat Optimization</a:t>
            </a:r>
          </a:p>
          <a:p>
            <a:r>
              <a:rPr lang="en-US" dirty="0"/>
              <a:t>- Multiple LLMs have been specifically developed and fine-tuned for conversational purposes</a:t>
            </a:r>
          </a:p>
          <a:p>
            <a:r>
              <a:rPr lang="en-US" dirty="0"/>
              <a:t>- These include both instruction-tuned models and dedicated chat models</a:t>
            </a:r>
          </a:p>
          <a:p>
            <a:r>
              <a:rPr lang="en-US" dirty="0"/>
              <a:t>- Focus is on natural conversation flow and appropriate responses</a:t>
            </a:r>
          </a:p>
          <a:p>
            <a:endParaRPr lang="en-US" dirty="0"/>
          </a:p>
          <a:p>
            <a:r>
              <a:rPr lang="en-US" dirty="0"/>
              <a:t>2. Message Input Capabilities</a:t>
            </a:r>
          </a:p>
          <a:p>
            <a:r>
              <a:rPr lang="en-US" dirty="0"/>
              <a:t>- Models can process and understand message sequences</a:t>
            </a:r>
          </a:p>
          <a:p>
            <a:r>
              <a:rPr lang="en-US" dirty="0"/>
              <a:t>- Two main types of input:</a:t>
            </a:r>
          </a:p>
          <a:p>
            <a:r>
              <a:rPr lang="en-US" dirty="0"/>
              <a:t>  * System messages (instructions/context)</a:t>
            </a:r>
          </a:p>
          <a:p>
            <a:r>
              <a:rPr lang="en-US" dirty="0"/>
              <a:t>  * Conversation history (both human and AI interactions)</a:t>
            </a:r>
          </a:p>
          <a:p>
            <a:endParaRPr lang="en-US" dirty="0"/>
          </a:p>
          <a:p>
            <a:r>
              <a:rPr lang="en-US" dirty="0"/>
              <a:t>3. </a:t>
            </a:r>
            <a:r>
              <a:rPr lang="en-US" dirty="0" err="1"/>
              <a:t>LangChain</a:t>
            </a:r>
            <a:r>
              <a:rPr lang="en-US" dirty="0"/>
              <a:t> Integration</a:t>
            </a:r>
          </a:p>
          <a:p>
            <a:r>
              <a:rPr lang="en-US" dirty="0"/>
              <a:t>- Platform supports multi-application message integration</a:t>
            </a:r>
          </a:p>
          <a:p>
            <a:r>
              <a:rPr lang="en-US" dirty="0"/>
              <a:t>- Compatible with popular messaging platforms:</a:t>
            </a:r>
          </a:p>
          <a:p>
            <a:r>
              <a:rPr lang="en-US" dirty="0"/>
              <a:t>  * Gmail</a:t>
            </a:r>
          </a:p>
          <a:p>
            <a:r>
              <a:rPr lang="en-US" dirty="0"/>
              <a:t>  * Slack</a:t>
            </a:r>
          </a:p>
          <a:p>
            <a:r>
              <a:rPr lang="en-US" dirty="0"/>
              <a:t>  * iMessage</a:t>
            </a:r>
          </a:p>
          <a:p>
            <a:r>
              <a:rPr lang="en-US" dirty="0"/>
              <a:t>  * WhatsApp</a:t>
            </a:r>
          </a:p>
          <a:p>
            <a:r>
              <a:rPr lang="en-US" dirty="0"/>
              <a:t>  * Other messaging applications</a:t>
            </a:r>
          </a:p>
          <a:p>
            <a:endParaRPr lang="en-US" dirty="0"/>
          </a:p>
          <a:p>
            <a:r>
              <a:rPr lang="en-US" b="1" dirty="0"/>
              <a:t>EDUCATOR NOTES:</a:t>
            </a:r>
          </a:p>
          <a:p>
            <a:endParaRPr lang="en-US" b="1" dirty="0"/>
          </a:p>
          <a:p>
            <a:r>
              <a:rPr lang="en-US" dirty="0"/>
              <a:t>"In this discussion, we'll explore chat models and their capabilities. These specialized LLMs are designed to handle natural conversations effectively. What makes them particularly powerful is their ability to process both system messages and maintain context through conversation history. Through </a:t>
            </a:r>
            <a:r>
              <a:rPr lang="en-US" dirty="0" err="1"/>
              <a:t>LangChain</a:t>
            </a:r>
            <a:r>
              <a:rPr lang="en-US" dirty="0"/>
              <a:t>, we can integrate these models with various messaging platforms you likely use daily, from Gmail to WhatsApp, making them highly versatile for different applications. This integration capability is crucial for businesses looking to implement AI-powered communication solutions across multiple channels."</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1031666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Bedrock's Chat-Optimized Model Suite</a:t>
            </a:r>
          </a:p>
          <a:p>
            <a:r>
              <a:rPr lang="en-US" dirty="0"/>
              <a:t>- Bedrock provides multiple chat-optimized models</a:t>
            </a:r>
          </a:p>
          <a:p>
            <a:r>
              <a:rPr lang="en-US" dirty="0"/>
              <a:t>- Each model has specific capabilities and use cases</a:t>
            </a:r>
          </a:p>
          <a:p>
            <a:endParaRPr lang="en-US" dirty="0"/>
          </a:p>
          <a:p>
            <a:r>
              <a:rPr lang="en-US" dirty="0"/>
              <a:t>2. Model Overview:</a:t>
            </a:r>
          </a:p>
          <a:p>
            <a:r>
              <a:rPr lang="en-US" dirty="0"/>
              <a:t>- Amazon: Nova model</a:t>
            </a:r>
          </a:p>
          <a:p>
            <a:r>
              <a:rPr lang="en-US" dirty="0"/>
              <a:t>- Anthropic: Claude model</a:t>
            </a:r>
          </a:p>
          <a:p>
            <a:r>
              <a:rPr lang="en-US" dirty="0"/>
              <a:t>- Meta: Llama model</a:t>
            </a:r>
          </a:p>
          <a:p>
            <a:r>
              <a:rPr lang="en-US" dirty="0"/>
              <a:t>- Mistral AI: Mistral-Instruct model</a:t>
            </a:r>
          </a:p>
          <a:p>
            <a:r>
              <a:rPr lang="en-US" dirty="0"/>
              <a:t>- Cohere: Command model</a:t>
            </a:r>
          </a:p>
          <a:p>
            <a:endParaRPr lang="en-US" dirty="0"/>
          </a:p>
          <a:p>
            <a:r>
              <a:rPr lang="en-US" dirty="0"/>
              <a:t>3. Model Cards Reference</a:t>
            </a:r>
          </a:p>
          <a:p>
            <a:r>
              <a:rPr lang="en-US" dirty="0"/>
              <a:t>- Detailed specifications and capabilities can be found in model cards</a:t>
            </a:r>
          </a:p>
          <a:p>
            <a:r>
              <a:rPr lang="en-US" dirty="0"/>
              <a:t>- Important to review before selecting a model</a:t>
            </a:r>
          </a:p>
          <a:p>
            <a:endParaRPr lang="en-US" dirty="0"/>
          </a:p>
          <a:p>
            <a:r>
              <a:rPr lang="en-US" b="1" dirty="0"/>
              <a:t>EDUCATOR NOTES:</a:t>
            </a:r>
          </a:p>
          <a:p>
            <a:endParaRPr lang="en-US" dirty="0"/>
          </a:p>
          <a:p>
            <a:r>
              <a:rPr lang="en-US" dirty="0"/>
              <a:t>”Now, we'll explore Bedrock's comprehensive suite of chat-optimized models. As you can see, it has several leading AI models integrated into its platform, including Amazon's Nova, </a:t>
            </a:r>
            <a:r>
              <a:rPr lang="en-US" dirty="0" err="1"/>
              <a:t>Anthropic's</a:t>
            </a:r>
            <a:r>
              <a:rPr lang="en-US" dirty="0"/>
              <a:t> Claude, Meta's Llama, Mistral AI's Mistral-Instruct, and </a:t>
            </a:r>
            <a:r>
              <a:rPr lang="en-US" dirty="0" err="1"/>
              <a:t>Cohere's</a:t>
            </a:r>
            <a:r>
              <a:rPr lang="en-US" dirty="0"/>
              <a:t> Command model. Each of these models has been specifically optimized for chat applications and brings unique strengths to the table. I encourage you to refer to the individual model cards for detailed specifications and performance characteristics to help you choose the right model for your specific use case. This diversity of models ensures that you can find the perfect fit for your application's requirements."</a:t>
            </a:r>
          </a:p>
          <a:p>
            <a:endParaRPr lang="en-US" dirty="0"/>
          </a:p>
          <a:p>
            <a:r>
              <a:rPr lang="en-US" dirty="0"/>
              <a:t>Additional Context:</a:t>
            </a:r>
          </a:p>
          <a:p>
            <a:r>
              <a:rPr lang="en-US" dirty="0"/>
              <a:t>Remember to emphasize that model selection should be based on specific project requirements, considering factors such as:</a:t>
            </a:r>
          </a:p>
          <a:p>
            <a:r>
              <a:rPr lang="en-US" dirty="0"/>
              <a:t>- Use case requirements</a:t>
            </a:r>
          </a:p>
          <a:p>
            <a:r>
              <a:rPr lang="en-US" dirty="0"/>
              <a:t>- Performance needs</a:t>
            </a:r>
          </a:p>
          <a:p>
            <a:r>
              <a:rPr lang="en-US" dirty="0"/>
              <a:t>- Cost considerations</a:t>
            </a:r>
          </a:p>
          <a:p>
            <a:r>
              <a:rPr lang="en-US" dirty="0"/>
              <a:t>- Specific features needed</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3751062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Purpose: Templates designed specifically for chat models</a:t>
            </a:r>
          </a:p>
          <a:p>
            <a:r>
              <a:rPr lang="en-US" dirty="0"/>
              <a:t>2. Components:</a:t>
            </a:r>
          </a:p>
          <a:p>
            <a:r>
              <a:rPr lang="en-US" dirty="0"/>
              <a:t>   - System message: Defines the AI's role and behavior</a:t>
            </a:r>
          </a:p>
          <a:p>
            <a:r>
              <a:rPr lang="en-US" dirty="0"/>
              <a:t>   - Human Message: User inputs/queries</a:t>
            </a:r>
          </a:p>
          <a:p>
            <a:r>
              <a:rPr lang="en-US" dirty="0"/>
              <a:t>   - AI Message: Bot responses</a:t>
            </a:r>
          </a:p>
          <a:p>
            <a:endParaRPr lang="en-US" dirty="0"/>
          </a:p>
          <a:p>
            <a:r>
              <a:rPr lang="en-US" dirty="0"/>
              <a:t>CODE STRUCTURE:</a:t>
            </a:r>
          </a:p>
          <a:p>
            <a:r>
              <a:rPr lang="en-US" dirty="0"/>
              <a:t>1. Template Creation:</a:t>
            </a:r>
          </a:p>
          <a:p>
            <a:r>
              <a:rPr lang="en-US" dirty="0"/>
              <a:t>   - Uses </a:t>
            </a:r>
            <a:r>
              <a:rPr lang="en-US" dirty="0" err="1"/>
              <a:t>ChatPromptTemplate</a:t>
            </a:r>
            <a:r>
              <a:rPr lang="en-US" dirty="0"/>
              <a:t> class</a:t>
            </a:r>
          </a:p>
          <a:p>
            <a:r>
              <a:rPr lang="en-US" dirty="0"/>
              <a:t>   - Contains message pairs in sequence</a:t>
            </a:r>
          </a:p>
          <a:p>
            <a:r>
              <a:rPr lang="en-US" dirty="0"/>
              <a:t>   - Messages are typed ("system", "human", "ai")</a:t>
            </a:r>
          </a:p>
          <a:p>
            <a:endParaRPr lang="en-US" dirty="0"/>
          </a:p>
          <a:p>
            <a:r>
              <a:rPr lang="en-US" dirty="0"/>
              <a:t>2. Message Flow:</a:t>
            </a:r>
          </a:p>
          <a:p>
            <a:r>
              <a:rPr lang="en-US" dirty="0"/>
              <a:t>   - System message sets up the bot identity</a:t>
            </a:r>
          </a:p>
          <a:p>
            <a:r>
              <a:rPr lang="en-US" dirty="0"/>
              <a:t>   - Initial human greeting</a:t>
            </a:r>
          </a:p>
          <a:p>
            <a:r>
              <a:rPr lang="en-US" dirty="0"/>
              <a:t>   - AI response</a:t>
            </a:r>
          </a:p>
          <a:p>
            <a:r>
              <a:rPr lang="en-US" dirty="0"/>
              <a:t>   - Dynamic user input placeholder</a:t>
            </a:r>
          </a:p>
          <a:p>
            <a:endParaRPr lang="en-US" dirty="0"/>
          </a:p>
          <a:p>
            <a:r>
              <a:rPr lang="en-US" dirty="0"/>
              <a:t>3. Template Invocation:</a:t>
            </a:r>
          </a:p>
          <a:p>
            <a:r>
              <a:rPr lang="en-US" dirty="0"/>
              <a:t>   - Uses .invoke() method</a:t>
            </a:r>
          </a:p>
          <a:p>
            <a:r>
              <a:rPr lang="en-US" dirty="0"/>
              <a:t>   - Parameters passed as dictionary</a:t>
            </a:r>
          </a:p>
          <a:p>
            <a:r>
              <a:rPr lang="en-US" dirty="0"/>
              <a:t>   - Variables: "name" and "</a:t>
            </a:r>
            <a:r>
              <a:rPr lang="en-US" dirty="0" err="1"/>
              <a:t>user_input</a:t>
            </a:r>
            <a:r>
              <a:rPr lang="en-US" dirty="0"/>
              <a:t>"</a:t>
            </a:r>
          </a:p>
          <a:p>
            <a:endParaRPr lang="en-US" dirty="0"/>
          </a:p>
          <a:p>
            <a:r>
              <a:rPr lang="en-US" b="1" dirty="0"/>
              <a:t>EDUCATOR NOTES:</a:t>
            </a:r>
          </a:p>
          <a:p>
            <a:endParaRPr lang="en-US" b="1" dirty="0"/>
          </a:p>
          <a:p>
            <a:r>
              <a:rPr lang="en-US" dirty="0"/>
              <a:t>"In this slide, we're looking at how to structure chat prompt templates for AI interactions. The template shown demonstrates a basic conversation flow with three key components: system messages that define the AI's identity, human messages for user inputs, and AI responses. </a:t>
            </a:r>
          </a:p>
          <a:p>
            <a:endParaRPr lang="en-US" dirty="0"/>
          </a:p>
          <a:p>
            <a:r>
              <a:rPr lang="en-US" dirty="0"/>
              <a:t>The code example shows how to create a template where 'Andy' is set as the AI's name, and it handles a simple interaction asking for the user's name. Notice how the template uses placeholders in curly braces for dynamic content, making it flexible and reusable.</a:t>
            </a:r>
          </a:p>
          <a:p>
            <a:endParaRPr lang="en-US" dirty="0"/>
          </a:p>
          <a:p>
            <a:r>
              <a:rPr lang="en-US" dirty="0"/>
              <a:t>When presenting this, emphasize how this structure helps maintain consistent AI behavior while allowing for dynamic interactions. The system message is particularly important as it sets the foundation for how the AI will behave throughout the conversation."</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2155165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Definition &amp; Types</a:t>
            </a:r>
          </a:p>
          <a:p>
            <a:r>
              <a:rPr lang="en-US" dirty="0"/>
              <a:t>- Q&amp;A (Question-Answering): Single, one-off interactions with LLM</a:t>
            </a:r>
          </a:p>
          <a:p>
            <a:r>
              <a:rPr lang="en-US" dirty="0"/>
              <a:t>- Conversation: Continuous dialogue maintaining context</a:t>
            </a:r>
          </a:p>
          <a:p>
            <a:endParaRPr lang="en-US" dirty="0"/>
          </a:p>
          <a:p>
            <a:r>
              <a:rPr lang="en-US" dirty="0"/>
              <a:t>2. Key Differences</a:t>
            </a:r>
          </a:p>
          <a:p>
            <a:r>
              <a:rPr lang="en-US" dirty="0"/>
              <a:t>Context Management:</a:t>
            </a:r>
          </a:p>
          <a:p>
            <a:r>
              <a:rPr lang="en-US" dirty="0"/>
              <a:t>- Q&amp;A: Limited to current prompt</a:t>
            </a:r>
          </a:p>
          <a:p>
            <a:r>
              <a:rPr lang="en-US" dirty="0"/>
              <a:t>- Conversation: Maintains full interaction history</a:t>
            </a:r>
          </a:p>
          <a:p>
            <a:endParaRPr lang="en-US" dirty="0"/>
          </a:p>
          <a:p>
            <a:r>
              <a:rPr lang="en-US" dirty="0"/>
              <a:t>Persistence:</a:t>
            </a:r>
          </a:p>
          <a:p>
            <a:r>
              <a:rPr lang="en-US" dirty="0"/>
              <a:t>- Q&amp;A: Non-persistent interactions</a:t>
            </a:r>
          </a:p>
          <a:p>
            <a:r>
              <a:rPr lang="en-US" dirty="0"/>
              <a:t>- Conversation: Persistent with updated context</a:t>
            </a:r>
          </a:p>
          <a:p>
            <a:endParaRPr lang="en-US" dirty="0"/>
          </a:p>
          <a:p>
            <a:r>
              <a:rPr lang="en-US" dirty="0"/>
              <a:t>Technical Requirements:</a:t>
            </a:r>
          </a:p>
          <a:p>
            <a:r>
              <a:rPr lang="en-US" dirty="0"/>
              <a:t>- Q&amp;A: No additional modules needed</a:t>
            </a:r>
          </a:p>
          <a:p>
            <a:r>
              <a:rPr lang="en-US" dirty="0"/>
              <a:t>- Conversation: Requires memory component</a:t>
            </a:r>
          </a:p>
          <a:p>
            <a:endParaRPr lang="en-US" dirty="0"/>
          </a:p>
          <a:p>
            <a:r>
              <a:rPr lang="en-US" dirty="0"/>
              <a:t>Applications:</a:t>
            </a:r>
          </a:p>
          <a:p>
            <a:r>
              <a:rPr lang="en-US" dirty="0"/>
              <a:t>- Q&amp;A: Standard LLM predictions/content creation</a:t>
            </a:r>
          </a:p>
          <a:p>
            <a:r>
              <a:rPr lang="en-US" dirty="0"/>
              <a:t>- Conversation: Chat applications (e.g., ChatGPT)</a:t>
            </a:r>
          </a:p>
          <a:p>
            <a:endParaRPr lang="en-US" dirty="0"/>
          </a:p>
          <a:p>
            <a:r>
              <a:rPr lang="en-US" b="1" dirty="0"/>
              <a:t>EDUCATOR NOTES:</a:t>
            </a:r>
          </a:p>
          <a:p>
            <a:endParaRPr lang="en-US" b="1" dirty="0"/>
          </a:p>
          <a:p>
            <a:r>
              <a:rPr lang="en-US" dirty="0"/>
              <a:t>”Now we'll explore the fundamental differences between Q&amp;A and Conversational AI approaches. While both utilize LLMs, they serve different purposes and have distinct characteristics.</a:t>
            </a:r>
          </a:p>
          <a:p>
            <a:pPr marL="171450" indent="-171450">
              <a:buFont typeface="Arial" panose="020B0604020202020204" pitchFamily="34" charset="0"/>
              <a:buChar char="•"/>
            </a:pPr>
            <a:r>
              <a:rPr lang="en-US" dirty="0"/>
              <a:t>Q&amp;A systems are like asking a question to a fresh slate each time - perfect for standalone queries but without memory of previous interactions. Think of it as consulting a knowledgeable expert for a specific question.</a:t>
            </a:r>
          </a:p>
          <a:p>
            <a:pPr marL="171450" indent="-171450">
              <a:buFont typeface="Arial" panose="020B0604020202020204" pitchFamily="34" charset="0"/>
              <a:buChar char="•"/>
            </a:pPr>
            <a:r>
              <a:rPr lang="en-US" dirty="0"/>
              <a:t>Conversational AI, on the other hand, is more like having an ongoing dialogue with someone who remembers your previous interactions. This makes it ideal for more complex, multi-turn interactions where context is crucial.</a:t>
            </a:r>
          </a:p>
          <a:p>
            <a:pPr marL="171450" indent="-171450">
              <a:buFont typeface="Arial" panose="020B0604020202020204" pitchFamily="34" charset="0"/>
              <a:buChar char="•"/>
            </a:pPr>
            <a:r>
              <a:rPr lang="en-US" dirty="0"/>
              <a:t>The technical implementation differs too - Q&amp;A systems are simpler, while conversational AI requires additional memory mechanisms to maintain context. This affects both the architecture and use cases for each approach.</a:t>
            </a:r>
          </a:p>
          <a:p>
            <a:r>
              <a:rPr lang="en-US" dirty="0"/>
              <a:t>Remember, choosing between Q&amp;A and Conversational approaches depends on your specific use case - consider factors like need for context retention, complexity of interaction, and technical requirements."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3481058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2673-617E-8777-70D9-605C5A6AF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C91DF-819C-124D-525C-0C385BE8E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3C10C-FE57-622F-AA4A-10E08CC2FA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858305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Core Components of a Simple Chatbot</a:t>
            </a:r>
          </a:p>
          <a:p>
            <a:r>
              <a:rPr lang="en-US" dirty="0"/>
              <a:t>- Large Language Model (LLM)</a:t>
            </a:r>
          </a:p>
          <a:p>
            <a:r>
              <a:rPr lang="en-US" dirty="0"/>
              <a:t>   * Forms the AI foundation of the chatbot</a:t>
            </a:r>
          </a:p>
          <a:p>
            <a:r>
              <a:rPr lang="en-US" dirty="0"/>
              <a:t>   * Processes and generates human-like text</a:t>
            </a:r>
          </a:p>
          <a:p>
            <a:r>
              <a:rPr lang="en-US" dirty="0"/>
              <a:t>- Prompt Template</a:t>
            </a:r>
          </a:p>
          <a:p>
            <a:r>
              <a:rPr lang="en-US" dirty="0"/>
              <a:t>   * Defines the chatbot's role and behavior</a:t>
            </a:r>
          </a:p>
          <a:p>
            <a:r>
              <a:rPr lang="en-US" dirty="0"/>
              <a:t>   * Sets guidelines and parameters for responses</a:t>
            </a:r>
          </a:p>
          <a:p>
            <a:r>
              <a:rPr lang="en-US" dirty="0"/>
              <a:t>   * Ensures consistent interaction style</a:t>
            </a:r>
          </a:p>
          <a:p>
            <a:r>
              <a:rPr lang="en-US" dirty="0"/>
              <a:t>- Memory Module</a:t>
            </a:r>
          </a:p>
          <a:p>
            <a:r>
              <a:rPr lang="en-US" dirty="0"/>
              <a:t>   * Maintains context across conversations</a:t>
            </a:r>
          </a:p>
          <a:p>
            <a:r>
              <a:rPr lang="en-US" dirty="0"/>
              <a:t>   * Stores relevant information from previous exchanges</a:t>
            </a:r>
          </a:p>
          <a:p>
            <a:endParaRPr lang="en-US" dirty="0"/>
          </a:p>
          <a:p>
            <a:r>
              <a:rPr lang="en-US" dirty="0"/>
              <a:t>2. Flow of Operation</a:t>
            </a:r>
          </a:p>
          <a:p>
            <a:r>
              <a:rPr lang="en-US" dirty="0"/>
              <a:t>- User provides input</a:t>
            </a:r>
          </a:p>
          <a:p>
            <a:r>
              <a:rPr lang="en-US" dirty="0"/>
              <a:t>- Input is processed through the prompt template</a:t>
            </a:r>
          </a:p>
          <a:p>
            <a:r>
              <a:rPr lang="en-US" dirty="0"/>
              <a:t>- Memory module provides contextual information</a:t>
            </a:r>
          </a:p>
          <a:p>
            <a:r>
              <a:rPr lang="en-US" dirty="0"/>
              <a:t>- LLM generates appropriate response</a:t>
            </a:r>
          </a:p>
          <a:p>
            <a:r>
              <a:rPr lang="en-US" dirty="0"/>
              <a:t>- Response is delivered to user</a:t>
            </a:r>
          </a:p>
          <a:p>
            <a:endParaRPr lang="en-US" dirty="0"/>
          </a:p>
          <a:p>
            <a:r>
              <a:rPr lang="en-US" dirty="0"/>
              <a:t>3. Key Points</a:t>
            </a:r>
          </a:p>
          <a:p>
            <a:r>
              <a:rPr lang="en-US" dirty="0"/>
              <a:t>- Simplicity in design doesn't compromise functionality</a:t>
            </a:r>
          </a:p>
          <a:p>
            <a:r>
              <a:rPr lang="en-US" dirty="0"/>
              <a:t>- Each component serves a specific, essential purpose</a:t>
            </a:r>
          </a:p>
          <a:p>
            <a:r>
              <a:rPr lang="en-US" dirty="0"/>
              <a:t>- Integration of components creates seamless interaction</a:t>
            </a:r>
          </a:p>
          <a:p>
            <a:r>
              <a:rPr lang="en-US" dirty="0"/>
              <a:t>- Memory enables more natural, context-aware conversations</a:t>
            </a:r>
          </a:p>
          <a:p>
            <a:endParaRPr lang="en-US" b="1" dirty="0"/>
          </a:p>
          <a:p>
            <a:r>
              <a:rPr lang="en-US" b="1" dirty="0"/>
              <a:t>EDUCATOR NOTES:</a:t>
            </a:r>
          </a:p>
          <a:p>
            <a:endParaRPr lang="en-US" dirty="0"/>
          </a:p>
          <a:p>
            <a:r>
              <a:rPr lang="en-US" dirty="0"/>
              <a:t>”Now we'll discuss the fundamental components that make up a basic chatbot system. While this may seem simple with just three main components, each plays a crucial role in creating an effective conversational AI.</a:t>
            </a:r>
          </a:p>
          <a:p>
            <a:endParaRPr lang="en-US" dirty="0"/>
          </a:p>
          <a:p>
            <a:r>
              <a:rPr lang="en-US" dirty="0"/>
              <a:t>The LLM is our powerhouse - it's what enables the chatbot to understand and generate human-like responses. The prompt template acts as the chatbot's personality and rule book, ensuring it stays on track and maintains its intended purpose. Finally, the memory module is what gives our chatbot continuity, allowing it to remember previous parts of the conversation and provide more coherent, contextual responses.</a:t>
            </a:r>
          </a:p>
          <a:p>
            <a:endParaRPr lang="en-US" dirty="0"/>
          </a:p>
          <a:p>
            <a:r>
              <a:rPr lang="en-US" dirty="0"/>
              <a:t>As shown in the diagram, these components work together in a synchronized flow, from receiving user input to delivering appropriate responses. This basic architecture can be enhanced with additional features, but these three components form the essential foundation of any functional chatbot system.</a:t>
            </a:r>
          </a:p>
          <a:p>
            <a:endParaRPr lang="en-US" dirty="0"/>
          </a:p>
          <a:p>
            <a:r>
              <a:rPr lang="en-US" dirty="0"/>
              <a:t>Remember, while the system appears straightforward, the sophistication lies in how these components interact and complement each other to create a natural conversational experience."</a:t>
            </a:r>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4001203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Conversation Memory Setup</a:t>
            </a:r>
          </a:p>
          <a:p>
            <a:r>
              <a:rPr lang="en-US" dirty="0"/>
              <a:t>- Creates a </a:t>
            </a:r>
            <a:r>
              <a:rPr lang="en-US" dirty="0" err="1"/>
              <a:t>ConversationBufferMemory</a:t>
            </a:r>
            <a:r>
              <a:rPr lang="en-US" dirty="0"/>
              <a:t> object to store chat history</a:t>
            </a:r>
          </a:p>
          <a:p>
            <a:r>
              <a:rPr lang="en-US" dirty="0"/>
              <a:t>- This allows the chatbot to maintain context across interactions</a:t>
            </a:r>
          </a:p>
          <a:p>
            <a:endParaRPr lang="en-US" dirty="0"/>
          </a:p>
          <a:p>
            <a:r>
              <a:rPr lang="en-US" dirty="0"/>
              <a:t>2. Context Chain Creation</a:t>
            </a:r>
          </a:p>
          <a:p>
            <a:r>
              <a:rPr lang="en-US" dirty="0"/>
              <a:t>- Establishes a chain using prompt, </a:t>
            </a:r>
            <a:r>
              <a:rPr lang="en-US" dirty="0" err="1"/>
              <a:t>llm</a:t>
            </a:r>
            <a:r>
              <a:rPr lang="en-US" dirty="0"/>
              <a:t>, and </a:t>
            </a:r>
            <a:r>
              <a:rPr lang="en-US" dirty="0" err="1"/>
              <a:t>StrOutputParser</a:t>
            </a:r>
            <a:endParaRPr lang="en-US" dirty="0"/>
          </a:p>
          <a:p>
            <a:r>
              <a:rPr lang="en-US" dirty="0"/>
              <a:t>- Components are connected using the pipe operator (|)</a:t>
            </a:r>
          </a:p>
          <a:p>
            <a:r>
              <a:rPr lang="en-US" dirty="0"/>
              <a:t>- Creates processing pipeline for handling conversations</a:t>
            </a:r>
          </a:p>
          <a:p>
            <a:endParaRPr lang="en-US" dirty="0"/>
          </a:p>
          <a:p>
            <a:r>
              <a:rPr lang="en-US" dirty="0"/>
              <a:t>3. History Retrieval</a:t>
            </a:r>
          </a:p>
          <a:p>
            <a:r>
              <a:rPr lang="en-US" dirty="0"/>
              <a:t>- Loads previous conversation history from memory</a:t>
            </a:r>
          </a:p>
          <a:p>
            <a:r>
              <a:rPr lang="en-US" dirty="0"/>
              <a:t>- Uses </a:t>
            </a:r>
            <a:r>
              <a:rPr lang="en-US" dirty="0" err="1"/>
              <a:t>memory.load_memory_variables</a:t>
            </a:r>
            <a:r>
              <a:rPr lang="en-US" dirty="0"/>
              <a:t> to get </a:t>
            </a:r>
            <a:r>
              <a:rPr lang="en-US" dirty="0" err="1"/>
              <a:t>chat_history</a:t>
            </a:r>
            <a:endParaRPr lang="en-US" dirty="0"/>
          </a:p>
          <a:p>
            <a:r>
              <a:rPr lang="en-US" dirty="0"/>
              <a:t>- Default empty string if no history exists</a:t>
            </a:r>
          </a:p>
          <a:p>
            <a:endParaRPr lang="en-US" dirty="0"/>
          </a:p>
          <a:p>
            <a:r>
              <a:rPr lang="en-US" dirty="0"/>
              <a:t>4. Response Generation</a:t>
            </a:r>
          </a:p>
          <a:p>
            <a:r>
              <a:rPr lang="en-US" dirty="0"/>
              <a:t>- Invokes the chain with current context</a:t>
            </a:r>
          </a:p>
          <a:p>
            <a:r>
              <a:rPr lang="en-US" dirty="0"/>
              <a:t>- Passes both </a:t>
            </a:r>
            <a:r>
              <a:rPr lang="en-US" dirty="0" err="1"/>
              <a:t>chat_history</a:t>
            </a:r>
            <a:r>
              <a:rPr lang="en-US" dirty="0"/>
              <a:t> and </a:t>
            </a:r>
            <a:r>
              <a:rPr lang="en-US" dirty="0" err="1"/>
              <a:t>user_input</a:t>
            </a:r>
            <a:endParaRPr lang="en-US" dirty="0"/>
          </a:p>
          <a:p>
            <a:r>
              <a:rPr lang="en-US" dirty="0"/>
              <a:t>- Generates appropriate response based on context</a:t>
            </a:r>
          </a:p>
          <a:p>
            <a:endParaRPr lang="en-US" dirty="0"/>
          </a:p>
          <a:p>
            <a:r>
              <a:rPr lang="en-US" dirty="0"/>
              <a:t>5. Memory Management</a:t>
            </a:r>
          </a:p>
          <a:p>
            <a:r>
              <a:rPr lang="en-US" dirty="0"/>
              <a:t>- Saves the conversation context to memory</a:t>
            </a:r>
          </a:p>
          <a:p>
            <a:r>
              <a:rPr lang="en-US" dirty="0"/>
              <a:t>- Stores both user input and system output</a:t>
            </a:r>
          </a:p>
          <a:p>
            <a:r>
              <a:rPr lang="en-US" dirty="0"/>
              <a:t>- Enables continuous conversation flow</a:t>
            </a:r>
          </a:p>
          <a:p>
            <a:endParaRPr lang="en-US" dirty="0"/>
          </a:p>
          <a:p>
            <a:r>
              <a:rPr lang="en-US" b="1" dirty="0"/>
              <a:t>EDUCATOR NOTES:</a:t>
            </a:r>
          </a:p>
          <a:p>
            <a:endParaRPr lang="en-US" dirty="0"/>
          </a:p>
          <a:p>
            <a:r>
              <a:rPr lang="en-US" dirty="0"/>
              <a:t>"In this implementation, we're creating a simple but effective chatbot system. The key components include memory management for maintaining conversation context, a processing chain for handling inputs, and methods for retrieving and storing chat history. The </a:t>
            </a:r>
            <a:r>
              <a:rPr lang="en-US" dirty="0" err="1"/>
              <a:t>ConversationBufferMemory</a:t>
            </a:r>
            <a:r>
              <a:rPr lang="en-US" dirty="0"/>
              <a:t> class is crucial as it allows our chatbot to remember previous interactions, making conversations more coherent and contextual. Notice how we structure the input and output handling to maintain a clear flow of information through the system. This architecture ensures that our chatbot can maintain context while processing new inputs and generating appropriate responses."</a:t>
            </a:r>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3629368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Resource Requirements for Response Generation</a:t>
            </a:r>
          </a:p>
          <a:p>
            <a:r>
              <a:rPr lang="en-US" dirty="0"/>
              <a:t>- Generating responses requires significant resources</a:t>
            </a:r>
          </a:p>
          <a:p>
            <a:r>
              <a:rPr lang="en-US" dirty="0"/>
              <a:t>- Three main resource types: cost, compute power, and time</a:t>
            </a:r>
          </a:p>
          <a:p>
            <a:r>
              <a:rPr lang="en-US" dirty="0"/>
              <a:t>- Each new response consumes these resources</a:t>
            </a:r>
          </a:p>
          <a:p>
            <a:endParaRPr lang="en-US" dirty="0"/>
          </a:p>
          <a:p>
            <a:r>
              <a:rPr lang="en-US" dirty="0"/>
              <a:t>2. Benefits of Response Caching</a:t>
            </a:r>
          </a:p>
          <a:p>
            <a:r>
              <a:rPr lang="en-US" dirty="0"/>
              <a:t>- Enables instant retrieval of previously generated answers</a:t>
            </a:r>
          </a:p>
          <a:p>
            <a:r>
              <a:rPr lang="en-US" dirty="0"/>
              <a:t>- Eliminates need for repeated response generation</a:t>
            </a:r>
          </a:p>
          <a:p>
            <a:r>
              <a:rPr lang="en-US" dirty="0"/>
              <a:t>- Particularly useful for common or similar prompts</a:t>
            </a:r>
          </a:p>
          <a:p>
            <a:r>
              <a:rPr lang="en-US" dirty="0"/>
              <a:t>- LLMs can reuse cached responses instead of generating new ones</a:t>
            </a:r>
          </a:p>
          <a:p>
            <a:endParaRPr lang="en-US" dirty="0"/>
          </a:p>
          <a:p>
            <a:r>
              <a:rPr lang="en-US" dirty="0"/>
              <a:t>3. Performance Improvement</a:t>
            </a:r>
          </a:p>
          <a:p>
            <a:r>
              <a:rPr lang="en-US" dirty="0"/>
              <a:t>- Significantly reduces inference time</a:t>
            </a:r>
          </a:p>
          <a:p>
            <a:r>
              <a:rPr lang="en-US" dirty="0"/>
              <a:t>- More efficient resource utilization</a:t>
            </a:r>
          </a:p>
          <a:p>
            <a:r>
              <a:rPr lang="en-US" dirty="0"/>
              <a:t>- Improves overall system responsiveness</a:t>
            </a:r>
          </a:p>
          <a:p>
            <a:endParaRPr lang="en-US" dirty="0"/>
          </a:p>
          <a:p>
            <a:r>
              <a:rPr lang="en-US" b="1" dirty="0"/>
              <a:t>EDUCATOR NOTES:</a:t>
            </a:r>
          </a:p>
          <a:p>
            <a:endParaRPr lang="en-US" dirty="0"/>
          </a:p>
          <a:p>
            <a:r>
              <a:rPr lang="en-US" dirty="0"/>
              <a:t>”Now we're discussing caching in the context of Large Language Models. As you can see, generating responses is resource-intensive, involving substantial costs, compute power, and time. However, by implementing response caching, we can drastically improve efficiency. When users ask similar questions, we can instantly retrieve previously generated responses from our cache, eliminating the need for repeated processing. This not only saves resources but also significantly reduces inference time, leading to better user experience. Think of it as having a smart memory system that helps us avoid doing the same work twice."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81736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Types of Caches</a:t>
            </a:r>
          </a:p>
          <a:p>
            <a:r>
              <a:rPr lang="en-US" dirty="0"/>
              <a:t>==============</a:t>
            </a:r>
          </a:p>
          <a:p>
            <a:endParaRPr lang="en-US" dirty="0"/>
          </a:p>
          <a:p>
            <a:r>
              <a:rPr lang="en-US" dirty="0"/>
              <a:t>1. In-Memory Cache</a:t>
            </a:r>
          </a:p>
          <a:p>
            <a:r>
              <a:rPr lang="en-US" dirty="0"/>
              <a:t>-----------------</a:t>
            </a:r>
          </a:p>
          <a:p>
            <a:r>
              <a:rPr lang="en-US" dirty="0"/>
              <a:t>* Definition: Temporary data storage within application's runtime memory</a:t>
            </a:r>
          </a:p>
          <a:p>
            <a:r>
              <a:rPr lang="en-US" dirty="0"/>
              <a:t>* Key Characteristics:</a:t>
            </a:r>
          </a:p>
          <a:p>
            <a:r>
              <a:rPr lang="en-US" dirty="0"/>
              <a:t>  - Offers fastest response time among cache types</a:t>
            </a:r>
          </a:p>
          <a:p>
            <a:r>
              <a:rPr lang="en-US" dirty="0"/>
              <a:t>  - Volatile storage (temporary)</a:t>
            </a:r>
          </a:p>
          <a:p>
            <a:r>
              <a:rPr lang="en-US" dirty="0"/>
              <a:t>  - Directly tied to application lifecycle</a:t>
            </a:r>
          </a:p>
          <a:p>
            <a:r>
              <a:rPr lang="en-US" dirty="0"/>
              <a:t>  - Data is lost when application restarts/resets</a:t>
            </a:r>
          </a:p>
          <a:p>
            <a:endParaRPr lang="en-US" dirty="0"/>
          </a:p>
          <a:p>
            <a:r>
              <a:rPr lang="en-US" dirty="0"/>
              <a:t>2. Persistent Cache</a:t>
            </a:r>
          </a:p>
          <a:p>
            <a:r>
              <a:rPr lang="en-US" dirty="0"/>
              <a:t>------------------</a:t>
            </a:r>
          </a:p>
          <a:p>
            <a:r>
              <a:rPr lang="en-US" dirty="0"/>
              <a:t>* Definition: Long-term data storage in offline systems</a:t>
            </a:r>
          </a:p>
          <a:p>
            <a:r>
              <a:rPr lang="en-US" dirty="0"/>
              <a:t>* Key Characteristics:</a:t>
            </a:r>
          </a:p>
          <a:p>
            <a:r>
              <a:rPr lang="en-US" dirty="0"/>
              <a:t>  - Data stored in persistent storage (typically database)</a:t>
            </a:r>
          </a:p>
          <a:p>
            <a:r>
              <a:rPr lang="en-US" dirty="0"/>
              <a:t>  - Data survives application restarts</a:t>
            </a:r>
          </a:p>
          <a:p>
            <a:r>
              <a:rPr lang="en-US" dirty="0"/>
              <a:t>  - Better for scaling applications</a:t>
            </a:r>
          </a:p>
          <a:p>
            <a:r>
              <a:rPr lang="en-US" dirty="0"/>
              <a:t>  - Slower than in-memory but more reliable</a:t>
            </a:r>
          </a:p>
          <a:p>
            <a:endParaRPr lang="en-US" b="1" dirty="0"/>
          </a:p>
          <a:p>
            <a:r>
              <a:rPr lang="en-US" b="1" dirty="0"/>
              <a:t>EDUCATOR NOTES:</a:t>
            </a:r>
          </a:p>
          <a:p>
            <a:endParaRPr lang="en-US" dirty="0"/>
          </a:p>
          <a:p>
            <a:r>
              <a:rPr lang="en-US" dirty="0"/>
              <a:t>“First, let's look at in-memory caching. This is your speed champion - it's blazing fast because it stores data right in your application's runtime memory. However, remember that it's like short-term memory - once your application restarts, that cache is gone. It's perfect for situations where you need lightning-quick access to temporary data.</a:t>
            </a:r>
          </a:p>
          <a:p>
            <a:endParaRPr lang="en-US" dirty="0"/>
          </a:p>
          <a:p>
            <a:r>
              <a:rPr lang="en-US" dirty="0"/>
              <a:t>Moving on to persistent caching - think of this as your long-term memory solution. While it might be a bit slower than in-memory caching, it's much more reliable because your data persists even when your application shuts down. This makes it ideal for scenarios where data preservation is crucial and when you're building scalable applications.</a:t>
            </a:r>
          </a:p>
          <a:p>
            <a:endParaRPr lang="en-US" dirty="0"/>
          </a:p>
          <a:p>
            <a:r>
              <a:rPr lang="en-US" dirty="0"/>
              <a:t>When choosing between these two, consider your specific needs: Do you prioritize speed over persistence? Or is data durability more important for your use case? The answer to these questions will guide your caching strategy."</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4196168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Response caching considerations:</a:t>
            </a:r>
          </a:p>
          <a:p>
            <a:endParaRPr lang="en-US" dirty="0"/>
          </a:p>
          <a:p>
            <a:r>
              <a:rPr lang="en-US" dirty="0"/>
              <a:t>1. Deterministic Queries</a:t>
            </a:r>
          </a:p>
          <a:p>
            <a:r>
              <a:rPr lang="en-US" dirty="0"/>
              <a:t>- Response caching works best with queries that have predictable, consistent outputs</a:t>
            </a:r>
          </a:p>
          <a:p>
            <a:r>
              <a:rPr lang="en-US" dirty="0"/>
              <a:t>- Temperature setting of zero ensures consistent responses</a:t>
            </a:r>
          </a:p>
          <a:p>
            <a:r>
              <a:rPr lang="en-US" dirty="0"/>
              <a:t>- Important to note that creative or dynamic content may be limited by caching</a:t>
            </a:r>
          </a:p>
          <a:p>
            <a:endParaRPr lang="en-US" dirty="0"/>
          </a:p>
          <a:p>
            <a:r>
              <a:rPr lang="en-US" dirty="0"/>
              <a:t>2. Data Freshness</a:t>
            </a:r>
          </a:p>
          <a:p>
            <a:r>
              <a:rPr lang="en-US" dirty="0"/>
              <a:t>- Cache staleness is a critical concern</a:t>
            </a:r>
          </a:p>
          <a:p>
            <a:r>
              <a:rPr lang="en-US" dirty="0"/>
              <a:t>- Implementation of expiration policies is necessary</a:t>
            </a:r>
          </a:p>
          <a:p>
            <a:r>
              <a:rPr lang="en-US" dirty="0"/>
              <a:t>- Need to regularly validate cached data accuracy</a:t>
            </a:r>
          </a:p>
          <a:p>
            <a:r>
              <a:rPr lang="en-US" dirty="0"/>
              <a:t>- Consider TTL (Time-To-Live) settings for cached items</a:t>
            </a:r>
          </a:p>
          <a:p>
            <a:endParaRPr lang="en-US" dirty="0"/>
          </a:p>
          <a:p>
            <a:r>
              <a:rPr lang="en-US" dirty="0"/>
              <a:t>3. Storage Management</a:t>
            </a:r>
          </a:p>
          <a:p>
            <a:r>
              <a:rPr lang="en-US" dirty="0"/>
              <a:t>- Careful consideration of storage capacity requirements</a:t>
            </a:r>
          </a:p>
          <a:p>
            <a:r>
              <a:rPr lang="en-US" dirty="0"/>
              <a:t>- Database scaling should match caching needs</a:t>
            </a:r>
          </a:p>
          <a:p>
            <a:r>
              <a:rPr lang="en-US" dirty="0"/>
              <a:t>- Important to choose appropriate storage solutions</a:t>
            </a:r>
          </a:p>
          <a:p>
            <a:r>
              <a:rPr lang="en-US" dirty="0"/>
              <a:t>- Consider both memory and disk storage implications</a:t>
            </a:r>
          </a:p>
          <a:p>
            <a:endParaRPr lang="en-US" dirty="0"/>
          </a:p>
          <a:p>
            <a:r>
              <a:rPr lang="en-US" b="1" dirty="0"/>
              <a:t>EDUCATOR NOTES:</a:t>
            </a:r>
          </a:p>
          <a:p>
            <a:endParaRPr lang="en-US" dirty="0"/>
          </a:p>
          <a:p>
            <a:r>
              <a:rPr lang="en-US" dirty="0"/>
              <a:t>"Today we're discussing key considerations for implementing response caching. </a:t>
            </a:r>
          </a:p>
          <a:p>
            <a:r>
              <a:rPr lang="en-US" dirty="0"/>
              <a:t>First, I want to emphasize that caching is most effective for deterministic queries - those with consistent, predictable outputs. When we set the temperature to zero, we ensure reproducible results, though this may limit creative variations in responses.</a:t>
            </a:r>
          </a:p>
          <a:p>
            <a:r>
              <a:rPr lang="en-US" dirty="0"/>
              <a:t>A critical challenge we face is managing cached data freshness. Always implement expiration policies to prevent serving outdated information. I recommend setting appropriate TTL values based on your use case.</a:t>
            </a:r>
          </a:p>
          <a:p>
            <a:r>
              <a:rPr lang="en-US" dirty="0"/>
              <a:t>Lastly, don't overlook storage requirements. Your caching solution needs to scale with your application. Choose a database that can handle your expected cache size and access patterns.</a:t>
            </a:r>
          </a:p>
          <a:p>
            <a:endParaRPr lang="en-US" dirty="0"/>
          </a:p>
          <a:p>
            <a:r>
              <a:rPr lang="en-US" dirty="0"/>
              <a:t>Remember, effective caching can significantly improve performance, but it requires careful planning and ongoing management.</a:t>
            </a:r>
          </a:p>
          <a:p>
            <a:endParaRPr lang="en-US" dirty="0"/>
          </a:p>
          <a:p>
            <a:r>
              <a:rPr lang="en-US" dirty="0"/>
              <a:t>Are there any questions about these considerations?"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1990766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Context Window Limitations</a:t>
            </a:r>
          </a:p>
          <a:p>
            <a:r>
              <a:rPr lang="en-US" dirty="0"/>
              <a:t>- LLMs operate with a finite context window</a:t>
            </a:r>
          </a:p>
          <a:p>
            <a:r>
              <a:rPr lang="en-US" dirty="0"/>
              <a:t>- This limits the number of tokens they can process and reference while generating responses</a:t>
            </a:r>
          </a:p>
          <a:p>
            <a:r>
              <a:rPr lang="en-US" dirty="0"/>
              <a:t>- Important technical constraint that affects performance</a:t>
            </a:r>
          </a:p>
          <a:p>
            <a:endParaRPr lang="en-US" dirty="0"/>
          </a:p>
          <a:p>
            <a:r>
              <a:rPr lang="en-US" dirty="0"/>
              <a:t>2. Data Quality Issues</a:t>
            </a:r>
          </a:p>
          <a:p>
            <a:r>
              <a:rPr lang="en-US" dirty="0"/>
              <a:t>- Long conversations can contain redundant information</a:t>
            </a:r>
          </a:p>
          <a:p>
            <a:r>
              <a:rPr lang="en-US" dirty="0"/>
              <a:t>- Some data may become obsolete as the conversation progresses</a:t>
            </a:r>
          </a:p>
          <a:p>
            <a:r>
              <a:rPr lang="en-US" dirty="0"/>
              <a:t>- Not all messages carry the same level of importance or relevance</a:t>
            </a:r>
          </a:p>
          <a:p>
            <a:endParaRPr lang="en-US" dirty="0"/>
          </a:p>
          <a:p>
            <a:r>
              <a:rPr lang="en-US" dirty="0"/>
              <a:t>3. Cost Implications</a:t>
            </a:r>
          </a:p>
          <a:p>
            <a:r>
              <a:rPr lang="en-US" dirty="0"/>
              <a:t>- Longer conversations lead to exponentially increasing costs</a:t>
            </a:r>
          </a:p>
          <a:p>
            <a:r>
              <a:rPr lang="en-US" dirty="0"/>
              <a:t>- Each new message requires processing with all previous messages</a:t>
            </a:r>
          </a:p>
          <a:p>
            <a:r>
              <a:rPr lang="en-US" dirty="0"/>
              <a:t>- Computational resources grow with conversation length</a:t>
            </a:r>
          </a:p>
          <a:p>
            <a:endParaRPr lang="en-US" dirty="0"/>
          </a:p>
          <a:p>
            <a:r>
              <a:rPr lang="en-US" b="1" dirty="0"/>
              <a:t>EDUCATOR  NOTES:</a:t>
            </a:r>
          </a:p>
          <a:p>
            <a:endParaRPr lang="en-US" dirty="0"/>
          </a:p>
          <a:p>
            <a:r>
              <a:rPr lang="en-US" dirty="0"/>
              <a:t>”Now, we'll explore a critical challenge in LLM implementations: managing long conversations. The key point to emphasize is that while LLMs are powerful, they face three main constraints:</a:t>
            </a:r>
          </a:p>
          <a:p>
            <a:r>
              <a:rPr lang="en-US" dirty="0"/>
              <a:t>First, think of the context window like a computer's RAM - it's limited and needs to be managed efficiently. Each model has a maximum number of tokens it can handle at once.</a:t>
            </a:r>
          </a:p>
          <a:p>
            <a:r>
              <a:rPr lang="en-US" dirty="0"/>
              <a:t>Second, as conversations grow longer, we often see redundant information piling up. Imagine having to repeat your introduction in every email of a long thread - that's what we want to avoid.</a:t>
            </a:r>
          </a:p>
          <a:p>
            <a:r>
              <a:rPr lang="en-US" dirty="0"/>
              <a:t>Finally, there's the cost factor. The longer the conversation gets, the more expensive it becomes to process, because each new interaction requires reviewing all previous content. This creates a compounding effect on computational resources.</a:t>
            </a:r>
          </a:p>
          <a:p>
            <a:endParaRPr lang="en-US" dirty="0"/>
          </a:p>
          <a:p>
            <a:r>
              <a:rPr lang="en-US" dirty="0"/>
              <a:t>Remember to emphasize to your audience that these limitations make it crucial to implement effective conversation management strategies in LLM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2010565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r>
              <a:rPr lang="en-US" b="0" dirty="0"/>
              <a:t>There are different types of memory handling techniques:</a:t>
            </a:r>
          </a:p>
          <a:p>
            <a:r>
              <a:rPr lang="en-US" dirty="0"/>
              <a:t>1. Conversation Buffer Window Memory</a:t>
            </a:r>
          </a:p>
          <a:p>
            <a:r>
              <a:rPr lang="en-US" dirty="0"/>
              <a:t>- Definition: A memory system that maintains a fixed number ('k') of recent interactions</a:t>
            </a:r>
          </a:p>
          <a:p>
            <a:r>
              <a:rPr lang="en-US" dirty="0"/>
              <a:t>- Functions as a sliding window mechanism</a:t>
            </a:r>
          </a:p>
          <a:p>
            <a:r>
              <a:rPr lang="en-US" dirty="0"/>
              <a:t>- Automatically manages memory size to prevent overflow</a:t>
            </a:r>
          </a:p>
          <a:p>
            <a:endParaRPr lang="en-US" dirty="0"/>
          </a:p>
          <a:p>
            <a:r>
              <a:rPr lang="en-US" dirty="0"/>
              <a:t>2. Key Features</a:t>
            </a:r>
          </a:p>
          <a:p>
            <a:r>
              <a:rPr lang="en-US" dirty="0"/>
              <a:t>- Tracks last 'k' interactions (where k is configurable)</a:t>
            </a:r>
          </a:p>
          <a:p>
            <a:r>
              <a:rPr lang="en-US" dirty="0"/>
              <a:t>- Implements sliding window functionality</a:t>
            </a:r>
          </a:p>
          <a:p>
            <a:r>
              <a:rPr lang="en-US" dirty="0"/>
              <a:t>- Built-in buffer size management</a:t>
            </a:r>
          </a:p>
          <a:p>
            <a:r>
              <a:rPr lang="en-US" dirty="0"/>
              <a:t>- Stores context as input-output pairs</a:t>
            </a:r>
          </a:p>
          <a:p>
            <a:endParaRPr lang="en-US" dirty="0"/>
          </a:p>
          <a:p>
            <a:r>
              <a:rPr lang="en-US" dirty="0"/>
              <a:t>3. Implementation Details</a:t>
            </a:r>
          </a:p>
          <a:p>
            <a:r>
              <a:rPr lang="en-US" dirty="0"/>
              <a:t>- Initialization: Create memory instance with specified k value</a:t>
            </a:r>
          </a:p>
          <a:p>
            <a:r>
              <a:rPr lang="en-US" dirty="0"/>
              <a:t>- Save Context: Store conversations as input-output pairs</a:t>
            </a:r>
          </a:p>
          <a:p>
            <a:r>
              <a:rPr lang="en-US" dirty="0"/>
              <a:t>- Load Memory: Retrieve stored context when needed</a:t>
            </a:r>
          </a:p>
          <a:p>
            <a:r>
              <a:rPr lang="en-US" dirty="0"/>
              <a:t>- Memory Format: Uses dictionary/JSON-like structure for storage</a:t>
            </a:r>
          </a:p>
          <a:p>
            <a:endParaRPr lang="en-US" dirty="0"/>
          </a:p>
          <a:p>
            <a:r>
              <a:rPr lang="en-US" dirty="0"/>
              <a:t>4. Code Example Breakdown</a:t>
            </a:r>
          </a:p>
          <a:p>
            <a:r>
              <a:rPr lang="en-US" dirty="0"/>
              <a:t>- Memory initialization: memory = </a:t>
            </a:r>
            <a:r>
              <a:rPr lang="en-US" dirty="0" err="1"/>
              <a:t>ConversationBufferWindowMemory</a:t>
            </a:r>
            <a:r>
              <a:rPr lang="en-US" dirty="0"/>
              <a:t>(k=1)</a:t>
            </a:r>
          </a:p>
          <a:p>
            <a:r>
              <a:rPr lang="en-US" dirty="0"/>
              <a:t>- Saving context: </a:t>
            </a:r>
            <a:r>
              <a:rPr lang="en-US" dirty="0" err="1"/>
              <a:t>memory.save_context</a:t>
            </a:r>
            <a:r>
              <a:rPr lang="en-US" dirty="0"/>
              <a:t>() with input-output pairs</a:t>
            </a:r>
          </a:p>
          <a:p>
            <a:r>
              <a:rPr lang="en-US" dirty="0"/>
              <a:t>- Loading context: </a:t>
            </a:r>
            <a:r>
              <a:rPr lang="en-US" dirty="0" err="1"/>
              <a:t>memory.load_memory_variables</a:t>
            </a:r>
            <a:r>
              <a:rPr lang="en-US" dirty="0"/>
              <a:t>()</a:t>
            </a:r>
          </a:p>
          <a:p>
            <a:r>
              <a:rPr lang="en-US" dirty="0"/>
              <a:t>- Output format: Returns conversation history in structured format</a:t>
            </a:r>
          </a:p>
          <a:p>
            <a:endParaRPr lang="en-US" dirty="0"/>
          </a:p>
          <a:p>
            <a:r>
              <a:rPr lang="en-US" b="1" dirty="0"/>
              <a:t>EDUCATOR NOTES:</a:t>
            </a:r>
          </a:p>
          <a:p>
            <a:endParaRPr lang="en-US" dirty="0"/>
          </a:p>
          <a:p>
            <a:r>
              <a:rPr lang="en-US" dirty="0"/>
              <a:t>”Now we'll discuss the Conversation Buffer Window Memory system, a crucial component for managing dialogue history in conversational AI applications. </a:t>
            </a:r>
          </a:p>
          <a:p>
            <a:r>
              <a:rPr lang="en-US" dirty="0"/>
              <a:t>The key point to emphasize is that this system provides an elegant solution for maintaining conversation context while preventing memory overload. Unlike unlimited buffer systems, it keeps only the most relevant recent interactions.</a:t>
            </a:r>
          </a:p>
          <a:p>
            <a:r>
              <a:rPr lang="en-US" dirty="0"/>
              <a:t>When implementing this in your applications, pay special attention to the 'k' parameter - it determines how many past interactions you want to maintain. Too small a value might lose important context, while too large a value could impact performance.</a:t>
            </a:r>
          </a:p>
          <a:p>
            <a:endParaRPr lang="en-US" dirty="0"/>
          </a:p>
          <a:p>
            <a:r>
              <a:rPr lang="en-US" dirty="0"/>
              <a:t>The code example demonstrates a simple implementation with k=1, but in real-world applications, you might want to adjust this based on your specific use case.</a:t>
            </a:r>
          </a:p>
          <a:p>
            <a:r>
              <a:rPr lang="en-US" dirty="0"/>
              <a:t>Remember to handle the input-output pairs carefully, as they form the foundation of your conversation history. The system automatically manages the sliding window, but you should still monitor memory usage in production environments.</a:t>
            </a:r>
          </a:p>
          <a:p>
            <a:endParaRPr lang="en-US" dirty="0"/>
          </a:p>
          <a:p>
            <a:r>
              <a:rPr lang="en-US" dirty="0"/>
              <a:t>Any questions about the implementation or use cases?"</a:t>
            </a:r>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4899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Another type of memory handling technique: Conversation Summary Memory</a:t>
            </a:r>
          </a:p>
          <a:p>
            <a:endParaRPr lang="en-US" dirty="0"/>
          </a:p>
          <a:p>
            <a:r>
              <a:rPr lang="en-US" dirty="0"/>
              <a:t>1. Primary Purpose</a:t>
            </a:r>
          </a:p>
          <a:p>
            <a:r>
              <a:rPr lang="en-US" dirty="0"/>
              <a:t>- Utilizes a Large Language Model (LLM) to create summaries of conversation history</a:t>
            </a:r>
          </a:p>
          <a:p>
            <a:r>
              <a:rPr lang="en-US" dirty="0"/>
              <a:t>- Designed to handle and compress lengthy dialogues</a:t>
            </a:r>
          </a:p>
          <a:p>
            <a:r>
              <a:rPr lang="en-US" dirty="0"/>
              <a:t>- Maintains important context from previous exchanges</a:t>
            </a:r>
          </a:p>
          <a:p>
            <a:endParaRPr lang="en-US" dirty="0"/>
          </a:p>
          <a:p>
            <a:r>
              <a:rPr lang="en-US" dirty="0"/>
              <a:t>2. Technical Implementation</a:t>
            </a:r>
          </a:p>
          <a:p>
            <a:r>
              <a:rPr lang="en-US" dirty="0"/>
              <a:t>- Creates a </a:t>
            </a:r>
            <a:r>
              <a:rPr lang="en-US" dirty="0" err="1"/>
              <a:t>ConversationSummaryMemory</a:t>
            </a:r>
            <a:r>
              <a:rPr lang="en-US" dirty="0"/>
              <a:t> instance using an LLM</a:t>
            </a:r>
          </a:p>
          <a:p>
            <a:r>
              <a:rPr lang="en-US" dirty="0"/>
              <a:t>- Has capability to save context through </a:t>
            </a:r>
            <a:r>
              <a:rPr lang="en-US" dirty="0" err="1"/>
              <a:t>memory.save_context</a:t>
            </a:r>
            <a:r>
              <a:rPr lang="en-US" dirty="0"/>
              <a:t>()</a:t>
            </a:r>
          </a:p>
          <a:p>
            <a:r>
              <a:rPr lang="en-US" dirty="0"/>
              <a:t>- Can retrieve stored information using </a:t>
            </a:r>
            <a:r>
              <a:rPr lang="en-US" dirty="0" err="1"/>
              <a:t>memory.load_memory_variables</a:t>
            </a:r>
            <a:r>
              <a:rPr lang="en-US" dirty="0"/>
              <a:t>()</a:t>
            </a:r>
          </a:p>
          <a:p>
            <a:endParaRPr lang="en-US" dirty="0"/>
          </a:p>
          <a:p>
            <a:r>
              <a:rPr lang="en-US" dirty="0"/>
              <a:t>3. Key Benefits</a:t>
            </a:r>
          </a:p>
          <a:p>
            <a:r>
              <a:rPr lang="en-US" dirty="0"/>
              <a:t>- Efficient handling of long message threads</a:t>
            </a:r>
          </a:p>
          <a:p>
            <a:r>
              <a:rPr lang="en-US" dirty="0"/>
              <a:t>- Preservation of critical information</a:t>
            </a:r>
          </a:p>
          <a:p>
            <a:r>
              <a:rPr lang="en-US" dirty="0"/>
              <a:t>- Reduces context window consumption</a:t>
            </a:r>
          </a:p>
          <a:p>
            <a:r>
              <a:rPr lang="en-US" dirty="0"/>
              <a:t>- Improves conversation coherence</a:t>
            </a:r>
          </a:p>
          <a:p>
            <a:endParaRPr lang="en-US" dirty="0"/>
          </a:p>
          <a:p>
            <a:r>
              <a:rPr lang="en-US" dirty="0"/>
              <a:t>4. Code Structure</a:t>
            </a:r>
          </a:p>
          <a:p>
            <a:r>
              <a:rPr lang="en-US" dirty="0"/>
              <a:t>- Initialization: memory = </a:t>
            </a:r>
            <a:r>
              <a:rPr lang="en-US" dirty="0" err="1"/>
              <a:t>ConversationSummaryMemory</a:t>
            </a:r>
            <a:r>
              <a:rPr lang="en-US" dirty="0"/>
              <a:t>(</a:t>
            </a:r>
            <a:r>
              <a:rPr lang="en-US" dirty="0" err="1"/>
              <a:t>llm</a:t>
            </a:r>
            <a:r>
              <a:rPr lang="en-US" dirty="0"/>
              <a:t>=</a:t>
            </a:r>
            <a:r>
              <a:rPr lang="en-US" dirty="0" err="1"/>
              <a:t>llm</a:t>
            </a:r>
            <a:r>
              <a:rPr lang="en-US" dirty="0"/>
              <a:t>)</a:t>
            </a:r>
          </a:p>
          <a:p>
            <a:r>
              <a:rPr lang="en-US" dirty="0"/>
              <a:t>- Saving Context: Uses JSON-like format with input/output pairs</a:t>
            </a:r>
          </a:p>
          <a:p>
            <a:r>
              <a:rPr lang="en-US" dirty="0"/>
              <a:t>- Retrieval: Can access stored history through memory variables</a:t>
            </a:r>
          </a:p>
          <a:p>
            <a:endParaRPr lang="en-US" dirty="0"/>
          </a:p>
          <a:p>
            <a:r>
              <a:rPr lang="en-US" b="1" dirty="0"/>
              <a:t>EDUCATOR NOTES:</a:t>
            </a:r>
          </a:p>
          <a:p>
            <a:endParaRPr lang="en-US" dirty="0"/>
          </a:p>
          <a:p>
            <a:r>
              <a:rPr lang="en-US" dirty="0"/>
              <a:t>”Now we're discussing Conversation Summary Memory, a powerful tool for managing long-form dialogues in AI systems. </a:t>
            </a:r>
          </a:p>
          <a:p>
            <a:endParaRPr lang="en-US" dirty="0"/>
          </a:p>
          <a:p>
            <a:r>
              <a:rPr lang="en-US" dirty="0"/>
              <a:t>When presenting this topic, emphasize these key points:</a:t>
            </a:r>
          </a:p>
          <a:p>
            <a:r>
              <a:rPr lang="en-US" dirty="0"/>
              <a:t>- Start by explaining how this addresses the common challenge of managing lengthy conversations</a:t>
            </a:r>
          </a:p>
          <a:p>
            <a:r>
              <a:rPr lang="en-US" dirty="0"/>
              <a:t>- Demonstrate the code example, highlighting how simple it is to implement</a:t>
            </a:r>
          </a:p>
          <a:p>
            <a:r>
              <a:rPr lang="en-US" dirty="0"/>
              <a:t>- Use the practical example shown in the code where "Hi" and "What's up?" showcase basic interaction</a:t>
            </a:r>
          </a:p>
          <a:p>
            <a:r>
              <a:rPr lang="en-US" dirty="0"/>
              <a:t>- Stress how this feature helps maintain context without overwhelming the system</a:t>
            </a:r>
          </a:p>
          <a:p>
            <a:r>
              <a:rPr lang="en-US" dirty="0"/>
              <a:t>- Remember to mention that this is particularly useful for applications requiring extended dialogue maintenance</a:t>
            </a:r>
          </a:p>
          <a:p>
            <a:endParaRPr lang="en-US" dirty="0"/>
          </a:p>
          <a:p>
            <a:r>
              <a:rPr lang="en-US" dirty="0"/>
              <a:t>Be prepared to explain how the summary memory differs from other memory types and why it's particularly effective for certain use cases. The code example shows basic implementation, but you may want to prepare more complex examples for advanced audiences."</a:t>
            </a:r>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3658642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Topic: Understanding Context Versatility</a:t>
            </a:r>
          </a:p>
          <a:p>
            <a:r>
              <a:rPr lang="en-US" dirty="0"/>
              <a:t>- The slide emphasizes that context isn't limited to just historical interactions</a:t>
            </a:r>
          </a:p>
          <a:p>
            <a:pPr marL="171450" indent="-171450">
              <a:buFontTx/>
              <a:buChar char="-"/>
            </a:pPr>
            <a:r>
              <a:rPr lang="en-US" dirty="0"/>
              <a:t>Context can be multifaceted and come from various source documents. </a:t>
            </a:r>
          </a:p>
          <a:p>
            <a:pPr marL="0" indent="0">
              <a:buFontTx/>
              <a:buNone/>
            </a:pPr>
            <a:endParaRPr lang="en-US" dirty="0"/>
          </a:p>
          <a:p>
            <a:pPr marL="0" indent="0">
              <a:buFontTx/>
              <a:buNone/>
            </a:pPr>
            <a:r>
              <a:rPr lang="en-US" dirty="0"/>
              <a:t>Key Components of Context:</a:t>
            </a:r>
          </a:p>
          <a:p>
            <a:r>
              <a:rPr lang="en-US" dirty="0"/>
              <a:t>a) Relevant Information</a:t>
            </a:r>
          </a:p>
          <a:p>
            <a:r>
              <a:rPr lang="en-US" dirty="0"/>
              <a:t>   - Information that directly relates to the current topic or query</a:t>
            </a:r>
          </a:p>
          <a:p>
            <a:r>
              <a:rPr lang="en-US" dirty="0"/>
              <a:t>   - Can include background information and supporting details</a:t>
            </a:r>
          </a:p>
          <a:p>
            <a:endParaRPr lang="en-US" dirty="0"/>
          </a:p>
          <a:p>
            <a:r>
              <a:rPr lang="en-US" dirty="0"/>
              <a:t>b) External Data</a:t>
            </a:r>
          </a:p>
          <a:p>
            <a:r>
              <a:rPr lang="en-US" dirty="0"/>
              <a:t>   - Information from outside sources</a:t>
            </a:r>
          </a:p>
          <a:p>
            <a:r>
              <a:rPr lang="en-US" dirty="0"/>
              <a:t>   - Could include databases, research, or third-party information</a:t>
            </a:r>
          </a:p>
          <a:p>
            <a:r>
              <a:rPr lang="en-US" dirty="0"/>
              <a:t>   - Helps provide broader perspective and validation</a:t>
            </a:r>
          </a:p>
          <a:p>
            <a:endParaRPr lang="en-US" dirty="0"/>
          </a:p>
          <a:p>
            <a:r>
              <a:rPr lang="en-US" dirty="0"/>
              <a:t>c) Human Feedback</a:t>
            </a:r>
          </a:p>
          <a:p>
            <a:r>
              <a:rPr lang="en-US" dirty="0"/>
              <a:t>   - Input and responses from human interactions</a:t>
            </a:r>
          </a:p>
          <a:p>
            <a:r>
              <a:rPr lang="en-US" dirty="0"/>
              <a:t>   - Can include corrections, clarifications, and preferences</a:t>
            </a:r>
          </a:p>
          <a:p>
            <a:r>
              <a:rPr lang="en-US" dirty="0"/>
              <a:t>   - Helps in improving accuracy and relevance</a:t>
            </a:r>
          </a:p>
          <a:p>
            <a:endParaRPr lang="en-US" dirty="0"/>
          </a:p>
          <a:p>
            <a:r>
              <a:rPr lang="en-US" b="1" dirty="0"/>
              <a:t>EDUCATOR NOTES:</a:t>
            </a:r>
          </a:p>
          <a:p>
            <a:endParaRPr lang="en-US" dirty="0"/>
          </a:p>
          <a:p>
            <a:r>
              <a:rPr lang="en-US" dirty="0"/>
              <a:t>”Now we'll discuss how context plays a crucial role in understanding and processing information. While many might think context is simply about past conversations or interactions, it's actually much more comprehensive. We have three main types of context to consider:</a:t>
            </a:r>
          </a:p>
          <a:p>
            <a:r>
              <a:rPr lang="en-US" dirty="0"/>
              <a:t>First, there's relevant information that directly pertains to our current discussion. </a:t>
            </a:r>
          </a:p>
          <a:p>
            <a:r>
              <a:rPr lang="en-US" dirty="0"/>
              <a:t>Then, we incorporate external data that helps broaden our understanding. </a:t>
            </a:r>
          </a:p>
          <a:p>
            <a:r>
              <a:rPr lang="en-US" dirty="0"/>
              <a:t>Finally, and perhaps most importantly, we have human feedback, which helps refine and improve our understanding.</a:t>
            </a:r>
          </a:p>
          <a:p>
            <a:endParaRPr lang="en-US" dirty="0"/>
          </a:p>
          <a:p>
            <a:r>
              <a:rPr lang="en-US" dirty="0"/>
              <a:t>Remember, the power of context lies in its versatility - it's not just about what was said before, but about creating a complete picture using multiple sources of information. This comprehensive approach helps ensure more accurate and meaningful interactions."</a:t>
            </a:r>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3029357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Main Components:</a:t>
            </a:r>
          </a:p>
          <a:p>
            <a:r>
              <a:rPr lang="en-US" dirty="0"/>
              <a:t>1. Title: Chatting with your source documents. Key Point: "Prompt with the entire text of the document(s)"</a:t>
            </a:r>
          </a:p>
          <a:p>
            <a:endParaRPr lang="en-US" dirty="0"/>
          </a:p>
          <a:p>
            <a:r>
              <a:rPr lang="en-US" dirty="0"/>
              <a:t>Flow Diagram Elements:</a:t>
            </a:r>
          </a:p>
          <a:p>
            <a:r>
              <a:rPr lang="en-US" dirty="0"/>
              <a:t>- User input (purple box on left)</a:t>
            </a:r>
          </a:p>
          <a:p>
            <a:r>
              <a:rPr lang="en-US" dirty="0"/>
              <a:t>- Chatbot system (central box) containing:</a:t>
            </a:r>
          </a:p>
          <a:p>
            <a:r>
              <a:rPr lang="en-US" dirty="0"/>
              <a:t>  * Memory component</a:t>
            </a:r>
          </a:p>
          <a:p>
            <a:r>
              <a:rPr lang="en-US" dirty="0"/>
              <a:t>  * Prompt processing</a:t>
            </a:r>
          </a:p>
          <a:p>
            <a:r>
              <a:rPr lang="en-US" dirty="0"/>
              <a:t>  * LLM component</a:t>
            </a:r>
          </a:p>
          <a:p>
            <a:r>
              <a:rPr lang="en-US" dirty="0"/>
              <a:t>- Response/output (purple box on right)</a:t>
            </a:r>
          </a:p>
          <a:p>
            <a:r>
              <a:rPr lang="en-US" dirty="0"/>
              <a:t>- Document input feeding into the prompt</a:t>
            </a:r>
          </a:p>
          <a:p>
            <a:r>
              <a:rPr lang="en-US" dirty="0"/>
              <a:t>- Red question: "How can this be a problem?"</a:t>
            </a:r>
          </a:p>
          <a:p>
            <a:endParaRPr lang="en-US" dirty="0"/>
          </a:p>
          <a:p>
            <a:r>
              <a:rPr lang="en-US" dirty="0"/>
              <a:t>Process Flow:</a:t>
            </a:r>
          </a:p>
          <a:p>
            <a:r>
              <a:rPr lang="en-US" dirty="0"/>
              <a:t>1. User provides input</a:t>
            </a:r>
          </a:p>
          <a:p>
            <a:r>
              <a:rPr lang="en-US" dirty="0"/>
              <a:t>2. Input goes to chatbot system</a:t>
            </a:r>
          </a:p>
          <a:p>
            <a:r>
              <a:rPr lang="en-US" dirty="0"/>
              <a:t>3. System processes input using:</a:t>
            </a:r>
          </a:p>
          <a:p>
            <a:r>
              <a:rPr lang="en-US" dirty="0"/>
              <a:t>   - Stored memory</a:t>
            </a:r>
          </a:p>
          <a:p>
            <a:r>
              <a:rPr lang="en-US" dirty="0"/>
              <a:t>   - Document content</a:t>
            </a:r>
          </a:p>
          <a:p>
            <a:r>
              <a:rPr lang="en-US" dirty="0"/>
              <a:t>   - Prompt engineering</a:t>
            </a:r>
          </a:p>
          <a:p>
            <a:r>
              <a:rPr lang="en-US" dirty="0"/>
              <a:t>4. AI processes information</a:t>
            </a:r>
          </a:p>
          <a:p>
            <a:r>
              <a:rPr lang="en-US" dirty="0"/>
              <a:t>5. Generates response/output</a:t>
            </a:r>
          </a:p>
          <a:p>
            <a:endParaRPr lang="en-US" b="1" dirty="0"/>
          </a:p>
          <a:p>
            <a:r>
              <a:rPr lang="en-US" b="1" dirty="0"/>
              <a:t>EDUCATOR NOTES:</a:t>
            </a:r>
          </a:p>
          <a:p>
            <a:endParaRPr lang="en-US" dirty="0"/>
          </a:p>
          <a:p>
            <a:r>
              <a:rPr lang="en-US" dirty="0"/>
              <a:t>"In this slide, we're examining the process of chatting with documents through an AI system. The diagram illustrates how user input, document content, and system memory come together in the prompt engineering process. The key challenge we need to consider is the implications of feeding entire documents into the prompt. This can lead to several issues such as:</a:t>
            </a:r>
          </a:p>
          <a:p>
            <a:r>
              <a:rPr lang="en-US" dirty="0"/>
              <a:t>- Token limitations</a:t>
            </a:r>
          </a:p>
          <a:p>
            <a:r>
              <a:rPr lang="en-US" dirty="0"/>
              <a:t>- Processing overhead</a:t>
            </a:r>
          </a:p>
          <a:p>
            <a:r>
              <a:rPr lang="en-US" dirty="0"/>
              <a:t>- Memory constraints</a:t>
            </a:r>
          </a:p>
          <a:p>
            <a:r>
              <a:rPr lang="en-US" dirty="0"/>
              <a:t>- Context window limitations</a:t>
            </a:r>
          </a:p>
          <a:p>
            <a:r>
              <a:rPr lang="en-US" dirty="0"/>
              <a:t>- Potential information overload</a:t>
            </a:r>
          </a:p>
          <a:p>
            <a:endParaRPr lang="en-US" dirty="0"/>
          </a:p>
          <a:p>
            <a:r>
              <a:rPr lang="en-US" dirty="0"/>
              <a:t>Understanding these challenges is crucial for developing effective document-based chat systems and implementing appropriate solutions for document handling and processing.</a:t>
            </a:r>
          </a:p>
          <a:p>
            <a:endParaRPr lang="en-US" dirty="0"/>
          </a:p>
          <a:p>
            <a:r>
              <a:rPr lang="en-US" dirty="0"/>
              <a:t>Start a discussion on how chatting with documents can be a problem"</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3309206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Limitations of LLMs:</a:t>
            </a:r>
          </a:p>
          <a:p>
            <a:endParaRPr lang="en-US" dirty="0"/>
          </a:p>
          <a:p>
            <a:r>
              <a:rPr lang="en-US" dirty="0"/>
              <a:t>1. Reliability and Bias</a:t>
            </a:r>
          </a:p>
          <a:p>
            <a:r>
              <a:rPr lang="en-US" dirty="0"/>
              <a:t>- LLMs can produce unreliable outputs</a:t>
            </a:r>
          </a:p>
          <a:p>
            <a:r>
              <a:rPr lang="en-US" dirty="0"/>
              <a:t>- May contain inherent biases from training data</a:t>
            </a:r>
          </a:p>
          <a:p>
            <a:r>
              <a:rPr lang="en-US" dirty="0"/>
              <a:t>- Results need to be verified for accuracy</a:t>
            </a:r>
          </a:p>
          <a:p>
            <a:endParaRPr lang="en-US" dirty="0"/>
          </a:p>
          <a:p>
            <a:r>
              <a:rPr lang="en-US" dirty="0"/>
              <a:t>2. Training Data Limitations</a:t>
            </a:r>
          </a:p>
          <a:p>
            <a:r>
              <a:rPr lang="en-US" dirty="0"/>
              <a:t>- Knowledge is constrained to training dataset</a:t>
            </a:r>
          </a:p>
          <a:p>
            <a:r>
              <a:rPr lang="en-US" dirty="0"/>
              <a:t>- Cannot learn new information after training</a:t>
            </a:r>
          </a:p>
          <a:p>
            <a:r>
              <a:rPr lang="en-US" dirty="0"/>
              <a:t>- May have outdated information</a:t>
            </a:r>
          </a:p>
          <a:p>
            <a:endParaRPr lang="en-US" dirty="0"/>
          </a:p>
          <a:p>
            <a:r>
              <a:rPr lang="en-US" dirty="0"/>
              <a:t>3. False Information Processing</a:t>
            </a:r>
          </a:p>
          <a:p>
            <a:r>
              <a:rPr lang="en-US" dirty="0"/>
              <a:t>- Cannot inherently distinguish truth from false information</a:t>
            </a:r>
          </a:p>
          <a:p>
            <a:r>
              <a:rPr lang="en-US" dirty="0"/>
              <a:t>- May perpetuate misinformation if present in training data</a:t>
            </a:r>
          </a:p>
          <a:p>
            <a:r>
              <a:rPr lang="en-US" dirty="0"/>
              <a:t>- Requires human verification</a:t>
            </a:r>
          </a:p>
          <a:p>
            <a:endParaRPr lang="en-US" dirty="0"/>
          </a:p>
          <a:p>
            <a:r>
              <a:rPr lang="en-US" dirty="0"/>
              <a:t>4. Hallucination</a:t>
            </a:r>
          </a:p>
          <a:p>
            <a:r>
              <a:rPr lang="en-US" dirty="0"/>
              <a:t>- Can generate plausible but false information</a:t>
            </a:r>
          </a:p>
          <a:p>
            <a:r>
              <a:rPr lang="en-US" dirty="0"/>
              <a:t>- May create fictional references or facts</a:t>
            </a:r>
          </a:p>
          <a:p>
            <a:r>
              <a:rPr lang="en-US" dirty="0"/>
              <a:t>- Important to fact-check outputs</a:t>
            </a:r>
          </a:p>
          <a:p>
            <a:endParaRPr lang="en-US" dirty="0"/>
          </a:p>
          <a:p>
            <a:r>
              <a:rPr lang="en-US" dirty="0"/>
              <a:t>5. Context Window Limitation</a:t>
            </a:r>
          </a:p>
          <a:p>
            <a:r>
              <a:rPr lang="en-US" dirty="0"/>
              <a:t>- Fixed limit on input/output length</a:t>
            </a:r>
          </a:p>
          <a:p>
            <a:r>
              <a:rPr lang="en-US" dirty="0"/>
              <a:t>    - Example: Nova Pro's 300k token limit</a:t>
            </a:r>
          </a:p>
          <a:p>
            <a:pPr marL="171450" indent="-171450">
              <a:buFontTx/>
              <a:buChar char="-"/>
            </a:pPr>
            <a:r>
              <a:rPr lang="en-US" dirty="0"/>
              <a:t>Affects ability to process long source documents. </a:t>
            </a:r>
          </a:p>
          <a:p>
            <a:pPr marL="171450" indent="-171450">
              <a:buFontTx/>
              <a:buChar char="-"/>
            </a:pPr>
            <a:r>
              <a:rPr lang="en-US" dirty="0"/>
              <a:t>Resource Requirements</a:t>
            </a:r>
          </a:p>
          <a:p>
            <a:r>
              <a:rPr lang="en-US" dirty="0"/>
              <a:t>    - Heavy computational demands</a:t>
            </a:r>
          </a:p>
          <a:p>
            <a:r>
              <a:rPr lang="en-US" dirty="0"/>
              <a:t>    - GPU dependency for practical use</a:t>
            </a:r>
          </a:p>
          <a:p>
            <a:r>
              <a:rPr lang="en-US" dirty="0"/>
              <a:t>    - High memory usage</a:t>
            </a:r>
          </a:p>
          <a:p>
            <a:endParaRPr lang="en-US" dirty="0"/>
          </a:p>
          <a:p>
            <a:r>
              <a:rPr lang="en-US" dirty="0"/>
              <a:t>7. Copyright Concerns</a:t>
            </a:r>
          </a:p>
          <a:p>
            <a:r>
              <a:rPr lang="en-US" dirty="0"/>
              <a:t>- Risk of reproducing copyrighted material</a:t>
            </a:r>
          </a:p>
          <a:p>
            <a:r>
              <a:rPr lang="en-US" dirty="0"/>
              <a:t>- Legal implications for generated content</a:t>
            </a:r>
          </a:p>
          <a:p>
            <a:r>
              <a:rPr lang="en-US" dirty="0"/>
              <a:t>- Need for content originality verification</a:t>
            </a:r>
          </a:p>
          <a:p>
            <a:endParaRPr lang="en-US" dirty="0"/>
          </a:p>
          <a:p>
            <a:r>
              <a:rPr lang="en-US" b="1" dirty="0"/>
              <a:t>EDUCATOR NOTES:</a:t>
            </a:r>
          </a:p>
          <a:p>
            <a:endParaRPr lang="en-US" dirty="0"/>
          </a:p>
          <a:p>
            <a:r>
              <a:rPr lang="en-US" dirty="0"/>
              <a:t>”Now we'll discuss the critical limitations of Large Language Models. These limitations are important to understand as they impact how we can effectively use LLMs in practical applications.</a:t>
            </a:r>
          </a:p>
          <a:p>
            <a:endParaRPr lang="en-US" dirty="0"/>
          </a:p>
          <a:p>
            <a:r>
              <a:rPr lang="en-US" dirty="0"/>
              <a:t>First, we must acknowledge that while LLMs are powerful, they aren't perfect. They can be unreliable and may contain biases from their training data. Their knowledge is frozen at the time of training, and they can't independently verify truth from fiction.</a:t>
            </a:r>
          </a:p>
          <a:p>
            <a:r>
              <a:rPr lang="en-US" dirty="0"/>
              <a:t>One of the most concerning issues is hallucination - where models generate convincing but false information. This is compounded by context window limitations, which restrict how much information they can process at once.</a:t>
            </a:r>
          </a:p>
          <a:p>
            <a:r>
              <a:rPr lang="en-US" dirty="0"/>
              <a:t>From a practical standpoint, these models require significant computational resources, typically needing powerful GPUs to run effectively. Finally, we need to be mindful of potential copyright issues, as these models may inadvertently reproduce copyrighted content.</a:t>
            </a:r>
          </a:p>
          <a:p>
            <a:endParaRPr lang="en-US" dirty="0"/>
          </a:p>
          <a:p>
            <a:r>
              <a:rPr lang="en-US" dirty="0"/>
              <a:t>Understanding these limitations is crucial for responsible implementation and use of LLM technology in any organization."</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17544843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25</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Developing conversational applications</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a:t>Module 3 </a:t>
            </a:r>
            <a:r>
              <a:rPr lang="en-US" dirty="0"/>
              <a:t>– Lesson 2</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lesson 1</a:t>
            </a:r>
          </a:p>
          <a:p>
            <a:r>
              <a:rPr lang="en-US" dirty="0"/>
              <a:t>From Q&amp;A to Conversation</a:t>
            </a:r>
          </a:p>
          <a:p>
            <a:r>
              <a:rPr lang="en-US" dirty="0"/>
              <a:t>Customizing chat applications</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A9F1-16AC-1ED9-E241-952634A699A9}"/>
              </a:ext>
            </a:extLst>
          </p:cNvPr>
          <p:cNvSpPr>
            <a:spLocks noGrp="1"/>
          </p:cNvSpPr>
          <p:nvPr>
            <p:ph type="title" idx="1"/>
          </p:nvPr>
        </p:nvSpPr>
        <p:spPr/>
        <p:txBody>
          <a:bodyPr/>
          <a:lstStyle/>
          <a:p>
            <a:r>
              <a:rPr lang="en-US" dirty="0"/>
              <a:t>Review: </a:t>
            </a:r>
            <a:r>
              <a:rPr lang="en-US" dirty="0" err="1"/>
              <a:t>LangChain</a:t>
            </a:r>
            <a:endParaRPr lang="en-US" dirty="0"/>
          </a:p>
        </p:txBody>
      </p:sp>
      <p:sp>
        <p:nvSpPr>
          <p:cNvPr id="8" name="Content Placeholder 7">
            <a:extLst>
              <a:ext uri="{FF2B5EF4-FFF2-40B4-BE49-F238E27FC236}">
                <a16:creationId xmlns:a16="http://schemas.microsoft.com/office/drawing/2014/main" id="{13831FBB-23BE-C854-6C00-7262206C4B4D}"/>
              </a:ext>
            </a:extLst>
          </p:cNvPr>
          <p:cNvSpPr>
            <a:spLocks noGrp="1"/>
          </p:cNvSpPr>
          <p:nvPr>
            <p:ph idx="2"/>
          </p:nvPr>
        </p:nvSpPr>
        <p:spPr/>
        <p:txBody>
          <a:bodyPr/>
          <a:lstStyle/>
          <a:p>
            <a:r>
              <a:rPr lang="en-US" dirty="0"/>
              <a:t>One of the most popular frameworks for </a:t>
            </a:r>
            <a:r>
              <a:rPr lang="en-US" dirty="0">
                <a:solidFill>
                  <a:schemeClr val="accent6"/>
                </a:solidFill>
              </a:rPr>
              <a:t>LLM-based applications</a:t>
            </a:r>
          </a:p>
          <a:p>
            <a:r>
              <a:rPr lang="en-US" dirty="0"/>
              <a:t>A framework for developing applications powered by language models</a:t>
            </a:r>
          </a:p>
          <a:p>
            <a:pPr lvl="1"/>
            <a:r>
              <a:rPr lang="en-US" dirty="0"/>
              <a:t>Modular components</a:t>
            </a:r>
          </a:p>
          <a:p>
            <a:pPr lvl="1"/>
            <a:r>
              <a:rPr lang="en-US" dirty="0"/>
              <a:t>Flexible and scalable</a:t>
            </a:r>
          </a:p>
          <a:p>
            <a:pPr lvl="1"/>
            <a:r>
              <a:rPr lang="en-US" dirty="0"/>
              <a:t>Long list of third-party integrations</a:t>
            </a:r>
          </a:p>
          <a:p>
            <a:endParaRPr lang="en-US" dirty="0"/>
          </a:p>
          <a:p>
            <a:endParaRPr lang="en-US" dirty="0"/>
          </a:p>
        </p:txBody>
      </p:sp>
    </p:spTree>
    <p:extLst>
      <p:ext uri="{BB962C8B-B14F-4D97-AF65-F5344CB8AC3E}">
        <p14:creationId xmlns:p14="http://schemas.microsoft.com/office/powerpoint/2010/main" val="409602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3738F8-1469-38D2-5403-86D196DE27BC}"/>
              </a:ext>
            </a:extLst>
          </p:cNvPr>
          <p:cNvSpPr>
            <a:spLocks noGrp="1"/>
          </p:cNvSpPr>
          <p:nvPr>
            <p:ph type="sldNum" idx="97"/>
          </p:nvPr>
        </p:nvSpPr>
        <p:spPr/>
        <p:txBody>
          <a:bodyPr/>
          <a:lstStyle/>
          <a:p>
            <a:fld id="{86A8BF56-6CB3-514C-9A64-F39D95C9E25B}" type="slidenum">
              <a:rPr lang="en-US" smtClean="0"/>
              <a:t>4</a:t>
            </a:fld>
            <a:endParaRPr lang="en-US"/>
          </a:p>
        </p:txBody>
      </p:sp>
      <p:sp>
        <p:nvSpPr>
          <p:cNvPr id="3" name="Title 2">
            <a:extLst>
              <a:ext uri="{FF2B5EF4-FFF2-40B4-BE49-F238E27FC236}">
                <a16:creationId xmlns:a16="http://schemas.microsoft.com/office/drawing/2014/main" id="{B3818F40-B8ED-F78E-48FC-5B26BA9ECC40}"/>
              </a:ext>
            </a:extLst>
          </p:cNvPr>
          <p:cNvSpPr>
            <a:spLocks noGrp="1"/>
          </p:cNvSpPr>
          <p:nvPr>
            <p:ph type="title" idx="1"/>
          </p:nvPr>
        </p:nvSpPr>
        <p:spPr/>
        <p:txBody>
          <a:bodyPr/>
          <a:lstStyle/>
          <a:p>
            <a:r>
              <a:rPr lang="en-US" dirty="0"/>
              <a:t>Review: Simple LLM chain</a:t>
            </a:r>
          </a:p>
        </p:txBody>
      </p:sp>
      <p:sp>
        <p:nvSpPr>
          <p:cNvPr id="4" name="Content Placeholder 3">
            <a:extLst>
              <a:ext uri="{FF2B5EF4-FFF2-40B4-BE49-F238E27FC236}">
                <a16:creationId xmlns:a16="http://schemas.microsoft.com/office/drawing/2014/main" id="{87DEE923-5698-CC6F-70E7-CC3C4AF507F2}"/>
              </a:ext>
            </a:extLst>
          </p:cNvPr>
          <p:cNvSpPr>
            <a:spLocks noGrp="1"/>
          </p:cNvSpPr>
          <p:nvPr>
            <p:ph idx="2"/>
          </p:nvPr>
        </p:nvSpPr>
        <p:spPr>
          <a:xfrm>
            <a:off x="365760" y="1165536"/>
            <a:ext cx="11466576" cy="968064"/>
          </a:xfrm>
        </p:spPr>
        <p:txBody>
          <a:bodyPr/>
          <a:lstStyle/>
          <a:p>
            <a:r>
              <a:rPr lang="en-US" dirty="0"/>
              <a:t>Combine an LLM, prompt template and output parser</a:t>
            </a:r>
          </a:p>
          <a:p>
            <a:endParaRPr lang="en-US" dirty="0"/>
          </a:p>
        </p:txBody>
      </p:sp>
      <p:sp>
        <p:nvSpPr>
          <p:cNvPr id="6" name="Rectangle 5">
            <a:extLst>
              <a:ext uri="{FF2B5EF4-FFF2-40B4-BE49-F238E27FC236}">
                <a16:creationId xmlns:a16="http://schemas.microsoft.com/office/drawing/2014/main" id="{47A35741-DB00-A658-FF0C-DFD199B6454B}"/>
              </a:ext>
            </a:extLst>
          </p:cNvPr>
          <p:cNvSpPr/>
          <p:nvPr/>
        </p:nvSpPr>
        <p:spPr>
          <a:xfrm>
            <a:off x="1036292" y="2416611"/>
            <a:ext cx="10119416" cy="3416320"/>
          </a:xfrm>
          <a:prstGeom prst="rect">
            <a:avLst/>
          </a:prstGeom>
          <a:solidFill>
            <a:srgbClr val="FFFFFF"/>
          </a:solidFill>
          <a:ln w="38100">
            <a:solidFill>
              <a:srgbClr val="330066">
                <a:lumMod val="40000"/>
                <a:lumOff val="60000"/>
              </a:srgbClr>
            </a:solidFill>
          </a:ln>
          <a:effectLst>
            <a:outerShdw blurRad="50800" dist="38100" dir="2700000" algn="tl" rotWithShape="0">
              <a:prstClr val="black">
                <a:alpha val="40000"/>
              </a:prst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50000"/>
                  </a:srgbClr>
                </a:solidFill>
                <a:effectLst/>
                <a:uLnTx/>
                <a:uFillTx/>
                <a:latin typeface="Courier New" panose="02070309020205020404" pitchFamily="49" charset="0"/>
                <a:cs typeface="Courier New" panose="02070309020205020404" pitchFamily="49" charset="0"/>
              </a:rPr>
              <a:t># Define prompt template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PromptTemplate.</a:t>
            </a:r>
            <a:r>
              <a:rPr kumimoji="0" lang="en-US" sz="1800" b="1" i="0" u="none" strike="noStrike" kern="0" cap="none" spc="0" normalizeH="0" baseline="0" noProof="0" dirty="0" err="1">
                <a:ln>
                  <a:noFill/>
                </a:ln>
                <a:solidFill>
                  <a:srgbClr val="7C5AED"/>
                </a:solidFill>
                <a:effectLst/>
                <a:uLnTx/>
                <a:uFillTx/>
                <a:latin typeface="Courier New" panose="02070309020205020404" pitchFamily="49" charset="0"/>
                <a:cs typeface="Courier New" panose="02070309020205020404" pitchFamily="49" charset="0"/>
              </a:rPr>
              <a:t>from_template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“Tell me a {</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content_type</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about {topic}.”</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50000"/>
                  </a:srgbClr>
                </a:solidFill>
                <a:effectLst/>
                <a:uLnTx/>
                <a:uFillTx/>
                <a:latin typeface="Courier New" panose="02070309020205020404" pitchFamily="49" charset="0"/>
                <a:cs typeface="Courier New" panose="02070309020205020404" pitchFamily="49" charset="0"/>
              </a:rPr>
              <a:t># Create a simple LLM Chain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chain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llm</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StrOutputParser</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chain.invoke</a:t>
            </a:r>
            <a:r>
              <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content_type:</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“bedtime</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story”</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topic:</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“a</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cat”</a:t>
            </a:r>
            <a:r>
              <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D200"/>
                </a:solidFill>
                <a:effectLst/>
                <a:uLnTx/>
                <a:uFillTx/>
                <a:latin typeface="Courier New" panose="02070309020205020404" pitchFamily="49" charset="0"/>
                <a:cs typeface="Courier New" panose="02070309020205020404" pitchFamily="49" charset="0"/>
              </a:rPr>
              <a:t>&gt;&gt; </a:t>
            </a:r>
            <a:r>
              <a:rPr kumimoji="0" lang="en-US" sz="1800" b="1" i="0" u="none" strike="noStrike" kern="0" cap="none" spc="0" normalizeH="0" baseline="0" noProof="0" dirty="0">
                <a:ln>
                  <a:noFill/>
                </a:ln>
                <a:solidFill>
                  <a:srgbClr val="38EF7D">
                    <a:lumMod val="50000"/>
                  </a:srgbClr>
                </a:solidFill>
                <a:effectLst/>
                <a:uLnTx/>
                <a:uFillTx/>
                <a:latin typeface="Courier New" panose="02070309020205020404" pitchFamily="49" charset="0"/>
                <a:cs typeface="Courier New" panose="02070309020205020404" pitchFamily="49" charset="0"/>
              </a:rPr>
              <a:t>Once upon a time, there was a little black cat named Midnight. Midnight was a very curious cat, and …</a:t>
            </a:r>
          </a:p>
        </p:txBody>
      </p:sp>
    </p:spTree>
    <p:extLst>
      <p:ext uri="{BB962C8B-B14F-4D97-AF65-F5344CB8AC3E}">
        <p14:creationId xmlns:p14="http://schemas.microsoft.com/office/powerpoint/2010/main" val="4140642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E43365-A91B-170D-3865-8ADF2C2E8139}"/>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9FD83EED-9A89-03BE-1495-D1BEFBD12564}"/>
              </a:ext>
            </a:extLst>
          </p:cNvPr>
          <p:cNvSpPr>
            <a:spLocks noGrp="1"/>
          </p:cNvSpPr>
          <p:nvPr>
            <p:ph type="title" idx="1"/>
          </p:nvPr>
        </p:nvSpPr>
        <p:spPr/>
        <p:txBody>
          <a:bodyPr/>
          <a:lstStyle/>
          <a:p>
            <a:r>
              <a:rPr lang="en-US" dirty="0"/>
              <a:t>Review: Memory</a:t>
            </a:r>
          </a:p>
        </p:txBody>
      </p:sp>
      <p:pic>
        <p:nvPicPr>
          <p:cNvPr id="5" name="Content Placeholder 5">
            <a:extLst>
              <a:ext uri="{FF2B5EF4-FFF2-40B4-BE49-F238E27FC236}">
                <a16:creationId xmlns:a16="http://schemas.microsoft.com/office/drawing/2014/main" id="{277754B1-BC1E-F6D8-1E6A-A62070BA52A1}"/>
              </a:ext>
            </a:extLst>
          </p:cNvPr>
          <p:cNvPicPr>
            <a:picLocks noChangeAspect="1"/>
          </p:cNvPicPr>
          <p:nvPr/>
        </p:nvPicPr>
        <p:blipFill>
          <a:blip r:embed="rId3"/>
          <a:stretch>
            <a:fillRect/>
          </a:stretch>
        </p:blipFill>
        <p:spPr>
          <a:xfrm>
            <a:off x="1146969" y="1705122"/>
            <a:ext cx="1242992" cy="1174081"/>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4266702A-24B4-EF97-39DE-90EA2DFFB73C}"/>
              </a:ext>
            </a:extLst>
          </p:cNvPr>
          <p:cNvSpPr txBox="1"/>
          <p:nvPr/>
        </p:nvSpPr>
        <p:spPr>
          <a:xfrm>
            <a:off x="8869637" y="2736784"/>
            <a:ext cx="1151277" cy="369332"/>
          </a:xfrm>
          <a:prstGeom prst="rect">
            <a:avLst/>
          </a:prstGeom>
          <a:noFill/>
        </p:spPr>
        <p:txBody>
          <a:bodyPr wrap="square" rtlCol="0">
            <a:spAutoFit/>
          </a:bodyPr>
          <a:lstStyle/>
          <a:p>
            <a:pPr algn="ctr"/>
            <a:r>
              <a:rPr lang="en-US" dirty="0">
                <a:solidFill>
                  <a:srgbClr val="232F3E"/>
                </a:solidFill>
                <a:latin typeface="Amazon Ember Medium"/>
              </a:rPr>
              <a:t>Memory</a:t>
            </a:r>
          </a:p>
        </p:txBody>
      </p:sp>
      <p:sp>
        <p:nvSpPr>
          <p:cNvPr id="7" name="Rounded Rectangle 6">
            <a:extLst>
              <a:ext uri="{FF2B5EF4-FFF2-40B4-BE49-F238E27FC236}">
                <a16:creationId xmlns:a16="http://schemas.microsoft.com/office/drawing/2014/main" id="{7FF5F433-630A-B4C8-001E-9AAE981986E0}"/>
              </a:ext>
            </a:extLst>
          </p:cNvPr>
          <p:cNvSpPr/>
          <p:nvPr/>
        </p:nvSpPr>
        <p:spPr>
          <a:xfrm>
            <a:off x="348276" y="3436749"/>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my name is Andy</a:t>
            </a:r>
          </a:p>
        </p:txBody>
      </p:sp>
      <p:sp>
        <p:nvSpPr>
          <p:cNvPr id="8" name="Rounded Rectangle 7">
            <a:extLst>
              <a:ext uri="{FF2B5EF4-FFF2-40B4-BE49-F238E27FC236}">
                <a16:creationId xmlns:a16="http://schemas.microsoft.com/office/drawing/2014/main" id="{B00A5D92-3504-48DD-29AF-61612FA23ACA}"/>
              </a:ext>
            </a:extLst>
          </p:cNvPr>
          <p:cNvSpPr/>
          <p:nvPr/>
        </p:nvSpPr>
        <p:spPr>
          <a:xfrm>
            <a:off x="4190321" y="3436748"/>
            <a:ext cx="2465798"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Andy, it is nice to meet you. </a:t>
            </a:r>
          </a:p>
        </p:txBody>
      </p:sp>
      <p:sp>
        <p:nvSpPr>
          <p:cNvPr id="9" name="Rounded Rectangle 8">
            <a:extLst>
              <a:ext uri="{FF2B5EF4-FFF2-40B4-BE49-F238E27FC236}">
                <a16:creationId xmlns:a16="http://schemas.microsoft.com/office/drawing/2014/main" id="{87406C69-F46E-6229-86BF-7400444339DE}"/>
              </a:ext>
            </a:extLst>
          </p:cNvPr>
          <p:cNvSpPr/>
          <p:nvPr/>
        </p:nvSpPr>
        <p:spPr>
          <a:xfrm>
            <a:off x="7346197" y="3436747"/>
            <a:ext cx="4529684" cy="1204645"/>
          </a:xfrm>
          <a:prstGeom prst="roundRect">
            <a:avLst/>
          </a:prstGeom>
          <a:solidFill>
            <a:srgbClr val="7CE8F4">
              <a:lumMod val="40000"/>
              <a:lumOff val="6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Human: Hi, my name is Andy.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AI:  Hi Andy, it is nice to meet you. </a:t>
            </a:r>
          </a:p>
        </p:txBody>
      </p:sp>
      <p:sp>
        <p:nvSpPr>
          <p:cNvPr id="10" name="Rounded Rectangle 9">
            <a:extLst>
              <a:ext uri="{FF2B5EF4-FFF2-40B4-BE49-F238E27FC236}">
                <a16:creationId xmlns:a16="http://schemas.microsoft.com/office/drawing/2014/main" id="{3BAA9165-39FF-1853-C657-60FE90282478}"/>
              </a:ext>
            </a:extLst>
          </p:cNvPr>
          <p:cNvSpPr/>
          <p:nvPr/>
        </p:nvSpPr>
        <p:spPr>
          <a:xfrm>
            <a:off x="348276" y="5066846"/>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What is my name?</a:t>
            </a:r>
          </a:p>
        </p:txBody>
      </p:sp>
      <p:sp>
        <p:nvSpPr>
          <p:cNvPr id="11" name="Rounded Rectangle 10">
            <a:extLst>
              <a:ext uri="{FF2B5EF4-FFF2-40B4-BE49-F238E27FC236}">
                <a16:creationId xmlns:a16="http://schemas.microsoft.com/office/drawing/2014/main" id="{7FAF962C-1857-5458-2BD3-A662E0B6A515}"/>
              </a:ext>
            </a:extLst>
          </p:cNvPr>
          <p:cNvSpPr/>
          <p:nvPr/>
        </p:nvSpPr>
        <p:spPr>
          <a:xfrm>
            <a:off x="4190321" y="5066845"/>
            <a:ext cx="2465798"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You introduced yourself as Andy.</a:t>
            </a:r>
          </a:p>
        </p:txBody>
      </p:sp>
      <p:sp>
        <p:nvSpPr>
          <p:cNvPr id="12" name="Rounded Rectangle 11">
            <a:extLst>
              <a:ext uri="{FF2B5EF4-FFF2-40B4-BE49-F238E27FC236}">
                <a16:creationId xmlns:a16="http://schemas.microsoft.com/office/drawing/2014/main" id="{F590CCC9-53CE-82F5-A73D-29589BD5EBCA}"/>
              </a:ext>
            </a:extLst>
          </p:cNvPr>
          <p:cNvSpPr/>
          <p:nvPr/>
        </p:nvSpPr>
        <p:spPr>
          <a:xfrm>
            <a:off x="7346198" y="5066844"/>
            <a:ext cx="4529683" cy="1204645"/>
          </a:xfrm>
          <a:prstGeom prst="roundRect">
            <a:avLst/>
          </a:prstGeom>
          <a:solidFill>
            <a:srgbClr val="7CE8F4">
              <a:lumMod val="40000"/>
              <a:lumOff val="6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Human: Hi, my name is Andy.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AI:  Hi Andy, it is nice to meet you.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Human: What is my name?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AI: You introduced yourself as Andy</a:t>
            </a:r>
          </a:p>
        </p:txBody>
      </p:sp>
      <p:cxnSp>
        <p:nvCxnSpPr>
          <p:cNvPr id="13" name="Straight Connector 12">
            <a:extLst>
              <a:ext uri="{FF2B5EF4-FFF2-40B4-BE49-F238E27FC236}">
                <a16:creationId xmlns:a16="http://schemas.microsoft.com/office/drawing/2014/main" id="{BDFCA2BB-36DA-1317-620D-8DCF06005748}"/>
              </a:ext>
            </a:extLst>
          </p:cNvPr>
          <p:cNvCxnSpPr>
            <a:cxnSpLocks/>
          </p:cNvCxnSpPr>
          <p:nvPr/>
        </p:nvCxnSpPr>
        <p:spPr>
          <a:xfrm>
            <a:off x="489789" y="3131744"/>
            <a:ext cx="11386091" cy="0"/>
          </a:xfrm>
          <a:prstGeom prst="line">
            <a:avLst/>
          </a:prstGeom>
          <a:noFill/>
          <a:ln w="63500" cap="flat" cmpd="sng" algn="ctr">
            <a:solidFill>
              <a:srgbClr val="DF2A5D"/>
            </a:solidFill>
            <a:prstDash val="solid"/>
            <a:miter lim="800000"/>
          </a:ln>
          <a:effectLst/>
        </p:spPr>
      </p:cxnSp>
      <p:cxnSp>
        <p:nvCxnSpPr>
          <p:cNvPr id="14" name="Straight Connector 13">
            <a:extLst>
              <a:ext uri="{FF2B5EF4-FFF2-40B4-BE49-F238E27FC236}">
                <a16:creationId xmlns:a16="http://schemas.microsoft.com/office/drawing/2014/main" id="{82E9F19E-9BD6-4C69-39D7-6E633226C1E2}"/>
              </a:ext>
            </a:extLst>
          </p:cNvPr>
          <p:cNvCxnSpPr>
            <a:cxnSpLocks/>
          </p:cNvCxnSpPr>
          <p:nvPr/>
        </p:nvCxnSpPr>
        <p:spPr>
          <a:xfrm flipV="1">
            <a:off x="348276" y="4828558"/>
            <a:ext cx="11527604" cy="51119"/>
          </a:xfrm>
          <a:prstGeom prst="line">
            <a:avLst/>
          </a:prstGeom>
          <a:noFill/>
          <a:ln w="63500" cap="flat" cmpd="sng" algn="ctr">
            <a:solidFill>
              <a:srgbClr val="DF2A5D"/>
            </a:solidFill>
            <a:prstDash val="solid"/>
            <a:miter lim="800000"/>
          </a:ln>
          <a:effectLst/>
        </p:spPr>
      </p:cxnSp>
      <p:pic>
        <p:nvPicPr>
          <p:cNvPr id="16" name="Picture 15">
            <a:extLst>
              <a:ext uri="{FF2B5EF4-FFF2-40B4-BE49-F238E27FC236}">
                <a16:creationId xmlns:a16="http://schemas.microsoft.com/office/drawing/2014/main" id="{46F15AAE-1C0A-3880-2F92-0F5FBBCFDBC4}"/>
              </a:ext>
            </a:extLst>
          </p:cNvPr>
          <p:cNvPicPr>
            <a:picLocks noChangeAspect="1"/>
          </p:cNvPicPr>
          <p:nvPr/>
        </p:nvPicPr>
        <p:blipFill>
          <a:blip r:embed="rId4"/>
          <a:stretch>
            <a:fillRect/>
          </a:stretch>
        </p:blipFill>
        <p:spPr>
          <a:xfrm>
            <a:off x="8823778" y="1583747"/>
            <a:ext cx="1242993" cy="1242993"/>
          </a:xfrm>
          <a:prstGeom prst="rect">
            <a:avLst/>
          </a:prstGeom>
        </p:spPr>
      </p:pic>
      <p:pic>
        <p:nvPicPr>
          <p:cNvPr id="4" name="Picture 7">
            <a:extLst>
              <a:ext uri="{FF2B5EF4-FFF2-40B4-BE49-F238E27FC236}">
                <a16:creationId xmlns:a16="http://schemas.microsoft.com/office/drawing/2014/main" id="{2876AAAA-21EE-DBFE-6B1E-7B4D9BABD823}"/>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1046" b="1275"/>
          <a:stretch/>
        </p:blipFill>
        <p:spPr>
          <a:xfrm>
            <a:off x="4721237" y="1604726"/>
            <a:ext cx="1403966" cy="14007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30351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6</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From Q&amp;A to Conversation</a:t>
            </a:r>
          </a:p>
        </p:txBody>
      </p:sp>
    </p:spTree>
    <p:extLst>
      <p:ext uri="{BB962C8B-B14F-4D97-AF65-F5344CB8AC3E}">
        <p14:creationId xmlns:p14="http://schemas.microsoft.com/office/powerpoint/2010/main" val="1291583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Review: Chat Models</a:t>
            </a:r>
          </a:p>
        </p:txBody>
      </p:sp>
      <p:sp>
        <p:nvSpPr>
          <p:cNvPr id="4" name="Content Placeholder 3">
            <a:extLst>
              <a:ext uri="{FF2B5EF4-FFF2-40B4-BE49-F238E27FC236}">
                <a16:creationId xmlns:a16="http://schemas.microsoft.com/office/drawing/2014/main" id="{0E5B8E16-5803-9B1F-FD9D-E7B429EE86B2}"/>
              </a:ext>
            </a:extLst>
          </p:cNvPr>
          <p:cNvSpPr>
            <a:spLocks noGrp="1"/>
          </p:cNvSpPr>
          <p:nvPr>
            <p:ph idx="2"/>
          </p:nvPr>
        </p:nvSpPr>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Several LLMs are tuned and optimized for </a:t>
            </a:r>
            <a:r>
              <a:rPr kumimoji="0" lang="en-US" sz="2800" b="0" i="0" u="none" strike="noStrike" kern="1200" cap="none" spc="0" normalizeH="0" baseline="0" noProof="0" dirty="0">
                <a:ln>
                  <a:noFill/>
                </a:ln>
                <a:solidFill>
                  <a:srgbClr val="DF2A5D"/>
                </a:solidFill>
                <a:effectLst/>
                <a:uLnTx/>
                <a:uFillTx/>
                <a:latin typeface="Amazon Ember Medium"/>
              </a:rPr>
              <a:t>conversations</a:t>
            </a:r>
            <a:endPar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Instruction-tuned and chat models</a:t>
            </a: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Can take a sequence of messages as inputs </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System messages</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rPr>
              <a:t>Past interactions (Human and AI messages)</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err="1">
                <a:ln>
                  <a:noFill/>
                </a:ln>
                <a:solidFill>
                  <a:srgbClr val="232F3E"/>
                </a:solidFill>
                <a:effectLst/>
                <a:uLnTx/>
                <a:uFillTx/>
                <a:latin typeface="Amazon Ember Light" panose="020B0403020204020204" pitchFamily="34" charset="0"/>
              </a:rPr>
              <a:t>LangChain</a:t>
            </a: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 allows you to load messages from several applications</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7C5AED"/>
                </a:solidFill>
                <a:effectLst/>
                <a:uLnTx/>
                <a:uFillTx/>
                <a:latin typeface="Amazon Ember Medium"/>
              </a:rPr>
              <a:t>Gmail, Slack, iMessage, </a:t>
            </a:r>
            <a:r>
              <a:rPr kumimoji="0" lang="en-US" sz="2400" b="0" i="0" u="none" strike="noStrike" kern="1200" cap="none" spc="0" normalizeH="0" baseline="0" noProof="0" dirty="0" err="1">
                <a:ln>
                  <a:noFill/>
                </a:ln>
                <a:solidFill>
                  <a:srgbClr val="7C5AED"/>
                </a:solidFill>
                <a:effectLst/>
                <a:uLnTx/>
                <a:uFillTx/>
                <a:latin typeface="Amazon Ember Medium"/>
              </a:rPr>
              <a:t>Whatsapp</a:t>
            </a:r>
            <a:r>
              <a:rPr kumimoji="0" lang="en-US" sz="2400" b="0" i="0" u="none" strike="noStrike" kern="1200" cap="none" spc="0" normalizeH="0" baseline="0" noProof="0" dirty="0">
                <a:ln>
                  <a:noFill/>
                </a:ln>
                <a:solidFill>
                  <a:srgbClr val="7C5AED"/>
                </a:solidFill>
                <a:effectLst/>
                <a:uLnTx/>
                <a:uFillTx/>
                <a:latin typeface="Amazon Ember Medium"/>
              </a:rPr>
              <a:t>, </a:t>
            </a:r>
            <a:r>
              <a:rPr kumimoji="0" lang="en-US" sz="2400" b="0" i="0" u="none" strike="noStrike" kern="1200" cap="none" spc="0" normalizeH="0" baseline="0" noProof="0" dirty="0" err="1">
                <a:ln>
                  <a:noFill/>
                </a:ln>
                <a:solidFill>
                  <a:srgbClr val="7C5AED"/>
                </a:solidFill>
                <a:effectLst/>
                <a:uLnTx/>
                <a:uFillTx/>
                <a:latin typeface="Amazon Ember Medium"/>
              </a:rPr>
              <a:t>etc</a:t>
            </a:r>
            <a:endParaRPr kumimoji="0" lang="en-US" sz="2400" b="0" i="0" u="none" strike="noStrike" kern="1200" cap="none" spc="0" normalizeH="0" baseline="0" noProof="0" dirty="0">
              <a:ln>
                <a:noFill/>
              </a:ln>
              <a:solidFill>
                <a:srgbClr val="7C5AED"/>
              </a:solidFill>
              <a:effectLst/>
              <a:uLnTx/>
              <a:uFillTx/>
              <a:latin typeface="Amazon Ember Medium"/>
            </a:endParaRP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155534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F7885-178B-5F82-4044-C3F90E7CE840}"/>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AA3A23AB-DF4E-CE9C-393D-E2041862CDA4}"/>
              </a:ext>
            </a:extLst>
          </p:cNvPr>
          <p:cNvSpPr>
            <a:spLocks noGrp="1"/>
          </p:cNvSpPr>
          <p:nvPr>
            <p:ph type="title" idx="1"/>
          </p:nvPr>
        </p:nvSpPr>
        <p:spPr/>
        <p:txBody>
          <a:bodyPr/>
          <a:lstStyle/>
          <a:p>
            <a:r>
              <a:rPr lang="en-US" dirty="0"/>
              <a:t>Examples of chat models</a:t>
            </a:r>
          </a:p>
        </p:txBody>
      </p:sp>
      <p:sp>
        <p:nvSpPr>
          <p:cNvPr id="4" name="Content Placeholder 3">
            <a:extLst>
              <a:ext uri="{FF2B5EF4-FFF2-40B4-BE49-F238E27FC236}">
                <a16:creationId xmlns:a16="http://schemas.microsoft.com/office/drawing/2014/main" id="{5B194009-6294-5D74-E249-5E91DBBED746}"/>
              </a:ext>
            </a:extLst>
          </p:cNvPr>
          <p:cNvSpPr>
            <a:spLocks noGrp="1"/>
          </p:cNvSpPr>
          <p:nvPr>
            <p:ph idx="2"/>
          </p:nvPr>
        </p:nvSpPr>
        <p:spPr>
          <a:xfrm>
            <a:off x="365760" y="1165536"/>
            <a:ext cx="11466576" cy="1187520"/>
          </a:xfrm>
        </p:spPr>
        <p:txBody>
          <a:bodyPr/>
          <a:lstStyle/>
          <a:p>
            <a:r>
              <a:rPr lang="en-US" dirty="0"/>
              <a:t>Amazon Bedrock offers a suite of chat-optimized models</a:t>
            </a:r>
          </a:p>
          <a:p>
            <a:pPr lvl="1"/>
            <a:r>
              <a:rPr lang="en-US" dirty="0"/>
              <a:t>Refer to model cards for specific model details</a:t>
            </a:r>
          </a:p>
          <a:p>
            <a:pPr lvl="1"/>
            <a:endParaRPr lang="en-US" dirty="0"/>
          </a:p>
          <a:p>
            <a:endParaRPr lang="en-US" dirty="0"/>
          </a:p>
        </p:txBody>
      </p:sp>
      <p:sp>
        <p:nvSpPr>
          <p:cNvPr id="6" name="Rectangle 5">
            <a:extLst>
              <a:ext uri="{FF2B5EF4-FFF2-40B4-BE49-F238E27FC236}">
                <a16:creationId xmlns:a16="http://schemas.microsoft.com/office/drawing/2014/main" id="{38A66017-B4C5-E7D4-B0F6-3418AC319AF3}"/>
              </a:ext>
            </a:extLst>
          </p:cNvPr>
          <p:cNvSpPr/>
          <p:nvPr/>
        </p:nvSpPr>
        <p:spPr>
          <a:xfrm>
            <a:off x="1127148" y="3802488"/>
            <a:ext cx="10220556" cy="2249214"/>
          </a:xfrm>
          <a:prstGeom prst="rect">
            <a:avLst/>
          </a:prstGeom>
          <a:solidFill>
            <a:srgbClr val="232F3E">
              <a:lumMod val="10000"/>
              <a:lumOff val="90000"/>
            </a:srgbClr>
          </a:solidFill>
          <a:ln w="12700" cap="sq" cmpd="sng" algn="ctr">
            <a:solidFill>
              <a:srgbClr val="232F3E"/>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8" name="TextBox 7">
            <a:extLst>
              <a:ext uri="{FF2B5EF4-FFF2-40B4-BE49-F238E27FC236}">
                <a16:creationId xmlns:a16="http://schemas.microsoft.com/office/drawing/2014/main" id="{C87900FA-2366-FDB9-1492-5BC6C31F03FC}"/>
              </a:ext>
            </a:extLst>
          </p:cNvPr>
          <p:cNvSpPr txBox="1"/>
          <p:nvPr/>
        </p:nvSpPr>
        <p:spPr>
          <a:xfrm>
            <a:off x="1610974" y="5473054"/>
            <a:ext cx="994367" cy="369332"/>
          </a:xfrm>
          <a:prstGeom prst="rect">
            <a:avLst/>
          </a:prstGeom>
          <a:noFill/>
          <a:ln>
            <a:noFill/>
          </a:ln>
          <a:effectLst/>
        </p:spPr>
        <p:txBody>
          <a:bodyPr wrap="square">
            <a:spAutoFit/>
          </a:bodyPr>
          <a:lstStyle/>
          <a:p>
            <a:pPr algn="ctr"/>
            <a:r>
              <a:rPr lang="en-US" dirty="0">
                <a:solidFill>
                  <a:srgbClr val="232F3E"/>
                </a:solidFill>
                <a:latin typeface="Amazon Ember Medium"/>
              </a:rPr>
              <a:t>Nova</a:t>
            </a:r>
          </a:p>
        </p:txBody>
      </p:sp>
      <p:cxnSp>
        <p:nvCxnSpPr>
          <p:cNvPr id="9" name="Straight Connector 8">
            <a:extLst>
              <a:ext uri="{FF2B5EF4-FFF2-40B4-BE49-F238E27FC236}">
                <a16:creationId xmlns:a16="http://schemas.microsoft.com/office/drawing/2014/main" id="{913FF3E8-73C3-FFC2-550C-DA3FE71E8590}"/>
              </a:ext>
            </a:extLst>
          </p:cNvPr>
          <p:cNvCxnSpPr>
            <a:cxnSpLocks/>
          </p:cNvCxnSpPr>
          <p:nvPr/>
        </p:nvCxnSpPr>
        <p:spPr>
          <a:xfrm>
            <a:off x="3128944" y="3911934"/>
            <a:ext cx="0" cy="2027274"/>
          </a:xfrm>
          <a:prstGeom prst="line">
            <a:avLst/>
          </a:prstGeom>
          <a:noFill/>
          <a:ln w="19050" cap="flat" cmpd="sng" algn="ctr">
            <a:solidFill>
              <a:srgbClr val="232F3E"/>
            </a:solidFill>
            <a:prstDash val="sysDash"/>
            <a:miter lim="800000"/>
          </a:ln>
          <a:effectLst/>
        </p:spPr>
      </p:cxnSp>
      <p:grpSp>
        <p:nvGrpSpPr>
          <p:cNvPr id="10" name="Graphic 250">
            <a:extLst>
              <a:ext uri="{FF2B5EF4-FFF2-40B4-BE49-F238E27FC236}">
                <a16:creationId xmlns:a16="http://schemas.microsoft.com/office/drawing/2014/main" id="{7A33C83E-8A75-1B1B-5623-E9700C355A4E}"/>
              </a:ext>
              <a:ext uri="{C183D7F6-B498-43B3-948B-1728B52AA6E4}">
                <adec:decorative xmlns:adec="http://schemas.microsoft.com/office/drawing/2017/decorative" val="1"/>
              </a:ext>
            </a:extLst>
          </p:cNvPr>
          <p:cNvGrpSpPr>
            <a:grpSpLocks noChangeAspect="1"/>
          </p:cNvGrpSpPr>
          <p:nvPr/>
        </p:nvGrpSpPr>
        <p:grpSpPr>
          <a:xfrm>
            <a:off x="1480757" y="4390475"/>
            <a:ext cx="1254801" cy="1254801"/>
            <a:chOff x="9704553" y="322847"/>
            <a:chExt cx="643689" cy="643689"/>
          </a:xfrm>
          <a:effectLst/>
        </p:grpSpPr>
        <p:sp>
          <p:nvSpPr>
            <p:cNvPr id="11" name="Freeform: Shape 20">
              <a:extLst>
                <a:ext uri="{FF2B5EF4-FFF2-40B4-BE49-F238E27FC236}">
                  <a16:creationId xmlns:a16="http://schemas.microsoft.com/office/drawing/2014/main" id="{81FD9667-5264-B0B1-6DB1-92E33BBB8605}"/>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2" name="Freeform: Shape 21">
              <a:extLst>
                <a:ext uri="{FF2B5EF4-FFF2-40B4-BE49-F238E27FC236}">
                  <a16:creationId xmlns:a16="http://schemas.microsoft.com/office/drawing/2014/main" id="{E7D377EA-D7E7-6661-705B-D17DCDD358D4}"/>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3" name="Freeform: Shape 22">
              <a:extLst>
                <a:ext uri="{FF2B5EF4-FFF2-40B4-BE49-F238E27FC236}">
                  <a16:creationId xmlns:a16="http://schemas.microsoft.com/office/drawing/2014/main" id="{C6A2AD06-3C20-2FF6-0B88-466BEE95F3AE}"/>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4" name="Freeform: Shape 23">
              <a:extLst>
                <a:ext uri="{FF2B5EF4-FFF2-40B4-BE49-F238E27FC236}">
                  <a16:creationId xmlns:a16="http://schemas.microsoft.com/office/drawing/2014/main" id="{6E4832DF-80E0-5E4F-5BF8-4E0AF2C9B00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5" name="Freeform: Shape 24">
              <a:extLst>
                <a:ext uri="{FF2B5EF4-FFF2-40B4-BE49-F238E27FC236}">
                  <a16:creationId xmlns:a16="http://schemas.microsoft.com/office/drawing/2014/main" id="{F243EF74-237C-714C-2FD3-56039F845289}"/>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6" name="Freeform: Shape 25">
              <a:extLst>
                <a:ext uri="{FF2B5EF4-FFF2-40B4-BE49-F238E27FC236}">
                  <a16:creationId xmlns:a16="http://schemas.microsoft.com/office/drawing/2014/main" id="{037B8002-8018-BB1D-2255-C67E05795249}"/>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7" name="Freeform: Shape 26">
              <a:extLst>
                <a:ext uri="{FF2B5EF4-FFF2-40B4-BE49-F238E27FC236}">
                  <a16:creationId xmlns:a16="http://schemas.microsoft.com/office/drawing/2014/main" id="{A5F19283-51D5-7F0A-0351-8CF2ED49E981}"/>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8" name="Freeform: Shape 240">
              <a:extLst>
                <a:ext uri="{FF2B5EF4-FFF2-40B4-BE49-F238E27FC236}">
                  <a16:creationId xmlns:a16="http://schemas.microsoft.com/office/drawing/2014/main" id="{2D14DB24-43BF-E524-07E7-B915DE39F5C4}"/>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9" name="Freeform: Shape 28">
              <a:extLst>
                <a:ext uri="{FF2B5EF4-FFF2-40B4-BE49-F238E27FC236}">
                  <a16:creationId xmlns:a16="http://schemas.microsoft.com/office/drawing/2014/main" id="{C574A4D4-520B-0234-5AB8-5C67A8CFDCC4}"/>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0" name="Freeform: Shape 29">
              <a:extLst>
                <a:ext uri="{FF2B5EF4-FFF2-40B4-BE49-F238E27FC236}">
                  <a16:creationId xmlns:a16="http://schemas.microsoft.com/office/drawing/2014/main" id="{BBD2F381-387E-5E27-61F1-E33503020D1D}"/>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1" name="Freeform: Shape 30">
              <a:extLst>
                <a:ext uri="{FF2B5EF4-FFF2-40B4-BE49-F238E27FC236}">
                  <a16:creationId xmlns:a16="http://schemas.microsoft.com/office/drawing/2014/main" id="{F6977B4F-D069-36BA-FEE2-9F8E1DE038B0}"/>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2" name="Freeform: Shape 31">
              <a:extLst>
                <a:ext uri="{FF2B5EF4-FFF2-40B4-BE49-F238E27FC236}">
                  <a16:creationId xmlns:a16="http://schemas.microsoft.com/office/drawing/2014/main" id="{0F2B66F3-AA91-1E2C-8675-5C2EE1835725}"/>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3" name="Freeform: Shape 32">
              <a:extLst>
                <a:ext uri="{FF2B5EF4-FFF2-40B4-BE49-F238E27FC236}">
                  <a16:creationId xmlns:a16="http://schemas.microsoft.com/office/drawing/2014/main" id="{A41BEA84-F44F-1559-F1A0-FAE63EA78854}"/>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4" name="Freeform: Shape 33">
              <a:extLst>
                <a:ext uri="{FF2B5EF4-FFF2-40B4-BE49-F238E27FC236}">
                  <a16:creationId xmlns:a16="http://schemas.microsoft.com/office/drawing/2014/main" id="{8098088C-63D7-4290-BB35-64AC9468F03B}"/>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5" name="Freeform: Shape 34">
              <a:extLst>
                <a:ext uri="{FF2B5EF4-FFF2-40B4-BE49-F238E27FC236}">
                  <a16:creationId xmlns:a16="http://schemas.microsoft.com/office/drawing/2014/main" id="{19FA93AD-1220-A722-B36F-450584CE6702}"/>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6" name="Freeform: Shape 35">
              <a:extLst>
                <a:ext uri="{FF2B5EF4-FFF2-40B4-BE49-F238E27FC236}">
                  <a16:creationId xmlns:a16="http://schemas.microsoft.com/office/drawing/2014/main" id="{866213B3-4788-E545-EE59-BFDA82332216}"/>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7" name="Freeform: Shape 36">
              <a:extLst>
                <a:ext uri="{FF2B5EF4-FFF2-40B4-BE49-F238E27FC236}">
                  <a16:creationId xmlns:a16="http://schemas.microsoft.com/office/drawing/2014/main" id="{6E95A09F-BCAC-D046-05E6-50AFFDCF2EA5}"/>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8" name="Freeform: Shape 37">
              <a:extLst>
                <a:ext uri="{FF2B5EF4-FFF2-40B4-BE49-F238E27FC236}">
                  <a16:creationId xmlns:a16="http://schemas.microsoft.com/office/drawing/2014/main" id="{2293C399-9C53-3CC8-D395-E769950F9698}"/>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29" name="Freeform: Shape 38">
              <a:extLst>
                <a:ext uri="{FF2B5EF4-FFF2-40B4-BE49-F238E27FC236}">
                  <a16:creationId xmlns:a16="http://schemas.microsoft.com/office/drawing/2014/main" id="{1FA27F0F-40BA-90A7-2ABE-E7F0D27AABE0}"/>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30" name="Freeform: Shape 39">
              <a:extLst>
                <a:ext uri="{FF2B5EF4-FFF2-40B4-BE49-F238E27FC236}">
                  <a16:creationId xmlns:a16="http://schemas.microsoft.com/office/drawing/2014/main" id="{825D01C9-9717-65B1-9C64-E3F765F5C19A}"/>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grpSp>
      <p:grpSp>
        <p:nvGrpSpPr>
          <p:cNvPr id="31" name="Group 30">
            <a:extLst>
              <a:ext uri="{FF2B5EF4-FFF2-40B4-BE49-F238E27FC236}">
                <a16:creationId xmlns:a16="http://schemas.microsoft.com/office/drawing/2014/main" id="{07F3ED5A-5AEC-188C-8ADF-E58E8D01495C}"/>
              </a:ext>
            </a:extLst>
          </p:cNvPr>
          <p:cNvGrpSpPr/>
          <p:nvPr/>
        </p:nvGrpSpPr>
        <p:grpSpPr>
          <a:xfrm>
            <a:off x="3722760" y="4348681"/>
            <a:ext cx="1254801" cy="1531590"/>
            <a:chOff x="5425776" y="4310796"/>
            <a:chExt cx="1254801" cy="1531590"/>
          </a:xfrm>
        </p:grpSpPr>
        <p:sp>
          <p:nvSpPr>
            <p:cNvPr id="32" name="TextBox 31">
              <a:extLst>
                <a:ext uri="{FF2B5EF4-FFF2-40B4-BE49-F238E27FC236}">
                  <a16:creationId xmlns:a16="http://schemas.microsoft.com/office/drawing/2014/main" id="{1D9B28F7-AB5F-DC6F-1C85-33EC15027BCA}"/>
                </a:ext>
              </a:extLst>
            </p:cNvPr>
            <p:cNvSpPr txBox="1"/>
            <p:nvPr/>
          </p:nvSpPr>
          <p:spPr>
            <a:xfrm>
              <a:off x="5497769" y="5473054"/>
              <a:ext cx="1110814" cy="369332"/>
            </a:xfrm>
            <a:prstGeom prst="rect">
              <a:avLst/>
            </a:prstGeom>
            <a:noFill/>
            <a:ln>
              <a:noFill/>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rPr>
                <a:t>Claude</a:t>
              </a:r>
            </a:p>
          </p:txBody>
        </p:sp>
        <p:grpSp>
          <p:nvGrpSpPr>
            <p:cNvPr id="34" name="Graphic 250">
              <a:extLst>
                <a:ext uri="{FF2B5EF4-FFF2-40B4-BE49-F238E27FC236}">
                  <a16:creationId xmlns:a16="http://schemas.microsoft.com/office/drawing/2014/main" id="{849F4CFA-6DA4-2DDE-BD77-5F02C0706E6B}"/>
                </a:ext>
                <a:ext uri="{C183D7F6-B498-43B3-948B-1728B52AA6E4}">
                  <adec:decorative xmlns:adec="http://schemas.microsoft.com/office/drawing/2017/decorative" val="1"/>
                </a:ext>
              </a:extLst>
            </p:cNvPr>
            <p:cNvGrpSpPr>
              <a:grpSpLocks noChangeAspect="1"/>
            </p:cNvGrpSpPr>
            <p:nvPr/>
          </p:nvGrpSpPr>
          <p:grpSpPr>
            <a:xfrm>
              <a:off x="5425776" y="4310796"/>
              <a:ext cx="1254801" cy="1254801"/>
              <a:chOff x="9704553" y="322847"/>
              <a:chExt cx="643689" cy="643689"/>
            </a:xfrm>
            <a:effectLst/>
          </p:grpSpPr>
          <p:sp>
            <p:nvSpPr>
              <p:cNvPr id="35" name="Freeform: Shape 20">
                <a:extLst>
                  <a:ext uri="{FF2B5EF4-FFF2-40B4-BE49-F238E27FC236}">
                    <a16:creationId xmlns:a16="http://schemas.microsoft.com/office/drawing/2014/main" id="{2CD5D5F1-0F62-A513-A0EC-9D5FE0183A25}"/>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36" name="Freeform: Shape 21">
                <a:extLst>
                  <a:ext uri="{FF2B5EF4-FFF2-40B4-BE49-F238E27FC236}">
                    <a16:creationId xmlns:a16="http://schemas.microsoft.com/office/drawing/2014/main" id="{6D5B56E3-FF95-0EEF-2853-9464B746A3FC}"/>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37" name="Freeform: Shape 22">
                <a:extLst>
                  <a:ext uri="{FF2B5EF4-FFF2-40B4-BE49-F238E27FC236}">
                    <a16:creationId xmlns:a16="http://schemas.microsoft.com/office/drawing/2014/main" id="{41C2BDD2-97B0-85C8-87A4-4F0B9837DFC5}"/>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38" name="Freeform: Shape 23">
                <a:extLst>
                  <a:ext uri="{FF2B5EF4-FFF2-40B4-BE49-F238E27FC236}">
                    <a16:creationId xmlns:a16="http://schemas.microsoft.com/office/drawing/2014/main" id="{9CE8951F-EB6C-5917-6AC7-644F47C26E2F}"/>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39" name="Freeform: Shape 24">
                <a:extLst>
                  <a:ext uri="{FF2B5EF4-FFF2-40B4-BE49-F238E27FC236}">
                    <a16:creationId xmlns:a16="http://schemas.microsoft.com/office/drawing/2014/main" id="{76D7EE46-C720-4FB0-044F-AB7364BAC814}"/>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0" name="Freeform: Shape 25">
                <a:extLst>
                  <a:ext uri="{FF2B5EF4-FFF2-40B4-BE49-F238E27FC236}">
                    <a16:creationId xmlns:a16="http://schemas.microsoft.com/office/drawing/2014/main" id="{606E9C4A-431A-612E-5C9A-0CE4567F3934}"/>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1" name="Freeform: Shape 26">
                <a:extLst>
                  <a:ext uri="{FF2B5EF4-FFF2-40B4-BE49-F238E27FC236}">
                    <a16:creationId xmlns:a16="http://schemas.microsoft.com/office/drawing/2014/main" id="{C70262A9-F5C1-FD6A-BF8F-14AD9B68F86F}"/>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2" name="Freeform: Shape 282">
                <a:extLst>
                  <a:ext uri="{FF2B5EF4-FFF2-40B4-BE49-F238E27FC236}">
                    <a16:creationId xmlns:a16="http://schemas.microsoft.com/office/drawing/2014/main" id="{6D59A955-E53F-1E33-693C-6371DDBDA1BA}"/>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3" name="Freeform: Shape 28">
                <a:extLst>
                  <a:ext uri="{FF2B5EF4-FFF2-40B4-BE49-F238E27FC236}">
                    <a16:creationId xmlns:a16="http://schemas.microsoft.com/office/drawing/2014/main" id="{AFA6A821-7FAC-3614-C242-AE54DC8ED351}"/>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4" name="Freeform: Shape 29">
                <a:extLst>
                  <a:ext uri="{FF2B5EF4-FFF2-40B4-BE49-F238E27FC236}">
                    <a16:creationId xmlns:a16="http://schemas.microsoft.com/office/drawing/2014/main" id="{B7862433-65DC-21FD-3078-5799A496702D}"/>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5" name="Freeform: Shape 30">
                <a:extLst>
                  <a:ext uri="{FF2B5EF4-FFF2-40B4-BE49-F238E27FC236}">
                    <a16:creationId xmlns:a16="http://schemas.microsoft.com/office/drawing/2014/main" id="{EA575B05-7023-BA33-70D3-25C496419FA8}"/>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6" name="Freeform: Shape 31">
                <a:extLst>
                  <a:ext uri="{FF2B5EF4-FFF2-40B4-BE49-F238E27FC236}">
                    <a16:creationId xmlns:a16="http://schemas.microsoft.com/office/drawing/2014/main" id="{53588724-4F3B-D745-D4AC-8DC44A4EF31E}"/>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7" name="Freeform: Shape 32">
                <a:extLst>
                  <a:ext uri="{FF2B5EF4-FFF2-40B4-BE49-F238E27FC236}">
                    <a16:creationId xmlns:a16="http://schemas.microsoft.com/office/drawing/2014/main" id="{801347C1-AB27-8742-E3F6-E743EB8B71D7}"/>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8" name="Freeform: Shape 33">
                <a:extLst>
                  <a:ext uri="{FF2B5EF4-FFF2-40B4-BE49-F238E27FC236}">
                    <a16:creationId xmlns:a16="http://schemas.microsoft.com/office/drawing/2014/main" id="{819B634C-23C0-48EB-09D1-6CE01E4CA389}"/>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49" name="Freeform: Shape 34">
                <a:extLst>
                  <a:ext uri="{FF2B5EF4-FFF2-40B4-BE49-F238E27FC236}">
                    <a16:creationId xmlns:a16="http://schemas.microsoft.com/office/drawing/2014/main" id="{F151AE72-47F7-02E7-80B8-38A831AADD28}"/>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0" name="Freeform: Shape 35">
                <a:extLst>
                  <a:ext uri="{FF2B5EF4-FFF2-40B4-BE49-F238E27FC236}">
                    <a16:creationId xmlns:a16="http://schemas.microsoft.com/office/drawing/2014/main" id="{E86E9115-569A-0B20-8419-C664DCADD252}"/>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1" name="Freeform: Shape 36">
                <a:extLst>
                  <a:ext uri="{FF2B5EF4-FFF2-40B4-BE49-F238E27FC236}">
                    <a16:creationId xmlns:a16="http://schemas.microsoft.com/office/drawing/2014/main" id="{00293996-CFE4-5D2E-6FF7-F401B08C996B}"/>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2" name="Freeform: Shape 37">
                <a:extLst>
                  <a:ext uri="{FF2B5EF4-FFF2-40B4-BE49-F238E27FC236}">
                    <a16:creationId xmlns:a16="http://schemas.microsoft.com/office/drawing/2014/main" id="{8A20D3A2-9D2A-A851-82A6-82FE5F9DF40F}"/>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3" name="Freeform: Shape 38">
                <a:extLst>
                  <a:ext uri="{FF2B5EF4-FFF2-40B4-BE49-F238E27FC236}">
                    <a16:creationId xmlns:a16="http://schemas.microsoft.com/office/drawing/2014/main" id="{0F4A5370-D6A6-D898-C30E-DB8BFC91BCE2}"/>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4" name="Freeform: Shape 39">
                <a:extLst>
                  <a:ext uri="{FF2B5EF4-FFF2-40B4-BE49-F238E27FC236}">
                    <a16:creationId xmlns:a16="http://schemas.microsoft.com/office/drawing/2014/main" id="{7581FC6D-3636-46FE-2634-60010A3473E7}"/>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grpSp>
      </p:grpSp>
      <p:grpSp>
        <p:nvGrpSpPr>
          <p:cNvPr id="56" name="Graphic 250">
            <a:extLst>
              <a:ext uri="{FF2B5EF4-FFF2-40B4-BE49-F238E27FC236}">
                <a16:creationId xmlns:a16="http://schemas.microsoft.com/office/drawing/2014/main" id="{5AF0DBC6-B1F3-E2C3-2872-45F04B6A81DF}"/>
              </a:ext>
              <a:ext uri="{C183D7F6-B498-43B3-948B-1728B52AA6E4}">
                <adec:decorative xmlns:adec="http://schemas.microsoft.com/office/drawing/2017/decorative" val="1"/>
              </a:ext>
            </a:extLst>
          </p:cNvPr>
          <p:cNvGrpSpPr>
            <a:grpSpLocks noChangeAspect="1"/>
          </p:cNvGrpSpPr>
          <p:nvPr/>
        </p:nvGrpSpPr>
        <p:grpSpPr>
          <a:xfrm>
            <a:off x="5580540" y="4362261"/>
            <a:ext cx="1254801" cy="1254801"/>
            <a:chOff x="9704553" y="322847"/>
            <a:chExt cx="643689" cy="643689"/>
          </a:xfrm>
          <a:effectLst/>
        </p:grpSpPr>
        <p:sp>
          <p:nvSpPr>
            <p:cNvPr id="57" name="Freeform: Shape 20">
              <a:extLst>
                <a:ext uri="{FF2B5EF4-FFF2-40B4-BE49-F238E27FC236}">
                  <a16:creationId xmlns:a16="http://schemas.microsoft.com/office/drawing/2014/main" id="{9FC8D875-9117-331C-C974-8F022148FCC3}"/>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8" name="Freeform: Shape 21">
              <a:extLst>
                <a:ext uri="{FF2B5EF4-FFF2-40B4-BE49-F238E27FC236}">
                  <a16:creationId xmlns:a16="http://schemas.microsoft.com/office/drawing/2014/main" id="{67A7A5EB-6AB8-8723-4AAD-29C00CEACCF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59" name="Freeform: Shape 22">
              <a:extLst>
                <a:ext uri="{FF2B5EF4-FFF2-40B4-BE49-F238E27FC236}">
                  <a16:creationId xmlns:a16="http://schemas.microsoft.com/office/drawing/2014/main" id="{A7492ADB-463B-3B0F-F6B5-60BD39EC3245}"/>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0" name="Freeform: Shape 23">
              <a:extLst>
                <a:ext uri="{FF2B5EF4-FFF2-40B4-BE49-F238E27FC236}">
                  <a16:creationId xmlns:a16="http://schemas.microsoft.com/office/drawing/2014/main" id="{B95FCAA5-1E8D-A2B3-4B10-30285AC0F850}"/>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1" name="Freeform: Shape 24">
              <a:extLst>
                <a:ext uri="{FF2B5EF4-FFF2-40B4-BE49-F238E27FC236}">
                  <a16:creationId xmlns:a16="http://schemas.microsoft.com/office/drawing/2014/main" id="{1170D3B5-27BA-CF72-95E1-9989D62627EA}"/>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2" name="Freeform: Shape 25">
              <a:extLst>
                <a:ext uri="{FF2B5EF4-FFF2-40B4-BE49-F238E27FC236}">
                  <a16:creationId xmlns:a16="http://schemas.microsoft.com/office/drawing/2014/main" id="{0FA6967B-374F-74A4-8F07-97B5C2997FB5}"/>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3" name="Freeform: Shape 26">
              <a:extLst>
                <a:ext uri="{FF2B5EF4-FFF2-40B4-BE49-F238E27FC236}">
                  <a16:creationId xmlns:a16="http://schemas.microsoft.com/office/drawing/2014/main" id="{E3D76FCA-E2DA-C69E-8C36-CBA0F542DBED}"/>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4" name="Freeform: Shape 240">
              <a:extLst>
                <a:ext uri="{FF2B5EF4-FFF2-40B4-BE49-F238E27FC236}">
                  <a16:creationId xmlns:a16="http://schemas.microsoft.com/office/drawing/2014/main" id="{31ED3779-3BAF-9F23-DDF8-BFC656EEE8EF}"/>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5" name="Freeform: Shape 28">
              <a:extLst>
                <a:ext uri="{FF2B5EF4-FFF2-40B4-BE49-F238E27FC236}">
                  <a16:creationId xmlns:a16="http://schemas.microsoft.com/office/drawing/2014/main" id="{BC896009-78D4-2949-7925-0170EFDB4993}"/>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6" name="Freeform: Shape 29">
              <a:extLst>
                <a:ext uri="{FF2B5EF4-FFF2-40B4-BE49-F238E27FC236}">
                  <a16:creationId xmlns:a16="http://schemas.microsoft.com/office/drawing/2014/main" id="{89D4F48D-92F3-4AA1-CAF4-6CF1D5A45DD2}"/>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7" name="Freeform: Shape 30">
              <a:extLst>
                <a:ext uri="{FF2B5EF4-FFF2-40B4-BE49-F238E27FC236}">
                  <a16:creationId xmlns:a16="http://schemas.microsoft.com/office/drawing/2014/main" id="{69BB5079-30A8-D86B-D863-9BCED59C21F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8" name="Freeform: Shape 31">
              <a:extLst>
                <a:ext uri="{FF2B5EF4-FFF2-40B4-BE49-F238E27FC236}">
                  <a16:creationId xmlns:a16="http://schemas.microsoft.com/office/drawing/2014/main" id="{BB3D7359-49AC-ED31-1221-EB0C7EB54F51}"/>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69" name="Freeform: Shape 32">
              <a:extLst>
                <a:ext uri="{FF2B5EF4-FFF2-40B4-BE49-F238E27FC236}">
                  <a16:creationId xmlns:a16="http://schemas.microsoft.com/office/drawing/2014/main" id="{2E58DA39-4E39-94AE-5625-656B5AA7E9A5}"/>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0" name="Freeform: Shape 33">
              <a:extLst>
                <a:ext uri="{FF2B5EF4-FFF2-40B4-BE49-F238E27FC236}">
                  <a16:creationId xmlns:a16="http://schemas.microsoft.com/office/drawing/2014/main" id="{2E39AE01-568A-2175-4818-D240D1F6A01A}"/>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1" name="Freeform: Shape 34">
              <a:extLst>
                <a:ext uri="{FF2B5EF4-FFF2-40B4-BE49-F238E27FC236}">
                  <a16:creationId xmlns:a16="http://schemas.microsoft.com/office/drawing/2014/main" id="{14408C09-4427-58CB-DB19-D5CB14BF9BE8}"/>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2" name="Freeform: Shape 35">
              <a:extLst>
                <a:ext uri="{FF2B5EF4-FFF2-40B4-BE49-F238E27FC236}">
                  <a16:creationId xmlns:a16="http://schemas.microsoft.com/office/drawing/2014/main" id="{A3C6D900-8B41-8D9A-63AF-431F3D577FAF}"/>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3" name="Freeform: Shape 36">
              <a:extLst>
                <a:ext uri="{FF2B5EF4-FFF2-40B4-BE49-F238E27FC236}">
                  <a16:creationId xmlns:a16="http://schemas.microsoft.com/office/drawing/2014/main" id="{3EE606F5-26E2-2B8D-6C1C-4763164B8BE9}"/>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4" name="Freeform: Shape 37">
              <a:extLst>
                <a:ext uri="{FF2B5EF4-FFF2-40B4-BE49-F238E27FC236}">
                  <a16:creationId xmlns:a16="http://schemas.microsoft.com/office/drawing/2014/main" id="{96785AF4-52DE-4E65-4847-F568D9F7F868}"/>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5" name="Freeform: Shape 38">
              <a:extLst>
                <a:ext uri="{FF2B5EF4-FFF2-40B4-BE49-F238E27FC236}">
                  <a16:creationId xmlns:a16="http://schemas.microsoft.com/office/drawing/2014/main" id="{29ACEDD3-2F03-5902-EF3B-7AF5F57AAE46}"/>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76" name="Freeform: Shape 39">
              <a:extLst>
                <a:ext uri="{FF2B5EF4-FFF2-40B4-BE49-F238E27FC236}">
                  <a16:creationId xmlns:a16="http://schemas.microsoft.com/office/drawing/2014/main" id="{927708E7-72BA-C1DF-C9B6-0D85FC238DBF}"/>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grpSp>
      <p:sp>
        <p:nvSpPr>
          <p:cNvPr id="77" name="TextBox 76">
            <a:extLst>
              <a:ext uri="{FF2B5EF4-FFF2-40B4-BE49-F238E27FC236}">
                <a16:creationId xmlns:a16="http://schemas.microsoft.com/office/drawing/2014/main" id="{462BB305-27BB-0C34-3AE6-95C6C6C714DA}"/>
              </a:ext>
            </a:extLst>
          </p:cNvPr>
          <p:cNvSpPr txBox="1"/>
          <p:nvPr/>
        </p:nvSpPr>
        <p:spPr>
          <a:xfrm>
            <a:off x="5696452" y="5472456"/>
            <a:ext cx="1110814" cy="369332"/>
          </a:xfrm>
          <a:prstGeom prst="rect">
            <a:avLst/>
          </a:prstGeom>
          <a:noFill/>
          <a:ln>
            <a:noFill/>
          </a:ln>
          <a:effectLst/>
        </p:spPr>
        <p:txBody>
          <a:bodyPr wrap="square">
            <a:spAutoFit/>
          </a:bodyPr>
          <a:lstStyle/>
          <a:p>
            <a:pPr algn="ctr"/>
            <a:r>
              <a:rPr lang="en-US" dirty="0">
                <a:solidFill>
                  <a:srgbClr val="232F3E"/>
                </a:solidFill>
                <a:latin typeface="Amazon Ember Medium"/>
              </a:rPr>
              <a:t>Llama</a:t>
            </a:r>
          </a:p>
        </p:txBody>
      </p:sp>
      <p:sp>
        <p:nvSpPr>
          <p:cNvPr id="78" name="TextBox 77">
            <a:extLst>
              <a:ext uri="{FF2B5EF4-FFF2-40B4-BE49-F238E27FC236}">
                <a16:creationId xmlns:a16="http://schemas.microsoft.com/office/drawing/2014/main" id="{F25B790A-C814-5B0C-6C8E-AB11D740857C}"/>
              </a:ext>
            </a:extLst>
          </p:cNvPr>
          <p:cNvSpPr txBox="1"/>
          <p:nvPr/>
        </p:nvSpPr>
        <p:spPr>
          <a:xfrm>
            <a:off x="6994404" y="5474512"/>
            <a:ext cx="1975496" cy="369332"/>
          </a:xfrm>
          <a:prstGeom prst="rect">
            <a:avLst/>
          </a:prstGeom>
          <a:noFill/>
          <a:ln>
            <a:noFill/>
          </a:ln>
          <a:effectLst/>
        </p:spPr>
        <p:txBody>
          <a:bodyPr wrap="square">
            <a:spAutoFit/>
          </a:bodyPr>
          <a:lstStyle/>
          <a:p>
            <a:pPr algn="ctr"/>
            <a:r>
              <a:rPr lang="en-US" dirty="0">
                <a:solidFill>
                  <a:srgbClr val="232F3E"/>
                </a:solidFill>
                <a:latin typeface="Amazon Ember Medium"/>
              </a:rPr>
              <a:t>Mistral-Instruct</a:t>
            </a:r>
          </a:p>
        </p:txBody>
      </p:sp>
      <p:grpSp>
        <p:nvGrpSpPr>
          <p:cNvPr id="79" name="Graphic 250">
            <a:extLst>
              <a:ext uri="{FF2B5EF4-FFF2-40B4-BE49-F238E27FC236}">
                <a16:creationId xmlns:a16="http://schemas.microsoft.com/office/drawing/2014/main" id="{A1B30AD2-BC39-5E78-7AB6-8A3D4A671846}"/>
              </a:ext>
              <a:ext uri="{C183D7F6-B498-43B3-948B-1728B52AA6E4}">
                <adec:decorative xmlns:adec="http://schemas.microsoft.com/office/drawing/2017/decorative" val="1"/>
              </a:ext>
            </a:extLst>
          </p:cNvPr>
          <p:cNvGrpSpPr>
            <a:grpSpLocks noChangeAspect="1"/>
          </p:cNvGrpSpPr>
          <p:nvPr/>
        </p:nvGrpSpPr>
        <p:grpSpPr>
          <a:xfrm>
            <a:off x="7354752" y="4397617"/>
            <a:ext cx="1254801" cy="1254801"/>
            <a:chOff x="9704553" y="322847"/>
            <a:chExt cx="643689" cy="643689"/>
          </a:xfrm>
          <a:effectLst/>
        </p:grpSpPr>
        <p:sp>
          <p:nvSpPr>
            <p:cNvPr id="80" name="Freeform: Shape 20">
              <a:extLst>
                <a:ext uri="{FF2B5EF4-FFF2-40B4-BE49-F238E27FC236}">
                  <a16:creationId xmlns:a16="http://schemas.microsoft.com/office/drawing/2014/main" id="{6EFB1D99-0C26-D21B-0C08-D217DD71B765}"/>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1" name="Freeform: Shape 21">
              <a:extLst>
                <a:ext uri="{FF2B5EF4-FFF2-40B4-BE49-F238E27FC236}">
                  <a16:creationId xmlns:a16="http://schemas.microsoft.com/office/drawing/2014/main" id="{8166549B-A6A5-6325-6432-E2E6275EA870}"/>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2" name="Freeform: Shape 22">
              <a:extLst>
                <a:ext uri="{FF2B5EF4-FFF2-40B4-BE49-F238E27FC236}">
                  <a16:creationId xmlns:a16="http://schemas.microsoft.com/office/drawing/2014/main" id="{822A8D19-7903-A594-074F-F443BA1BEB31}"/>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3" name="Freeform: Shape 23">
              <a:extLst>
                <a:ext uri="{FF2B5EF4-FFF2-40B4-BE49-F238E27FC236}">
                  <a16:creationId xmlns:a16="http://schemas.microsoft.com/office/drawing/2014/main" id="{81F9CE3E-A723-663F-E573-C5259EFD5CED}"/>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4" name="Freeform: Shape 24">
              <a:extLst>
                <a:ext uri="{FF2B5EF4-FFF2-40B4-BE49-F238E27FC236}">
                  <a16:creationId xmlns:a16="http://schemas.microsoft.com/office/drawing/2014/main" id="{6D10D142-627C-7AE3-FF63-11C62F5F04E0}"/>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5" name="Freeform: Shape 25">
              <a:extLst>
                <a:ext uri="{FF2B5EF4-FFF2-40B4-BE49-F238E27FC236}">
                  <a16:creationId xmlns:a16="http://schemas.microsoft.com/office/drawing/2014/main" id="{816A4649-DC91-C2F5-B6A2-6DA8BD421569}"/>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6" name="Freeform: Shape 26">
              <a:extLst>
                <a:ext uri="{FF2B5EF4-FFF2-40B4-BE49-F238E27FC236}">
                  <a16:creationId xmlns:a16="http://schemas.microsoft.com/office/drawing/2014/main" id="{CB0AF74B-2B55-4C06-7A73-93F9F6E5260E}"/>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7" name="Freeform: Shape 240">
              <a:extLst>
                <a:ext uri="{FF2B5EF4-FFF2-40B4-BE49-F238E27FC236}">
                  <a16:creationId xmlns:a16="http://schemas.microsoft.com/office/drawing/2014/main" id="{61EEA701-3EC3-3ACB-33B6-8AB366AD352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8" name="Freeform: Shape 28">
              <a:extLst>
                <a:ext uri="{FF2B5EF4-FFF2-40B4-BE49-F238E27FC236}">
                  <a16:creationId xmlns:a16="http://schemas.microsoft.com/office/drawing/2014/main" id="{4D678D9C-5438-B9EA-6A92-02260E4674A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89" name="Freeform: Shape 29">
              <a:extLst>
                <a:ext uri="{FF2B5EF4-FFF2-40B4-BE49-F238E27FC236}">
                  <a16:creationId xmlns:a16="http://schemas.microsoft.com/office/drawing/2014/main" id="{667B785E-7466-6182-747F-87E2AFE2D97F}"/>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0" name="Freeform: Shape 30">
              <a:extLst>
                <a:ext uri="{FF2B5EF4-FFF2-40B4-BE49-F238E27FC236}">
                  <a16:creationId xmlns:a16="http://schemas.microsoft.com/office/drawing/2014/main" id="{990A2B5E-B3E4-B0D0-7513-2C4D054EA722}"/>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1" name="Freeform: Shape 31">
              <a:extLst>
                <a:ext uri="{FF2B5EF4-FFF2-40B4-BE49-F238E27FC236}">
                  <a16:creationId xmlns:a16="http://schemas.microsoft.com/office/drawing/2014/main" id="{3C1E94FA-A70E-431A-31E9-D5970FA3E18F}"/>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2" name="Freeform: Shape 32">
              <a:extLst>
                <a:ext uri="{FF2B5EF4-FFF2-40B4-BE49-F238E27FC236}">
                  <a16:creationId xmlns:a16="http://schemas.microsoft.com/office/drawing/2014/main" id="{39945B5D-DBDC-19C8-DEE7-2E23891EB5AA}"/>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3" name="Freeform: Shape 33">
              <a:extLst>
                <a:ext uri="{FF2B5EF4-FFF2-40B4-BE49-F238E27FC236}">
                  <a16:creationId xmlns:a16="http://schemas.microsoft.com/office/drawing/2014/main" id="{739B8628-CD9D-9D29-6CE6-17596707F4A6}"/>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4" name="Freeform: Shape 34">
              <a:extLst>
                <a:ext uri="{FF2B5EF4-FFF2-40B4-BE49-F238E27FC236}">
                  <a16:creationId xmlns:a16="http://schemas.microsoft.com/office/drawing/2014/main" id="{8182B66C-7340-E7D1-F2EF-26E9F657E07E}"/>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5" name="Freeform: Shape 35">
              <a:extLst>
                <a:ext uri="{FF2B5EF4-FFF2-40B4-BE49-F238E27FC236}">
                  <a16:creationId xmlns:a16="http://schemas.microsoft.com/office/drawing/2014/main" id="{DD1EAD96-FBDF-7FA3-92FD-ACA1F3A7078A}"/>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6" name="Freeform: Shape 36">
              <a:extLst>
                <a:ext uri="{FF2B5EF4-FFF2-40B4-BE49-F238E27FC236}">
                  <a16:creationId xmlns:a16="http://schemas.microsoft.com/office/drawing/2014/main" id="{7E23CCA4-0E90-DD95-D914-59C40BC640D6}"/>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7" name="Freeform: Shape 37">
              <a:extLst>
                <a:ext uri="{FF2B5EF4-FFF2-40B4-BE49-F238E27FC236}">
                  <a16:creationId xmlns:a16="http://schemas.microsoft.com/office/drawing/2014/main" id="{8DA7DA18-0D8A-A5F1-5640-C4C6117F7976}"/>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8" name="Freeform: Shape 38">
              <a:extLst>
                <a:ext uri="{FF2B5EF4-FFF2-40B4-BE49-F238E27FC236}">
                  <a16:creationId xmlns:a16="http://schemas.microsoft.com/office/drawing/2014/main" id="{3F709151-D254-4759-C14D-D15EFC16FCB8}"/>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99" name="Freeform: Shape 39">
              <a:extLst>
                <a:ext uri="{FF2B5EF4-FFF2-40B4-BE49-F238E27FC236}">
                  <a16:creationId xmlns:a16="http://schemas.microsoft.com/office/drawing/2014/main" id="{C60A1D4C-5E5F-870B-91D4-921E546CD87A}"/>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grpSp>
      <p:sp>
        <p:nvSpPr>
          <p:cNvPr id="100" name="TextBox 99">
            <a:extLst>
              <a:ext uri="{FF2B5EF4-FFF2-40B4-BE49-F238E27FC236}">
                <a16:creationId xmlns:a16="http://schemas.microsoft.com/office/drawing/2014/main" id="{7009225E-3621-0F7C-54BB-6A444E437274}"/>
              </a:ext>
            </a:extLst>
          </p:cNvPr>
          <p:cNvSpPr txBox="1"/>
          <p:nvPr/>
        </p:nvSpPr>
        <p:spPr>
          <a:xfrm>
            <a:off x="9285198" y="5405927"/>
            <a:ext cx="1291171" cy="369332"/>
          </a:xfrm>
          <a:prstGeom prst="rect">
            <a:avLst/>
          </a:prstGeom>
          <a:noFill/>
          <a:ln>
            <a:noFill/>
          </a:ln>
          <a:effectLst/>
        </p:spPr>
        <p:txBody>
          <a:bodyPr wrap="square">
            <a:spAutoFit/>
          </a:bodyPr>
          <a:lstStyle/>
          <a:p>
            <a:pPr algn="ctr"/>
            <a:r>
              <a:rPr lang="en-US" dirty="0">
                <a:solidFill>
                  <a:srgbClr val="232F3E"/>
                </a:solidFill>
                <a:latin typeface="Amazon Ember Medium"/>
              </a:rPr>
              <a:t>Command</a:t>
            </a:r>
          </a:p>
        </p:txBody>
      </p:sp>
      <p:grpSp>
        <p:nvGrpSpPr>
          <p:cNvPr id="101" name="Graphic 250">
            <a:extLst>
              <a:ext uri="{FF2B5EF4-FFF2-40B4-BE49-F238E27FC236}">
                <a16:creationId xmlns:a16="http://schemas.microsoft.com/office/drawing/2014/main" id="{1B86F0D7-08CD-E721-3286-E1010BFCBAC1}"/>
              </a:ext>
              <a:ext uri="{C183D7F6-B498-43B3-948B-1728B52AA6E4}">
                <adec:decorative xmlns:adec="http://schemas.microsoft.com/office/drawing/2017/decorative" val="1"/>
              </a:ext>
            </a:extLst>
          </p:cNvPr>
          <p:cNvGrpSpPr>
            <a:grpSpLocks noChangeAspect="1"/>
          </p:cNvGrpSpPr>
          <p:nvPr/>
        </p:nvGrpSpPr>
        <p:grpSpPr>
          <a:xfrm>
            <a:off x="9303384" y="4316909"/>
            <a:ext cx="1254801" cy="1254801"/>
            <a:chOff x="9704553" y="322847"/>
            <a:chExt cx="643689" cy="643689"/>
          </a:xfrm>
          <a:effectLst/>
        </p:grpSpPr>
        <p:sp>
          <p:nvSpPr>
            <p:cNvPr id="102" name="Freeform: Shape 20">
              <a:extLst>
                <a:ext uri="{FF2B5EF4-FFF2-40B4-BE49-F238E27FC236}">
                  <a16:creationId xmlns:a16="http://schemas.microsoft.com/office/drawing/2014/main" id="{795D9918-82B8-D4A0-9033-E6CB794D862D}"/>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3" name="Freeform: Shape 21">
              <a:extLst>
                <a:ext uri="{FF2B5EF4-FFF2-40B4-BE49-F238E27FC236}">
                  <a16:creationId xmlns:a16="http://schemas.microsoft.com/office/drawing/2014/main" id="{51CDE677-A9F5-2374-9A95-6B0CBB4768E0}"/>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4" name="Freeform: Shape 22">
              <a:extLst>
                <a:ext uri="{FF2B5EF4-FFF2-40B4-BE49-F238E27FC236}">
                  <a16:creationId xmlns:a16="http://schemas.microsoft.com/office/drawing/2014/main" id="{C9C250B4-F3C4-EC9E-456B-6F719BEB2916}"/>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5" name="Freeform: Shape 23">
              <a:extLst>
                <a:ext uri="{FF2B5EF4-FFF2-40B4-BE49-F238E27FC236}">
                  <a16:creationId xmlns:a16="http://schemas.microsoft.com/office/drawing/2014/main" id="{AC27CBE6-9146-14BD-BE9B-ADF01F1676CD}"/>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6" name="Freeform: Shape 24">
              <a:extLst>
                <a:ext uri="{FF2B5EF4-FFF2-40B4-BE49-F238E27FC236}">
                  <a16:creationId xmlns:a16="http://schemas.microsoft.com/office/drawing/2014/main" id="{76F508E4-B3A4-06D9-7222-D30EDA7F14BE}"/>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7" name="Freeform: Shape 25">
              <a:extLst>
                <a:ext uri="{FF2B5EF4-FFF2-40B4-BE49-F238E27FC236}">
                  <a16:creationId xmlns:a16="http://schemas.microsoft.com/office/drawing/2014/main" id="{33BD3A70-A0A6-DDD6-1355-C9C92D9F0C17}"/>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8" name="Freeform: Shape 26">
              <a:extLst>
                <a:ext uri="{FF2B5EF4-FFF2-40B4-BE49-F238E27FC236}">
                  <a16:creationId xmlns:a16="http://schemas.microsoft.com/office/drawing/2014/main" id="{5E313DD6-10F9-C6A9-A7B9-D7648534626F}"/>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09" name="Freeform: Shape 240">
              <a:extLst>
                <a:ext uri="{FF2B5EF4-FFF2-40B4-BE49-F238E27FC236}">
                  <a16:creationId xmlns:a16="http://schemas.microsoft.com/office/drawing/2014/main" id="{B4CCAABE-2F54-24D0-1EFC-F49D288A569A}"/>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0" name="Freeform: Shape 28">
              <a:extLst>
                <a:ext uri="{FF2B5EF4-FFF2-40B4-BE49-F238E27FC236}">
                  <a16:creationId xmlns:a16="http://schemas.microsoft.com/office/drawing/2014/main" id="{A643D24A-1476-2984-F4CD-D29F679E2AA6}"/>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1" name="Freeform: Shape 29">
              <a:extLst>
                <a:ext uri="{FF2B5EF4-FFF2-40B4-BE49-F238E27FC236}">
                  <a16:creationId xmlns:a16="http://schemas.microsoft.com/office/drawing/2014/main" id="{33822E56-90F4-C2F5-0716-30A5CA61D599}"/>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2" name="Freeform: Shape 30">
              <a:extLst>
                <a:ext uri="{FF2B5EF4-FFF2-40B4-BE49-F238E27FC236}">
                  <a16:creationId xmlns:a16="http://schemas.microsoft.com/office/drawing/2014/main" id="{0D830EB0-3E2F-CE2D-2A1D-1B760FADFD5D}"/>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3" name="Freeform: Shape 31">
              <a:extLst>
                <a:ext uri="{FF2B5EF4-FFF2-40B4-BE49-F238E27FC236}">
                  <a16:creationId xmlns:a16="http://schemas.microsoft.com/office/drawing/2014/main" id="{5A3C21A8-12FD-127A-A528-1A42F84F56A2}"/>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4" name="Freeform: Shape 32">
              <a:extLst>
                <a:ext uri="{FF2B5EF4-FFF2-40B4-BE49-F238E27FC236}">
                  <a16:creationId xmlns:a16="http://schemas.microsoft.com/office/drawing/2014/main" id="{B864E22F-9181-C8D4-1DC1-A368928DFF5A}"/>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5" name="Freeform: Shape 33">
              <a:extLst>
                <a:ext uri="{FF2B5EF4-FFF2-40B4-BE49-F238E27FC236}">
                  <a16:creationId xmlns:a16="http://schemas.microsoft.com/office/drawing/2014/main" id="{50706F74-95CD-9AA8-2138-3543FBB43854}"/>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6" name="Freeform: Shape 34">
              <a:extLst>
                <a:ext uri="{FF2B5EF4-FFF2-40B4-BE49-F238E27FC236}">
                  <a16:creationId xmlns:a16="http://schemas.microsoft.com/office/drawing/2014/main" id="{8EB895BB-E628-A0EB-B5DE-26D76E0F98F2}"/>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7" name="Freeform: Shape 35">
              <a:extLst>
                <a:ext uri="{FF2B5EF4-FFF2-40B4-BE49-F238E27FC236}">
                  <a16:creationId xmlns:a16="http://schemas.microsoft.com/office/drawing/2014/main" id="{3879CB9B-B26A-0749-EECA-B329F9D7348D}"/>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8" name="Freeform: Shape 36">
              <a:extLst>
                <a:ext uri="{FF2B5EF4-FFF2-40B4-BE49-F238E27FC236}">
                  <a16:creationId xmlns:a16="http://schemas.microsoft.com/office/drawing/2014/main" id="{1DB889C2-4974-AC8E-24DA-DA7890E415F5}"/>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19" name="Freeform: Shape 37">
              <a:extLst>
                <a:ext uri="{FF2B5EF4-FFF2-40B4-BE49-F238E27FC236}">
                  <a16:creationId xmlns:a16="http://schemas.microsoft.com/office/drawing/2014/main" id="{3B6A8ACD-55AF-21A4-13D7-FF73ED3C060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20" name="Freeform: Shape 38">
              <a:extLst>
                <a:ext uri="{FF2B5EF4-FFF2-40B4-BE49-F238E27FC236}">
                  <a16:creationId xmlns:a16="http://schemas.microsoft.com/office/drawing/2014/main" id="{B31D6FCD-3D28-A2D3-3574-7A9AF30A9E6A}"/>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sp>
          <p:nvSpPr>
            <p:cNvPr id="121" name="Freeform: Shape 39">
              <a:extLst>
                <a:ext uri="{FF2B5EF4-FFF2-40B4-BE49-F238E27FC236}">
                  <a16:creationId xmlns:a16="http://schemas.microsoft.com/office/drawing/2014/main" id="{7593A517-59BE-C65E-902C-9C4DEC1894F0}"/>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19050" cap="flat">
              <a:solidFill>
                <a:srgbClr val="232F3E"/>
              </a:solidFill>
              <a:prstDash val="solid"/>
              <a:round/>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ndParaRPr>
            </a:p>
          </p:txBody>
        </p:sp>
      </p:grpSp>
      <p:sp>
        <p:nvSpPr>
          <p:cNvPr id="124" name="TextBox 123">
            <a:extLst>
              <a:ext uri="{FF2B5EF4-FFF2-40B4-BE49-F238E27FC236}">
                <a16:creationId xmlns:a16="http://schemas.microsoft.com/office/drawing/2014/main" id="{017E1363-CEE4-C1AF-990D-A76EFD296946}"/>
              </a:ext>
            </a:extLst>
          </p:cNvPr>
          <p:cNvSpPr txBox="1"/>
          <p:nvPr/>
        </p:nvSpPr>
        <p:spPr>
          <a:xfrm>
            <a:off x="1269984" y="4023023"/>
            <a:ext cx="1634110" cy="461066"/>
          </a:xfrm>
          <a:prstGeom prst="rect">
            <a:avLst/>
          </a:prstGeom>
          <a:noFill/>
          <a:ln>
            <a:noFill/>
          </a:ln>
          <a:effectLst/>
        </p:spPr>
        <p:txBody>
          <a:bodyPr wrap="square">
            <a:spAutoFit/>
          </a:bodyPr>
          <a:lstStyle/>
          <a:p>
            <a:pPr algn="ctr"/>
            <a:r>
              <a:rPr lang="en-US" sz="2400" dirty="0">
                <a:solidFill>
                  <a:schemeClr val="accent5"/>
                </a:solidFill>
                <a:latin typeface="+mj-lt"/>
              </a:rPr>
              <a:t>Amazon</a:t>
            </a:r>
            <a:endParaRPr lang="en-US" sz="2000" dirty="0">
              <a:solidFill>
                <a:schemeClr val="accent5"/>
              </a:solidFill>
              <a:latin typeface="+mj-lt"/>
            </a:endParaRPr>
          </a:p>
        </p:txBody>
      </p:sp>
      <p:sp>
        <p:nvSpPr>
          <p:cNvPr id="125" name="TextBox 124">
            <a:extLst>
              <a:ext uri="{FF2B5EF4-FFF2-40B4-BE49-F238E27FC236}">
                <a16:creationId xmlns:a16="http://schemas.microsoft.com/office/drawing/2014/main" id="{F6696ACE-25E7-FA58-74E6-6B23DCD116EC}"/>
              </a:ext>
            </a:extLst>
          </p:cNvPr>
          <p:cNvSpPr txBox="1"/>
          <p:nvPr/>
        </p:nvSpPr>
        <p:spPr>
          <a:xfrm>
            <a:off x="3465924" y="4023023"/>
            <a:ext cx="1832489" cy="461067"/>
          </a:xfrm>
          <a:prstGeom prst="rect">
            <a:avLst/>
          </a:prstGeom>
          <a:noFill/>
          <a:ln>
            <a:noFill/>
          </a:ln>
          <a:effectLst/>
        </p:spPr>
        <p:txBody>
          <a:bodyPr wrap="square">
            <a:spAutoFit/>
          </a:bodyPr>
          <a:lstStyle/>
          <a:p>
            <a:pPr algn="ctr"/>
            <a:r>
              <a:rPr lang="en-US" sz="2400" dirty="0">
                <a:solidFill>
                  <a:schemeClr val="accent5"/>
                </a:solidFill>
                <a:latin typeface="+mj-lt"/>
              </a:rPr>
              <a:t>Anthropic</a:t>
            </a:r>
            <a:endParaRPr lang="en-US" sz="2000" dirty="0">
              <a:solidFill>
                <a:schemeClr val="accent5"/>
              </a:solidFill>
              <a:latin typeface="+mj-lt"/>
            </a:endParaRPr>
          </a:p>
        </p:txBody>
      </p:sp>
      <p:sp>
        <p:nvSpPr>
          <p:cNvPr id="126" name="TextBox 125">
            <a:extLst>
              <a:ext uri="{FF2B5EF4-FFF2-40B4-BE49-F238E27FC236}">
                <a16:creationId xmlns:a16="http://schemas.microsoft.com/office/drawing/2014/main" id="{DE6389B7-7217-8F84-3D06-13BD31849334}"/>
              </a:ext>
            </a:extLst>
          </p:cNvPr>
          <p:cNvSpPr txBox="1"/>
          <p:nvPr/>
        </p:nvSpPr>
        <p:spPr>
          <a:xfrm>
            <a:off x="5523263" y="4023023"/>
            <a:ext cx="1367616" cy="461665"/>
          </a:xfrm>
          <a:prstGeom prst="rect">
            <a:avLst/>
          </a:prstGeom>
          <a:noFill/>
          <a:ln>
            <a:noFill/>
          </a:ln>
          <a:effectLst/>
        </p:spPr>
        <p:txBody>
          <a:bodyPr wrap="square">
            <a:spAutoFit/>
          </a:bodyPr>
          <a:lstStyle/>
          <a:p>
            <a:pPr algn="ctr"/>
            <a:r>
              <a:rPr lang="en-US" sz="2400" dirty="0">
                <a:solidFill>
                  <a:schemeClr val="accent5"/>
                </a:solidFill>
                <a:latin typeface="+mj-lt"/>
              </a:rPr>
              <a:t>Meta</a:t>
            </a:r>
            <a:endParaRPr lang="en-US" sz="2000" dirty="0">
              <a:solidFill>
                <a:schemeClr val="accent5"/>
              </a:solidFill>
              <a:latin typeface="+mj-lt"/>
            </a:endParaRPr>
          </a:p>
        </p:txBody>
      </p:sp>
      <p:sp>
        <p:nvSpPr>
          <p:cNvPr id="127" name="TextBox 126">
            <a:extLst>
              <a:ext uri="{FF2B5EF4-FFF2-40B4-BE49-F238E27FC236}">
                <a16:creationId xmlns:a16="http://schemas.microsoft.com/office/drawing/2014/main" id="{A5071626-3791-576A-5E1B-03BD1580382F}"/>
              </a:ext>
            </a:extLst>
          </p:cNvPr>
          <p:cNvSpPr txBox="1"/>
          <p:nvPr/>
        </p:nvSpPr>
        <p:spPr>
          <a:xfrm>
            <a:off x="7146374" y="4023023"/>
            <a:ext cx="1671556" cy="461665"/>
          </a:xfrm>
          <a:prstGeom prst="rect">
            <a:avLst/>
          </a:prstGeom>
          <a:noFill/>
          <a:ln>
            <a:noFill/>
          </a:ln>
          <a:effectLst/>
        </p:spPr>
        <p:txBody>
          <a:bodyPr wrap="square">
            <a:spAutoFit/>
          </a:bodyPr>
          <a:lstStyle/>
          <a:p>
            <a:pPr algn="ctr"/>
            <a:r>
              <a:rPr lang="en-US" sz="2400" dirty="0">
                <a:solidFill>
                  <a:schemeClr val="accent5"/>
                </a:solidFill>
                <a:latin typeface="+mj-lt"/>
              </a:rPr>
              <a:t>Mistral AI</a:t>
            </a:r>
            <a:endParaRPr lang="en-US" sz="2000" dirty="0">
              <a:solidFill>
                <a:schemeClr val="accent5"/>
              </a:solidFill>
              <a:latin typeface="+mj-lt"/>
            </a:endParaRPr>
          </a:p>
        </p:txBody>
      </p:sp>
      <p:sp>
        <p:nvSpPr>
          <p:cNvPr id="128" name="TextBox 127">
            <a:extLst>
              <a:ext uri="{FF2B5EF4-FFF2-40B4-BE49-F238E27FC236}">
                <a16:creationId xmlns:a16="http://schemas.microsoft.com/office/drawing/2014/main" id="{C644ACB4-3A09-E153-4BA6-C5016A175CAD}"/>
              </a:ext>
            </a:extLst>
          </p:cNvPr>
          <p:cNvSpPr txBox="1"/>
          <p:nvPr/>
        </p:nvSpPr>
        <p:spPr>
          <a:xfrm>
            <a:off x="9246975" y="4023023"/>
            <a:ext cx="1367616" cy="461665"/>
          </a:xfrm>
          <a:prstGeom prst="rect">
            <a:avLst/>
          </a:prstGeom>
          <a:noFill/>
          <a:ln>
            <a:noFill/>
          </a:ln>
          <a:effectLst/>
        </p:spPr>
        <p:txBody>
          <a:bodyPr wrap="square">
            <a:spAutoFit/>
          </a:bodyPr>
          <a:lstStyle/>
          <a:p>
            <a:pPr algn="ctr"/>
            <a:r>
              <a:rPr lang="en-US" sz="2400" dirty="0">
                <a:solidFill>
                  <a:schemeClr val="accent5"/>
                </a:solidFill>
                <a:latin typeface="+mj-lt"/>
              </a:rPr>
              <a:t>Cohere</a:t>
            </a:r>
            <a:endParaRPr lang="en-US" sz="2000" dirty="0">
              <a:solidFill>
                <a:schemeClr val="accent5"/>
              </a:solidFill>
              <a:latin typeface="+mj-lt"/>
            </a:endParaRPr>
          </a:p>
        </p:txBody>
      </p:sp>
    </p:spTree>
    <p:extLst>
      <p:ext uri="{BB962C8B-B14F-4D97-AF65-F5344CB8AC3E}">
        <p14:creationId xmlns:p14="http://schemas.microsoft.com/office/powerpoint/2010/main" val="413636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BCD894-6EFB-C590-5A1C-55E3ABA11C80}"/>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D9AF48D8-3679-2B91-821D-289CEB7FC694}"/>
              </a:ext>
            </a:extLst>
          </p:cNvPr>
          <p:cNvSpPr>
            <a:spLocks noGrp="1"/>
          </p:cNvSpPr>
          <p:nvPr>
            <p:ph type="title" idx="1"/>
          </p:nvPr>
        </p:nvSpPr>
        <p:spPr/>
        <p:txBody>
          <a:bodyPr/>
          <a:lstStyle/>
          <a:p>
            <a:r>
              <a:rPr lang="en-US" dirty="0"/>
              <a:t>Chat Prompt Templates</a:t>
            </a:r>
          </a:p>
        </p:txBody>
      </p:sp>
      <p:sp>
        <p:nvSpPr>
          <p:cNvPr id="4" name="Content Placeholder 3">
            <a:extLst>
              <a:ext uri="{FF2B5EF4-FFF2-40B4-BE49-F238E27FC236}">
                <a16:creationId xmlns:a16="http://schemas.microsoft.com/office/drawing/2014/main" id="{3A1D6523-3235-A5ED-867D-BD0580E5F517}"/>
              </a:ext>
            </a:extLst>
          </p:cNvPr>
          <p:cNvSpPr>
            <a:spLocks noGrp="1"/>
          </p:cNvSpPr>
          <p:nvPr>
            <p:ph idx="2"/>
          </p:nvPr>
        </p:nvSpPr>
        <p:spPr>
          <a:xfrm>
            <a:off x="365760" y="1165536"/>
            <a:ext cx="11466576" cy="1992192"/>
          </a:xfrm>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Designed for chat models</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7C5AED"/>
                </a:solidFill>
                <a:effectLst/>
                <a:uLnTx/>
                <a:uFillTx/>
                <a:latin typeface="Amazon Ember Medium"/>
              </a:rPr>
              <a:t>System message</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7C5AED"/>
                </a:solidFill>
                <a:effectLst/>
                <a:uLnTx/>
                <a:uFillTx/>
                <a:latin typeface="Amazon Ember Medium"/>
              </a:rPr>
              <a:t>Human Message</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7C5AED"/>
                </a:solidFill>
                <a:effectLst/>
                <a:uLnTx/>
                <a:uFillTx/>
                <a:latin typeface="Amazon Ember Medium"/>
              </a:rPr>
              <a:t>AI Message</a:t>
            </a:r>
          </a:p>
          <a:p>
            <a:endParaRPr lang="en-US" dirty="0"/>
          </a:p>
        </p:txBody>
      </p:sp>
      <p:sp>
        <p:nvSpPr>
          <p:cNvPr id="6" name="Rectangle 5">
            <a:extLst>
              <a:ext uri="{FF2B5EF4-FFF2-40B4-BE49-F238E27FC236}">
                <a16:creationId xmlns:a16="http://schemas.microsoft.com/office/drawing/2014/main" id="{4DAF06E5-6F46-D5C4-1C30-3E1AC90E59D7}"/>
              </a:ext>
            </a:extLst>
          </p:cNvPr>
          <p:cNvSpPr/>
          <p:nvPr/>
        </p:nvSpPr>
        <p:spPr>
          <a:xfrm>
            <a:off x="208722" y="3429000"/>
            <a:ext cx="11861825" cy="2400657"/>
          </a:xfrm>
          <a:prstGeom prst="rect">
            <a:avLst/>
          </a:prstGeom>
          <a:solidFill>
            <a:srgbClr val="FFFFFF"/>
          </a:solidFill>
          <a:ln>
            <a:solidFill>
              <a:srgbClr val="DF2A5D"/>
            </a:solidFill>
          </a:ln>
          <a:effectLst>
            <a:outerShdw blurRad="50800" dist="38100" dir="2700000" algn="tl" rotWithShape="0">
              <a:prstClr val="black">
                <a:alpha val="40000"/>
              </a:prstClr>
            </a:outerShdw>
          </a:effectLst>
        </p:spPr>
        <p:txBody>
          <a:bodyPr wrap="square" lIns="182880" tIns="91440" rIns="182880" bIns="9144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chat_template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ChatPromptTemplate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system</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"You are a helpful AI bot. Your name is </a:t>
            </a:r>
            <a:r>
              <a:rPr kumimoji="0" lang="en-US" sz="1800" b="1" i="1"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1" u="none" strike="noStrike" kern="0" cap="none" spc="0" normalizeH="0" baseline="0" noProof="0" dirty="0">
                <a:ln>
                  <a:noFill/>
                </a:ln>
                <a:solidFill>
                  <a:srgbClr val="7C5AED"/>
                </a:solidFill>
                <a:effectLst/>
                <a:uLnTx/>
                <a:uFillTx/>
                <a:latin typeface="Courier New" panose="02070309020205020404" pitchFamily="49" charset="0"/>
                <a:cs typeface="Courier New" panose="02070309020205020404" pitchFamily="49" charset="0"/>
              </a:rPr>
              <a:t>name</a:t>
            </a:r>
            <a:r>
              <a:rPr kumimoji="0" lang="en-US" sz="1800" b="1" i="1"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human</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"Hello, how are you doing?"),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ai</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"I'm doing well, thanks!"),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human</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1"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1" u="none" strike="noStrike" kern="0" cap="none" spc="0" normalizeH="0" baseline="0" noProof="0" dirty="0" err="1">
                <a:ln>
                  <a:noFill/>
                </a:ln>
                <a:solidFill>
                  <a:srgbClr val="7C5AED"/>
                </a:solidFill>
                <a:effectLst/>
                <a:uLnTx/>
                <a:uFillTx/>
                <a:latin typeface="Courier New" panose="02070309020205020404" pitchFamily="49" charset="0"/>
                <a:cs typeface="Courier New" panose="02070309020205020404" pitchFamily="49" charset="0"/>
              </a:rPr>
              <a:t>user_input</a:t>
            </a:r>
            <a:r>
              <a:rPr kumimoji="0" lang="en-US" sz="1800" b="1" i="1"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prompt </a:t>
            </a:r>
            <a:r>
              <a:rPr kumimoji="0" lang="en-US" sz="1800" b="1" i="0" u="none" strike="noStrike" kern="0" cap="none" spc="0" normalizeH="0" baseline="0" noProof="0" dirty="0">
                <a:ln>
                  <a:noFill/>
                </a:ln>
                <a:solidFill>
                  <a:srgbClr val="666666"/>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chat_template</a:t>
            </a:r>
            <a:r>
              <a:rPr kumimoji="0" lang="en-US" sz="1800" b="1" i="0" u="none" strike="noStrike" kern="0" cap="none" spc="0" normalizeH="0" baseline="0" noProof="0" dirty="0" err="1">
                <a:ln>
                  <a:noFill/>
                </a:ln>
                <a:solidFill>
                  <a:srgbClr val="666666"/>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invoke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7C5AED"/>
                </a:solidFill>
                <a:effectLst/>
                <a:uLnTx/>
                <a:uFillTx/>
                <a:latin typeface="Courier New" panose="02070309020205020404" pitchFamily="49" charset="0"/>
                <a:cs typeface="Courier New" panose="02070309020205020404" pitchFamily="49" charset="0"/>
              </a:rPr>
              <a:t>name</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F46EBB"/>
                </a:solidFill>
                <a:effectLst/>
                <a:uLnTx/>
                <a:uFillTx/>
                <a:latin typeface="Courier New" panose="02070309020205020404" pitchFamily="49" charset="0"/>
                <a:cs typeface="Courier New" panose="02070309020205020404" pitchFamily="49" charset="0"/>
              </a:rPr>
              <a:t>Andy</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7C5AED"/>
                </a:solidFill>
                <a:effectLst/>
                <a:uLnTx/>
                <a:uFillTx/>
                <a:latin typeface="Courier New" panose="02070309020205020404" pitchFamily="49" charset="0"/>
                <a:cs typeface="Courier New" panose="02070309020205020404" pitchFamily="49" charset="0"/>
              </a:rPr>
              <a:t>user_input</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F46EBB"/>
                </a:solidFill>
                <a:effectLst/>
                <a:uLnTx/>
                <a:uFillTx/>
                <a:latin typeface="Courier New" panose="02070309020205020404" pitchFamily="49" charset="0"/>
                <a:cs typeface="Courier New" panose="02070309020205020404" pitchFamily="49" charset="0"/>
              </a:rPr>
              <a:t>What is your name?</a:t>
            </a:r>
            <a:r>
              <a:rPr kumimoji="0" lang="en-US" sz="1800" b="1" i="0" u="none" strike="noStrike" kern="0" cap="none" spc="0" normalizeH="0" baseline="0" noProof="0" dirty="0">
                <a:ln>
                  <a:noFill/>
                </a:ln>
                <a:solidFill>
                  <a:srgbClr val="4070A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endParaRPr kumimoji="0" lang="en-US" sz="1800" b="1" i="0" u="none" strike="noStrike" kern="0" cap="none" spc="0" normalizeH="0" baseline="0" noProof="0" dirty="0">
              <a:ln>
                <a:noFill/>
              </a:ln>
              <a:solidFill>
                <a:srgbClr val="00B050"/>
              </a:solidFill>
              <a:effectLst/>
              <a:uLnTx/>
              <a:uFillTx/>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466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09A607-8A12-6D1D-E23C-A13100CC3627}"/>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D21F6614-3F15-5829-83B1-AB7B85B08E94}"/>
              </a:ext>
            </a:extLst>
          </p:cNvPr>
          <p:cNvSpPr>
            <a:spLocks noGrp="1"/>
          </p:cNvSpPr>
          <p:nvPr>
            <p:ph type="title" idx="1"/>
          </p:nvPr>
        </p:nvSpPr>
        <p:spPr/>
        <p:txBody>
          <a:bodyPr/>
          <a:lstStyle/>
          <a:p>
            <a:r>
              <a:rPr lang="en-US" dirty="0"/>
              <a:t>Q&amp;A vs Conversation</a:t>
            </a:r>
          </a:p>
        </p:txBody>
      </p:sp>
      <p:sp>
        <p:nvSpPr>
          <p:cNvPr id="4" name="Content Placeholder 3">
            <a:extLst>
              <a:ext uri="{FF2B5EF4-FFF2-40B4-BE49-F238E27FC236}">
                <a16:creationId xmlns:a16="http://schemas.microsoft.com/office/drawing/2014/main" id="{CF2C3D9C-E618-A4B0-7551-A6674F974B08}"/>
              </a:ext>
            </a:extLst>
          </p:cNvPr>
          <p:cNvSpPr>
            <a:spLocks noGrp="1"/>
          </p:cNvSpPr>
          <p:nvPr>
            <p:ph idx="2"/>
          </p:nvPr>
        </p:nvSpPr>
        <p:spPr>
          <a:xfrm>
            <a:off x="365760" y="1165536"/>
            <a:ext cx="11466576" cy="1321632"/>
          </a:xfrm>
        </p:spPr>
        <p:txBody>
          <a:bodyPr/>
          <a:lstStyle/>
          <a:p>
            <a:r>
              <a:rPr lang="en-US" sz="2800" dirty="0">
                <a:solidFill>
                  <a:schemeClr val="accent6"/>
                </a:solidFill>
                <a:latin typeface="+mj-lt"/>
              </a:rPr>
              <a:t>Question-Answering (Q&amp;A)</a:t>
            </a:r>
            <a:r>
              <a:rPr lang="en-US" sz="2800" dirty="0"/>
              <a:t>: One-off interaction with the LLM</a:t>
            </a:r>
          </a:p>
          <a:p>
            <a:r>
              <a:rPr lang="en-US" sz="2800" dirty="0">
                <a:solidFill>
                  <a:schemeClr val="accent6"/>
                </a:solidFill>
                <a:latin typeface="+mj-lt"/>
              </a:rPr>
              <a:t>Conversation</a:t>
            </a:r>
            <a:r>
              <a:rPr lang="en-US" sz="2800" dirty="0"/>
              <a:t>: Long-running chats while maintaining the relevant context</a:t>
            </a:r>
          </a:p>
          <a:p>
            <a:endParaRPr lang="en-US" dirty="0"/>
          </a:p>
        </p:txBody>
      </p:sp>
      <p:graphicFrame>
        <p:nvGraphicFramePr>
          <p:cNvPr id="5" name="Table 5">
            <a:extLst>
              <a:ext uri="{FF2B5EF4-FFF2-40B4-BE49-F238E27FC236}">
                <a16:creationId xmlns:a16="http://schemas.microsoft.com/office/drawing/2014/main" id="{9A70CE68-CDFE-CBFF-53DB-924E5C84B3F8}"/>
              </a:ext>
            </a:extLst>
          </p:cNvPr>
          <p:cNvGraphicFramePr>
            <a:graphicFrameLocks/>
          </p:cNvGraphicFramePr>
          <p:nvPr>
            <p:extLst>
              <p:ext uri="{D42A27DB-BD31-4B8C-83A1-F6EECF244321}">
                <p14:modId xmlns:p14="http://schemas.microsoft.com/office/powerpoint/2010/main" val="3853345620"/>
              </p:ext>
            </p:extLst>
          </p:nvPr>
        </p:nvGraphicFramePr>
        <p:xfrm>
          <a:off x="615351" y="2751164"/>
          <a:ext cx="10928350" cy="3383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5464175">
                  <a:extLst>
                    <a:ext uri="{9D8B030D-6E8A-4147-A177-3AD203B41FA5}">
                      <a16:colId xmlns:a16="http://schemas.microsoft.com/office/drawing/2014/main" val="936847064"/>
                    </a:ext>
                  </a:extLst>
                </a:gridCol>
                <a:gridCol w="5464175">
                  <a:extLst>
                    <a:ext uri="{9D8B030D-6E8A-4147-A177-3AD203B41FA5}">
                      <a16:colId xmlns:a16="http://schemas.microsoft.com/office/drawing/2014/main" val="2266088830"/>
                    </a:ext>
                  </a:extLst>
                </a:gridCol>
              </a:tblGrid>
              <a:tr h="370840">
                <a:tc>
                  <a:txBody>
                    <a:bodyPr/>
                    <a:lstStyle/>
                    <a:p>
                      <a:r>
                        <a:rPr lang="en-US" sz="2400" dirty="0"/>
                        <a:t>Question – Answering (Q&amp;A)</a:t>
                      </a:r>
                    </a:p>
                  </a:txBody>
                  <a:tcPr/>
                </a:tc>
                <a:tc>
                  <a:txBody>
                    <a:bodyPr/>
                    <a:lstStyle/>
                    <a:p>
                      <a:r>
                        <a:rPr lang="en-US" sz="2400" dirty="0"/>
                        <a:t>Conversation</a:t>
                      </a:r>
                    </a:p>
                  </a:txBody>
                  <a:tcPr/>
                </a:tc>
                <a:extLst>
                  <a:ext uri="{0D108BD9-81ED-4DB2-BD59-A6C34878D82A}">
                    <a16:rowId xmlns:a16="http://schemas.microsoft.com/office/drawing/2014/main" val="107766566"/>
                  </a:ext>
                </a:extLst>
              </a:tr>
              <a:tr h="370840">
                <a:tc>
                  <a:txBody>
                    <a:bodyPr/>
                    <a:lstStyle/>
                    <a:p>
                      <a:r>
                        <a:rPr lang="en-US" sz="2400" dirty="0"/>
                        <a:t>Context only involves the latest prompt</a:t>
                      </a:r>
                    </a:p>
                  </a:txBody>
                  <a:tcPr/>
                </a:tc>
                <a:tc>
                  <a:txBody>
                    <a:bodyPr/>
                    <a:lstStyle/>
                    <a:p>
                      <a:r>
                        <a:rPr lang="en-US" sz="2400" dirty="0"/>
                        <a:t>Maintains a context of all past interactions</a:t>
                      </a:r>
                    </a:p>
                  </a:txBody>
                  <a:tcPr/>
                </a:tc>
                <a:extLst>
                  <a:ext uri="{0D108BD9-81ED-4DB2-BD59-A6C34878D82A}">
                    <a16:rowId xmlns:a16="http://schemas.microsoft.com/office/drawing/2014/main" val="3100492234"/>
                  </a:ext>
                </a:extLst>
              </a:tr>
              <a:tr h="370840">
                <a:tc>
                  <a:txBody>
                    <a:bodyPr/>
                    <a:lstStyle/>
                    <a:p>
                      <a:r>
                        <a:rPr lang="en-US" sz="2400" dirty="0"/>
                        <a:t>Interactions do not persist</a:t>
                      </a:r>
                    </a:p>
                  </a:txBody>
                  <a:tcPr/>
                </a:tc>
                <a:tc>
                  <a:txBody>
                    <a:bodyPr/>
                    <a:lstStyle/>
                    <a:p>
                      <a:r>
                        <a:rPr lang="en-US" sz="2400" dirty="0"/>
                        <a:t>Interactions are persisted by updating the context</a:t>
                      </a:r>
                    </a:p>
                  </a:txBody>
                  <a:tcPr/>
                </a:tc>
                <a:extLst>
                  <a:ext uri="{0D108BD9-81ED-4DB2-BD59-A6C34878D82A}">
                    <a16:rowId xmlns:a16="http://schemas.microsoft.com/office/drawing/2014/main" val="2336236901"/>
                  </a:ext>
                </a:extLst>
              </a:tr>
              <a:tr h="370840">
                <a:tc>
                  <a:txBody>
                    <a:bodyPr/>
                    <a:lstStyle/>
                    <a:p>
                      <a:r>
                        <a:rPr lang="en-US" sz="2400" dirty="0"/>
                        <a:t>No additional modules required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Typically uses a form of memory</a:t>
                      </a:r>
                    </a:p>
                  </a:txBody>
                  <a:tcPr/>
                </a:tc>
                <a:extLst>
                  <a:ext uri="{0D108BD9-81ED-4DB2-BD59-A6C34878D82A}">
                    <a16:rowId xmlns:a16="http://schemas.microsoft.com/office/drawing/2014/main" val="2071795370"/>
                  </a:ext>
                </a:extLst>
              </a:tr>
              <a:tr h="370840">
                <a:tc>
                  <a:txBody>
                    <a:bodyPr/>
                    <a:lstStyle/>
                    <a:p>
                      <a:r>
                        <a:rPr lang="en-US" sz="2400" dirty="0"/>
                        <a:t>Used for standard LLM predictions (like content creation)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Often used for chat applications (like </a:t>
                      </a:r>
                      <a:r>
                        <a:rPr lang="en-US" sz="2400" dirty="0" err="1"/>
                        <a:t>ChatGPT</a:t>
                      </a:r>
                      <a:r>
                        <a:rPr lang="en-US" sz="2400" dirty="0"/>
                        <a:t>)</a:t>
                      </a:r>
                    </a:p>
                  </a:txBody>
                  <a:tcPr/>
                </a:tc>
                <a:extLst>
                  <a:ext uri="{0D108BD9-81ED-4DB2-BD59-A6C34878D82A}">
                    <a16:rowId xmlns:a16="http://schemas.microsoft.com/office/drawing/2014/main" val="2974859629"/>
                  </a:ext>
                </a:extLst>
              </a:tr>
            </a:tbl>
          </a:graphicData>
        </a:graphic>
      </p:graphicFrame>
    </p:spTree>
    <p:extLst>
      <p:ext uri="{BB962C8B-B14F-4D97-AF65-F5344CB8AC3E}">
        <p14:creationId xmlns:p14="http://schemas.microsoft.com/office/powerpoint/2010/main" val="337016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CE795-8790-6C1A-9E83-AAE0416071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947EFC-7524-E9D4-3CB7-3B060B09F76D}"/>
              </a:ext>
            </a:extLst>
          </p:cNvPr>
          <p:cNvSpPr>
            <a:spLocks noGrp="1"/>
          </p:cNvSpPr>
          <p:nvPr>
            <p:ph type="sldNum" idx="97"/>
          </p:nvPr>
        </p:nvSpPr>
        <p:spPr/>
        <p:txBody>
          <a:bodyPr/>
          <a:lstStyle/>
          <a:p>
            <a:fld id="{86A8BF56-6CB3-514C-9A64-F39D95C9E25B}" type="slidenum">
              <a:rPr lang="en-US" smtClean="0"/>
              <a:pPr/>
              <a:t>11</a:t>
            </a:fld>
            <a:endParaRPr lang="en-US" dirty="0"/>
          </a:p>
        </p:txBody>
      </p:sp>
      <p:sp>
        <p:nvSpPr>
          <p:cNvPr id="2" name="Title 1">
            <a:extLst>
              <a:ext uri="{FF2B5EF4-FFF2-40B4-BE49-F238E27FC236}">
                <a16:creationId xmlns:a16="http://schemas.microsoft.com/office/drawing/2014/main" id="{4B2346B0-A146-3E55-863D-6150B864BC5B}"/>
              </a:ext>
            </a:extLst>
          </p:cNvPr>
          <p:cNvSpPr>
            <a:spLocks noGrp="1"/>
          </p:cNvSpPr>
          <p:nvPr>
            <p:ph type="title" idx="1"/>
          </p:nvPr>
        </p:nvSpPr>
        <p:spPr/>
        <p:txBody>
          <a:bodyPr/>
          <a:lstStyle/>
          <a:p>
            <a:r>
              <a:rPr lang="en-US" dirty="0"/>
              <a:t>Building a chatbot</a:t>
            </a:r>
          </a:p>
        </p:txBody>
      </p:sp>
    </p:spTree>
    <p:extLst>
      <p:ext uri="{BB962C8B-B14F-4D97-AF65-F5344CB8AC3E}">
        <p14:creationId xmlns:p14="http://schemas.microsoft.com/office/powerpoint/2010/main" val="1065637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B41B7F-BC3B-5AF7-786C-C5A78B22485F}"/>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9165CCFD-7B7E-B2F9-EDFC-CE81762F2F2E}"/>
              </a:ext>
            </a:extLst>
          </p:cNvPr>
          <p:cNvSpPr>
            <a:spLocks noGrp="1"/>
          </p:cNvSpPr>
          <p:nvPr>
            <p:ph type="title" idx="1"/>
          </p:nvPr>
        </p:nvSpPr>
        <p:spPr/>
        <p:txBody>
          <a:bodyPr/>
          <a:lstStyle/>
          <a:p>
            <a:r>
              <a:rPr lang="en-US" dirty="0"/>
              <a:t>Chatbot components</a:t>
            </a:r>
          </a:p>
        </p:txBody>
      </p:sp>
      <p:sp>
        <p:nvSpPr>
          <p:cNvPr id="4" name="Content Placeholder 3">
            <a:extLst>
              <a:ext uri="{FF2B5EF4-FFF2-40B4-BE49-F238E27FC236}">
                <a16:creationId xmlns:a16="http://schemas.microsoft.com/office/drawing/2014/main" id="{91C0E7CB-CB75-CA52-7F72-CE85CA0013EB}"/>
              </a:ext>
            </a:extLst>
          </p:cNvPr>
          <p:cNvSpPr>
            <a:spLocks noGrp="1"/>
          </p:cNvSpPr>
          <p:nvPr>
            <p:ph idx="2"/>
          </p:nvPr>
        </p:nvSpPr>
        <p:spPr>
          <a:xfrm>
            <a:off x="365760" y="1165536"/>
            <a:ext cx="11466576" cy="2967552"/>
          </a:xfrm>
        </p:spPr>
        <p:txBody>
          <a:bodyPr/>
          <a:lstStyle/>
          <a:p>
            <a:r>
              <a:rPr lang="en-US" dirty="0"/>
              <a:t>The simplest chatbot only requires:</a:t>
            </a:r>
          </a:p>
          <a:p>
            <a:pPr lvl="1"/>
            <a:r>
              <a:rPr lang="en-US" dirty="0">
                <a:solidFill>
                  <a:schemeClr val="accent6"/>
                </a:solidFill>
                <a:latin typeface="+mj-lt"/>
              </a:rPr>
              <a:t>A large language model (LLM)</a:t>
            </a:r>
          </a:p>
          <a:p>
            <a:pPr lvl="1"/>
            <a:r>
              <a:rPr lang="en-US" dirty="0">
                <a:solidFill>
                  <a:schemeClr val="accent6"/>
                </a:solidFill>
                <a:latin typeface="+mj-lt"/>
              </a:rPr>
              <a:t>Prompt template</a:t>
            </a:r>
          </a:p>
          <a:p>
            <a:pPr lvl="2"/>
            <a:r>
              <a:rPr lang="en-US" dirty="0"/>
              <a:t>Define the role of the chatbot and general guidelines to follow</a:t>
            </a:r>
          </a:p>
          <a:p>
            <a:pPr lvl="1"/>
            <a:r>
              <a:rPr lang="en-US" dirty="0">
                <a:solidFill>
                  <a:schemeClr val="accent6"/>
                </a:solidFill>
                <a:latin typeface="+mj-lt"/>
              </a:rPr>
              <a:t>Memory module</a:t>
            </a:r>
          </a:p>
          <a:p>
            <a:pPr lvl="2"/>
            <a:r>
              <a:rPr lang="en-US" dirty="0"/>
              <a:t>Persist information across conversations</a:t>
            </a:r>
          </a:p>
          <a:p>
            <a:endParaRPr lang="en-US" dirty="0"/>
          </a:p>
        </p:txBody>
      </p:sp>
      <p:grpSp>
        <p:nvGrpSpPr>
          <p:cNvPr id="6" name="Group 5">
            <a:extLst>
              <a:ext uri="{FF2B5EF4-FFF2-40B4-BE49-F238E27FC236}">
                <a16:creationId xmlns:a16="http://schemas.microsoft.com/office/drawing/2014/main" id="{BB64CE30-660A-ABA9-B14F-C9D0B290137D}"/>
              </a:ext>
            </a:extLst>
          </p:cNvPr>
          <p:cNvGrpSpPr/>
          <p:nvPr/>
        </p:nvGrpSpPr>
        <p:grpSpPr>
          <a:xfrm>
            <a:off x="492017" y="4797487"/>
            <a:ext cx="11084632" cy="1559379"/>
            <a:chOff x="492017" y="4797487"/>
            <a:chExt cx="11084632" cy="1559379"/>
          </a:xfrm>
        </p:grpSpPr>
        <p:grpSp>
          <p:nvGrpSpPr>
            <p:cNvPr id="7" name="Group 6">
              <a:extLst>
                <a:ext uri="{FF2B5EF4-FFF2-40B4-BE49-F238E27FC236}">
                  <a16:creationId xmlns:a16="http://schemas.microsoft.com/office/drawing/2014/main" id="{4F185FD8-41E3-5DDF-0154-D3A5F2DA12B0}"/>
                </a:ext>
              </a:extLst>
            </p:cNvPr>
            <p:cNvGrpSpPr/>
            <p:nvPr/>
          </p:nvGrpSpPr>
          <p:grpSpPr>
            <a:xfrm>
              <a:off x="492017" y="4797487"/>
              <a:ext cx="11084632" cy="1559379"/>
              <a:chOff x="492017" y="3006835"/>
              <a:chExt cx="11084632" cy="1559379"/>
            </a:xfrm>
          </p:grpSpPr>
          <p:sp>
            <p:nvSpPr>
              <p:cNvPr id="11" name="Rounded Rectangle 10">
                <a:extLst>
                  <a:ext uri="{FF2B5EF4-FFF2-40B4-BE49-F238E27FC236}">
                    <a16:creationId xmlns:a16="http://schemas.microsoft.com/office/drawing/2014/main" id="{FDCA7594-14B5-11DB-008B-5075A7775821}"/>
                  </a:ext>
                </a:extLst>
              </p:cNvPr>
              <p:cNvSpPr/>
              <p:nvPr/>
            </p:nvSpPr>
            <p:spPr>
              <a:xfrm>
                <a:off x="3882925" y="3006835"/>
                <a:ext cx="4474029" cy="1559379"/>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12" name="Rounded Rectangle 11">
                <a:extLst>
                  <a:ext uri="{FF2B5EF4-FFF2-40B4-BE49-F238E27FC236}">
                    <a16:creationId xmlns:a16="http://schemas.microsoft.com/office/drawing/2014/main" id="{D8FB66DA-2536-380B-42E9-2976B0308C44}"/>
                  </a:ext>
                </a:extLst>
              </p:cNvPr>
              <p:cNvSpPr/>
              <p:nvPr/>
            </p:nvSpPr>
            <p:spPr>
              <a:xfrm>
                <a:off x="4623733" y="3915052"/>
                <a:ext cx="1300533" cy="520770"/>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p:txBody>
          </p:sp>
          <p:sp>
            <p:nvSpPr>
              <p:cNvPr id="13" name="Rounded Rectangle 12">
                <a:extLst>
                  <a:ext uri="{FF2B5EF4-FFF2-40B4-BE49-F238E27FC236}">
                    <a16:creationId xmlns:a16="http://schemas.microsoft.com/office/drawing/2014/main" id="{56CAF6DD-2CC0-7FC8-CF06-AF5522C798B8}"/>
                  </a:ext>
                </a:extLst>
              </p:cNvPr>
              <p:cNvSpPr/>
              <p:nvPr/>
            </p:nvSpPr>
            <p:spPr>
              <a:xfrm>
                <a:off x="492017" y="3258689"/>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User input</a:t>
                </a:r>
              </a:p>
            </p:txBody>
          </p:sp>
          <p:cxnSp>
            <p:nvCxnSpPr>
              <p:cNvPr id="14" name="Straight Arrow Connector 13">
                <a:extLst>
                  <a:ext uri="{FF2B5EF4-FFF2-40B4-BE49-F238E27FC236}">
                    <a16:creationId xmlns:a16="http://schemas.microsoft.com/office/drawing/2014/main" id="{200745A9-8F7D-4C8A-A3FD-5DFA2B74536B}"/>
                  </a:ext>
                </a:extLst>
              </p:cNvPr>
              <p:cNvCxnSpPr>
                <a:cxnSpLocks/>
              </p:cNvCxnSpPr>
              <p:nvPr/>
            </p:nvCxnSpPr>
            <p:spPr>
              <a:xfrm>
                <a:off x="2618768" y="3786524"/>
                <a:ext cx="1264157" cy="1"/>
              </a:xfrm>
              <a:prstGeom prst="straightConnector1">
                <a:avLst/>
              </a:prstGeom>
              <a:noFill/>
              <a:ln w="63500" cap="flat" cmpd="sng" algn="ctr">
                <a:solidFill>
                  <a:srgbClr val="DF2A5D"/>
                </a:solidFill>
                <a:prstDash val="solid"/>
                <a:miter lim="800000"/>
                <a:tailEnd type="triangle"/>
              </a:ln>
              <a:effectLst/>
            </p:spPr>
          </p:cxnSp>
          <p:sp>
            <p:nvSpPr>
              <p:cNvPr id="15" name="Rounded Rectangle 14">
                <a:extLst>
                  <a:ext uri="{FF2B5EF4-FFF2-40B4-BE49-F238E27FC236}">
                    <a16:creationId xmlns:a16="http://schemas.microsoft.com/office/drawing/2014/main" id="{BF779112-BD0B-87DD-7963-8B0F0206AA6E}"/>
                  </a:ext>
                </a:extLst>
              </p:cNvPr>
              <p:cNvSpPr/>
              <p:nvPr/>
            </p:nvSpPr>
            <p:spPr>
              <a:xfrm>
                <a:off x="9361704" y="3258689"/>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16" name="Straight Arrow Connector 15">
                <a:extLst>
                  <a:ext uri="{FF2B5EF4-FFF2-40B4-BE49-F238E27FC236}">
                    <a16:creationId xmlns:a16="http://schemas.microsoft.com/office/drawing/2014/main" id="{0E7E8A02-3EF7-D532-FA6D-A4C852FD784B}"/>
                  </a:ext>
                </a:extLst>
              </p:cNvPr>
              <p:cNvCxnSpPr>
                <a:cxnSpLocks/>
              </p:cNvCxnSpPr>
              <p:nvPr/>
            </p:nvCxnSpPr>
            <p:spPr>
              <a:xfrm flipV="1">
                <a:off x="8356954" y="3780172"/>
                <a:ext cx="1004750" cy="1"/>
              </a:xfrm>
              <a:prstGeom prst="straightConnector1">
                <a:avLst/>
              </a:prstGeom>
              <a:noFill/>
              <a:ln w="63500" cap="flat" cmpd="sng" algn="ctr">
                <a:solidFill>
                  <a:srgbClr val="DF2A5D"/>
                </a:solidFill>
                <a:prstDash val="solid"/>
                <a:miter lim="800000"/>
                <a:tailEnd type="triangle"/>
              </a:ln>
              <a:effectLst/>
            </p:spPr>
          </p:cxnSp>
          <p:cxnSp>
            <p:nvCxnSpPr>
              <p:cNvPr id="17" name="Straight Arrow Connector 16">
                <a:extLst>
                  <a:ext uri="{FF2B5EF4-FFF2-40B4-BE49-F238E27FC236}">
                    <a16:creationId xmlns:a16="http://schemas.microsoft.com/office/drawing/2014/main" id="{E923A84E-3267-02A9-3CAA-4A8B40E19E42}"/>
                  </a:ext>
                </a:extLst>
              </p:cNvPr>
              <p:cNvCxnSpPr>
                <a:cxnSpLocks/>
                <a:stCxn id="12" idx="3"/>
              </p:cNvCxnSpPr>
              <p:nvPr/>
            </p:nvCxnSpPr>
            <p:spPr>
              <a:xfrm flipV="1">
                <a:off x="5924266" y="3786524"/>
                <a:ext cx="1132089" cy="388913"/>
              </a:xfrm>
              <a:prstGeom prst="straightConnector1">
                <a:avLst/>
              </a:prstGeom>
              <a:noFill/>
              <a:ln w="63500" cap="flat" cmpd="sng" algn="ctr">
                <a:solidFill>
                  <a:srgbClr val="DF2A5D"/>
                </a:solidFill>
                <a:prstDash val="solid"/>
                <a:miter lim="800000"/>
                <a:tailEnd type="triangle"/>
              </a:ln>
              <a:effectLst/>
            </p:spPr>
          </p:cxnSp>
          <p:pic>
            <p:nvPicPr>
              <p:cNvPr id="18" name="Picture 7">
                <a:extLst>
                  <a:ext uri="{FF2B5EF4-FFF2-40B4-BE49-F238E27FC236}">
                    <a16:creationId xmlns:a16="http://schemas.microsoft.com/office/drawing/2014/main" id="{FEF5004A-D712-4E48-DC82-E62DABE18FC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7114273" y="3213731"/>
                <a:ext cx="1056290" cy="1053869"/>
              </a:xfrm>
              <a:prstGeom prst="rect">
                <a:avLst/>
              </a:prstGeom>
              <a:effectLst>
                <a:outerShdw blurRad="50800" dist="38100" dir="2700000" algn="tl" rotWithShape="0">
                  <a:prstClr val="black">
                    <a:alpha val="40000"/>
                  </a:prstClr>
                </a:outerShdw>
              </a:effectLst>
            </p:spPr>
          </p:pic>
        </p:grpSp>
        <p:sp>
          <p:nvSpPr>
            <p:cNvPr id="8" name="Rounded Rectangle 7">
              <a:extLst>
                <a:ext uri="{FF2B5EF4-FFF2-40B4-BE49-F238E27FC236}">
                  <a16:creationId xmlns:a16="http://schemas.microsoft.com/office/drawing/2014/main" id="{856778B5-666C-66CC-0DBC-F8AF9D66E8CF}"/>
                </a:ext>
              </a:extLst>
            </p:cNvPr>
            <p:cNvSpPr/>
            <p:nvPr/>
          </p:nvSpPr>
          <p:spPr>
            <a:xfrm>
              <a:off x="4590152" y="4867389"/>
              <a:ext cx="1367693" cy="542419"/>
            </a:xfrm>
            <a:prstGeom prst="roundRect">
              <a:avLst/>
            </a:prstGeom>
            <a:solidFill>
              <a:srgbClr val="7CE8F4">
                <a:lumMod val="60000"/>
                <a:lumOff val="4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a:t>
              </a:r>
            </a:p>
          </p:txBody>
        </p:sp>
        <p:cxnSp>
          <p:nvCxnSpPr>
            <p:cNvPr id="9" name="Straight Arrow Connector 8">
              <a:extLst>
                <a:ext uri="{FF2B5EF4-FFF2-40B4-BE49-F238E27FC236}">
                  <a16:creationId xmlns:a16="http://schemas.microsoft.com/office/drawing/2014/main" id="{061253E9-C13F-3C7C-A2CA-670FCE25D8CD}"/>
                </a:ext>
              </a:extLst>
            </p:cNvPr>
            <p:cNvCxnSpPr>
              <a:cxnSpLocks/>
              <a:stCxn id="11" idx="1"/>
              <a:endCxn id="12" idx="1"/>
            </p:cNvCxnSpPr>
            <p:nvPr/>
          </p:nvCxnSpPr>
          <p:spPr>
            <a:xfrm>
              <a:off x="3882925" y="5577177"/>
              <a:ext cx="740808" cy="388912"/>
            </a:xfrm>
            <a:prstGeom prst="straightConnector1">
              <a:avLst/>
            </a:prstGeom>
            <a:noFill/>
            <a:ln w="63500" cap="flat" cmpd="sng" algn="ctr">
              <a:solidFill>
                <a:srgbClr val="DF2A5D"/>
              </a:solidFill>
              <a:prstDash val="solid"/>
              <a:miter lim="800000"/>
              <a:tailEnd type="triangle"/>
            </a:ln>
            <a:effectLst/>
          </p:spPr>
        </p:cxnSp>
        <p:cxnSp>
          <p:nvCxnSpPr>
            <p:cNvPr id="10" name="Straight Arrow Connector 9">
              <a:extLst>
                <a:ext uri="{FF2B5EF4-FFF2-40B4-BE49-F238E27FC236}">
                  <a16:creationId xmlns:a16="http://schemas.microsoft.com/office/drawing/2014/main" id="{8A6E2A01-9FEB-697F-F2C2-812746D7C8EF}"/>
                </a:ext>
              </a:extLst>
            </p:cNvPr>
            <p:cNvCxnSpPr>
              <a:cxnSpLocks/>
              <a:stCxn id="8" idx="2"/>
              <a:endCxn id="12" idx="0"/>
            </p:cNvCxnSpPr>
            <p:nvPr/>
          </p:nvCxnSpPr>
          <p:spPr>
            <a:xfrm>
              <a:off x="5273999" y="5409808"/>
              <a:ext cx="1" cy="295896"/>
            </a:xfrm>
            <a:prstGeom prst="straightConnector1">
              <a:avLst/>
            </a:prstGeom>
            <a:noFill/>
            <a:ln w="44450" cap="flat" cmpd="sng" algn="ctr">
              <a:solidFill>
                <a:srgbClr val="DF2A5D"/>
              </a:solidFill>
              <a:prstDash val="solid"/>
              <a:miter lim="800000"/>
              <a:tailEnd type="triangle"/>
            </a:ln>
            <a:effectLst/>
          </p:spPr>
        </p:cxnSp>
      </p:grpSp>
      <p:sp>
        <p:nvSpPr>
          <p:cNvPr id="19" name="TextBox 18">
            <a:extLst>
              <a:ext uri="{FF2B5EF4-FFF2-40B4-BE49-F238E27FC236}">
                <a16:creationId xmlns:a16="http://schemas.microsoft.com/office/drawing/2014/main" id="{730E3AA2-D252-6D44-6612-BFA29351C3AE}"/>
              </a:ext>
            </a:extLst>
          </p:cNvPr>
          <p:cNvSpPr txBox="1"/>
          <p:nvPr/>
        </p:nvSpPr>
        <p:spPr>
          <a:xfrm>
            <a:off x="5577268" y="4428155"/>
            <a:ext cx="1037463" cy="369332"/>
          </a:xfrm>
          <a:prstGeom prst="rect">
            <a:avLst/>
          </a:prstGeom>
          <a:noFill/>
        </p:spPr>
        <p:txBody>
          <a:bodyPr wrap="none" rtlCol="0">
            <a:spAutoFit/>
          </a:bodyPr>
          <a:lstStyle/>
          <a:p>
            <a:r>
              <a:rPr lang="en-US" dirty="0">
                <a:solidFill>
                  <a:srgbClr val="232F3E"/>
                </a:solidFill>
                <a:latin typeface="Amazon Ember Medium"/>
              </a:rPr>
              <a:t>Chatbot</a:t>
            </a:r>
          </a:p>
        </p:txBody>
      </p:sp>
    </p:spTree>
    <p:extLst>
      <p:ext uri="{BB962C8B-B14F-4D97-AF65-F5344CB8AC3E}">
        <p14:creationId xmlns:p14="http://schemas.microsoft.com/office/powerpoint/2010/main" val="1415569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EC8307-02E5-03CA-702B-34CAD1584E1F}"/>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A79BCB13-D468-F902-9C9B-93319863D031}"/>
              </a:ext>
            </a:extLst>
          </p:cNvPr>
          <p:cNvSpPr>
            <a:spLocks noGrp="1"/>
          </p:cNvSpPr>
          <p:nvPr>
            <p:ph type="title" idx="1"/>
          </p:nvPr>
        </p:nvSpPr>
        <p:spPr/>
        <p:txBody>
          <a:bodyPr/>
          <a:lstStyle/>
          <a:p>
            <a:r>
              <a:rPr lang="en-US" dirty="0"/>
              <a:t>Implementing a simple chatbot</a:t>
            </a:r>
          </a:p>
        </p:txBody>
      </p:sp>
      <p:sp>
        <p:nvSpPr>
          <p:cNvPr id="6" name="Rectangle 5">
            <a:extLst>
              <a:ext uri="{FF2B5EF4-FFF2-40B4-BE49-F238E27FC236}">
                <a16:creationId xmlns:a16="http://schemas.microsoft.com/office/drawing/2014/main" id="{B371BF63-576E-9B24-2F5D-0501818EDDEF}"/>
              </a:ext>
            </a:extLst>
          </p:cNvPr>
          <p:cNvSpPr/>
          <p:nvPr/>
        </p:nvSpPr>
        <p:spPr>
          <a:xfrm>
            <a:off x="1041042" y="1600199"/>
            <a:ext cx="10109916" cy="4616648"/>
          </a:xfrm>
          <a:prstGeom prst="rect">
            <a:avLst/>
          </a:prstGeom>
          <a:solidFill>
            <a:srgbClr val="FFFFFF"/>
          </a:solidFill>
          <a:ln>
            <a:solidFill>
              <a:srgbClr val="DF2A5D"/>
            </a:solidFill>
          </a:ln>
          <a:effectLst>
            <a:outerShdw blurRad="50800" dist="38100" dir="2700000" algn="tl" rotWithShape="0">
              <a:prstClr val="black">
                <a:alpha val="40000"/>
              </a:prstClr>
            </a:outerShdw>
          </a:effectLst>
        </p:spPr>
        <p:txBody>
          <a:bodyPr wrap="square" lIns="182880" tIns="91440" rIns="182880" bIns="9144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Create a </a:t>
            </a:r>
            <a:r>
              <a:rPr kumimoji="0" lang="en-US" sz="1800" b="1" i="0" u="none" strike="noStrike" kern="0" cap="none" spc="0" normalizeH="0" baseline="0" noProof="0" dirty="0" err="1">
                <a:ln>
                  <a:noFill/>
                </a:ln>
                <a:solidFill>
                  <a:srgbClr val="FFFFFF">
                    <a:lumMod val="65000"/>
                  </a:srgbClr>
                </a:solidFill>
                <a:effectLst/>
                <a:uLnTx/>
                <a:uFillTx/>
                <a:latin typeface="Courier New" panose="02070309020205020404" pitchFamily="49" charset="0"/>
                <a:cs typeface="Courier New" panose="02070309020205020404" pitchFamily="49" charset="0"/>
              </a:rPr>
              <a:t>ConversationBufferMemory</a:t>
            </a: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memory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ConversationBufferMemory</a:t>
            </a:r>
            <a:r>
              <a:rPr kumimoji="0" lang="en-US" sz="1800" b="1" i="0" u="none" strike="noStrike" kern="0" cap="none" spc="0" normalizeH="0" baseline="0" noProof="0" dirty="0">
                <a:ln>
                  <a:noFill/>
                </a:ln>
                <a:solidFill>
                  <a:srgbClr val="7CE8F4">
                    <a:lumMod val="75000"/>
                  </a:srgbClr>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Save context into memory</a:t>
            </a: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chain = prompt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llm</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StrOutputParser</a:t>
            </a:r>
            <a:r>
              <a:rPr kumimoji="0" lang="en-US" sz="1800" b="1" i="0" u="none" strike="noStrike" kern="0" cap="none" spc="0" normalizeH="0" baseline="0" noProof="0" dirty="0">
                <a:ln>
                  <a:noFill/>
                </a:ln>
                <a:solidFill>
                  <a:srgbClr val="7CE8F4">
                    <a:lumMod val="75000"/>
                  </a:srgbClr>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Retrieve past conversation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chat_history</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memory.load_memory_variables</a:t>
            </a:r>
            <a:r>
              <a:rPr kumimoji="0" lang="en-US" sz="1800" b="1" i="0" u="none" strike="noStrike" kern="0" cap="none" spc="0" normalizeH="0" baseline="0" noProof="0" dirty="0">
                <a:ln>
                  <a:noFill/>
                </a:ln>
                <a:solidFill>
                  <a:srgbClr val="7CE8F4">
                    <a:lumMod val="75000"/>
                  </a:srgbClr>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.get(</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chat_history</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Output context from memory</a:t>
            </a: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response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chain.invoke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chat_history</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chat_history</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"input"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user_input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rPr>
              <a:t># Save response to memory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memory.save_context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"input"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user_input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"output"</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response})</a:t>
            </a:r>
          </a:p>
        </p:txBody>
      </p:sp>
    </p:spTree>
    <p:extLst>
      <p:ext uri="{BB962C8B-B14F-4D97-AF65-F5344CB8AC3E}">
        <p14:creationId xmlns:p14="http://schemas.microsoft.com/office/powerpoint/2010/main" val="1163417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14</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Customizing chat applications</a:t>
            </a:r>
          </a:p>
        </p:txBody>
      </p:sp>
    </p:spTree>
    <p:extLst>
      <p:ext uri="{BB962C8B-B14F-4D97-AF65-F5344CB8AC3E}">
        <p14:creationId xmlns:p14="http://schemas.microsoft.com/office/powerpoint/2010/main" val="3659843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US" dirty="0"/>
              <a:t>Caching</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p:txBody>
          <a:bodyPr/>
          <a:lstStyle/>
          <a:p>
            <a:r>
              <a:rPr lang="en-US" dirty="0"/>
              <a:t>Each response generation requires substantial resources</a:t>
            </a:r>
          </a:p>
          <a:p>
            <a:pPr lvl="1"/>
            <a:r>
              <a:rPr lang="en-US" dirty="0"/>
              <a:t>Cost, compute, time</a:t>
            </a:r>
          </a:p>
          <a:p>
            <a:pPr lvl="1"/>
            <a:endParaRPr lang="en-US" dirty="0"/>
          </a:p>
          <a:p>
            <a:r>
              <a:rPr lang="en-US" dirty="0">
                <a:solidFill>
                  <a:schemeClr val="accent6"/>
                </a:solidFill>
              </a:rPr>
              <a:t>Response caching </a:t>
            </a:r>
            <a:r>
              <a:rPr lang="en-US" dirty="0"/>
              <a:t>allows retrieving answers instantly</a:t>
            </a:r>
          </a:p>
          <a:p>
            <a:pPr lvl="1"/>
            <a:r>
              <a:rPr lang="en-US" dirty="0"/>
              <a:t>Same/similar prompts can be given same responses</a:t>
            </a:r>
          </a:p>
          <a:p>
            <a:pPr lvl="1"/>
            <a:r>
              <a:rPr lang="en-US" dirty="0"/>
              <a:t>LLMs don’t need to generate a response again</a:t>
            </a:r>
          </a:p>
          <a:p>
            <a:endParaRPr lang="en-US" dirty="0"/>
          </a:p>
          <a:p>
            <a:r>
              <a:rPr lang="en-US" dirty="0"/>
              <a:t>Significantly </a:t>
            </a:r>
            <a:r>
              <a:rPr lang="en-US" dirty="0">
                <a:solidFill>
                  <a:schemeClr val="accent6"/>
                </a:solidFill>
              </a:rPr>
              <a:t>reduce inference time</a:t>
            </a:r>
          </a:p>
          <a:p>
            <a:endParaRPr lang="en-US" dirty="0"/>
          </a:p>
          <a:p>
            <a:endParaRPr lang="en-US" dirty="0"/>
          </a:p>
        </p:txBody>
      </p:sp>
    </p:spTree>
    <p:extLst>
      <p:ext uri="{BB962C8B-B14F-4D97-AF65-F5344CB8AC3E}">
        <p14:creationId xmlns:p14="http://schemas.microsoft.com/office/powerpoint/2010/main" val="3811434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A5CDBE-9A77-DF27-1DA6-2076C089B64A}"/>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AB0E0D3C-2195-C45E-8A03-D07AAD167AFC}"/>
              </a:ext>
            </a:extLst>
          </p:cNvPr>
          <p:cNvSpPr>
            <a:spLocks noGrp="1"/>
          </p:cNvSpPr>
          <p:nvPr>
            <p:ph type="title" idx="1"/>
          </p:nvPr>
        </p:nvSpPr>
        <p:spPr/>
        <p:txBody>
          <a:bodyPr/>
          <a:lstStyle/>
          <a:p>
            <a:r>
              <a:rPr lang="en-US" dirty="0"/>
              <a:t>Types of Caches</a:t>
            </a:r>
          </a:p>
        </p:txBody>
      </p:sp>
      <p:sp>
        <p:nvSpPr>
          <p:cNvPr id="4" name="Content Placeholder 3">
            <a:extLst>
              <a:ext uri="{FF2B5EF4-FFF2-40B4-BE49-F238E27FC236}">
                <a16:creationId xmlns:a16="http://schemas.microsoft.com/office/drawing/2014/main" id="{94D1B0F7-2BD6-2957-CA9A-BAD8664C5B40}"/>
              </a:ext>
            </a:extLst>
          </p:cNvPr>
          <p:cNvSpPr>
            <a:spLocks noGrp="1"/>
          </p:cNvSpPr>
          <p:nvPr>
            <p:ph idx="2"/>
          </p:nvPr>
        </p:nvSpPr>
        <p:spPr/>
        <p:txBody>
          <a:bodyPr/>
          <a:lstStyle/>
          <a:p>
            <a:r>
              <a:rPr lang="en-US" dirty="0">
                <a:solidFill>
                  <a:schemeClr val="accent6"/>
                </a:solidFill>
                <a:latin typeface="+mj-lt"/>
              </a:rPr>
              <a:t>In-memory cache</a:t>
            </a:r>
            <a:r>
              <a:rPr lang="en-US" dirty="0">
                <a:solidFill>
                  <a:schemeClr val="accent6"/>
                </a:solidFill>
              </a:rPr>
              <a:t>:</a:t>
            </a:r>
          </a:p>
          <a:p>
            <a:pPr lvl="1"/>
            <a:r>
              <a:rPr lang="en-US" dirty="0"/>
              <a:t>Store responses in application’s runtime memory</a:t>
            </a:r>
          </a:p>
          <a:p>
            <a:pPr lvl="1"/>
            <a:r>
              <a:rPr lang="en-US" dirty="0"/>
              <a:t>Fastest response time</a:t>
            </a:r>
          </a:p>
          <a:p>
            <a:pPr lvl="1"/>
            <a:r>
              <a:rPr lang="en-US" dirty="0"/>
              <a:t>Cache is lost when application runtime is reset</a:t>
            </a:r>
          </a:p>
          <a:p>
            <a:pPr marL="342900" lvl="1" indent="0">
              <a:buNone/>
            </a:pPr>
            <a:endParaRPr lang="en-US" dirty="0"/>
          </a:p>
          <a:p>
            <a:r>
              <a:rPr lang="en-US" dirty="0">
                <a:solidFill>
                  <a:schemeClr val="accent6"/>
                </a:solidFill>
                <a:latin typeface="+mj-lt"/>
              </a:rPr>
              <a:t>Persistent cache</a:t>
            </a:r>
            <a:r>
              <a:rPr lang="en-US" dirty="0">
                <a:solidFill>
                  <a:schemeClr val="accent6"/>
                </a:solidFill>
              </a:rPr>
              <a:t>: </a:t>
            </a:r>
          </a:p>
          <a:p>
            <a:pPr lvl="1"/>
            <a:r>
              <a:rPr lang="en-US" dirty="0"/>
              <a:t>Store responses offline, preferably a database</a:t>
            </a:r>
          </a:p>
          <a:p>
            <a:pPr lvl="1"/>
            <a:r>
              <a:rPr lang="en-US" dirty="0"/>
              <a:t>Persists information even when application is reset</a:t>
            </a:r>
          </a:p>
          <a:p>
            <a:pPr lvl="1"/>
            <a:r>
              <a:rPr lang="en-US" dirty="0"/>
              <a:t>More scalable solution</a:t>
            </a:r>
          </a:p>
          <a:p>
            <a:endParaRPr lang="en-US" dirty="0"/>
          </a:p>
        </p:txBody>
      </p:sp>
    </p:spTree>
    <p:extLst>
      <p:ext uri="{BB962C8B-B14F-4D97-AF65-F5344CB8AC3E}">
        <p14:creationId xmlns:p14="http://schemas.microsoft.com/office/powerpoint/2010/main" val="153541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13CFF7-4297-C5F4-5101-1E5128600785}"/>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B4DD94DE-85D3-50BF-6E72-134F4C97136C}"/>
              </a:ext>
            </a:extLst>
          </p:cNvPr>
          <p:cNvSpPr>
            <a:spLocks noGrp="1"/>
          </p:cNvSpPr>
          <p:nvPr>
            <p:ph type="title" idx="1"/>
          </p:nvPr>
        </p:nvSpPr>
        <p:spPr/>
        <p:txBody>
          <a:bodyPr/>
          <a:lstStyle/>
          <a:p>
            <a:r>
              <a:rPr lang="en-US" dirty="0"/>
              <a:t>Response caching considerations</a:t>
            </a:r>
          </a:p>
        </p:txBody>
      </p:sp>
      <p:sp>
        <p:nvSpPr>
          <p:cNvPr id="4" name="Content Placeholder 3">
            <a:extLst>
              <a:ext uri="{FF2B5EF4-FFF2-40B4-BE49-F238E27FC236}">
                <a16:creationId xmlns:a16="http://schemas.microsoft.com/office/drawing/2014/main" id="{561626A4-2480-DD80-5DBB-BDCEAA31AE5C}"/>
              </a:ext>
            </a:extLst>
          </p:cNvPr>
          <p:cNvSpPr>
            <a:spLocks noGrp="1"/>
          </p:cNvSpPr>
          <p:nvPr>
            <p:ph idx="2"/>
          </p:nvPr>
        </p:nvSpPr>
        <p:spPr/>
        <p:txBody>
          <a:bodyPr/>
          <a:lstStyle/>
          <a:p>
            <a:r>
              <a:rPr lang="en-US" dirty="0"/>
              <a:t>Most suitable for </a:t>
            </a:r>
            <a:r>
              <a:rPr lang="en-US" dirty="0">
                <a:solidFill>
                  <a:schemeClr val="accent6"/>
                </a:solidFill>
                <a:latin typeface="+mj-lt"/>
              </a:rPr>
              <a:t>deterministic</a:t>
            </a:r>
            <a:r>
              <a:rPr lang="en-US" dirty="0"/>
              <a:t> queries</a:t>
            </a:r>
          </a:p>
          <a:p>
            <a:pPr lvl="1"/>
            <a:r>
              <a:rPr lang="en-US" dirty="0"/>
              <a:t>Temperature is zero</a:t>
            </a:r>
          </a:p>
          <a:p>
            <a:pPr lvl="1"/>
            <a:r>
              <a:rPr lang="en-US" dirty="0"/>
              <a:t>Creative responses might be affected by caching</a:t>
            </a:r>
          </a:p>
          <a:p>
            <a:endParaRPr lang="en-US" dirty="0"/>
          </a:p>
          <a:p>
            <a:r>
              <a:rPr lang="en-US" dirty="0"/>
              <a:t>Cached information might be </a:t>
            </a:r>
            <a:r>
              <a:rPr lang="en-US" dirty="0">
                <a:solidFill>
                  <a:schemeClr val="accent6"/>
                </a:solidFill>
                <a:latin typeface="+mj-lt"/>
              </a:rPr>
              <a:t>outdated</a:t>
            </a:r>
          </a:p>
          <a:p>
            <a:pPr lvl="1"/>
            <a:r>
              <a:rPr lang="en-US" dirty="0"/>
              <a:t>Set an expiration</a:t>
            </a:r>
          </a:p>
          <a:p>
            <a:pPr lvl="1"/>
            <a:endParaRPr lang="en-US" dirty="0"/>
          </a:p>
          <a:p>
            <a:r>
              <a:rPr lang="en-US" dirty="0"/>
              <a:t>Be mindful of </a:t>
            </a:r>
            <a:r>
              <a:rPr lang="en-US" dirty="0">
                <a:solidFill>
                  <a:schemeClr val="accent6"/>
                </a:solidFill>
                <a:latin typeface="+mj-lt"/>
              </a:rPr>
              <a:t>storage requirements</a:t>
            </a:r>
          </a:p>
          <a:p>
            <a:pPr lvl="1"/>
            <a:r>
              <a:rPr lang="en-US" dirty="0"/>
              <a:t>Use an appropriately scaled database</a:t>
            </a:r>
          </a:p>
          <a:p>
            <a:endParaRPr lang="en-US" dirty="0"/>
          </a:p>
        </p:txBody>
      </p:sp>
    </p:spTree>
    <p:extLst>
      <p:ext uri="{BB962C8B-B14F-4D97-AF65-F5344CB8AC3E}">
        <p14:creationId xmlns:p14="http://schemas.microsoft.com/office/powerpoint/2010/main" val="3508478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B25461-DE24-A4E7-869A-E03791E576A7}"/>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0E9B18FD-7EC6-250C-FE3D-DA44ECAFC927}"/>
              </a:ext>
            </a:extLst>
          </p:cNvPr>
          <p:cNvSpPr>
            <a:spLocks noGrp="1"/>
          </p:cNvSpPr>
          <p:nvPr>
            <p:ph type="title" idx="1"/>
          </p:nvPr>
        </p:nvSpPr>
        <p:spPr/>
        <p:txBody>
          <a:bodyPr/>
          <a:lstStyle/>
          <a:p>
            <a:r>
              <a:rPr lang="en-US" dirty="0"/>
              <a:t>Issue with long conversations</a:t>
            </a:r>
          </a:p>
        </p:txBody>
      </p:sp>
      <p:sp>
        <p:nvSpPr>
          <p:cNvPr id="4" name="Content Placeholder 3">
            <a:extLst>
              <a:ext uri="{FF2B5EF4-FFF2-40B4-BE49-F238E27FC236}">
                <a16:creationId xmlns:a16="http://schemas.microsoft.com/office/drawing/2014/main" id="{D19EAF81-1750-5D19-FC9F-8253332A6FA0}"/>
              </a:ext>
            </a:extLst>
          </p:cNvPr>
          <p:cNvSpPr>
            <a:spLocks noGrp="1"/>
          </p:cNvSpPr>
          <p:nvPr>
            <p:ph idx="2"/>
          </p:nvPr>
        </p:nvSpPr>
        <p:spPr/>
        <p:txBody>
          <a:bodyPr/>
          <a:lstStyle/>
          <a:p>
            <a:r>
              <a:rPr lang="en-US" dirty="0"/>
              <a:t>LLMs have </a:t>
            </a:r>
            <a:r>
              <a:rPr lang="en-US" dirty="0">
                <a:solidFill>
                  <a:schemeClr val="accent6"/>
                </a:solidFill>
                <a:latin typeface="+mj-lt"/>
              </a:rPr>
              <a:t>finite</a:t>
            </a:r>
            <a:r>
              <a:rPr lang="en-US" dirty="0"/>
              <a:t> context window</a:t>
            </a:r>
          </a:p>
          <a:p>
            <a:pPr lvl="1"/>
            <a:r>
              <a:rPr lang="en-US" dirty="0"/>
              <a:t>Number of tokens they can access while responding</a:t>
            </a:r>
          </a:p>
          <a:p>
            <a:endParaRPr lang="en-US" dirty="0"/>
          </a:p>
          <a:p>
            <a:r>
              <a:rPr lang="en-US" dirty="0"/>
              <a:t>The conversation might have </a:t>
            </a:r>
            <a:r>
              <a:rPr lang="en-US" dirty="0">
                <a:solidFill>
                  <a:schemeClr val="accent6"/>
                </a:solidFill>
                <a:latin typeface="+mj-lt"/>
              </a:rPr>
              <a:t>redundant</a:t>
            </a:r>
            <a:r>
              <a:rPr lang="en-US" dirty="0">
                <a:solidFill>
                  <a:schemeClr val="accent1"/>
                </a:solidFill>
                <a:latin typeface="+mj-lt"/>
              </a:rPr>
              <a:t> or </a:t>
            </a:r>
            <a:r>
              <a:rPr lang="en-US" dirty="0">
                <a:solidFill>
                  <a:schemeClr val="accent6"/>
                </a:solidFill>
                <a:latin typeface="+mj-lt"/>
              </a:rPr>
              <a:t>obsolete</a:t>
            </a:r>
            <a:r>
              <a:rPr lang="en-US" dirty="0">
                <a:solidFill>
                  <a:schemeClr val="accent1"/>
                </a:solidFill>
                <a:latin typeface="+mj-lt"/>
              </a:rPr>
              <a:t> </a:t>
            </a:r>
            <a:r>
              <a:rPr lang="en-US" dirty="0"/>
              <a:t>data</a:t>
            </a:r>
          </a:p>
          <a:p>
            <a:pPr lvl="1"/>
            <a:r>
              <a:rPr lang="en-US" dirty="0"/>
              <a:t>Is every message just as important?</a:t>
            </a:r>
          </a:p>
          <a:p>
            <a:pPr lvl="1"/>
            <a:endParaRPr lang="en-US" dirty="0"/>
          </a:p>
          <a:p>
            <a:r>
              <a:rPr lang="en-US" dirty="0"/>
              <a:t>Longer conversations incur compounded growing costs</a:t>
            </a:r>
          </a:p>
          <a:p>
            <a:pPr lvl="1"/>
            <a:r>
              <a:rPr lang="en-US" dirty="0">
                <a:solidFill>
                  <a:schemeClr val="accent5"/>
                </a:solidFill>
                <a:latin typeface="+mj-lt"/>
              </a:rPr>
              <a:t>New message + all the old messages</a:t>
            </a:r>
          </a:p>
          <a:p>
            <a:endParaRPr lang="en-US" dirty="0"/>
          </a:p>
        </p:txBody>
      </p:sp>
    </p:spTree>
    <p:extLst>
      <p:ext uri="{BB962C8B-B14F-4D97-AF65-F5344CB8AC3E}">
        <p14:creationId xmlns:p14="http://schemas.microsoft.com/office/powerpoint/2010/main" val="1669581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AA9C29-807B-3454-40D1-EF306D39D935}"/>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71AA82E4-B681-BA24-3DC5-CB163E9DA9AD}"/>
              </a:ext>
            </a:extLst>
          </p:cNvPr>
          <p:cNvSpPr>
            <a:spLocks noGrp="1"/>
          </p:cNvSpPr>
          <p:nvPr>
            <p:ph type="title" idx="1"/>
          </p:nvPr>
        </p:nvSpPr>
        <p:spPr/>
        <p:txBody>
          <a:bodyPr/>
          <a:lstStyle/>
          <a:p>
            <a:r>
              <a:rPr lang="en-US" dirty="0"/>
              <a:t>Conversation Buffer Window Memory</a:t>
            </a:r>
          </a:p>
        </p:txBody>
      </p:sp>
      <p:sp>
        <p:nvSpPr>
          <p:cNvPr id="4" name="Content Placeholder 3">
            <a:extLst>
              <a:ext uri="{FF2B5EF4-FFF2-40B4-BE49-F238E27FC236}">
                <a16:creationId xmlns:a16="http://schemas.microsoft.com/office/drawing/2014/main" id="{D2894B69-2B70-82F9-20BD-216C719353A4}"/>
              </a:ext>
            </a:extLst>
          </p:cNvPr>
          <p:cNvSpPr>
            <a:spLocks noGrp="1"/>
          </p:cNvSpPr>
          <p:nvPr>
            <p:ph idx="2"/>
          </p:nvPr>
        </p:nvSpPr>
        <p:spPr>
          <a:xfrm>
            <a:off x="365760" y="1165536"/>
            <a:ext cx="11466576" cy="1906848"/>
          </a:xfrm>
        </p:spPr>
        <p:txBody>
          <a:bodyPr/>
          <a:lstStyle/>
          <a:p>
            <a:r>
              <a:rPr lang="en-US" sz="2800" dirty="0">
                <a:solidFill>
                  <a:schemeClr val="tx1"/>
                </a:solidFill>
                <a:latin typeface="+mn-lt"/>
              </a:rPr>
              <a:t>Maintains the last ‘k’ interactions</a:t>
            </a:r>
          </a:p>
          <a:p>
            <a:r>
              <a:rPr lang="en-US" sz="2800" dirty="0">
                <a:solidFill>
                  <a:schemeClr val="tx1"/>
                </a:solidFill>
                <a:latin typeface="+mn-lt"/>
              </a:rPr>
              <a:t>Sliding window of the most recent interactions</a:t>
            </a:r>
          </a:p>
          <a:p>
            <a:r>
              <a:rPr lang="en-US" sz="2800" dirty="0">
                <a:solidFill>
                  <a:schemeClr val="tx1"/>
                </a:solidFill>
                <a:latin typeface="+mn-lt"/>
              </a:rPr>
              <a:t>Prevents buffer from getting too large</a:t>
            </a:r>
          </a:p>
          <a:p>
            <a:endParaRPr lang="en-US" dirty="0"/>
          </a:p>
          <a:p>
            <a:endParaRPr lang="en-US" dirty="0"/>
          </a:p>
        </p:txBody>
      </p:sp>
      <p:sp>
        <p:nvSpPr>
          <p:cNvPr id="5" name="Rectangle 4">
            <a:extLst>
              <a:ext uri="{FF2B5EF4-FFF2-40B4-BE49-F238E27FC236}">
                <a16:creationId xmlns:a16="http://schemas.microsoft.com/office/drawing/2014/main" id="{9F874755-D1AF-79D8-A65F-6820778CC485}"/>
              </a:ext>
            </a:extLst>
          </p:cNvPr>
          <p:cNvSpPr/>
          <p:nvPr/>
        </p:nvSpPr>
        <p:spPr>
          <a:xfrm>
            <a:off x="1647679" y="3027527"/>
            <a:ext cx="8896641" cy="3508653"/>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lIns="182880" tIns="91440" rIns="182880" bIns="91440">
            <a:spAutoFit/>
          </a:bodyPr>
          <a:lstStyle/>
          <a:p>
            <a:r>
              <a:rPr lang="en-US" b="1" dirty="0">
                <a:solidFill>
                  <a:schemeClr val="bg1">
                    <a:lumMod val="65000"/>
                  </a:schemeClr>
                </a:solidFill>
                <a:latin typeface="Courier New" panose="02070309020205020404" pitchFamily="49" charset="0"/>
                <a:cs typeface="Courier New" panose="02070309020205020404" pitchFamily="49" charset="0"/>
              </a:rPr>
              <a:t># Create a </a:t>
            </a:r>
            <a:r>
              <a:rPr lang="en-US" b="1" dirty="0" err="1">
                <a:solidFill>
                  <a:schemeClr val="bg1">
                    <a:lumMod val="65000"/>
                  </a:schemeClr>
                </a:solidFill>
                <a:latin typeface="Courier New" panose="02070309020205020404" pitchFamily="49" charset="0"/>
                <a:cs typeface="Courier New" panose="02070309020205020404" pitchFamily="49" charset="0"/>
              </a:rPr>
              <a:t>ConversationBufferWindowMemory</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memory = </a:t>
            </a:r>
            <a:r>
              <a:rPr lang="en-US" b="1" dirty="0" err="1">
                <a:latin typeface="Courier New" panose="02070309020205020404" pitchFamily="49" charset="0"/>
                <a:cs typeface="Courier New" panose="02070309020205020404" pitchFamily="49" charset="0"/>
              </a:rPr>
              <a:t>ConversationBufferWindowMemory</a:t>
            </a:r>
            <a:r>
              <a:rPr lang="en-US" b="1" dirty="0">
                <a:solidFill>
                  <a:srgbClr val="00B0F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k=1</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Save context into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memory.save_context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input”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”Hi</a:t>
            </a:r>
            <a:r>
              <a:rPr lang="en-US" b="1" dirty="0">
                <a:solidFill>
                  <a:srgbClr val="C00000"/>
                </a:solidFill>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output”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”What’s</a:t>
            </a:r>
            <a:r>
              <a:rPr lang="en-US" b="1" dirty="0">
                <a:solidFill>
                  <a:srgbClr val="C00000"/>
                </a:solidFill>
                <a:latin typeface="Courier New" panose="02070309020205020404" pitchFamily="49" charset="0"/>
                <a:cs typeface="Courier New" panose="02070309020205020404" pitchFamily="49" charset="0"/>
              </a:rPr>
              <a:t> up?”</a:t>
            </a:r>
            <a:r>
              <a:rPr lang="en-US" b="1" dirty="0">
                <a:solidFill>
                  <a:srgbClr val="00B0F0"/>
                </a:solidFill>
                <a:latin typeface="Courier New" panose="02070309020205020404" pitchFamily="49" charset="0"/>
                <a:cs typeface="Courier New" panose="02070309020205020404" pitchFamily="49" charset="0"/>
              </a:rPr>
              <a:t>})</a:t>
            </a:r>
          </a:p>
          <a:p>
            <a:r>
              <a:rPr lang="en-US" b="1" dirty="0" err="1">
                <a:latin typeface="Courier New" panose="02070309020205020404" pitchFamily="49" charset="0"/>
                <a:cs typeface="Courier New" panose="02070309020205020404" pitchFamily="49" charset="0"/>
              </a:rPr>
              <a:t>memory.save_context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input”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”Not</a:t>
            </a:r>
            <a:r>
              <a:rPr lang="en-US" b="1" dirty="0">
                <a:solidFill>
                  <a:srgbClr val="C00000"/>
                </a:solidFill>
                <a:latin typeface="Courier New" panose="02070309020205020404" pitchFamily="49" charset="0"/>
                <a:cs typeface="Courier New" panose="02070309020205020404" pitchFamily="49" charset="0"/>
              </a:rPr>
              <a:t> much. You?”</a:t>
            </a:r>
            <a:r>
              <a:rPr lang="en-US" b="1" dirty="0">
                <a:solidFill>
                  <a:srgbClr val="00B0F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output”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”Not</a:t>
            </a:r>
            <a:r>
              <a:rPr lang="en-US" b="1" dirty="0">
                <a:solidFill>
                  <a:srgbClr val="C00000"/>
                </a:solidFill>
                <a:latin typeface="Courier New" panose="02070309020205020404" pitchFamily="49" charset="0"/>
                <a:cs typeface="Courier New" panose="02070309020205020404" pitchFamily="49" charset="0"/>
              </a:rPr>
              <a:t> much”</a:t>
            </a:r>
            <a:r>
              <a:rPr lang="en-US" b="1" dirty="0">
                <a:solidFill>
                  <a:srgbClr val="00B0F0"/>
                </a:solidFill>
                <a:latin typeface="Courier New" panose="02070309020205020404" pitchFamily="49" charset="0"/>
                <a:cs typeface="Courier New" panose="02070309020205020404" pitchFamily="49" charset="0"/>
              </a:rPr>
              <a:t>})</a:t>
            </a:r>
          </a:p>
          <a:p>
            <a:endParaRPr lang="en-US" b="1" dirty="0">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Output context from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memory.load_memory_variables</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rgbClr val="00D200"/>
                </a:solidFill>
                <a:latin typeface="Courier New" panose="02070309020205020404" pitchFamily="49" charset="0"/>
                <a:cs typeface="Courier New" panose="02070309020205020404" pitchFamily="49" charset="0"/>
              </a:rPr>
              <a:t>&gt;&gt; {‘history’: ‘</a:t>
            </a:r>
            <a:r>
              <a:rPr lang="en-US" b="1" dirty="0" err="1">
                <a:solidFill>
                  <a:srgbClr val="00D200"/>
                </a:solidFill>
                <a:latin typeface="Courier New" panose="02070309020205020404" pitchFamily="49" charset="0"/>
                <a:cs typeface="Courier New" panose="02070309020205020404" pitchFamily="49" charset="0"/>
              </a:rPr>
              <a:t>Human:Not</a:t>
            </a:r>
            <a:r>
              <a:rPr lang="en-US" b="1" dirty="0">
                <a:solidFill>
                  <a:srgbClr val="00D200"/>
                </a:solidFill>
                <a:latin typeface="Courier New" panose="02070309020205020404" pitchFamily="49" charset="0"/>
                <a:cs typeface="Courier New" panose="02070309020205020404" pitchFamily="49" charset="0"/>
              </a:rPr>
              <a:t> much. You?\</a:t>
            </a:r>
            <a:r>
              <a:rPr lang="en-US" b="1" dirty="0" err="1">
                <a:solidFill>
                  <a:srgbClr val="00D200"/>
                </a:solidFill>
                <a:latin typeface="Courier New" panose="02070309020205020404" pitchFamily="49" charset="0"/>
                <a:cs typeface="Courier New" panose="02070309020205020404" pitchFamily="49" charset="0"/>
              </a:rPr>
              <a:t>nAI:Not</a:t>
            </a:r>
            <a:r>
              <a:rPr lang="en-US" b="1" dirty="0">
                <a:solidFill>
                  <a:srgbClr val="00D200"/>
                </a:solidFill>
                <a:latin typeface="Courier New" panose="02070309020205020404" pitchFamily="49" charset="0"/>
                <a:cs typeface="Courier New" panose="02070309020205020404" pitchFamily="49" charset="0"/>
              </a:rPr>
              <a:t> Much’}</a:t>
            </a:r>
          </a:p>
        </p:txBody>
      </p:sp>
    </p:spTree>
    <p:extLst>
      <p:ext uri="{BB962C8B-B14F-4D97-AF65-F5344CB8AC3E}">
        <p14:creationId xmlns:p14="http://schemas.microsoft.com/office/powerpoint/2010/main" val="2738960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51BA9B-1683-EBA6-4712-FDBA3D98C615}"/>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7094C749-FC6E-1173-3E62-42911DD8ABD9}"/>
              </a:ext>
            </a:extLst>
          </p:cNvPr>
          <p:cNvSpPr>
            <a:spLocks noGrp="1"/>
          </p:cNvSpPr>
          <p:nvPr>
            <p:ph type="title" idx="1"/>
          </p:nvPr>
        </p:nvSpPr>
        <p:spPr/>
        <p:txBody>
          <a:bodyPr/>
          <a:lstStyle/>
          <a:p>
            <a:r>
              <a:rPr lang="en-US" dirty="0"/>
              <a:t>Conversation Summary Memory</a:t>
            </a:r>
          </a:p>
        </p:txBody>
      </p:sp>
      <p:sp>
        <p:nvSpPr>
          <p:cNvPr id="4" name="Content Placeholder 3">
            <a:extLst>
              <a:ext uri="{FF2B5EF4-FFF2-40B4-BE49-F238E27FC236}">
                <a16:creationId xmlns:a16="http://schemas.microsoft.com/office/drawing/2014/main" id="{730C3C39-3FCB-639C-D8E6-A9AA345BF3F0}"/>
              </a:ext>
            </a:extLst>
          </p:cNvPr>
          <p:cNvSpPr>
            <a:spLocks noGrp="1"/>
          </p:cNvSpPr>
          <p:nvPr>
            <p:ph idx="2"/>
          </p:nvPr>
        </p:nvSpPr>
        <p:spPr>
          <a:xfrm>
            <a:off x="365760" y="1165536"/>
            <a:ext cx="11466576" cy="1626432"/>
          </a:xfrm>
        </p:spPr>
        <p:txBody>
          <a:bodyPr/>
          <a:lstStyle/>
          <a:p>
            <a:r>
              <a:rPr lang="en-US" dirty="0">
                <a:solidFill>
                  <a:schemeClr val="tx1"/>
                </a:solidFill>
                <a:latin typeface="+mn-lt"/>
              </a:rPr>
              <a:t>Uses an LLM to summarize the history.</a:t>
            </a:r>
          </a:p>
          <a:p>
            <a:pPr lvl="1"/>
            <a:r>
              <a:rPr lang="en-US" dirty="0">
                <a:solidFill>
                  <a:schemeClr val="tx1"/>
                </a:solidFill>
                <a:latin typeface="+mn-lt"/>
              </a:rPr>
              <a:t>Useful for long messages or long conversations</a:t>
            </a:r>
          </a:p>
          <a:p>
            <a:pPr lvl="1"/>
            <a:r>
              <a:rPr lang="en-US" dirty="0">
                <a:latin typeface="+mn-lt"/>
              </a:rPr>
              <a:t>Might preserve critical information from older messages.</a:t>
            </a:r>
            <a:endParaRPr lang="en-US" dirty="0">
              <a:solidFill>
                <a:schemeClr val="tx2"/>
              </a:solidFill>
              <a:latin typeface="+mj-lt"/>
            </a:endParaRPr>
          </a:p>
          <a:p>
            <a:endParaRPr lang="en-US" dirty="0"/>
          </a:p>
        </p:txBody>
      </p:sp>
      <p:sp>
        <p:nvSpPr>
          <p:cNvPr id="5" name="Rectangle 4">
            <a:extLst>
              <a:ext uri="{FF2B5EF4-FFF2-40B4-BE49-F238E27FC236}">
                <a16:creationId xmlns:a16="http://schemas.microsoft.com/office/drawing/2014/main" id="{6A5A879A-C1E2-36FD-43E0-1458F8977BCD}"/>
              </a:ext>
            </a:extLst>
          </p:cNvPr>
          <p:cNvSpPr/>
          <p:nvPr/>
        </p:nvSpPr>
        <p:spPr>
          <a:xfrm>
            <a:off x="1647679" y="3268015"/>
            <a:ext cx="8896641" cy="3231654"/>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lIns="182880" tIns="91440" rIns="182880" bIns="91440">
            <a:spAutoFit/>
          </a:bodyPr>
          <a:lstStyle/>
          <a:p>
            <a:r>
              <a:rPr lang="en-US" b="1" dirty="0">
                <a:solidFill>
                  <a:schemeClr val="bg1">
                    <a:lumMod val="65000"/>
                  </a:schemeClr>
                </a:solidFill>
                <a:latin typeface="Courier New" panose="02070309020205020404" pitchFamily="49" charset="0"/>
                <a:cs typeface="Courier New" panose="02070309020205020404" pitchFamily="49" charset="0"/>
              </a:rPr>
              <a:t># Create a </a:t>
            </a:r>
            <a:r>
              <a:rPr lang="en-US" b="1" dirty="0" err="1">
                <a:solidFill>
                  <a:schemeClr val="bg1">
                    <a:lumMod val="65000"/>
                  </a:schemeClr>
                </a:solidFill>
                <a:latin typeface="Courier New" panose="02070309020205020404" pitchFamily="49" charset="0"/>
                <a:cs typeface="Courier New" panose="02070309020205020404" pitchFamily="49" charset="0"/>
              </a:rPr>
              <a:t>ConversationSummaryMemory</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memory = </a:t>
            </a:r>
            <a:r>
              <a:rPr lang="en-US" b="1" dirty="0" err="1">
                <a:latin typeface="Courier New" panose="02070309020205020404" pitchFamily="49" charset="0"/>
                <a:cs typeface="Courier New" panose="02070309020205020404" pitchFamily="49" charset="0"/>
              </a:rPr>
              <a:t>ConversationSummaryMemory</a:t>
            </a:r>
            <a:r>
              <a:rPr lang="en-US" b="1" dirty="0">
                <a:solidFill>
                  <a:srgbClr val="00B0F0"/>
                </a:solidFill>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llm</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llm</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Save context into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memory.save_context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input”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”Hi</a:t>
            </a:r>
            <a:r>
              <a:rPr lang="en-US" b="1" dirty="0">
                <a:solidFill>
                  <a:srgbClr val="C00000"/>
                </a:solidFill>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output”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”What’s</a:t>
            </a:r>
            <a:r>
              <a:rPr lang="en-US" b="1" dirty="0">
                <a:solidFill>
                  <a:srgbClr val="C00000"/>
                </a:solidFill>
                <a:latin typeface="Courier New" panose="02070309020205020404" pitchFamily="49" charset="0"/>
                <a:cs typeface="Courier New" panose="02070309020205020404" pitchFamily="49" charset="0"/>
              </a:rPr>
              <a:t> up?”</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chemeClr val="bg1">
                  <a:lumMod val="65000"/>
                </a:schemeClr>
              </a:solidFill>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Output context from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memory.load_memory_variables</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rgbClr val="00D200"/>
                </a:solidFill>
                <a:latin typeface="Courier New" panose="02070309020205020404" pitchFamily="49" charset="0"/>
                <a:cs typeface="Courier New" panose="02070309020205020404" pitchFamily="49" charset="0"/>
              </a:rPr>
              <a:t>&gt;&gt; {‘history’: ‘\</a:t>
            </a:r>
            <a:r>
              <a:rPr lang="en-US" b="1" dirty="0" err="1">
                <a:solidFill>
                  <a:srgbClr val="00D200"/>
                </a:solidFill>
                <a:latin typeface="Courier New" panose="02070309020205020404" pitchFamily="49" charset="0"/>
                <a:cs typeface="Courier New" panose="02070309020205020404" pitchFamily="49" charset="0"/>
              </a:rPr>
              <a:t>nThe</a:t>
            </a:r>
            <a:r>
              <a:rPr lang="en-US" b="1" dirty="0">
                <a:solidFill>
                  <a:srgbClr val="00D200"/>
                </a:solidFill>
                <a:latin typeface="Courier New" panose="02070309020205020404" pitchFamily="49" charset="0"/>
                <a:cs typeface="Courier New" panose="02070309020205020404" pitchFamily="49" charset="0"/>
              </a:rPr>
              <a:t> human greets the AI, to which the AI responds.’}</a:t>
            </a:r>
          </a:p>
        </p:txBody>
      </p:sp>
    </p:spTree>
    <p:extLst>
      <p:ext uri="{BB962C8B-B14F-4D97-AF65-F5344CB8AC3E}">
        <p14:creationId xmlns:p14="http://schemas.microsoft.com/office/powerpoint/2010/main" val="667501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DF32B9-7038-D97D-1E7C-4494B90A4B97}"/>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CF7B4385-6106-05A3-AF0F-18939B549CA1}"/>
              </a:ext>
            </a:extLst>
          </p:cNvPr>
          <p:cNvSpPr>
            <a:spLocks noGrp="1"/>
          </p:cNvSpPr>
          <p:nvPr>
            <p:ph type="title" idx="1"/>
          </p:nvPr>
        </p:nvSpPr>
        <p:spPr/>
        <p:txBody>
          <a:bodyPr/>
          <a:lstStyle/>
          <a:p>
            <a:r>
              <a:rPr lang="en-US" dirty="0"/>
              <a:t>Versatility of context</a:t>
            </a:r>
          </a:p>
        </p:txBody>
      </p:sp>
      <p:sp>
        <p:nvSpPr>
          <p:cNvPr id="4" name="Content Placeholder 3">
            <a:extLst>
              <a:ext uri="{FF2B5EF4-FFF2-40B4-BE49-F238E27FC236}">
                <a16:creationId xmlns:a16="http://schemas.microsoft.com/office/drawing/2014/main" id="{498CB2E1-E04D-5454-F78C-B5332D928026}"/>
              </a:ext>
            </a:extLst>
          </p:cNvPr>
          <p:cNvSpPr>
            <a:spLocks noGrp="1"/>
          </p:cNvSpPr>
          <p:nvPr>
            <p:ph idx="2"/>
          </p:nvPr>
        </p:nvSpPr>
        <p:spPr/>
        <p:txBody>
          <a:bodyPr/>
          <a:lstStyle/>
          <a:p>
            <a:r>
              <a:rPr lang="en-US" sz="3600" dirty="0"/>
              <a:t>Context in the prompt can be more than just past interactions!</a:t>
            </a:r>
          </a:p>
          <a:p>
            <a:pPr lvl="1"/>
            <a:r>
              <a:rPr lang="en-US" sz="3200" dirty="0">
                <a:solidFill>
                  <a:schemeClr val="accent5"/>
                </a:solidFill>
              </a:rPr>
              <a:t>Relevant information</a:t>
            </a:r>
          </a:p>
          <a:p>
            <a:pPr lvl="1"/>
            <a:r>
              <a:rPr lang="en-US" sz="3200" dirty="0">
                <a:solidFill>
                  <a:schemeClr val="accent5"/>
                </a:solidFill>
              </a:rPr>
              <a:t>External data</a:t>
            </a:r>
          </a:p>
          <a:p>
            <a:pPr lvl="1"/>
            <a:r>
              <a:rPr lang="en-US" sz="3200" dirty="0">
                <a:solidFill>
                  <a:schemeClr val="accent5"/>
                </a:solidFill>
              </a:rPr>
              <a:t>Human feedback</a:t>
            </a:r>
          </a:p>
          <a:p>
            <a:endParaRPr lang="en-US" dirty="0"/>
          </a:p>
        </p:txBody>
      </p:sp>
    </p:spTree>
    <p:extLst>
      <p:ext uri="{BB962C8B-B14F-4D97-AF65-F5344CB8AC3E}">
        <p14:creationId xmlns:p14="http://schemas.microsoft.com/office/powerpoint/2010/main" val="3918367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5C0360-D9D0-A1F6-5556-E0603A061460}"/>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CCFF8EAB-3CAB-DFDD-205D-375827BD692F}"/>
              </a:ext>
            </a:extLst>
          </p:cNvPr>
          <p:cNvSpPr>
            <a:spLocks noGrp="1"/>
          </p:cNvSpPr>
          <p:nvPr>
            <p:ph type="title" idx="1"/>
          </p:nvPr>
        </p:nvSpPr>
        <p:spPr/>
        <p:txBody>
          <a:bodyPr/>
          <a:lstStyle/>
          <a:p>
            <a:r>
              <a:rPr lang="en-US" dirty="0"/>
              <a:t>Chatting with Documents</a:t>
            </a:r>
          </a:p>
        </p:txBody>
      </p:sp>
      <p:sp>
        <p:nvSpPr>
          <p:cNvPr id="4" name="Content Placeholder 3">
            <a:extLst>
              <a:ext uri="{FF2B5EF4-FFF2-40B4-BE49-F238E27FC236}">
                <a16:creationId xmlns:a16="http://schemas.microsoft.com/office/drawing/2014/main" id="{047DDBCB-16C0-24DE-1741-E053B2BACB56}"/>
              </a:ext>
            </a:extLst>
          </p:cNvPr>
          <p:cNvSpPr>
            <a:spLocks noGrp="1"/>
          </p:cNvSpPr>
          <p:nvPr>
            <p:ph idx="2"/>
          </p:nvPr>
        </p:nvSpPr>
        <p:spPr>
          <a:xfrm>
            <a:off x="365760" y="1165536"/>
            <a:ext cx="11466576" cy="731520"/>
          </a:xfrm>
        </p:spPr>
        <p:txBody>
          <a:bodyPr/>
          <a:lstStyle/>
          <a:p>
            <a:r>
              <a:rPr lang="en-US" dirty="0"/>
              <a:t>Prompt with the entire text of the document(s)</a:t>
            </a:r>
          </a:p>
          <a:p>
            <a:endParaRPr lang="en-US" dirty="0"/>
          </a:p>
        </p:txBody>
      </p:sp>
      <p:grpSp>
        <p:nvGrpSpPr>
          <p:cNvPr id="26" name="Group 25">
            <a:extLst>
              <a:ext uri="{FF2B5EF4-FFF2-40B4-BE49-F238E27FC236}">
                <a16:creationId xmlns:a16="http://schemas.microsoft.com/office/drawing/2014/main" id="{D41C6B4B-6D45-EB09-79BC-A1495B4DBE7B}"/>
              </a:ext>
            </a:extLst>
          </p:cNvPr>
          <p:cNvGrpSpPr/>
          <p:nvPr/>
        </p:nvGrpSpPr>
        <p:grpSpPr>
          <a:xfrm>
            <a:off x="460859" y="2404427"/>
            <a:ext cx="11270282" cy="4317564"/>
            <a:chOff x="460859" y="1672479"/>
            <a:chExt cx="11270282" cy="4317564"/>
          </a:xfrm>
        </p:grpSpPr>
        <p:grpSp>
          <p:nvGrpSpPr>
            <p:cNvPr id="27" name="Group 26">
              <a:extLst>
                <a:ext uri="{FF2B5EF4-FFF2-40B4-BE49-F238E27FC236}">
                  <a16:creationId xmlns:a16="http://schemas.microsoft.com/office/drawing/2014/main" id="{5D639027-5BB7-2993-71B2-A871963591BD}"/>
                </a:ext>
              </a:extLst>
            </p:cNvPr>
            <p:cNvGrpSpPr/>
            <p:nvPr/>
          </p:nvGrpSpPr>
          <p:grpSpPr>
            <a:xfrm>
              <a:off x="460859" y="1672479"/>
              <a:ext cx="11270282" cy="4317564"/>
              <a:chOff x="460859" y="1651048"/>
              <a:chExt cx="11270282" cy="4317564"/>
            </a:xfrm>
          </p:grpSpPr>
          <p:grpSp>
            <p:nvGrpSpPr>
              <p:cNvPr id="29" name="Group 28">
                <a:extLst>
                  <a:ext uri="{FF2B5EF4-FFF2-40B4-BE49-F238E27FC236}">
                    <a16:creationId xmlns:a16="http://schemas.microsoft.com/office/drawing/2014/main" id="{9B5E4830-2000-6274-7348-EBA6C17BB061}"/>
                  </a:ext>
                </a:extLst>
              </p:cNvPr>
              <p:cNvGrpSpPr/>
              <p:nvPr/>
            </p:nvGrpSpPr>
            <p:grpSpPr>
              <a:xfrm>
                <a:off x="460859" y="2114527"/>
                <a:ext cx="11270282" cy="2093142"/>
                <a:chOff x="575929" y="1118422"/>
                <a:chExt cx="11270282" cy="2093142"/>
              </a:xfrm>
            </p:grpSpPr>
            <p:sp>
              <p:nvSpPr>
                <p:cNvPr id="38" name="Rounded Rectangle 37">
                  <a:extLst>
                    <a:ext uri="{FF2B5EF4-FFF2-40B4-BE49-F238E27FC236}">
                      <a16:creationId xmlns:a16="http://schemas.microsoft.com/office/drawing/2014/main" id="{B1C4B820-8A6F-7EE4-CBAB-997F8DA9E220}"/>
                    </a:ext>
                  </a:extLst>
                </p:cNvPr>
                <p:cNvSpPr/>
                <p:nvPr/>
              </p:nvSpPr>
              <p:spPr>
                <a:xfrm>
                  <a:off x="3882925" y="1118422"/>
                  <a:ext cx="4474029" cy="2093142"/>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latin typeface="Amazon Ember Light"/>
                    <a:ea typeface="+mn-ea"/>
                    <a:cs typeface="+mn-cs"/>
                  </a:endParaRPr>
                </a:p>
              </p:txBody>
            </p:sp>
            <p:sp>
              <p:nvSpPr>
                <p:cNvPr id="39" name="Rounded Rectangle 38">
                  <a:extLst>
                    <a:ext uri="{FF2B5EF4-FFF2-40B4-BE49-F238E27FC236}">
                      <a16:creationId xmlns:a16="http://schemas.microsoft.com/office/drawing/2014/main" id="{AD8115F6-77CD-2839-AC46-10307F284E0A}"/>
                    </a:ext>
                  </a:extLst>
                </p:cNvPr>
                <p:cNvSpPr/>
                <p:nvPr/>
              </p:nvSpPr>
              <p:spPr>
                <a:xfrm>
                  <a:off x="5154642" y="2338316"/>
                  <a:ext cx="1300533" cy="520770"/>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p:txBody>
            </p:sp>
            <p:sp>
              <p:nvSpPr>
                <p:cNvPr id="40" name="Rounded Rectangle 39">
                  <a:extLst>
                    <a:ext uri="{FF2B5EF4-FFF2-40B4-BE49-F238E27FC236}">
                      <a16:creationId xmlns:a16="http://schemas.microsoft.com/office/drawing/2014/main" id="{C90CB481-CF1F-69B9-B6D9-E88FF3233BBB}"/>
                    </a:ext>
                  </a:extLst>
                </p:cNvPr>
                <p:cNvSpPr/>
                <p:nvPr/>
              </p:nvSpPr>
              <p:spPr>
                <a:xfrm>
                  <a:off x="575929" y="2078456"/>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User input</a:t>
                  </a:r>
                </a:p>
              </p:txBody>
            </p:sp>
            <p:sp>
              <p:nvSpPr>
                <p:cNvPr id="41" name="Rounded Rectangle 40">
                  <a:extLst>
                    <a:ext uri="{FF2B5EF4-FFF2-40B4-BE49-F238E27FC236}">
                      <a16:creationId xmlns:a16="http://schemas.microsoft.com/office/drawing/2014/main" id="{84D236CD-2731-ED65-5141-418B515CA9E7}"/>
                    </a:ext>
                  </a:extLst>
                </p:cNvPr>
                <p:cNvSpPr/>
                <p:nvPr/>
              </p:nvSpPr>
              <p:spPr>
                <a:xfrm>
                  <a:off x="9631266" y="2078456"/>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42" name="Straight Arrow Connector 41">
                  <a:extLst>
                    <a:ext uri="{FF2B5EF4-FFF2-40B4-BE49-F238E27FC236}">
                      <a16:creationId xmlns:a16="http://schemas.microsoft.com/office/drawing/2014/main" id="{7556004A-27E7-056D-80E0-DF1DF6A435DE}"/>
                    </a:ext>
                  </a:extLst>
                </p:cNvPr>
                <p:cNvCxnSpPr>
                  <a:cxnSpLocks/>
                  <a:endCxn id="41" idx="1"/>
                </p:cNvCxnSpPr>
                <p:nvPr/>
              </p:nvCxnSpPr>
              <p:spPr>
                <a:xfrm>
                  <a:off x="8356954" y="2606291"/>
                  <a:ext cx="1274312" cy="0"/>
                </a:xfrm>
                <a:prstGeom prst="straightConnector1">
                  <a:avLst/>
                </a:prstGeom>
                <a:noFill/>
                <a:ln w="63500" cap="flat" cmpd="sng" algn="ctr">
                  <a:solidFill>
                    <a:srgbClr val="DF2A5D"/>
                  </a:solidFill>
                  <a:prstDash val="solid"/>
                  <a:miter lim="800000"/>
                  <a:tailEnd type="triangle"/>
                </a:ln>
                <a:effectLst/>
              </p:spPr>
            </p:cxnSp>
            <p:cxnSp>
              <p:nvCxnSpPr>
                <p:cNvPr id="43" name="Straight Arrow Connector 42">
                  <a:extLst>
                    <a:ext uri="{FF2B5EF4-FFF2-40B4-BE49-F238E27FC236}">
                      <a16:creationId xmlns:a16="http://schemas.microsoft.com/office/drawing/2014/main" id="{0530BCFA-2548-E9BA-7EBB-46F529ACD655}"/>
                    </a:ext>
                  </a:extLst>
                </p:cNvPr>
                <p:cNvCxnSpPr>
                  <a:cxnSpLocks/>
                  <a:stCxn id="30" idx="2"/>
                  <a:endCxn id="39" idx="0"/>
                </p:cNvCxnSpPr>
                <p:nvPr/>
              </p:nvCxnSpPr>
              <p:spPr>
                <a:xfrm>
                  <a:off x="5798906" y="1818597"/>
                  <a:ext cx="6003" cy="519719"/>
                </a:xfrm>
                <a:prstGeom prst="straightConnector1">
                  <a:avLst/>
                </a:prstGeom>
                <a:noFill/>
                <a:ln w="63500" cap="flat" cmpd="sng" algn="ctr">
                  <a:solidFill>
                    <a:srgbClr val="DF2A5D"/>
                  </a:solidFill>
                  <a:prstDash val="solid"/>
                  <a:miter lim="800000"/>
                  <a:tailEnd type="triangle"/>
                </a:ln>
                <a:effectLst/>
              </p:spPr>
            </p:cxnSp>
            <p:pic>
              <p:nvPicPr>
                <p:cNvPr id="44" name="Picture 7">
                  <a:extLst>
                    <a:ext uri="{FF2B5EF4-FFF2-40B4-BE49-F238E27FC236}">
                      <a16:creationId xmlns:a16="http://schemas.microsoft.com/office/drawing/2014/main" id="{24875AAE-359A-D90B-522E-56BCD18F3CE2}"/>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7166120" y="2064551"/>
                  <a:ext cx="1056290" cy="1053869"/>
                </a:xfrm>
                <a:prstGeom prst="rect">
                  <a:avLst/>
                </a:prstGeom>
                <a:effectLst>
                  <a:outerShdw blurRad="50800" dist="38100" dir="2700000" algn="tl" rotWithShape="0">
                    <a:prstClr val="black">
                      <a:alpha val="40000"/>
                    </a:prstClr>
                  </a:outerShdw>
                </a:effectLst>
              </p:spPr>
            </p:pic>
          </p:grpSp>
          <p:sp>
            <p:nvSpPr>
              <p:cNvPr id="30" name="Rounded Rectangle 29">
                <a:extLst>
                  <a:ext uri="{FF2B5EF4-FFF2-40B4-BE49-F238E27FC236}">
                    <a16:creationId xmlns:a16="http://schemas.microsoft.com/office/drawing/2014/main" id="{A81A45AA-894B-A7AB-2661-8803952823F6}"/>
                  </a:ext>
                </a:extLst>
              </p:cNvPr>
              <p:cNvSpPr/>
              <p:nvPr/>
            </p:nvSpPr>
            <p:spPr>
              <a:xfrm>
                <a:off x="4999989" y="2272283"/>
                <a:ext cx="1367693" cy="542419"/>
              </a:xfrm>
              <a:prstGeom prst="roundRect">
                <a:avLst/>
              </a:prstGeom>
              <a:solidFill>
                <a:srgbClr val="7CE8F4">
                  <a:lumMod val="60000"/>
                  <a:lumOff val="4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a:t>
                </a:r>
              </a:p>
            </p:txBody>
          </p:sp>
          <p:sp>
            <p:nvSpPr>
              <p:cNvPr id="31" name="TextBox 30">
                <a:extLst>
                  <a:ext uri="{FF2B5EF4-FFF2-40B4-BE49-F238E27FC236}">
                    <a16:creationId xmlns:a16="http://schemas.microsoft.com/office/drawing/2014/main" id="{E18CCD75-F264-BD76-8C06-4E5807FC7006}"/>
                  </a:ext>
                </a:extLst>
              </p:cNvPr>
              <p:cNvSpPr txBox="1"/>
              <p:nvPr/>
            </p:nvSpPr>
            <p:spPr>
              <a:xfrm>
                <a:off x="5178347" y="1651048"/>
                <a:ext cx="1319592"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32F3E"/>
                    </a:solidFill>
                    <a:effectLst/>
                    <a:uLnTx/>
                    <a:uFillTx/>
                    <a:latin typeface="Amazon Ember Medium"/>
                  </a:rPr>
                  <a:t>Chatbot</a:t>
                </a:r>
              </a:p>
            </p:txBody>
          </p:sp>
          <p:pic>
            <p:nvPicPr>
              <p:cNvPr id="32" name="Graphic 31" descr="Icon representing a Document for the RAG system">
                <a:extLst>
                  <a:ext uri="{FF2B5EF4-FFF2-40B4-BE49-F238E27FC236}">
                    <a16:creationId xmlns:a16="http://schemas.microsoft.com/office/drawing/2014/main" id="{1F52672A-97A3-E7F5-9DDA-9081DB65A2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29286" y="4432820"/>
                <a:ext cx="1008857" cy="1008857"/>
              </a:xfrm>
              <a:prstGeom prst="rect">
                <a:avLst/>
              </a:prstGeom>
            </p:spPr>
          </p:pic>
          <p:pic>
            <p:nvPicPr>
              <p:cNvPr id="33" name="Graphic 32" descr="Icon representing a Document for the RAG system">
                <a:extLst>
                  <a:ext uri="{FF2B5EF4-FFF2-40B4-BE49-F238E27FC236}">
                    <a16:creationId xmlns:a16="http://schemas.microsoft.com/office/drawing/2014/main" id="{176F3F17-C098-FA94-FC80-B11FB4C74F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1571" y="4524890"/>
                <a:ext cx="1008857" cy="1008857"/>
              </a:xfrm>
              <a:prstGeom prst="rect">
                <a:avLst/>
              </a:prstGeom>
            </p:spPr>
          </p:pic>
          <p:pic>
            <p:nvPicPr>
              <p:cNvPr id="34" name="Graphic 33" descr="Icon representing a Document for the RAG system">
                <a:extLst>
                  <a:ext uri="{FF2B5EF4-FFF2-40B4-BE49-F238E27FC236}">
                    <a16:creationId xmlns:a16="http://schemas.microsoft.com/office/drawing/2014/main" id="{4D40190C-B38C-5EE0-986A-33E7867B50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0428" y="4959755"/>
                <a:ext cx="1008857" cy="1008857"/>
              </a:xfrm>
              <a:prstGeom prst="rect">
                <a:avLst/>
              </a:prstGeom>
            </p:spPr>
          </p:pic>
          <p:cxnSp>
            <p:nvCxnSpPr>
              <p:cNvPr id="35" name="Straight Arrow Connector 34">
                <a:extLst>
                  <a:ext uri="{FF2B5EF4-FFF2-40B4-BE49-F238E27FC236}">
                    <a16:creationId xmlns:a16="http://schemas.microsoft.com/office/drawing/2014/main" id="{DF8EA951-C7DC-0AA0-27E2-7027D0C02B78}"/>
                  </a:ext>
                </a:extLst>
              </p:cNvPr>
              <p:cNvCxnSpPr>
                <a:cxnSpLocks/>
                <a:stCxn id="39" idx="3"/>
                <a:endCxn id="44" idx="1"/>
              </p:cNvCxnSpPr>
              <p:nvPr/>
            </p:nvCxnSpPr>
            <p:spPr>
              <a:xfrm flipV="1">
                <a:off x="6340105" y="3587591"/>
                <a:ext cx="710945" cy="7215"/>
              </a:xfrm>
              <a:prstGeom prst="straightConnector1">
                <a:avLst/>
              </a:prstGeom>
              <a:noFill/>
              <a:ln w="63500" cap="flat" cmpd="sng" algn="ctr">
                <a:solidFill>
                  <a:srgbClr val="DF2A5D"/>
                </a:solidFill>
                <a:prstDash val="solid"/>
                <a:miter lim="800000"/>
                <a:tailEnd type="triangle"/>
              </a:ln>
              <a:effectLst/>
            </p:spPr>
          </p:cxnSp>
          <p:cxnSp>
            <p:nvCxnSpPr>
              <p:cNvPr id="36" name="Straight Arrow Connector 35">
                <a:extLst>
                  <a:ext uri="{FF2B5EF4-FFF2-40B4-BE49-F238E27FC236}">
                    <a16:creationId xmlns:a16="http://schemas.microsoft.com/office/drawing/2014/main" id="{A5639F6D-8B92-8F3A-33DD-50E2B63686E5}"/>
                  </a:ext>
                </a:extLst>
              </p:cNvPr>
              <p:cNvCxnSpPr>
                <a:cxnSpLocks/>
                <a:stCxn id="40" idx="3"/>
                <a:endCxn id="39" idx="1"/>
              </p:cNvCxnSpPr>
              <p:nvPr/>
            </p:nvCxnSpPr>
            <p:spPr>
              <a:xfrm flipV="1">
                <a:off x="2587610" y="3594806"/>
                <a:ext cx="2451962" cy="7590"/>
              </a:xfrm>
              <a:prstGeom prst="straightConnector1">
                <a:avLst/>
              </a:prstGeom>
              <a:noFill/>
              <a:ln w="63500" cap="flat" cmpd="sng" algn="ctr">
                <a:solidFill>
                  <a:srgbClr val="DF2A5D"/>
                </a:solidFill>
                <a:prstDash val="solid"/>
                <a:miter lim="800000"/>
                <a:tailEnd type="triangle"/>
              </a:ln>
              <a:effectLst/>
            </p:spPr>
          </p:cxnSp>
          <p:cxnSp>
            <p:nvCxnSpPr>
              <p:cNvPr id="37" name="Straight Arrow Connector 36">
                <a:extLst>
                  <a:ext uri="{FF2B5EF4-FFF2-40B4-BE49-F238E27FC236}">
                    <a16:creationId xmlns:a16="http://schemas.microsoft.com/office/drawing/2014/main" id="{4194EA35-3E3D-7E86-4AE5-73EC60BF5B4B}"/>
                  </a:ext>
                </a:extLst>
              </p:cNvPr>
              <p:cNvCxnSpPr>
                <a:cxnSpLocks/>
                <a:endCxn id="39" idx="2"/>
              </p:cNvCxnSpPr>
              <p:nvPr/>
            </p:nvCxnSpPr>
            <p:spPr>
              <a:xfrm flipV="1">
                <a:off x="5689839" y="3855191"/>
                <a:ext cx="0" cy="823965"/>
              </a:xfrm>
              <a:prstGeom prst="straightConnector1">
                <a:avLst/>
              </a:prstGeom>
              <a:noFill/>
              <a:ln w="63500" cap="flat" cmpd="sng" algn="ctr">
                <a:solidFill>
                  <a:srgbClr val="DF2A5D"/>
                </a:solidFill>
                <a:prstDash val="solid"/>
                <a:miter lim="800000"/>
                <a:tailEnd type="triangle"/>
              </a:ln>
              <a:effectLst/>
            </p:spPr>
          </p:cxnSp>
        </p:grpSp>
        <p:sp>
          <p:nvSpPr>
            <p:cNvPr id="28" name="TextBox 27">
              <a:extLst>
                <a:ext uri="{FF2B5EF4-FFF2-40B4-BE49-F238E27FC236}">
                  <a16:creationId xmlns:a16="http://schemas.microsoft.com/office/drawing/2014/main" id="{F405DB9F-83C2-C0BA-9E1B-313E2C0B61C1}"/>
                </a:ext>
              </a:extLst>
            </p:cNvPr>
            <p:cNvSpPr txBox="1"/>
            <p:nvPr/>
          </p:nvSpPr>
          <p:spPr>
            <a:xfrm>
              <a:off x="6436519" y="4867182"/>
              <a:ext cx="138050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rPr>
                <a:t>Documents</a:t>
              </a:r>
            </a:p>
          </p:txBody>
        </p:sp>
      </p:grpSp>
      <p:sp>
        <p:nvSpPr>
          <p:cNvPr id="45" name="TextBox 44">
            <a:extLst>
              <a:ext uri="{FF2B5EF4-FFF2-40B4-BE49-F238E27FC236}">
                <a16:creationId xmlns:a16="http://schemas.microsoft.com/office/drawing/2014/main" id="{627506AA-BF4E-DEF7-04DB-60B1C03787B0}"/>
              </a:ext>
            </a:extLst>
          </p:cNvPr>
          <p:cNvSpPr txBox="1"/>
          <p:nvPr/>
        </p:nvSpPr>
        <p:spPr>
          <a:xfrm>
            <a:off x="8257963" y="5601629"/>
            <a:ext cx="2516466" cy="954107"/>
          </a:xfrm>
          <a:prstGeom prst="rect">
            <a:avLst/>
          </a:prstGeom>
          <a:noFill/>
        </p:spPr>
        <p:txBody>
          <a:bodyPr wrap="square" rtlCol="0">
            <a:spAutoFit/>
          </a:bodyPr>
          <a:lstStyle/>
          <a:p>
            <a:pPr algn="ctr"/>
            <a:r>
              <a:rPr lang="en-US" sz="2800" dirty="0">
                <a:solidFill>
                  <a:srgbClr val="DF2A5D"/>
                </a:solidFill>
                <a:latin typeface="Amazon Ember Medium"/>
              </a:rPr>
              <a:t>How can this be a problem?</a:t>
            </a:r>
          </a:p>
        </p:txBody>
      </p:sp>
      <p:sp>
        <p:nvSpPr>
          <p:cNvPr id="46" name="TextBox 45">
            <a:extLst>
              <a:ext uri="{FF2B5EF4-FFF2-40B4-BE49-F238E27FC236}">
                <a16:creationId xmlns:a16="http://schemas.microsoft.com/office/drawing/2014/main" id="{F5B37FAB-D6EA-C472-B9AC-022AD9CCD582}"/>
              </a:ext>
            </a:extLst>
          </p:cNvPr>
          <p:cNvSpPr txBox="1"/>
          <p:nvPr/>
        </p:nvSpPr>
        <p:spPr>
          <a:xfrm>
            <a:off x="1197735" y="3116687"/>
            <a:ext cx="184731" cy="369332"/>
          </a:xfrm>
          <a:prstGeom prst="rect">
            <a:avLst/>
          </a:prstGeom>
          <a:noFill/>
        </p:spPr>
        <p:txBody>
          <a:bodyPr wrap="none" rtlCol="0">
            <a:spAutoFit/>
          </a:bodyPr>
          <a:lstStyle/>
          <a:p>
            <a:endParaRPr lang="en-US" dirty="0">
              <a:solidFill>
                <a:srgbClr val="232F3E"/>
              </a:solidFill>
              <a:latin typeface="Amazon Ember Light"/>
            </a:endParaRPr>
          </a:p>
        </p:txBody>
      </p:sp>
    </p:spTree>
    <p:extLst>
      <p:ext uri="{BB962C8B-B14F-4D97-AF65-F5344CB8AC3E}">
        <p14:creationId xmlns:p14="http://schemas.microsoft.com/office/powerpoint/2010/main" val="2467322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A8FC23-AFC1-E64D-0841-F43FE4A75F7A}"/>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5C653C3A-8337-FB14-6378-1A3C82EDCB4D}"/>
              </a:ext>
            </a:extLst>
          </p:cNvPr>
          <p:cNvSpPr>
            <a:spLocks noGrp="1"/>
          </p:cNvSpPr>
          <p:nvPr>
            <p:ph type="title" idx="1"/>
          </p:nvPr>
        </p:nvSpPr>
        <p:spPr/>
        <p:txBody>
          <a:bodyPr/>
          <a:lstStyle/>
          <a:p>
            <a:r>
              <a:rPr lang="en-US" dirty="0"/>
              <a:t>Limitations of LLMs</a:t>
            </a:r>
          </a:p>
        </p:txBody>
      </p:sp>
      <p:sp>
        <p:nvSpPr>
          <p:cNvPr id="4" name="Content Placeholder 3">
            <a:extLst>
              <a:ext uri="{FF2B5EF4-FFF2-40B4-BE49-F238E27FC236}">
                <a16:creationId xmlns:a16="http://schemas.microsoft.com/office/drawing/2014/main" id="{016647B1-029E-A967-EEE0-5D0BEE452092}"/>
              </a:ext>
            </a:extLst>
          </p:cNvPr>
          <p:cNvSpPr>
            <a:spLocks noGrp="1"/>
          </p:cNvSpPr>
          <p:nvPr>
            <p:ph idx="2"/>
          </p:nvPr>
        </p:nvSpPr>
        <p:spPr/>
        <p:txBody>
          <a:bodyPr/>
          <a:lstStyle/>
          <a:p>
            <a:r>
              <a:rPr lang="en-US" sz="2400" dirty="0">
                <a:solidFill>
                  <a:srgbClr val="FF0066"/>
                </a:solidFill>
                <a:latin typeface="+mj-lt"/>
              </a:rPr>
              <a:t>Reliability and bias</a:t>
            </a:r>
          </a:p>
          <a:p>
            <a:pPr lvl="1"/>
            <a:r>
              <a:rPr lang="en-US" dirty="0">
                <a:latin typeface="+mn-lt"/>
              </a:rPr>
              <a:t>Knowledge limited to the training data</a:t>
            </a:r>
          </a:p>
          <a:p>
            <a:pPr lvl="1"/>
            <a:r>
              <a:rPr lang="en-US" dirty="0">
                <a:latin typeface="+mn-lt"/>
              </a:rPr>
              <a:t>Inability to discern false information or bias</a:t>
            </a:r>
          </a:p>
          <a:p>
            <a:pPr lvl="1"/>
            <a:r>
              <a:rPr lang="en-US" dirty="0">
                <a:solidFill>
                  <a:schemeClr val="accent5"/>
                </a:solidFill>
                <a:latin typeface="+mj-lt"/>
              </a:rPr>
              <a:t>Hallucination</a:t>
            </a:r>
            <a:r>
              <a:rPr lang="en-US" dirty="0">
                <a:solidFill>
                  <a:schemeClr val="tx2"/>
                </a:solidFill>
                <a:latin typeface="+mj-lt"/>
              </a:rPr>
              <a:t> </a:t>
            </a:r>
          </a:p>
          <a:p>
            <a:r>
              <a:rPr lang="en-US" sz="2400" dirty="0">
                <a:solidFill>
                  <a:srgbClr val="FF0066"/>
                </a:solidFill>
                <a:latin typeface="+mj-lt"/>
              </a:rPr>
              <a:t>Context window limitation</a:t>
            </a:r>
          </a:p>
          <a:p>
            <a:pPr lvl="1"/>
            <a:r>
              <a:rPr lang="en-US" dirty="0">
                <a:latin typeface="+mn-lt"/>
              </a:rPr>
              <a:t>Most LLMs cannot make sense of inputs exceeding their context limit</a:t>
            </a:r>
          </a:p>
          <a:p>
            <a:pPr lvl="1"/>
            <a:r>
              <a:rPr lang="en-US" dirty="0">
                <a:latin typeface="+mn-lt"/>
              </a:rPr>
              <a:t>For instance, Nova Pro had a limit of 300k tokens at the time of release</a:t>
            </a:r>
          </a:p>
          <a:p>
            <a:r>
              <a:rPr lang="en-US" sz="2400" dirty="0">
                <a:solidFill>
                  <a:srgbClr val="FF0066"/>
                </a:solidFill>
                <a:latin typeface="+mj-lt"/>
              </a:rPr>
              <a:t>Significant compute and memory costs</a:t>
            </a:r>
          </a:p>
          <a:p>
            <a:pPr lvl="1"/>
            <a:r>
              <a:rPr lang="en-US" sz="2400" dirty="0">
                <a:latin typeface="+mn-lt"/>
              </a:rPr>
              <a:t>LLMs typically require GPUs for practical applications</a:t>
            </a:r>
            <a:endParaRPr lang="en-US" sz="2000" dirty="0">
              <a:solidFill>
                <a:srgbClr val="FF0066"/>
              </a:solidFill>
              <a:latin typeface="+mj-lt"/>
            </a:endParaRPr>
          </a:p>
          <a:p>
            <a:r>
              <a:rPr lang="en-US" sz="2400" dirty="0">
                <a:solidFill>
                  <a:srgbClr val="FF0066"/>
                </a:solidFill>
                <a:latin typeface="+mj-lt"/>
              </a:rPr>
              <a:t>Potential copyright infringement issue</a:t>
            </a:r>
          </a:p>
          <a:p>
            <a:pPr lvl="1"/>
            <a:r>
              <a:rPr lang="en-US" dirty="0">
                <a:latin typeface="+mn-lt"/>
              </a:rPr>
              <a:t>May generate text similar or identical to copyrighted content</a:t>
            </a:r>
          </a:p>
        </p:txBody>
      </p:sp>
    </p:spTree>
    <p:extLst>
      <p:ext uri="{BB962C8B-B14F-4D97-AF65-F5344CB8AC3E}">
        <p14:creationId xmlns:p14="http://schemas.microsoft.com/office/powerpoint/2010/main" val="920044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24</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showed how to develop conversational applications with </a:t>
            </a:r>
            <a:r>
              <a:rPr lang="en-US" dirty="0" err="1"/>
              <a:t>LangChain</a:t>
            </a:r>
            <a:r>
              <a:rPr lang="en-US"/>
              <a:t>.</a:t>
            </a:r>
            <a:endParaRPr lang="en-US" dirty="0"/>
          </a:p>
          <a:p>
            <a:r>
              <a:rPr lang="en-US" dirty="0"/>
              <a:t>In the next lesson, you will learn about Retrieval Augmented Generation (RAG).</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25</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2066</TotalTime>
  <Words>6282</Words>
  <Application>Microsoft Macintosh PowerPoint</Application>
  <PresentationFormat>Widescreen</PresentationFormat>
  <Paragraphs>837</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Amazon Ember Display</vt:lpstr>
      <vt:lpstr>Amazon Ember Display Heavy</vt:lpstr>
      <vt:lpstr>Amazon Ember Heavy</vt:lpstr>
      <vt:lpstr>Amazon Ember Light</vt:lpstr>
      <vt:lpstr>Amazon Ember Medium</vt:lpstr>
      <vt:lpstr>Arial</vt:lpstr>
      <vt:lpstr>Calibri</vt:lpstr>
      <vt:lpstr>Courier New</vt:lpstr>
      <vt:lpstr>Lucida Console</vt:lpstr>
      <vt:lpstr>EEP-GitHub</vt:lpstr>
      <vt:lpstr>Developing conversational applications</vt:lpstr>
      <vt:lpstr>Today’s activities</vt:lpstr>
      <vt:lpstr>Review: LangChain</vt:lpstr>
      <vt:lpstr>Review: Simple LLM chain</vt:lpstr>
      <vt:lpstr>Review: Memory</vt:lpstr>
      <vt:lpstr>From Q&amp;A to Conversation</vt:lpstr>
      <vt:lpstr>Review: Chat Models</vt:lpstr>
      <vt:lpstr>Examples of chat models</vt:lpstr>
      <vt:lpstr>Chat Prompt Templates</vt:lpstr>
      <vt:lpstr>Q&amp;A vs Conversation</vt:lpstr>
      <vt:lpstr>Building a chatbot</vt:lpstr>
      <vt:lpstr>Chatbot components</vt:lpstr>
      <vt:lpstr>Implementing a simple chatbot</vt:lpstr>
      <vt:lpstr>Customizing chat applications</vt:lpstr>
      <vt:lpstr>Caching</vt:lpstr>
      <vt:lpstr>Types of Caches</vt:lpstr>
      <vt:lpstr>Response caching considerations</vt:lpstr>
      <vt:lpstr>Issue with long conversations</vt:lpstr>
      <vt:lpstr>Conversation Buffer Window Memory</vt:lpstr>
      <vt:lpstr>Conversation Summary Memory</vt:lpstr>
      <vt:lpstr>Versatility of context</vt:lpstr>
      <vt:lpstr>Chatting with Documents</vt:lpstr>
      <vt:lpstr>Limitations of LLMs</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70</cp:revision>
  <dcterms:created xsi:type="dcterms:W3CDTF">2022-11-16T15:46:36Z</dcterms:created>
  <dcterms:modified xsi:type="dcterms:W3CDTF">2025-09-30T18:01:09Z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2025-06-19T18:26:45Z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7f2c3bf3-8515-4011-b67c-c0feebe2acfe</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