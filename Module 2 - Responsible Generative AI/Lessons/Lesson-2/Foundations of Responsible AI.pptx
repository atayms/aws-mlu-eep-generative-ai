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30"/>
  </p:notesMasterIdLst>
  <p:sldIdLst>
    <p:sldId id="256" r:id="rId2"/>
    <p:sldId id="413" r:id="rId3"/>
    <p:sldId id="388" r:id="rId4"/>
    <p:sldId id="2147482818" r:id="rId5"/>
    <p:sldId id="385" r:id="rId6"/>
    <p:sldId id="2147482819" r:id="rId7"/>
    <p:sldId id="2147482826" r:id="rId8"/>
    <p:sldId id="2147482821" r:id="rId9"/>
    <p:sldId id="2147482822" r:id="rId10"/>
    <p:sldId id="2147482827" r:id="rId11"/>
    <p:sldId id="2147482828" r:id="rId12"/>
    <p:sldId id="2147482829" r:id="rId13"/>
    <p:sldId id="2147482830" r:id="rId14"/>
    <p:sldId id="2147482831" r:id="rId15"/>
    <p:sldId id="2147482832" r:id="rId16"/>
    <p:sldId id="2147482803" r:id="rId17"/>
    <p:sldId id="2147482511" r:id="rId18"/>
    <p:sldId id="2147482512" r:id="rId19"/>
    <p:sldId id="2147482513" r:id="rId20"/>
    <p:sldId id="2147482823" r:id="rId21"/>
    <p:sldId id="2147482833" r:id="rId22"/>
    <p:sldId id="2147482834" r:id="rId23"/>
    <p:sldId id="2147482835" r:id="rId24"/>
    <p:sldId id="2147482836" r:id="rId25"/>
    <p:sldId id="2147482837" r:id="rId26"/>
    <p:sldId id="4042" r:id="rId27"/>
    <p:sldId id="268" r:id="rId28"/>
    <p:sldId id="214748281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p:restoredTop sz="59726" autoAdjust="0"/>
  </p:normalViewPr>
  <p:slideViewPr>
    <p:cSldViewPr snapToGrid="0">
      <p:cViewPr varScale="1">
        <p:scale>
          <a:sx n="73" d="100"/>
          <a:sy n="73" d="100"/>
        </p:scale>
        <p:origin x="2360"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9/29/25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Increasing number of core abilities</a:t>
            </a:r>
          </a:p>
          <a:p>
            <a:r>
              <a:rPr lang="en-US" dirty="0"/>
              <a:t>- LLMs are continuously evolving with enhanced capabilities</a:t>
            </a:r>
          </a:p>
          <a:p>
            <a:r>
              <a:rPr lang="en-US" dirty="0"/>
              <a:t>- Core functionalities are expanding beyond basic text generation</a:t>
            </a:r>
          </a:p>
          <a:p>
            <a:r>
              <a:rPr lang="en-US" dirty="0"/>
              <a:t>- Important to assess how these abilities develop and improve</a:t>
            </a:r>
          </a:p>
          <a:p>
            <a:endParaRPr lang="en-US" dirty="0"/>
          </a:p>
          <a:p>
            <a:r>
              <a:rPr lang="en-US" dirty="0"/>
              <a:t>2. Knowledge of diverse topics</a:t>
            </a:r>
          </a:p>
          <a:p>
            <a:r>
              <a:rPr lang="en-US" dirty="0"/>
              <a:t>- LLMs contain vast knowledge across multiple domains</a:t>
            </a:r>
          </a:p>
          <a:p>
            <a:r>
              <a:rPr lang="en-US" dirty="0"/>
              <a:t>- Need to evaluate accuracy and depth of knowledge</a:t>
            </a:r>
          </a:p>
          <a:p>
            <a:r>
              <a:rPr lang="en-US" dirty="0"/>
              <a:t>- Important to assess how well they handle different subject matters</a:t>
            </a:r>
          </a:p>
          <a:p>
            <a:endParaRPr lang="en-US" dirty="0"/>
          </a:p>
          <a:p>
            <a:r>
              <a:rPr lang="en-US" dirty="0"/>
              <a:t>3. Increasing visibility and influence on society</a:t>
            </a:r>
          </a:p>
          <a:p>
            <a:r>
              <a:rPr lang="en-US" dirty="0"/>
              <a:t>- LLMs are becoming more prevalent in everyday applications</a:t>
            </a:r>
          </a:p>
          <a:p>
            <a:r>
              <a:rPr lang="en-US" dirty="0"/>
              <a:t>- Growing impact on various sectors (business, education, research)</a:t>
            </a:r>
          </a:p>
          <a:p>
            <a:r>
              <a:rPr lang="en-US" dirty="0"/>
              <a:t>- Necessary to understand their societal implications</a:t>
            </a:r>
          </a:p>
          <a:p>
            <a:endParaRPr lang="en-US" dirty="0"/>
          </a:p>
          <a:p>
            <a:r>
              <a:rPr lang="en-US" dirty="0"/>
              <a:t>4. Use cases beyond content generation</a:t>
            </a:r>
          </a:p>
          <a:p>
            <a:r>
              <a:rPr lang="en-US" dirty="0"/>
              <a:t>- LLMs are being used for complex problem-solving</a:t>
            </a:r>
          </a:p>
          <a:p>
            <a:r>
              <a:rPr lang="en-US" dirty="0"/>
              <a:t>- Applications in coding, analysis, and decision support</a:t>
            </a:r>
          </a:p>
          <a:p>
            <a:r>
              <a:rPr lang="en-US" dirty="0"/>
              <a:t>- Important to evaluate performance in different scenarios</a:t>
            </a:r>
          </a:p>
          <a:p>
            <a:endParaRPr lang="en-US" dirty="0"/>
          </a:p>
          <a:p>
            <a:r>
              <a:rPr lang="en-US" dirty="0"/>
              <a:t>5. Experts for other systems</a:t>
            </a:r>
          </a:p>
          <a:p>
            <a:r>
              <a:rPr lang="en-US" dirty="0"/>
              <a:t>- LLMs serving as knowledge bases for other AI systems</a:t>
            </a:r>
          </a:p>
          <a:p>
            <a:r>
              <a:rPr lang="en-US" dirty="0"/>
              <a:t>- Integration with various technological platforms</a:t>
            </a:r>
          </a:p>
          <a:p>
            <a:pPr marL="171450" indent="-171450">
              <a:buFontTx/>
              <a:buChar char="-"/>
            </a:pPr>
            <a:r>
              <a:rPr lang="en-US" dirty="0"/>
              <a:t>Need to assess their reliability as expert systems</a:t>
            </a:r>
          </a:p>
          <a:p>
            <a:pPr marL="171450" indent="-171450">
              <a:buFontTx/>
              <a:buChar char="-"/>
            </a:pPr>
            <a:r>
              <a:rPr lang="en-US" dirty="0"/>
              <a:t>LLMs can evaluate other AI systems</a:t>
            </a:r>
          </a:p>
          <a:p>
            <a:endParaRPr lang="en-US" b="1" dirty="0"/>
          </a:p>
          <a:p>
            <a:r>
              <a:rPr lang="en-US" b="1" dirty="0"/>
              <a:t>EDUCATOR NOTES:</a:t>
            </a:r>
          </a:p>
          <a:p>
            <a:endParaRPr lang="en-US" dirty="0"/>
          </a:p>
          <a:p>
            <a:r>
              <a:rPr lang="en-US" dirty="0"/>
              <a:t>”Let’s review form the previous lesson, why evaluating Large Language Models is crucial in our rapidly evolving AI landscape. As these systems become more sophisticated and integrated into various aspects of our lives, proper evaluation ensures:</a:t>
            </a:r>
          </a:p>
          <a:p>
            <a:r>
              <a:rPr lang="en-US" dirty="0"/>
              <a:t>- We understand their true capabilities and limitations</a:t>
            </a:r>
          </a:p>
          <a:p>
            <a:r>
              <a:rPr lang="en-US" dirty="0"/>
              <a:t>- We can assess their reliability and accuracy</a:t>
            </a:r>
          </a:p>
          <a:p>
            <a:r>
              <a:rPr lang="en-US" dirty="0"/>
              <a:t>- We can make informed decisions about their deployment</a:t>
            </a:r>
          </a:p>
          <a:p>
            <a:r>
              <a:rPr lang="en-US" dirty="0"/>
              <a:t>- We can identify potential risks and challenges</a:t>
            </a:r>
          </a:p>
          <a:p>
            <a:r>
              <a:rPr lang="en-US" dirty="0"/>
              <a:t>- We can guide future development and improvements</a:t>
            </a:r>
          </a:p>
          <a:p>
            <a:endParaRPr lang="en-US" dirty="0"/>
          </a:p>
          <a:p>
            <a:r>
              <a:rPr lang="en-US" dirty="0"/>
              <a:t>Remember, evaluation isn't just about testing performance – it's about ensuring responsible and effective AI deployment that benefits society while minimizing potential risks."</a:t>
            </a:r>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1643116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Evaluation Spectrum: Objective to Subjective</a:t>
            </a:r>
          </a:p>
          <a:p>
            <a:r>
              <a:rPr lang="en-US" dirty="0"/>
              <a:t>- The slide shows a gradient from objective (left/purple) to subjective (right/pink) evaluation methods</a:t>
            </a:r>
          </a:p>
          <a:p>
            <a:r>
              <a:rPr lang="en-US" dirty="0"/>
              <a:t>- Demonstrates the range of approaches available for assessing LLM performance</a:t>
            </a:r>
          </a:p>
          <a:p>
            <a:endParaRPr lang="en-US" dirty="0"/>
          </a:p>
          <a:p>
            <a:r>
              <a:rPr lang="en-US" dirty="0"/>
              <a:t>2. Objective Metrics:</a:t>
            </a:r>
          </a:p>
          <a:p>
            <a:r>
              <a:rPr lang="en-US" dirty="0"/>
              <a:t>- Accuracy: Measures correctness of model outputs</a:t>
            </a:r>
          </a:p>
          <a:p>
            <a:r>
              <a:rPr lang="en-US" dirty="0"/>
              <a:t>- Precision: Evaluates exactness of results</a:t>
            </a:r>
          </a:p>
          <a:p>
            <a:r>
              <a:rPr lang="en-US" dirty="0"/>
              <a:t>- BLEU: Scoring method for machine translation</a:t>
            </a:r>
          </a:p>
          <a:p>
            <a:r>
              <a:rPr lang="en-US" dirty="0"/>
              <a:t>- Perplexity: Measures how well model predicts sample</a:t>
            </a:r>
          </a:p>
          <a:p>
            <a:endParaRPr lang="en-US" dirty="0"/>
          </a:p>
          <a:p>
            <a:r>
              <a:rPr lang="en-US" dirty="0"/>
              <a:t>3. Evaluation Methods (Middle Ground):</a:t>
            </a:r>
          </a:p>
          <a:p>
            <a:r>
              <a:rPr lang="en-US" dirty="0"/>
              <a:t>- Evaluation Datasets (Benchmarking): Standardized datasets to compare models</a:t>
            </a:r>
          </a:p>
          <a:p>
            <a:r>
              <a:rPr lang="en-US" dirty="0"/>
              <a:t>- LLM Evaluators: Using other language models to evaluate outputs</a:t>
            </a:r>
          </a:p>
          <a:p>
            <a:endParaRPr lang="en-US" dirty="0"/>
          </a:p>
          <a:p>
            <a:r>
              <a:rPr lang="en-US" dirty="0"/>
              <a:t>4. Subjective Methods:</a:t>
            </a:r>
          </a:p>
          <a:p>
            <a:r>
              <a:rPr lang="en-US" dirty="0"/>
              <a:t>- Feedback-based (A/B Testing): Comparing different versions through user feedback</a:t>
            </a:r>
          </a:p>
          <a:p>
            <a:r>
              <a:rPr lang="en-US" dirty="0"/>
              <a:t>- Manual Human Evaluation: Direct assessment by human reviewers</a:t>
            </a:r>
          </a:p>
          <a:p>
            <a:endParaRPr lang="en-US" dirty="0"/>
          </a:p>
          <a:p>
            <a:r>
              <a:rPr lang="en-US" b="1" dirty="0"/>
              <a:t>EDUCATOR NOTES:</a:t>
            </a:r>
          </a:p>
          <a:p>
            <a:endParaRPr lang="en-US" dirty="0"/>
          </a:p>
          <a:p>
            <a:r>
              <a:rPr lang="en-US" dirty="0"/>
              <a:t>”Let’s review from the previous lesson, the spectrum of LLM evaluation methods. On the left, we have our objective metrics - these are quantifiable measures like accuracy and BLEU scores that give us concrete numbers to work with. Moving towards the center, we use evaluation datasets and LLM evaluators as more structured assessment tools. On the right side, we have our subjective methods, including A/B testing and manual human evaluation, which provide valuable qualitative insights but are more resource-intensive and less scalable. The key is finding the right balance of these methods for your specific use case.</a:t>
            </a:r>
          </a:p>
          <a:p>
            <a:endParaRPr lang="en-US" dirty="0"/>
          </a:p>
          <a:p>
            <a:r>
              <a:rPr lang="en-US" dirty="0"/>
              <a:t>Remember that while objective metrics are easier to implement and compare, they don't always capture the nuanced aspects of language understanding and generation that subjective evaluations can reveal. A comprehensive evaluation strategy typically involves multiple methods across this spectrum."</a:t>
            </a:r>
          </a:p>
        </p:txBody>
      </p:sp>
      <p:sp>
        <p:nvSpPr>
          <p:cNvPr id="4" name="Slide Number Placeholder 3"/>
          <p:cNvSpPr>
            <a:spLocks noGrp="1"/>
          </p:cNvSpPr>
          <p:nvPr>
            <p:ph type="sldNum" sz="quarter" idx="5"/>
          </p:nvPr>
        </p:nvSpPr>
        <p:spPr/>
        <p:txBody>
          <a:bodyPr/>
          <a:lstStyle/>
          <a:p>
            <a:fld id="{688EF870-5850-6643-A228-25AFAA8E2BB1}" type="slidenum">
              <a:rPr lang="en-US" smtClean="0"/>
              <a:t>4</a:t>
            </a:fld>
            <a:endParaRPr lang="en-US"/>
          </a:p>
        </p:txBody>
      </p:sp>
    </p:spTree>
    <p:extLst>
      <p:ext uri="{BB962C8B-B14F-4D97-AF65-F5344CB8AC3E}">
        <p14:creationId xmlns:p14="http://schemas.microsoft.com/office/powerpoint/2010/main" val="1629116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581051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Responsible AI:</a:t>
            </a:r>
          </a:p>
          <a:p>
            <a:r>
              <a:rPr lang="en-US" dirty="0"/>
              <a:t>   - Core concept: Design, development, and usage of AI technology</a:t>
            </a:r>
          </a:p>
          <a:p>
            <a:r>
              <a:rPr lang="en-US" dirty="0"/>
              <a:t>   - Primary objectives:</a:t>
            </a:r>
          </a:p>
          <a:p>
            <a:r>
              <a:rPr lang="en-US" dirty="0"/>
              <a:t>     * Maximize benefits</a:t>
            </a:r>
          </a:p>
          <a:p>
            <a:r>
              <a:rPr lang="en-US" dirty="0"/>
              <a:t>     * Minimize risks</a:t>
            </a:r>
          </a:p>
          <a:p>
            <a:r>
              <a:rPr lang="en-US" dirty="0"/>
              <a:t>     * Prevent unintended harms</a:t>
            </a:r>
          </a:p>
          <a:p>
            <a:endParaRPr lang="en-US" dirty="0"/>
          </a:p>
          <a:p>
            <a:r>
              <a:rPr lang="en-US" dirty="0"/>
              <a:t>2. Key Characteristics:</a:t>
            </a:r>
          </a:p>
          <a:p>
            <a:r>
              <a:rPr lang="en-US" dirty="0"/>
              <a:t>   - Dynamic approach to AI development</a:t>
            </a:r>
          </a:p>
          <a:p>
            <a:r>
              <a:rPr lang="en-US" dirty="0"/>
              <a:t>   - Evolving framework</a:t>
            </a:r>
          </a:p>
          <a:p>
            <a:r>
              <a:rPr lang="en-US" dirty="0"/>
              <a:t>   - Continuous assessment</a:t>
            </a:r>
          </a:p>
          <a:p>
            <a:r>
              <a:rPr lang="en-US" dirty="0"/>
              <a:t>   - Regular updates to adapt to technological changes</a:t>
            </a:r>
          </a:p>
          <a:p>
            <a:endParaRPr lang="en-US" dirty="0"/>
          </a:p>
          <a:p>
            <a:r>
              <a:rPr lang="en-US" dirty="0"/>
              <a:t>3. Implementation Framework:</a:t>
            </a:r>
          </a:p>
          <a:p>
            <a:r>
              <a:rPr lang="en-US" dirty="0"/>
              <a:t>   - Based on core dimensions</a:t>
            </a:r>
          </a:p>
          <a:p>
            <a:r>
              <a:rPr lang="en-US" dirty="0"/>
              <a:t>   - Adaptable to technological evolution</a:t>
            </a:r>
          </a:p>
          <a:p>
            <a:r>
              <a:rPr lang="en-US" dirty="0"/>
              <a:t>   - Systematic assessment process</a:t>
            </a:r>
          </a:p>
          <a:p>
            <a:r>
              <a:rPr lang="en-US" dirty="0"/>
              <a:t>   - Regular updates to maintain relevance</a:t>
            </a:r>
          </a:p>
          <a:p>
            <a:endParaRPr lang="en-US" dirty="0"/>
          </a:p>
          <a:p>
            <a:r>
              <a:rPr lang="en-US" b="1" dirty="0"/>
              <a:t>EDUCATOR NOTES:</a:t>
            </a:r>
          </a:p>
          <a:p>
            <a:endParaRPr lang="en-US" dirty="0"/>
          </a:p>
          <a:p>
            <a:r>
              <a:rPr lang="en-US" dirty="0"/>
              <a:t>”Let’s discuss Responsible AI, a crucial concept in modern technology development. Responsible AI isn't just about creating powerful systems – it's about ensuring these systems benefit society while minimizing potential risks. Think of it as a balanced approach where every step in the AI lifecycle, from design to deployment, is carefully considered for its impact. The framework we use is intentionally flexible, allowing us to adapt to new technological developments and challenges as they emerge. As practitioners, we must constantly evaluate and update our approach to maintain this balance between innovation and responsibility."</a:t>
            </a:r>
          </a:p>
        </p:txBody>
      </p:sp>
      <p:sp>
        <p:nvSpPr>
          <p:cNvPr id="4" name="Slide Number Placeholder 3"/>
          <p:cNvSpPr>
            <a:spLocks noGrp="1"/>
          </p:cNvSpPr>
          <p:nvPr>
            <p:ph type="sldNum" sz="quarter" idx="5"/>
          </p:nvPr>
        </p:nvSpPr>
        <p:spPr/>
        <p:txBody>
          <a:bodyPr/>
          <a:lstStyle/>
          <a:p>
            <a:fld id="{688EF870-5850-6643-A228-25AFAA8E2BB1}" type="slidenum">
              <a:rPr lang="en-US" smtClean="0"/>
              <a:t>6</a:t>
            </a:fld>
            <a:endParaRPr lang="en-US"/>
          </a:p>
        </p:txBody>
      </p:sp>
    </p:spTree>
    <p:extLst>
      <p:ext uri="{BB962C8B-B14F-4D97-AF65-F5344CB8AC3E}">
        <p14:creationId xmlns:p14="http://schemas.microsoft.com/office/powerpoint/2010/main" val="1704159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RAI</a:t>
            </a:r>
          </a:p>
          <a:p>
            <a:r>
              <a:rPr lang="en-US" dirty="0"/>
              <a:t>- RAI consists of three key components:</a:t>
            </a:r>
          </a:p>
          <a:p>
            <a:r>
              <a:rPr lang="en-US" dirty="0"/>
              <a:t>  * Organizational structure</a:t>
            </a:r>
          </a:p>
          <a:p>
            <a:r>
              <a:rPr lang="en-US" dirty="0"/>
              <a:t>  * Set of principles (dimensions)</a:t>
            </a:r>
          </a:p>
          <a:p>
            <a:r>
              <a:rPr lang="en-US" dirty="0"/>
              <a:t>  * Practice</a:t>
            </a:r>
          </a:p>
          <a:p>
            <a:endParaRPr lang="en-US" dirty="0"/>
          </a:p>
          <a:p>
            <a:r>
              <a:rPr lang="en-US" dirty="0"/>
              <a:t>2. Important Distinction</a:t>
            </a:r>
          </a:p>
          <a:p>
            <a:r>
              <a:rPr lang="en-US" dirty="0"/>
              <a:t>- RAI is explicitly noted as NOT being a subdomain of AI</a:t>
            </a:r>
          </a:p>
          <a:p>
            <a:r>
              <a:rPr lang="en-US" dirty="0"/>
              <a:t>- This suggests it's a comprehensive framework or approach</a:t>
            </a:r>
          </a:p>
          <a:p>
            <a:endParaRPr lang="en-US" dirty="0"/>
          </a:p>
          <a:p>
            <a:r>
              <a:rPr lang="en-US" dirty="0"/>
              <a:t>3. Dimensions of RAI</a:t>
            </a:r>
          </a:p>
          <a:p>
            <a:r>
              <a:rPr lang="en-US" dirty="0"/>
              <a:t>- Multiple dimensions exist</a:t>
            </a:r>
          </a:p>
          <a:p>
            <a:r>
              <a:rPr lang="en-US" dirty="0"/>
              <a:t>- These dimensions are variable and dependent on:</a:t>
            </a:r>
          </a:p>
          <a:p>
            <a:r>
              <a:rPr lang="en-US" dirty="0"/>
              <a:t>  * Organization's specific context</a:t>
            </a:r>
          </a:p>
          <a:p>
            <a:r>
              <a:rPr lang="en-US" dirty="0"/>
              <a:t>  * RAI maturity level</a:t>
            </a:r>
          </a:p>
          <a:p>
            <a:endParaRPr lang="en-US" dirty="0"/>
          </a:p>
          <a:p>
            <a:r>
              <a:rPr lang="en-US" dirty="0"/>
              <a:t>4. Evolution of RAI</a:t>
            </a:r>
          </a:p>
          <a:p>
            <a:r>
              <a:rPr lang="en-US" dirty="0"/>
              <a:t>- Dynamic nature emphasized</a:t>
            </a:r>
          </a:p>
          <a:p>
            <a:r>
              <a:rPr lang="en-US" dirty="0"/>
              <a:t>- New dimensions can emerge</a:t>
            </a:r>
          </a:p>
          <a:p>
            <a:r>
              <a:rPr lang="en-US" dirty="0"/>
              <a:t>- Changes driven by new scientific evidence</a:t>
            </a:r>
          </a:p>
          <a:p>
            <a:endParaRPr lang="en-US" b="1" dirty="0"/>
          </a:p>
          <a:p>
            <a:r>
              <a:rPr lang="en-US" b="1" dirty="0"/>
              <a:t>EDUCATOR NOTES:</a:t>
            </a:r>
          </a:p>
          <a:p>
            <a:endParaRPr lang="en-US" dirty="0"/>
          </a:p>
          <a:p>
            <a:r>
              <a:rPr lang="en-US" dirty="0"/>
              <a:t>”Let’s discuss the organizational culture of Responsible AI, or RAI. It's crucial to understand that RAI isn't simply a subset of AI, but rather a comprehensive framework that shapes how organizations approach AI development and implementation. </a:t>
            </a:r>
          </a:p>
          <a:p>
            <a:r>
              <a:rPr lang="en-US" dirty="0"/>
              <a:t>When we talk about RAI, we're looking at three fundamental components: the organizational structure that supports it, the guiding principles or dimensions that define it, and the actual practices that bring it to life.</a:t>
            </a:r>
          </a:p>
          <a:p>
            <a:r>
              <a:rPr lang="en-US" dirty="0"/>
              <a:t>What makes RAI particularly interesting is its adaptability - the dimensions aren't fixed but rather evolve based on both the organization's specific needs and their maturity level in implementing responsible AI practices. As our understanding of AI impacts grows through new scientific evidence, we may see new dimensions emerge.</a:t>
            </a:r>
          </a:p>
          <a:p>
            <a:endParaRPr lang="en-US" dirty="0"/>
          </a:p>
          <a:p>
            <a:r>
              <a:rPr lang="en-US" dirty="0"/>
              <a:t>Remember, creating a culture of responsible AI isn't a one-time effort but a continuous journey of adaptation and improvement."</a:t>
            </a:r>
          </a:p>
          <a:p>
            <a:endParaRPr lang="en-US" dirty="0"/>
          </a:p>
          <a:p>
            <a:r>
              <a:rPr lang="en-US" dirty="0"/>
              <a:t>[End of Speaker Notes]</a:t>
            </a:r>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2625468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Customer Trust is Primary Concern</a:t>
            </a:r>
          </a:p>
          <a:p>
            <a:r>
              <a:rPr lang="en-US" dirty="0"/>
              <a:t>- Maintaining customer trust is a fundamental priority</a:t>
            </a:r>
          </a:p>
          <a:p>
            <a:r>
              <a:rPr lang="en-US" dirty="0"/>
              <a:t>- Loss of trust could have significant business implications</a:t>
            </a:r>
          </a:p>
          <a:p>
            <a:endParaRPr lang="en-US" dirty="0"/>
          </a:p>
          <a:p>
            <a:r>
              <a:rPr lang="en-US" dirty="0"/>
              <a:t>2. Problematic Model Outputs to Avoid:</a:t>
            </a:r>
          </a:p>
          <a:p>
            <a:r>
              <a:rPr lang="en-US" dirty="0"/>
              <a:t>- Hallucinations and factual inaccuracies</a:t>
            </a:r>
          </a:p>
          <a:p>
            <a:r>
              <a:rPr lang="en-US" dirty="0"/>
              <a:t>- Requests for private/sensitive information sharing</a:t>
            </a:r>
          </a:p>
          <a:p>
            <a:r>
              <a:rPr lang="en-US" dirty="0"/>
              <a:t>- Biased, aggressive, or harmful content</a:t>
            </a:r>
          </a:p>
          <a:p>
            <a:r>
              <a:rPr lang="en-US" dirty="0"/>
              <a:t>- Content that violates laws or licensing agreements</a:t>
            </a:r>
          </a:p>
          <a:p>
            <a:endParaRPr lang="en-US" dirty="0"/>
          </a:p>
          <a:p>
            <a:r>
              <a:rPr lang="en-US" dirty="0"/>
              <a:t>3. Emerging Challenges</a:t>
            </a:r>
          </a:p>
          <a:p>
            <a:r>
              <a:rPr lang="en-US" dirty="0"/>
              <a:t>- New risks continue to emerge with generative AI technology</a:t>
            </a:r>
          </a:p>
          <a:p>
            <a:r>
              <a:rPr lang="en-US" dirty="0"/>
              <a:t>- Need for constant vigilance and adaptation</a:t>
            </a:r>
          </a:p>
          <a:p>
            <a:r>
              <a:rPr lang="en-US" dirty="0"/>
              <a:t>- Focus on safety and accuracy driven by customer needs</a:t>
            </a:r>
          </a:p>
          <a:p>
            <a:endParaRPr lang="en-US" dirty="0"/>
          </a:p>
          <a:p>
            <a:r>
              <a:rPr lang="en-US" dirty="0"/>
              <a:t>4. Customer-Centric Approach</a:t>
            </a:r>
          </a:p>
          <a:p>
            <a:r>
              <a:rPr lang="en-US" dirty="0"/>
              <a:t>- Customer obsession as a driving force</a:t>
            </a:r>
          </a:p>
          <a:p>
            <a:r>
              <a:rPr lang="en-US" dirty="0"/>
              <a:t>- Commitment to providing safe AI models</a:t>
            </a:r>
          </a:p>
          <a:p>
            <a:r>
              <a:rPr lang="en-US" dirty="0"/>
              <a:t>- Accuracy as a core requirement</a:t>
            </a:r>
          </a:p>
          <a:p>
            <a:endParaRPr lang="en-US" dirty="0"/>
          </a:p>
          <a:p>
            <a:r>
              <a:rPr lang="en-US" b="1" dirty="0"/>
              <a:t>EDUCATOR NOTES:</a:t>
            </a:r>
          </a:p>
          <a:p>
            <a:endParaRPr lang="en-US" dirty="0"/>
          </a:p>
          <a:p>
            <a:r>
              <a:rPr lang="en-US" dirty="0"/>
              <a:t>”Let’s discuss outputs that we must actively prevent - from hallucinations to potentially harmful content.</a:t>
            </a:r>
          </a:p>
          <a:p>
            <a:endParaRPr lang="en-US" dirty="0"/>
          </a:p>
          <a:p>
            <a:r>
              <a:rPr lang="en-US" dirty="0"/>
              <a:t>The landscape of generative AI is rapidly evolving, bringing new challenges and risks that we must address proactively. Customer obsession drives us to ensure our models are not just powerful, but also safe and accurate. This isn't just about avoiding problems - it's about building AI systems that our customers can rely on with confidence.</a:t>
            </a:r>
          </a:p>
          <a:p>
            <a:endParaRPr lang="en-US" dirty="0"/>
          </a:p>
          <a:p>
            <a:r>
              <a:rPr lang="en-US" dirty="0"/>
              <a:t>Remember: Every decision we make in AI development must be viewed through the lens of customer trust and safety. This is non-negotiable for our long-term success."</a:t>
            </a:r>
          </a:p>
        </p:txBody>
      </p:sp>
      <p:sp>
        <p:nvSpPr>
          <p:cNvPr id="4" name="Slide Number Placeholder 3"/>
          <p:cNvSpPr>
            <a:spLocks noGrp="1"/>
          </p:cNvSpPr>
          <p:nvPr>
            <p:ph type="sldNum" sz="quarter" idx="5"/>
          </p:nvPr>
        </p:nvSpPr>
        <p:spPr/>
        <p:txBody>
          <a:bodyPr/>
          <a:lstStyle/>
          <a:p>
            <a:fld id="{688EF870-5850-6643-A228-25AFAA8E2BB1}" type="slidenum">
              <a:rPr lang="en-US" smtClean="0"/>
              <a:t>8</a:t>
            </a:fld>
            <a:endParaRPr lang="en-US"/>
          </a:p>
        </p:txBody>
      </p:sp>
    </p:spTree>
    <p:extLst>
      <p:ext uri="{BB962C8B-B14F-4D97-AF65-F5344CB8AC3E}">
        <p14:creationId xmlns:p14="http://schemas.microsoft.com/office/powerpoint/2010/main" val="3743580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Current State of AI Regulation</a:t>
            </a:r>
          </a:p>
          <a:p>
            <a:r>
              <a:rPr lang="en-US" dirty="0"/>
              <a:t>- Multiple regulatory frameworks are being developed simultaneously</a:t>
            </a:r>
          </a:p>
          <a:p>
            <a:r>
              <a:rPr lang="en-US" dirty="0"/>
              <a:t>- Focus on understanding and mitigating AI system risks</a:t>
            </a:r>
          </a:p>
          <a:p>
            <a:r>
              <a:rPr lang="en-US" dirty="0"/>
              <a:t>- Global approach with different organizations taking lead roles</a:t>
            </a:r>
          </a:p>
          <a:p>
            <a:endParaRPr lang="en-US" dirty="0"/>
          </a:p>
          <a:p>
            <a:r>
              <a:rPr lang="en-US" dirty="0"/>
              <a:t>2. Key Regulatory Bodies/Frameworks:</a:t>
            </a:r>
          </a:p>
          <a:p>
            <a:endParaRPr lang="en-US" dirty="0"/>
          </a:p>
          <a:p>
            <a:r>
              <a:rPr lang="en-US" dirty="0"/>
              <a:t>a) NIST RMF (National Institute of Standards and Technology Risk Management Framework)</a:t>
            </a:r>
          </a:p>
          <a:p>
            <a:r>
              <a:rPr lang="en-US" dirty="0"/>
              <a:t>- U.S.-based framework</a:t>
            </a:r>
          </a:p>
          <a:p>
            <a:r>
              <a:rPr lang="en-US" dirty="0"/>
              <a:t>- Focuses on AI risk management</a:t>
            </a:r>
          </a:p>
          <a:p>
            <a:r>
              <a:rPr lang="en-US" dirty="0"/>
              <a:t>- Provides structured approach to identify and manage AI-related risks</a:t>
            </a:r>
          </a:p>
          <a:p>
            <a:r>
              <a:rPr lang="en-US" dirty="0"/>
              <a:t>- Emphasizes categorization and implementation stages</a:t>
            </a:r>
          </a:p>
          <a:p>
            <a:endParaRPr lang="en-US" dirty="0"/>
          </a:p>
          <a:p>
            <a:r>
              <a:rPr lang="en-US" dirty="0"/>
              <a:t>b) The AI Act (European Commission)</a:t>
            </a:r>
          </a:p>
          <a:p>
            <a:r>
              <a:rPr lang="en-US" dirty="0"/>
              <a:t>- EU's comprehensive legislation on AI</a:t>
            </a:r>
          </a:p>
          <a:p>
            <a:r>
              <a:rPr lang="en-US" dirty="0"/>
              <a:t>- First major regulatory framework for AI globally</a:t>
            </a:r>
          </a:p>
          <a:p>
            <a:r>
              <a:rPr lang="en-US" dirty="0"/>
              <a:t>- Risk-based approach to AI regulation</a:t>
            </a:r>
          </a:p>
          <a:p>
            <a:r>
              <a:rPr lang="en-US" dirty="0"/>
              <a:t>- Categorizes AI systems based on risk levels (prohibited, high-risk, limited risk, minimal risk)</a:t>
            </a:r>
          </a:p>
          <a:p>
            <a:endParaRPr lang="en-US" dirty="0"/>
          </a:p>
          <a:p>
            <a:r>
              <a:rPr lang="en-US" dirty="0"/>
              <a:t>c) ISO (International Organization for Standardization)</a:t>
            </a:r>
          </a:p>
          <a:p>
            <a:r>
              <a:rPr lang="en-US" dirty="0"/>
              <a:t>- Developing international standards for AI</a:t>
            </a:r>
          </a:p>
          <a:p>
            <a:r>
              <a:rPr lang="en-US" dirty="0"/>
              <a:t>- Focuses on standardization across borders</a:t>
            </a:r>
          </a:p>
          <a:p>
            <a:r>
              <a:rPr lang="en-US" dirty="0"/>
              <a:t>- Aims to create globally recognized AI standards</a:t>
            </a:r>
          </a:p>
          <a:p>
            <a:r>
              <a:rPr lang="en-US" dirty="0"/>
              <a:t>- Works on technical specifications and guidelines</a:t>
            </a:r>
          </a:p>
          <a:p>
            <a:endParaRPr lang="en-US" dirty="0"/>
          </a:p>
          <a:p>
            <a:r>
              <a:rPr lang="en-US" b="1" dirty="0"/>
              <a:t>EDUCATOR NOTES:</a:t>
            </a:r>
          </a:p>
          <a:p>
            <a:endParaRPr lang="en-US" dirty="0"/>
          </a:p>
          <a:p>
            <a:r>
              <a:rPr lang="en-US" dirty="0"/>
              <a:t>”Let’s discuss the evolving regulatory landscape for AI systems. As AI technology continues to advance, various organizations worldwide are working to create comprehensive frameworks to ensure safe and ethical AI development and deployment.</a:t>
            </a:r>
          </a:p>
          <a:p>
            <a:endParaRPr lang="en-US" dirty="0"/>
          </a:p>
          <a:p>
            <a:r>
              <a:rPr lang="en-US" dirty="0"/>
              <a:t>The three major frameworks shown here represent different but complementary approaches:</a:t>
            </a:r>
          </a:p>
          <a:p>
            <a:r>
              <a:rPr lang="en-US" dirty="0"/>
              <a:t>- NIST RMF provides practical risk management guidelines</a:t>
            </a:r>
          </a:p>
          <a:p>
            <a:r>
              <a:rPr lang="en-US" dirty="0"/>
              <a:t>- The EU's AI Act sets legal requirements and boundaries</a:t>
            </a:r>
          </a:p>
          <a:p>
            <a:r>
              <a:rPr lang="en-US" dirty="0"/>
              <a:t>- ISO works on international standardization</a:t>
            </a:r>
          </a:p>
          <a:p>
            <a:endParaRPr lang="en-US" dirty="0"/>
          </a:p>
          <a:p>
            <a:r>
              <a:rPr lang="en-US" dirty="0"/>
              <a:t>It's crucial for organizations developing or implementing AI systems to stay informed about these regulatory developments, as they will likely need to comply with multiple frameworks depending on their operational scope and geography.</a:t>
            </a:r>
          </a:p>
          <a:p>
            <a:endParaRPr lang="en-US" dirty="0"/>
          </a:p>
          <a:p>
            <a:r>
              <a:rPr lang="en-US" dirty="0"/>
              <a:t>Remember that this is a rapidly evolving landscape, and these frameworks are still under development. Organizations should maintain flexibility in their compliance approaches and stay updated with the latest requirements and guidelines.</a:t>
            </a:r>
          </a:p>
          <a:p>
            <a:endParaRPr lang="en-US" dirty="0"/>
          </a:p>
          <a:p>
            <a:r>
              <a:rPr lang="en-US" dirty="0"/>
              <a:t>Does anyone have questions about any of these specific frameworks or how they might impact your AI initiatives?"</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2933809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Top-Level Dimensions (First Row):</a:t>
            </a:r>
          </a:p>
          <a:p>
            <a:r>
              <a:rPr lang="en-US" dirty="0"/>
              <a:t>- Controllability: Focuses on implementing systems to monitor and control AI behavior</a:t>
            </a:r>
          </a:p>
          <a:p>
            <a:r>
              <a:rPr lang="en-US" dirty="0"/>
              <a:t>- Privacy &amp; Security: Emphasizes proper data handling and model protection</a:t>
            </a:r>
          </a:p>
          <a:p>
            <a:r>
              <a:rPr lang="en-US" dirty="0"/>
              <a:t>- Safety: Centers on preventing harmful outputs and system misuse</a:t>
            </a:r>
          </a:p>
          <a:p>
            <a:r>
              <a:rPr lang="en-US" dirty="0"/>
              <a:t>- Fairness: Addresses equitable treatment across different stakeholder groups</a:t>
            </a:r>
          </a:p>
          <a:p>
            <a:endParaRPr lang="en-US" dirty="0"/>
          </a:p>
          <a:p>
            <a:r>
              <a:rPr lang="en-US" dirty="0"/>
              <a:t>2. Bottom-Level Dimensions (Second Row):</a:t>
            </a:r>
          </a:p>
          <a:p>
            <a:r>
              <a:rPr lang="en-US" dirty="0"/>
              <a:t>- Veracity &amp; Robustness: Ensures reliable outputs even under challenging conditions</a:t>
            </a:r>
          </a:p>
          <a:p>
            <a:r>
              <a:rPr lang="en-US" dirty="0"/>
              <a:t>- Explainability: Provides understanding of AI-generated outputs</a:t>
            </a:r>
          </a:p>
          <a:p>
            <a:r>
              <a:rPr lang="en-US" dirty="0"/>
              <a:t>- Transparency: Enables informed decision-making for stakeholders</a:t>
            </a:r>
          </a:p>
          <a:p>
            <a:r>
              <a:rPr lang="en-US" dirty="0"/>
              <a:t>- Governance: Implements best practices throughout the AI lifecycle</a:t>
            </a:r>
          </a:p>
          <a:p>
            <a:endParaRPr lang="en-US" dirty="0"/>
          </a:p>
          <a:p>
            <a:r>
              <a:rPr lang="en-US" dirty="0"/>
              <a:t>Key Relationships:</a:t>
            </a:r>
          </a:p>
          <a:p>
            <a:r>
              <a:rPr lang="en-US" dirty="0"/>
              <a:t>- Each dimension complements the others</a:t>
            </a:r>
          </a:p>
          <a:p>
            <a:r>
              <a:rPr lang="en-US" dirty="0"/>
              <a:t>- All dimensions work together to create responsible AI systems</a:t>
            </a:r>
          </a:p>
          <a:p>
            <a:r>
              <a:rPr lang="en-US" dirty="0"/>
              <a:t>- Framework provides comprehensive coverage of ethical and practical considerations</a:t>
            </a:r>
          </a:p>
          <a:p>
            <a:endParaRPr lang="en-US" b="1" dirty="0"/>
          </a:p>
          <a:p>
            <a:r>
              <a:rPr lang="en-US" b="1" dirty="0"/>
              <a:t>EDUCATOR NOTES:</a:t>
            </a:r>
          </a:p>
          <a:p>
            <a:endParaRPr lang="en-US" dirty="0"/>
          </a:p>
          <a:p>
            <a:r>
              <a:rPr lang="en-US" dirty="0"/>
              <a:t>”let’s discuss the eight critical dimensions of Responsible AI that form the foundation of ethical AI development and deployment.</a:t>
            </a:r>
          </a:p>
          <a:p>
            <a:endParaRPr lang="en-US" dirty="0"/>
          </a:p>
          <a:p>
            <a:r>
              <a:rPr lang="en-US" dirty="0"/>
              <a:t>In the top row, we see four fundamental aspects:</a:t>
            </a:r>
          </a:p>
          <a:p>
            <a:r>
              <a:rPr lang="en-US" dirty="0"/>
              <a:t>- Controllability ensures we maintain oversight of our AI systems</a:t>
            </a:r>
          </a:p>
          <a:p>
            <a:r>
              <a:rPr lang="en-US" dirty="0"/>
              <a:t>- Privacy &amp; Security protects both data and models</a:t>
            </a:r>
          </a:p>
          <a:p>
            <a:r>
              <a:rPr lang="en-US" dirty="0"/>
              <a:t>- Safety prevents potential harm</a:t>
            </a:r>
          </a:p>
          <a:p>
            <a:r>
              <a:rPr lang="en-US" dirty="0"/>
              <a:t>- Fairness ensures equitable treatment</a:t>
            </a:r>
          </a:p>
          <a:p>
            <a:endParaRPr lang="en-US" dirty="0"/>
          </a:p>
          <a:p>
            <a:r>
              <a:rPr lang="en-US" dirty="0"/>
              <a:t>The bottom row addresses:</a:t>
            </a:r>
          </a:p>
          <a:p>
            <a:r>
              <a:rPr lang="en-US" dirty="0"/>
              <a:t>- Veracity &amp; Robustness for reliable performance</a:t>
            </a:r>
          </a:p>
          <a:p>
            <a:r>
              <a:rPr lang="en-US" dirty="0"/>
              <a:t>- Explainability to understand AI decisions</a:t>
            </a:r>
          </a:p>
          <a:p>
            <a:r>
              <a:rPr lang="en-US" dirty="0"/>
              <a:t>- Transparency for stakeholder trust</a:t>
            </a:r>
          </a:p>
          <a:p>
            <a:r>
              <a:rPr lang="en-US" dirty="0"/>
              <a:t>- Governance to maintain standards</a:t>
            </a:r>
          </a:p>
          <a:p>
            <a:endParaRPr lang="en-US" dirty="0"/>
          </a:p>
          <a:p>
            <a:r>
              <a:rPr lang="en-US" dirty="0"/>
              <a:t>These dimensions aren't isolated - they work together to create AI systems that are not just powerful, but responsible and trustworthy. As we implement AI solutions, we must consider how each dimension applies to our specific use case.</a:t>
            </a:r>
          </a:p>
          <a:p>
            <a:endParaRPr lang="en-US" dirty="0"/>
          </a:p>
          <a:p>
            <a:r>
              <a:rPr lang="en-US" dirty="0"/>
              <a:t>Remember, responsible AI isn't just about technical excellence - it's about creating systems that benefit society while minimizing potential risks."</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820471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Who should think about RAI?</a:t>
            </a:r>
          </a:p>
          <a:p>
            <a:endParaRPr lang="en-US" dirty="0"/>
          </a:p>
          <a:p>
            <a:r>
              <a:rPr lang="en-US" dirty="0"/>
              <a:t>1. Design Phase</a:t>
            </a:r>
          </a:p>
          <a:p>
            <a:r>
              <a:rPr lang="en-US" dirty="0"/>
              <a:t>- Initial conceptualization stage</a:t>
            </a:r>
          </a:p>
          <a:p>
            <a:r>
              <a:rPr lang="en-US" dirty="0"/>
              <a:t>- Planning and architectural decisions</a:t>
            </a:r>
          </a:p>
          <a:p>
            <a:r>
              <a:rPr lang="en-US" dirty="0"/>
              <a:t>- Involves setting ethical guidelines and principles</a:t>
            </a:r>
          </a:p>
          <a:p>
            <a:r>
              <a:rPr lang="en-US" dirty="0"/>
              <a:t>- Requires input from diverse stakeholders</a:t>
            </a:r>
          </a:p>
          <a:p>
            <a:endParaRPr lang="en-US" dirty="0"/>
          </a:p>
          <a:p>
            <a:r>
              <a:rPr lang="en-US" dirty="0"/>
              <a:t>2. Build Phase</a:t>
            </a:r>
          </a:p>
          <a:p>
            <a:r>
              <a:rPr lang="en-US" dirty="0"/>
              <a:t>- Development and implementation</a:t>
            </a:r>
          </a:p>
          <a:p>
            <a:r>
              <a:rPr lang="en-US" dirty="0"/>
              <a:t>- Creating AI models and systems</a:t>
            </a:r>
          </a:p>
          <a:p>
            <a:r>
              <a:rPr lang="en-US" dirty="0"/>
              <a:t>- Integration of RAI principles into technical solutions</a:t>
            </a:r>
          </a:p>
          <a:p>
            <a:r>
              <a:rPr lang="en-US" dirty="0"/>
              <a:t>- Testing and validation of ethical considerations</a:t>
            </a:r>
          </a:p>
          <a:p>
            <a:endParaRPr lang="en-US" dirty="0"/>
          </a:p>
          <a:p>
            <a:r>
              <a:rPr lang="en-US" dirty="0"/>
              <a:t>3. Operate Phase</a:t>
            </a:r>
          </a:p>
          <a:p>
            <a:r>
              <a:rPr lang="en-US" dirty="0"/>
              <a:t>- Deployment and maintenance</a:t>
            </a:r>
          </a:p>
          <a:p>
            <a:r>
              <a:rPr lang="en-US" dirty="0"/>
              <a:t>- Monitoring AI system performance</a:t>
            </a:r>
          </a:p>
          <a:p>
            <a:r>
              <a:rPr lang="en-US" dirty="0"/>
              <a:t>- Continuous assessment of ethical impacts</a:t>
            </a:r>
          </a:p>
          <a:p>
            <a:r>
              <a:rPr lang="en-US" dirty="0"/>
              <a:t>- Making adjustments based on real-world feedback</a:t>
            </a:r>
          </a:p>
          <a:p>
            <a:endParaRPr lang="en-US" b="1" dirty="0"/>
          </a:p>
          <a:p>
            <a:r>
              <a:rPr lang="en-US" b="1" dirty="0"/>
              <a:t>EDUCATOR NOTES:</a:t>
            </a:r>
          </a:p>
          <a:p>
            <a:endParaRPr lang="en-US" dirty="0"/>
          </a:p>
          <a:p>
            <a:r>
              <a:rPr lang="en-US" dirty="0"/>
              <a:t>”Let’s discuss who needs to consider Responsible AI across its lifecycle. The key message is that RAI isn't just one team's responsibility - it spans across the entire AI lifecycle from design through operations. In the design phase, we establish our ethical framework and principles. During build, we implement these principles into our technical solutions. Finally, in operations, we ensure our AI systems continue to perform responsibly and ethically in real-world conditions. Each phase requires collaboration between different teams and stakeholders to ensure responsible AI development and deployment."</a:t>
            </a:r>
          </a:p>
          <a:p>
            <a:endParaRPr lang="en-US" dirty="0"/>
          </a:p>
          <a:p>
            <a:r>
              <a:rPr lang="en-US" dirty="0"/>
              <a:t>Remember:</a:t>
            </a:r>
          </a:p>
          <a:p>
            <a:r>
              <a:rPr lang="en-US" dirty="0"/>
              <a:t>- Emphasize the continuous nature of RAI</a:t>
            </a:r>
          </a:p>
          <a:p>
            <a:r>
              <a:rPr lang="en-US" dirty="0"/>
              <a:t>- Highlight the importance of cross-functional involvement</a:t>
            </a:r>
          </a:p>
          <a:p>
            <a:r>
              <a:rPr lang="en-US" dirty="0"/>
              <a:t>- Stress that RAI is everyone's responsibility in the AI development lifecycle</a:t>
            </a:r>
          </a:p>
        </p:txBody>
      </p:sp>
      <p:sp>
        <p:nvSpPr>
          <p:cNvPr id="4" name="Slide Number Placeholder 3"/>
          <p:cNvSpPr>
            <a:spLocks noGrp="1"/>
          </p:cNvSpPr>
          <p:nvPr>
            <p:ph type="sldNum" sz="quarter" idx="5"/>
          </p:nvPr>
        </p:nvSpPr>
        <p:spPr/>
        <p:txBody>
          <a:bodyPr/>
          <a:lstStyle/>
          <a:p>
            <a:fld id="{688EF870-5850-6643-A228-25AFAA8E2BB1}" type="slidenum">
              <a:rPr lang="en-US" smtClean="0"/>
              <a:t>11</a:t>
            </a:fld>
            <a:endParaRPr lang="en-US"/>
          </a:p>
        </p:txBody>
      </p:sp>
    </p:spTree>
    <p:extLst>
      <p:ext uri="{BB962C8B-B14F-4D97-AF65-F5344CB8AC3E}">
        <p14:creationId xmlns:p14="http://schemas.microsoft.com/office/powerpoint/2010/main" val="2584127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"Everyone must consider RAI!"</a:t>
            </a:r>
          </a:p>
          <a:p>
            <a:endParaRPr lang="en-US" dirty="0"/>
          </a:p>
          <a:p>
            <a:r>
              <a:rPr lang="en-US" dirty="0"/>
              <a:t>Key Message:</a:t>
            </a:r>
          </a:p>
          <a:p>
            <a:r>
              <a:rPr lang="en-US" dirty="0"/>
              <a:t>- RAI (Responsible AI) must be considered throughout the entire lifecycle of AI projects</a:t>
            </a:r>
          </a:p>
          <a:p>
            <a:r>
              <a:rPr lang="en-US" dirty="0"/>
              <a:t>- This appears to be a foundational principle that applies across all phases</a:t>
            </a:r>
          </a:p>
          <a:p>
            <a:r>
              <a:rPr lang="en-US" dirty="0"/>
              <a:t>- The lifecycle phases shown are: Design, Build, and Operate</a:t>
            </a:r>
          </a:p>
          <a:p>
            <a:endParaRPr lang="en-US" dirty="0"/>
          </a:p>
          <a:p>
            <a:r>
              <a:rPr lang="en-US" dirty="0"/>
              <a:t>Main Point:</a:t>
            </a:r>
          </a:p>
          <a:p>
            <a:r>
              <a:rPr lang="en-US" dirty="0"/>
              <a:t>The slide emphasizes that RAI consideration is not limited to any single phase but should be integrated across the entire AI development and deployment process.</a:t>
            </a:r>
          </a:p>
          <a:p>
            <a:endParaRPr lang="en-US" dirty="0"/>
          </a:p>
          <a:p>
            <a:r>
              <a:rPr lang="en-US" b="1" dirty="0"/>
              <a:t>EDUCATOR NOTES:</a:t>
            </a:r>
          </a:p>
          <a:p>
            <a:endParaRPr lang="en-US" dirty="0"/>
          </a:p>
          <a:p>
            <a:r>
              <a:rPr lang="en-US" dirty="0"/>
              <a:t>”Let’s discuss a critical principle in AI development - the need to consider Responsible AI at every stage of our work. Whether you're in the initial design phase, actively building your AI solution, or managing operations, RAI isn't optional - it's essential. This isn't about checking a box at the end of your project; it's about integrating responsible practices throughout the entire lifecycle. Let me walk you through how this applies to each phase and why it's crucial for creating trustworthy AI systems..."</a:t>
            </a:r>
          </a:p>
          <a:p>
            <a:endParaRPr lang="en-US" dirty="0"/>
          </a:p>
          <a:p>
            <a:r>
              <a:rPr lang="en-US" dirty="0"/>
              <a:t>Tips for Delivery:</a:t>
            </a:r>
          </a:p>
          <a:p>
            <a:r>
              <a:rPr lang="en-US" dirty="0"/>
              <a:t>- Emphasize the word "must" to reinforce the mandatory nature</a:t>
            </a:r>
          </a:p>
          <a:p>
            <a:r>
              <a:rPr lang="en-US" dirty="0"/>
              <a:t>- Be prepared to provide specific examples for each lifecycle phase</a:t>
            </a:r>
          </a:p>
          <a:p>
            <a:r>
              <a:rPr lang="en-US" dirty="0"/>
              <a:t>- Use this as an opening for deeper discussion about RAI practices</a:t>
            </a:r>
          </a:p>
        </p:txBody>
      </p:sp>
      <p:sp>
        <p:nvSpPr>
          <p:cNvPr id="4" name="Slide Number Placeholder 3"/>
          <p:cNvSpPr>
            <a:spLocks noGrp="1"/>
          </p:cNvSpPr>
          <p:nvPr>
            <p:ph type="sldNum" sz="quarter" idx="5"/>
          </p:nvPr>
        </p:nvSpPr>
        <p:spPr/>
        <p:txBody>
          <a:bodyPr/>
          <a:lstStyle/>
          <a:p>
            <a:fld id="{688EF870-5850-6643-A228-25AFAA8E2BB1}" type="slidenum">
              <a:rPr lang="en-US" smtClean="0"/>
              <a:t>12</a:t>
            </a:fld>
            <a:endParaRPr lang="en-US"/>
          </a:p>
        </p:txBody>
      </p:sp>
    </p:spTree>
    <p:extLst>
      <p:ext uri="{BB962C8B-B14F-4D97-AF65-F5344CB8AC3E}">
        <p14:creationId xmlns:p14="http://schemas.microsoft.com/office/powerpoint/2010/main" val="3420018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Stakeholder Engagement</a:t>
            </a:r>
          </a:p>
          <a:p>
            <a:r>
              <a:rPr lang="en-US" dirty="0"/>
              <a:t>- Importance of discussing use cases with various stakeholders</a:t>
            </a:r>
          </a:p>
          <a:p>
            <a:r>
              <a:rPr lang="en-US" dirty="0"/>
              <a:t>- Need to include diverse groups in the discussion process</a:t>
            </a:r>
          </a:p>
          <a:p>
            <a:r>
              <a:rPr lang="en-US" dirty="0"/>
              <a:t>- Ensures comprehensive understanding of different perspectives</a:t>
            </a:r>
          </a:p>
          <a:p>
            <a:r>
              <a:rPr lang="en-US" dirty="0"/>
              <a:t>- Helps identify potential impacts across different user groups</a:t>
            </a:r>
          </a:p>
          <a:p>
            <a:endParaRPr lang="en-US" dirty="0"/>
          </a:p>
          <a:p>
            <a:r>
              <a:rPr lang="en-US" dirty="0"/>
              <a:t>2. AI Value Assessment</a:t>
            </a:r>
          </a:p>
          <a:p>
            <a:r>
              <a:rPr lang="en-US" dirty="0"/>
              <a:t>- Evaluation of AI implementation benefits</a:t>
            </a:r>
          </a:p>
          <a:p>
            <a:r>
              <a:rPr lang="en-US" dirty="0"/>
              <a:t>- Determining if AI solution is the right approach</a:t>
            </a:r>
          </a:p>
          <a:p>
            <a:r>
              <a:rPr lang="en-US" dirty="0"/>
              <a:t>- Analysis of cost vs. benefit</a:t>
            </a:r>
          </a:p>
          <a:p>
            <a:r>
              <a:rPr lang="en-US" dirty="0"/>
              <a:t>- Identification of specific areas where AI can improve outcomes</a:t>
            </a:r>
          </a:p>
          <a:p>
            <a:endParaRPr lang="en-US" dirty="0"/>
          </a:p>
          <a:p>
            <a:r>
              <a:rPr lang="en-US" dirty="0"/>
              <a:t>3. Risk Assessment Framework</a:t>
            </a:r>
          </a:p>
          <a:p>
            <a:r>
              <a:rPr lang="en-US" dirty="0"/>
              <a:t>- Comprehensive evaluation of potential risks</a:t>
            </a:r>
          </a:p>
          <a:p>
            <a:r>
              <a:rPr lang="en-US" dirty="0"/>
              <a:t>- Investigation of technical, ethical, and operational risks</a:t>
            </a:r>
          </a:p>
          <a:p>
            <a:r>
              <a:rPr lang="en-US" dirty="0"/>
              <a:t>- Assessment of impact on different stakeholder groups</a:t>
            </a:r>
          </a:p>
          <a:p>
            <a:r>
              <a:rPr lang="en-US" dirty="0"/>
              <a:t>- Development of risk mitigation strategies</a:t>
            </a:r>
          </a:p>
          <a:p>
            <a:endParaRPr lang="en-US" dirty="0"/>
          </a:p>
          <a:p>
            <a:r>
              <a:rPr lang="en-US" b="1" dirty="0"/>
              <a:t>EDUCATOR NOTES:</a:t>
            </a:r>
          </a:p>
          <a:p>
            <a:endParaRPr lang="en-US" dirty="0"/>
          </a:p>
          <a:p>
            <a:r>
              <a:rPr lang="en-US" dirty="0"/>
              <a:t>"As we begin defining our business problem and assessing risks, it's crucial to take a three-pronged approach. First, we must engage with a diverse range of stakeholders to understand various perspectives and needs. This includes both internal teams and external users who might be affected by our solution.</a:t>
            </a:r>
          </a:p>
          <a:p>
            <a:endParaRPr lang="en-US" dirty="0"/>
          </a:p>
          <a:p>
            <a:r>
              <a:rPr lang="en-US" dirty="0"/>
              <a:t>Next, we need to carefully evaluate whether AI truly adds value to our proposed solution. Not every problem requires an AI solution, and we must be honest about where AI can genuinely improve outcomes.</a:t>
            </a:r>
          </a:p>
          <a:p>
            <a:endParaRPr lang="en-US" dirty="0"/>
          </a:p>
          <a:p>
            <a:r>
              <a:rPr lang="en-US" dirty="0"/>
              <a:t>Finally, we'll conduct a thorough risk assessment. This isn't just about technical risks – we need to consider ethical implications, operational challenges, and potential impacts on all stakeholder groups. Remember, early identification of risks allows us to develop effective mitigation strategies before implementation.</a:t>
            </a:r>
          </a:p>
          <a:p>
            <a:endParaRPr lang="en-US" dirty="0"/>
          </a:p>
          <a:p>
            <a:r>
              <a:rPr lang="en-US" dirty="0"/>
              <a:t>The goal is to create a solution that's not only technically sound but also responsible and inclusive in its approach."</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13</a:t>
            </a:fld>
            <a:endParaRPr lang="en-US"/>
          </a:p>
        </p:txBody>
      </p:sp>
    </p:spTree>
    <p:extLst>
      <p:ext uri="{BB962C8B-B14F-4D97-AF65-F5344CB8AC3E}">
        <p14:creationId xmlns:p14="http://schemas.microsoft.com/office/powerpoint/2010/main" val="117923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Data Quality Requirements:</a:t>
            </a:r>
          </a:p>
          <a:p>
            <a:r>
              <a:rPr lang="en-US" dirty="0"/>
              <a:t>- Training data must meet three key criteria:</a:t>
            </a:r>
          </a:p>
          <a:p>
            <a:r>
              <a:rPr lang="en-US" dirty="0"/>
              <a:t>  * Safety: Ensure data is free from harmful biases and secure</a:t>
            </a:r>
          </a:p>
          <a:p>
            <a:r>
              <a:rPr lang="en-US" dirty="0"/>
              <a:t>  * Relevance: Data should be appropriate for the intended use case</a:t>
            </a:r>
          </a:p>
          <a:p>
            <a:r>
              <a:rPr lang="en-US" dirty="0"/>
              <a:t>  * Representativeness: Data should cover all important scenarios and demographics</a:t>
            </a:r>
          </a:p>
          <a:p>
            <a:endParaRPr lang="en-US" dirty="0"/>
          </a:p>
          <a:p>
            <a:r>
              <a:rPr lang="en-US" dirty="0"/>
              <a:t>2. Legal Compliance:</a:t>
            </a:r>
          </a:p>
          <a:p>
            <a:r>
              <a:rPr lang="en-US" dirty="0"/>
              <a:t>- Consider multiple legal aspects:</a:t>
            </a:r>
          </a:p>
          <a:p>
            <a:r>
              <a:rPr lang="en-US" dirty="0"/>
              <a:t>  * Proper licensing of data and tools</a:t>
            </a:r>
          </a:p>
          <a:p>
            <a:r>
              <a:rPr lang="en-US" dirty="0"/>
              <a:t>  * Privacy regulations (GDPR, CCPA, etc.)</a:t>
            </a:r>
          </a:p>
          <a:p>
            <a:r>
              <a:rPr lang="en-US" dirty="0"/>
              <a:t>  * User consent requirements</a:t>
            </a:r>
          </a:p>
          <a:p>
            <a:r>
              <a:rPr lang="en-US" dirty="0"/>
              <a:t>  * Industry-specific regulations</a:t>
            </a:r>
          </a:p>
          <a:p>
            <a:endParaRPr lang="en-US" dirty="0"/>
          </a:p>
          <a:p>
            <a:r>
              <a:rPr lang="en-US" dirty="0"/>
              <a:t>3. Evaluation Framework:</a:t>
            </a:r>
          </a:p>
          <a:p>
            <a:r>
              <a:rPr lang="en-US" dirty="0"/>
              <a:t>- Metrics-based assessment:</a:t>
            </a:r>
          </a:p>
          <a:p>
            <a:r>
              <a:rPr lang="en-US" dirty="0"/>
              <a:t>  * Implementation of appropriate performance metrics</a:t>
            </a:r>
          </a:p>
          <a:p>
            <a:r>
              <a:rPr lang="en-US" dirty="0"/>
              <a:t>  * Include confidence intervals for statistical reliability</a:t>
            </a:r>
          </a:p>
          <a:p>
            <a:r>
              <a:rPr lang="en-US" dirty="0"/>
              <a:t>  * Regular monitoring and validation</a:t>
            </a:r>
          </a:p>
          <a:p>
            <a:endParaRPr lang="en-US" dirty="0"/>
          </a:p>
          <a:p>
            <a:r>
              <a:rPr lang="en-US" dirty="0"/>
              <a:t>4. Risk Management:</a:t>
            </a:r>
          </a:p>
          <a:p>
            <a:r>
              <a:rPr lang="en-US" dirty="0"/>
              <a:t>- Focus on three key areas:</a:t>
            </a:r>
          </a:p>
          <a:p>
            <a:r>
              <a:rPr lang="en-US" dirty="0"/>
              <a:t>  * Model disgorgement (ability to remove problematic training data)</a:t>
            </a:r>
          </a:p>
          <a:p>
            <a:r>
              <a:rPr lang="en-US" dirty="0"/>
              <a:t>  * Value alignment (ensuring model outputs align with intended goals)</a:t>
            </a:r>
          </a:p>
          <a:p>
            <a:r>
              <a:rPr lang="en-US" dirty="0"/>
              <a:t>  * Implementation of safeguards to prevent misuse or harmful outputs</a:t>
            </a:r>
          </a:p>
          <a:p>
            <a:endParaRPr lang="en-US" b="1" dirty="0"/>
          </a:p>
          <a:p>
            <a:r>
              <a:rPr lang="en-US" b="1" dirty="0"/>
              <a:t>EDUCATOR NOTES:</a:t>
            </a:r>
          </a:p>
          <a:p>
            <a:endParaRPr lang="en-US" dirty="0"/>
          </a:p>
          <a:p>
            <a:r>
              <a:rPr lang="en-US" dirty="0"/>
              <a:t>”Let’s discuss the crucial aspects of building and evaluating AI/ML systems. We'll start by emphasizing the importance of quality training data - it must be safe, relevant, and representative of real-world scenarios. Remember that legal compliance isn't optional; it's fundamental to responsible AI development.</a:t>
            </a:r>
          </a:p>
          <a:p>
            <a:endParaRPr lang="en-US" dirty="0"/>
          </a:p>
          <a:p>
            <a:r>
              <a:rPr lang="en-US" dirty="0"/>
              <a:t>When evaluating your system, always use concrete metrics and include confidence intervals to understand the reliability of your results. Don't forget about risk management - consider how you might need to remove problematic data, ensure your model's outputs align with intended goals, and implement necessary safeguards.</a:t>
            </a:r>
          </a:p>
          <a:p>
            <a:endParaRPr lang="en-US" dirty="0"/>
          </a:p>
          <a:p>
            <a:r>
              <a:rPr lang="en-US" dirty="0"/>
              <a:t>Any questions before we dive deeper into each of these aspects?"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14</a:t>
            </a:fld>
            <a:endParaRPr lang="en-US"/>
          </a:p>
        </p:txBody>
      </p:sp>
    </p:spTree>
    <p:extLst>
      <p:ext uri="{BB962C8B-B14F-4D97-AF65-F5344CB8AC3E}">
        <p14:creationId xmlns:p14="http://schemas.microsoft.com/office/powerpoint/2010/main" val="2283926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Operating AI/ML Systems</a:t>
            </a:r>
          </a:p>
          <a:p>
            <a:r>
              <a:rPr lang="en-US" dirty="0"/>
              <a:t>- Key focus on high-risk use case management</a:t>
            </a:r>
          </a:p>
          <a:p>
            <a:r>
              <a:rPr lang="en-US" dirty="0"/>
              <a:t>- Implementation of feedback mechanisms</a:t>
            </a:r>
          </a:p>
          <a:p>
            <a:r>
              <a:rPr lang="en-US" dirty="0"/>
              <a:t>- Importance of transparency regarding system limitations</a:t>
            </a:r>
          </a:p>
          <a:p>
            <a:endParaRPr lang="en-US" dirty="0"/>
          </a:p>
          <a:p>
            <a:r>
              <a:rPr lang="en-US" dirty="0"/>
              <a:t>2. Model Monitoring &amp; Compliance</a:t>
            </a:r>
          </a:p>
          <a:p>
            <a:r>
              <a:rPr lang="en-US" dirty="0"/>
              <a:t>- Regular checks for model drift to maintain accuracy</a:t>
            </a:r>
          </a:p>
          <a:p>
            <a:r>
              <a:rPr lang="en-US" dirty="0"/>
              <a:t>- Ensuring proper model usage within intended parameters</a:t>
            </a:r>
          </a:p>
          <a:p>
            <a:r>
              <a:rPr lang="en-US" dirty="0"/>
              <a:t>- Geographic and training data considerations (US-specific example)</a:t>
            </a:r>
          </a:p>
          <a:p>
            <a:endParaRPr lang="en-US" dirty="0"/>
          </a:p>
          <a:p>
            <a:r>
              <a:rPr lang="en-US" dirty="0"/>
              <a:t>3. User Interaction Components</a:t>
            </a:r>
          </a:p>
          <a:p>
            <a:r>
              <a:rPr lang="en-US" dirty="0"/>
              <a:t>- Feedback/request forms implementation</a:t>
            </a:r>
          </a:p>
          <a:p>
            <a:r>
              <a:rPr lang="en-US" dirty="0"/>
              <a:t>- Clear communication channels for user inquiries</a:t>
            </a:r>
          </a:p>
          <a:p>
            <a:r>
              <a:rPr lang="en-US" dirty="0"/>
              <a:t>- System limitations disclosure</a:t>
            </a:r>
          </a:p>
          <a:p>
            <a:endParaRPr lang="en-US" dirty="0"/>
          </a:p>
          <a:p>
            <a:r>
              <a:rPr lang="en-US" b="1" dirty="0"/>
              <a:t>EDUCATOR NOTES:</a:t>
            </a:r>
          </a:p>
          <a:p>
            <a:endParaRPr lang="en-US" dirty="0"/>
          </a:p>
          <a:p>
            <a:r>
              <a:rPr lang="en-US" dirty="0"/>
              <a:t>”Let’s discuss the operational aspects of AI/ML systems deployment. This slide highlights two critical areas we need to focus on.</a:t>
            </a:r>
          </a:p>
          <a:p>
            <a:endParaRPr lang="en-US" dirty="0"/>
          </a:p>
          <a:p>
            <a:r>
              <a:rPr lang="en-US" dirty="0"/>
              <a:t>First, we need to establish robust mechanisms for users to inquire about system outputs, particularly in high-risk scenarios. This includes implementing feedback forms and maintaining complete transparency about what our system can and cannot do.</a:t>
            </a:r>
          </a:p>
          <a:p>
            <a:endParaRPr lang="en-US" dirty="0"/>
          </a:p>
          <a:p>
            <a:r>
              <a:rPr lang="en-US" dirty="0"/>
              <a:t>Second, we must maintain vigilant monitoring for model drift. As the world changes, our models need to be regularly assessed to ensure they remain accurate and relevant. For instance, if a model was trained on US data, we need to be explicit about using it only for US-based applications.</a:t>
            </a:r>
          </a:p>
          <a:p>
            <a:endParaRPr lang="en-US" dirty="0"/>
          </a:p>
          <a:p>
            <a:r>
              <a:rPr lang="en-US" dirty="0"/>
              <a:t>Remember, successful AI/ML deployment isn't just about the technical implementation – it's about creating a responsible and transparent operational framework that serves both the users and the organization effectively.</a:t>
            </a:r>
          </a:p>
          <a:p>
            <a:endParaRPr lang="en-US" dirty="0"/>
          </a:p>
          <a:p>
            <a:r>
              <a:rPr lang="en-US" dirty="0"/>
              <a:t>Any questions about these operational considerations?"</a:t>
            </a:r>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1245382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457200"/>
            <a:ext cx="5978525" cy="3363913"/>
          </a:xfrm>
        </p:spPr>
      </p:sp>
      <p:sp>
        <p:nvSpPr>
          <p:cNvPr id="3" name="Notes Placeholder 2"/>
          <p:cNvSpPr>
            <a:spLocks noGrp="1"/>
          </p:cNvSpPr>
          <p:nvPr>
            <p:ph type="body" idx="1"/>
          </p:nvPr>
        </p:nvSpPr>
        <p:spPr/>
        <p:txBody>
          <a:bodyPr/>
          <a:lstStyle/>
          <a:p>
            <a:pPr algn="l">
              <a:spcBef>
                <a:spcPts val="1200"/>
              </a:spcBef>
            </a:pPr>
            <a:r>
              <a:rPr lang="en-US" b="1" i="0" dirty="0">
                <a:solidFill>
                  <a:srgbClr val="333333"/>
                </a:solidFill>
                <a:effectLst/>
                <a:highlight>
                  <a:srgbClr val="FFFFFF"/>
                </a:highlight>
                <a:latin typeface="Helvetica Neue" panose="02000503000000020004" pitchFamily="2" charset="0"/>
              </a:rPr>
              <a:t>Step 1: Assemble the team and define the service use cases</a:t>
            </a:r>
            <a:endParaRPr lang="en-US" b="0" i="0" dirty="0">
              <a:solidFill>
                <a:srgbClr val="333333"/>
              </a:solidFill>
              <a:effectLst/>
              <a:highlight>
                <a:srgbClr val="FFFFFF"/>
              </a:highlight>
              <a:latin typeface="Helvetica Neue" panose="02000503000000020004" pitchFamily="2" charset="0"/>
            </a:endParaRPr>
          </a:p>
          <a:p>
            <a:pPr algn="l"/>
            <a:endParaRPr lang="en-US" b="0" i="0" dirty="0">
              <a:solidFill>
                <a:srgbClr val="333333"/>
              </a:solidFill>
              <a:effectLst/>
              <a:highlight>
                <a:srgbClr val="FFFFFF"/>
              </a:highlight>
              <a:latin typeface="Helvetica Neue" panose="02000503000000020004" pitchFamily="2" charset="0"/>
            </a:endParaRPr>
          </a:p>
          <a:p>
            <a:pPr algn="l"/>
            <a:r>
              <a:rPr lang="en-US" b="1" i="0" dirty="0">
                <a:solidFill>
                  <a:srgbClr val="333333"/>
                </a:solidFill>
                <a:effectLst/>
                <a:latin typeface="Helvetica Neue" panose="02000503000000020004" pitchFamily="2" charset="0"/>
              </a:rPr>
              <a:t>Key points:</a:t>
            </a:r>
          </a:p>
          <a:p>
            <a:pPr algn="l"/>
            <a:endParaRPr lang="en-US" b="1" i="0" dirty="0">
              <a:solidFill>
                <a:srgbClr val="333333"/>
              </a:solidFill>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Helvetica Neue" panose="02000503000000020004" pitchFamily="2" charset="0"/>
              </a:rPr>
              <a:t>This is the first slide of a multi-step risk assessment process.</a:t>
            </a:r>
            <a:endParaRPr lang="en-US" b="1" i="0" dirty="0">
              <a:solidFill>
                <a:srgbClr val="333333"/>
              </a:solidFill>
              <a:effectLst/>
              <a:latin typeface="Helvetica Neue" panose="02000503000000020004" pitchFamily="2" charset="0"/>
            </a:endParaRP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1. Initial Stage of Risk Assessment</a:t>
            </a:r>
          </a:p>
          <a:p>
            <a:pPr algn="l"/>
            <a:r>
              <a:rPr lang="en-US" b="0" i="0" dirty="0">
                <a:solidFill>
                  <a:srgbClr val="333333"/>
                </a:solidFill>
                <a:effectLst/>
                <a:latin typeface="Helvetica Neue" panose="02000503000000020004" pitchFamily="2" charset="0"/>
              </a:rPr>
              <a:t>- This represents the foundational first step in conducting a comprehensive risk assessment</a:t>
            </a:r>
          </a:p>
          <a:p>
            <a:pPr algn="l"/>
            <a:r>
              <a:rPr lang="en-US" b="0" i="0" dirty="0">
                <a:solidFill>
                  <a:srgbClr val="333333"/>
                </a:solidFill>
                <a:effectLst/>
                <a:latin typeface="Helvetica Neue" panose="02000503000000020004" pitchFamily="2" charset="0"/>
              </a:rPr>
              <a:t>- Marked as "1" in a blue circle with pink border, indicating the start of the process</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2. Focus: Use Case Definition</a:t>
            </a:r>
          </a:p>
          <a:p>
            <a:pPr algn="l"/>
            <a:r>
              <a:rPr lang="en-US" b="0" i="0" dirty="0">
                <a:solidFill>
                  <a:srgbClr val="333333"/>
                </a:solidFill>
                <a:effectLst/>
                <a:latin typeface="Helvetica Neue" panose="02000503000000020004" pitchFamily="2" charset="0"/>
              </a:rPr>
              <a:t>- Requires clear articulation of the specific scenario or situation being assessed</a:t>
            </a:r>
          </a:p>
          <a:p>
            <a:pPr algn="l"/>
            <a:r>
              <a:rPr lang="en-US" b="0" i="0" dirty="0">
                <a:solidFill>
                  <a:srgbClr val="333333"/>
                </a:solidFill>
                <a:effectLst/>
                <a:latin typeface="Helvetica Neue" panose="02000503000000020004" pitchFamily="2" charset="0"/>
              </a:rPr>
              <a:t>- Helps establish the scope and boundaries of the risk assessment</a:t>
            </a:r>
          </a:p>
          <a:p>
            <a:pPr algn="l"/>
            <a:r>
              <a:rPr lang="en-US" b="0" i="0" dirty="0">
                <a:solidFill>
                  <a:srgbClr val="333333"/>
                </a:solidFill>
                <a:effectLst/>
                <a:latin typeface="Helvetica Neue" panose="02000503000000020004" pitchFamily="2" charset="0"/>
              </a:rPr>
              <a:t>- Provides context for subsequent analysis</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3. Focus: Stakeholder Identification</a:t>
            </a:r>
          </a:p>
          <a:p>
            <a:pPr algn="l"/>
            <a:r>
              <a:rPr lang="en-US" b="0" i="0" dirty="0">
                <a:solidFill>
                  <a:srgbClr val="333333"/>
                </a:solidFill>
                <a:effectLst/>
                <a:latin typeface="Helvetica Neue" panose="02000503000000020004" pitchFamily="2" charset="0"/>
              </a:rPr>
              <a:t>- Involves identifying all parties who may be affected by or have influence over the process</a:t>
            </a:r>
          </a:p>
          <a:p>
            <a:pPr algn="l"/>
            <a:r>
              <a:rPr lang="en-US" b="0" i="0" dirty="0">
                <a:solidFill>
                  <a:srgbClr val="333333"/>
                </a:solidFill>
                <a:effectLst/>
                <a:latin typeface="Helvetica Neue" panose="02000503000000020004" pitchFamily="2" charset="0"/>
              </a:rPr>
              <a:t>- May include:</a:t>
            </a:r>
          </a:p>
          <a:p>
            <a:pPr algn="l"/>
            <a:r>
              <a:rPr lang="en-US" b="0" i="0" dirty="0">
                <a:solidFill>
                  <a:srgbClr val="333333"/>
                </a:solidFill>
                <a:effectLst/>
                <a:latin typeface="Helvetica Neue" panose="02000503000000020004" pitchFamily="2" charset="0"/>
              </a:rPr>
              <a:t>  * Internal stakeholders (employees, management, departments)</a:t>
            </a:r>
          </a:p>
          <a:p>
            <a:pPr algn="l"/>
            <a:r>
              <a:rPr lang="en-US" b="0" i="0" dirty="0">
                <a:solidFill>
                  <a:srgbClr val="333333"/>
                </a:solidFill>
                <a:effectLst/>
                <a:latin typeface="Helvetica Neue" panose="02000503000000020004" pitchFamily="2" charset="0"/>
              </a:rPr>
              <a:t>  * External stakeholders (customers, suppliers, regulators)</a:t>
            </a:r>
          </a:p>
          <a:p>
            <a:pPr algn="l"/>
            <a:r>
              <a:rPr lang="en-US" b="0" i="0" dirty="0">
                <a:solidFill>
                  <a:srgbClr val="333333"/>
                </a:solidFill>
                <a:effectLst/>
                <a:latin typeface="Helvetica Neue" panose="02000503000000020004" pitchFamily="2" charset="0"/>
              </a:rPr>
              <a:t>  * Other relevant parties depending on the context</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Helvetica Neue" panose="02000503000000020004" pitchFamily="2" charset="0"/>
              </a:rPr>
              <a:t>”</a:t>
            </a:r>
            <a:r>
              <a:rPr lang="en-US" b="0" i="0" dirty="0">
                <a:solidFill>
                  <a:srgbClr val="333333"/>
                </a:solidFill>
                <a:effectLst/>
                <a:highlight>
                  <a:srgbClr val="FFFFFF"/>
                </a:highlight>
                <a:latin typeface="Helvetica Neue" panose="02000503000000020004" pitchFamily="2" charset="0"/>
              </a:rPr>
              <a:t> Risk assessment is a collaborative activity that requires team engagement, and multi-disciplinary perspectives. Product managers should collect inputs and feedback from all relevant teams, including but not limited to product, engineering, science, data, sales, security teams to conduct the assessment. Make sure you have narrowly defined use cases to have a meaningful analysis. If you have a broad range of use cases, prioritize to work on a few higher risk use cases (seeking inputs from business line lawyers on regulated and potential sensitive use </a:t>
            </a:r>
            <a:r>
              <a:rPr lang="en-US" sz="1200" b="0" i="0" kern="1200" dirty="0">
                <a:solidFill>
                  <a:srgbClr val="333333"/>
                </a:solidFill>
                <a:effectLst/>
                <a:latin typeface="Helvetica Neue" panose="02000503000000020004" pitchFamily="2" charset="0"/>
                <a:ea typeface="+mn-ea"/>
                <a:cs typeface="+mn-cs"/>
              </a:rPr>
              <a:t>cases</a:t>
            </a:r>
            <a:r>
              <a:rPr lang="en-US" b="0" i="0" dirty="0">
                <a:solidFill>
                  <a:srgbClr val="333333"/>
                </a:solidFill>
                <a:effectLst/>
                <a:highlight>
                  <a:srgbClr val="FFFFFF"/>
                </a:highlight>
                <a:latin typeface="Helvetica Neue" panose="02000503000000020004" pitchFamily="2" charset="0"/>
              </a:rPr>
              <a:t>).</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Remember, the success of the entire risk assessment process often depends on how well we execute this first step. Take your time here - a well-defined foundation will make subsequent steps much more effective and efficient.</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Any questions before we move on to the next step?"</a:t>
            </a:r>
          </a:p>
          <a:p>
            <a:pPr algn="l"/>
            <a:endParaRPr lang="en-US" b="0" i="0" dirty="0">
              <a:solidFill>
                <a:srgbClr val="333333"/>
              </a:solidFill>
              <a:effectLst/>
              <a:latin typeface="Helvetica Neue" panose="02000503000000020004" pitchFamily="2" charset="0"/>
            </a:endParaRP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A3D89E5F-BEEF-42A1-A57B-E5A736D51194}" type="slidenum">
              <a:rPr kumimoji="0" lang="en-US" sz="1200" b="0" i="0" u="none" strike="noStrike" kern="1200" cap="none" spc="0" normalizeH="0" baseline="0" noProof="0" smtClean="0">
                <a:ln>
                  <a:noFill/>
                </a:ln>
                <a:solidFill>
                  <a:prstClr val="black"/>
                </a:solidFill>
                <a:effectLst/>
                <a:uLnTx/>
                <a:uFillTx/>
                <a:latin typeface="Amazon Ember Display" panose="020F0603020204020204" pitchFamily="34"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mazon Ember Display" panose="020F0603020204020204" pitchFamily="34" charset="0"/>
              <a:ea typeface="+mn-ea"/>
              <a:cs typeface="+mn-cs"/>
            </a:endParaRPr>
          </a:p>
        </p:txBody>
      </p:sp>
    </p:spTree>
    <p:extLst>
      <p:ext uri="{BB962C8B-B14F-4D97-AF65-F5344CB8AC3E}">
        <p14:creationId xmlns:p14="http://schemas.microsoft.com/office/powerpoint/2010/main" val="3225245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457200"/>
            <a:ext cx="5978525" cy="3363913"/>
          </a:xfrm>
        </p:spPr>
      </p:sp>
      <p:sp>
        <p:nvSpPr>
          <p:cNvPr id="3" name="Notes Placeholder 2"/>
          <p:cNvSpPr>
            <a:spLocks noGrp="1"/>
          </p:cNvSpPr>
          <p:nvPr>
            <p:ph type="body" idx="1"/>
          </p:nvPr>
        </p:nvSpPr>
        <p:spPr/>
        <p:txBody>
          <a:bodyPr/>
          <a:lstStyle/>
          <a:p>
            <a:pPr algn="l">
              <a:spcBef>
                <a:spcPts val="1200"/>
              </a:spcBef>
            </a:pPr>
            <a:r>
              <a:rPr lang="en-US" sz="1200" b="1" i="0" dirty="0">
                <a:solidFill>
                  <a:srgbClr val="333333"/>
                </a:solidFill>
                <a:effectLst/>
                <a:highlight>
                  <a:srgbClr val="FFFFFF"/>
                </a:highlight>
                <a:latin typeface="Helvetica Neue" panose="02000503000000020004" pitchFamily="2" charset="0"/>
              </a:rPr>
              <a:t>Step 2: Identify harmful events</a:t>
            </a:r>
          </a:p>
          <a:p>
            <a:pPr algn="l">
              <a:spcBef>
                <a:spcPts val="1200"/>
              </a:spcBef>
            </a:pPr>
            <a:endParaRPr lang="en-US" sz="1200" b="0" i="0" dirty="0">
              <a:solidFill>
                <a:srgbClr val="333333"/>
              </a:solidFill>
              <a:effectLst/>
              <a:highlight>
                <a:srgbClr val="FFFFFF"/>
              </a:highlight>
              <a:latin typeface="Helvetica Neue" panose="02000503000000020004" pitchFamily="2" charset="0"/>
            </a:endParaRPr>
          </a:p>
          <a:p>
            <a:pPr marL="0" indent="0" algn="l">
              <a:buFont typeface="+mj-lt"/>
              <a:buNone/>
            </a:pPr>
            <a:r>
              <a:rPr lang="en-US" sz="1200" b="1" i="0" dirty="0">
                <a:solidFill>
                  <a:srgbClr val="333333"/>
                </a:solidFill>
                <a:effectLst/>
                <a:latin typeface="Helvetica Neue" panose="02000503000000020004" pitchFamily="2" charset="0"/>
              </a:rPr>
              <a:t>Key points: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b="0" i="0" dirty="0">
              <a:solidFill>
                <a:srgbClr val="333333"/>
              </a:solidFill>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i="0" dirty="0">
                <a:solidFill>
                  <a:srgbClr val="333333"/>
                </a:solidFill>
                <a:effectLst/>
                <a:latin typeface="Helvetica Neue" panose="02000503000000020004" pitchFamily="2" charset="0"/>
              </a:rPr>
              <a:t>Notes for Step 2:</a:t>
            </a:r>
            <a:endParaRPr lang="en-US" sz="1200" b="1" i="0" dirty="0">
              <a:solidFill>
                <a:srgbClr val="333333"/>
              </a:solidFill>
              <a:effectLst/>
              <a:latin typeface="Helvetica Neue" panose="02000503000000020004" pitchFamily="2" charset="0"/>
            </a:endParaRP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0" i="0" dirty="0">
                <a:solidFill>
                  <a:srgbClr val="333333"/>
                </a:solidFill>
                <a:effectLst/>
                <a:latin typeface="Helvetica Neue" panose="02000503000000020004" pitchFamily="2" charset="0"/>
              </a:rPr>
              <a:t>1. Harmful Events Identification</a:t>
            </a:r>
          </a:p>
          <a:p>
            <a:pPr marL="0" indent="0" algn="l">
              <a:buFont typeface="+mj-lt"/>
              <a:buNone/>
            </a:pPr>
            <a:r>
              <a:rPr lang="en-US" sz="1200" b="0" i="0" dirty="0">
                <a:solidFill>
                  <a:srgbClr val="333333"/>
                </a:solidFill>
                <a:effectLst/>
                <a:latin typeface="Helvetica Neue" panose="02000503000000020004" pitchFamily="2" charset="0"/>
              </a:rPr>
              <a:t>- Systematic process of identifying potential threats and vulnerabilities</a:t>
            </a:r>
          </a:p>
          <a:p>
            <a:pPr marL="0" indent="0" algn="l">
              <a:buFont typeface="+mj-lt"/>
              <a:buNone/>
            </a:pPr>
            <a:r>
              <a:rPr lang="en-US" sz="1200" b="0" i="0" dirty="0">
                <a:solidFill>
                  <a:srgbClr val="333333"/>
                </a:solidFill>
                <a:effectLst/>
                <a:latin typeface="Helvetica Neue" panose="02000503000000020004" pitchFamily="2" charset="0"/>
              </a:rPr>
              <a:t>- Analysis of what could go wrong in the given use case</a:t>
            </a:r>
          </a:p>
          <a:p>
            <a:pPr marL="0" indent="0" algn="l">
              <a:buFont typeface="+mj-lt"/>
              <a:buNone/>
            </a:pPr>
            <a:r>
              <a:rPr lang="en-US" sz="1200" b="0" i="0" dirty="0">
                <a:solidFill>
                  <a:srgbClr val="333333"/>
                </a:solidFill>
                <a:effectLst/>
                <a:latin typeface="Helvetica Neue" panose="02000503000000020004" pitchFamily="2" charset="0"/>
              </a:rPr>
              <a:t>- Documentation of possible negative outcomes</a:t>
            </a: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0" i="0" dirty="0">
                <a:solidFill>
                  <a:srgbClr val="333333"/>
                </a:solidFill>
                <a:effectLst/>
                <a:latin typeface="Helvetica Neue" panose="02000503000000020004" pitchFamily="2" charset="0"/>
              </a:rPr>
              <a:t>2. Risk Evaluation</a:t>
            </a:r>
          </a:p>
          <a:p>
            <a:pPr marL="0" indent="0" algn="l">
              <a:buFont typeface="+mj-lt"/>
              <a:buNone/>
            </a:pPr>
            <a:r>
              <a:rPr lang="en-US" sz="1200" b="0" i="0" dirty="0">
                <a:solidFill>
                  <a:srgbClr val="333333"/>
                </a:solidFill>
                <a:effectLst/>
                <a:latin typeface="Helvetica Neue" panose="02000503000000020004" pitchFamily="2" charset="0"/>
              </a:rPr>
              <a:t>a) Inherent Risk Assessment:</a:t>
            </a:r>
          </a:p>
          <a:p>
            <a:pPr marL="0" indent="0" algn="l">
              <a:buFont typeface="+mj-lt"/>
              <a:buNone/>
            </a:pPr>
            <a:r>
              <a:rPr lang="en-US" sz="1200" b="0" i="0" dirty="0">
                <a:solidFill>
                  <a:srgbClr val="333333"/>
                </a:solidFill>
                <a:effectLst/>
                <a:latin typeface="Helvetica Neue" panose="02000503000000020004" pitchFamily="2" charset="0"/>
              </a:rPr>
              <a:t>- Evaluation of risks before implementing any controls</a:t>
            </a:r>
          </a:p>
          <a:p>
            <a:pPr marL="0" indent="0" algn="l">
              <a:buFont typeface="+mj-lt"/>
              <a:buNone/>
            </a:pPr>
            <a:r>
              <a:rPr lang="en-US" sz="1200" b="0" i="0" dirty="0">
                <a:solidFill>
                  <a:srgbClr val="333333"/>
                </a:solidFill>
                <a:effectLst/>
                <a:latin typeface="Helvetica Neue" panose="02000503000000020004" pitchFamily="2" charset="0"/>
              </a:rPr>
              <a:t>- Raw risk level without mitigation measures</a:t>
            </a:r>
          </a:p>
          <a:p>
            <a:pPr marL="0" indent="0" algn="l">
              <a:buFont typeface="+mj-lt"/>
              <a:buNone/>
            </a:pPr>
            <a:r>
              <a:rPr lang="en-US" sz="1200" b="0" i="0" dirty="0">
                <a:solidFill>
                  <a:srgbClr val="333333"/>
                </a:solidFill>
                <a:effectLst/>
                <a:latin typeface="Helvetica Neue" panose="02000503000000020004" pitchFamily="2" charset="0"/>
              </a:rPr>
              <a:t>- Baseline risk assessment</a:t>
            </a: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0" i="0" dirty="0">
                <a:solidFill>
                  <a:srgbClr val="333333"/>
                </a:solidFill>
                <a:effectLst/>
                <a:latin typeface="Helvetica Neue" panose="02000503000000020004" pitchFamily="2" charset="0"/>
              </a:rPr>
              <a:t>b) Residual Risk Assessment:</a:t>
            </a:r>
          </a:p>
          <a:p>
            <a:pPr marL="0" indent="0" algn="l">
              <a:buFont typeface="+mj-lt"/>
              <a:buNone/>
            </a:pPr>
            <a:r>
              <a:rPr lang="en-US" sz="1200" b="0" i="0" dirty="0">
                <a:solidFill>
                  <a:srgbClr val="333333"/>
                </a:solidFill>
                <a:effectLst/>
                <a:latin typeface="Helvetica Neue" panose="02000503000000020004" pitchFamily="2" charset="0"/>
              </a:rPr>
              <a:t>- Remaining risk after controls are implemented</a:t>
            </a:r>
          </a:p>
          <a:p>
            <a:pPr marL="0" indent="0" algn="l">
              <a:buFont typeface="+mj-lt"/>
              <a:buNone/>
            </a:pPr>
            <a:r>
              <a:rPr lang="en-US" sz="1200" b="0" i="0" dirty="0">
                <a:solidFill>
                  <a:srgbClr val="333333"/>
                </a:solidFill>
                <a:effectLst/>
                <a:latin typeface="Helvetica Neue" panose="02000503000000020004" pitchFamily="2" charset="0"/>
              </a:rPr>
              <a:t>- Post-mitigation risk level</a:t>
            </a:r>
          </a:p>
          <a:p>
            <a:pPr marL="0" indent="0" algn="l">
              <a:buFont typeface="+mj-lt"/>
              <a:buNone/>
            </a:pPr>
            <a:r>
              <a:rPr lang="en-US" sz="1200" b="0" i="0" dirty="0">
                <a:solidFill>
                  <a:srgbClr val="333333"/>
                </a:solidFill>
                <a:effectLst/>
                <a:latin typeface="Helvetica Neue" panose="02000503000000020004" pitchFamily="2" charset="0"/>
              </a:rPr>
              <a:t>- Helps determine if additional controls are needed</a:t>
            </a:r>
          </a:p>
          <a:p>
            <a:pPr marL="0" indent="0" algn="l">
              <a:buFont typeface="+mj-lt"/>
              <a:buNone/>
            </a:pPr>
            <a:endParaRPr lang="en-US" sz="1200" b="0" i="0" dirty="0">
              <a:solidFill>
                <a:srgbClr val="333333"/>
              </a:solidFill>
              <a:effectLst/>
              <a:latin typeface="Helvetica Neue" panose="02000503000000020004" pitchFamily="2" charset="0"/>
            </a:endParaRPr>
          </a:p>
          <a:p>
            <a:pPr algn="l"/>
            <a:r>
              <a:rPr lang="en-US" sz="1200" b="0" i="0" dirty="0">
                <a:solidFill>
                  <a:srgbClr val="333333"/>
                </a:solidFill>
                <a:effectLst/>
                <a:highlight>
                  <a:srgbClr val="FFFFFF"/>
                </a:highlight>
                <a:latin typeface="Helvetica Neue" panose="02000503000000020004" pitchFamily="2" charset="0"/>
              </a:rPr>
              <a:t>For each use case, identify specific potential harmful events and the affected stakeholders, by considering whether and how the AI system could negatively impact individuals, groups of individuals, and society - for example, individual human rights, access to opportunities, and physical or psychological well-being.</a:t>
            </a:r>
          </a:p>
          <a:p>
            <a:pPr algn="l"/>
            <a:endParaRPr lang="en-US" sz="1200" b="0" i="0" dirty="0">
              <a:solidFill>
                <a:srgbClr val="333333"/>
              </a:solidFill>
              <a:effectLst/>
              <a:highlight>
                <a:srgbClr val="FFFFFF"/>
              </a:highlight>
              <a:latin typeface="Helvetica Neue" panose="02000503000000020004" pitchFamily="2" charset="0"/>
            </a:endParaRPr>
          </a:p>
          <a:p>
            <a:pPr algn="l"/>
            <a:r>
              <a:rPr lang="en-US" sz="1200" b="0" i="0" dirty="0">
                <a:solidFill>
                  <a:srgbClr val="333333"/>
                </a:solidFill>
                <a:effectLst/>
                <a:highlight>
                  <a:srgbClr val="FFFFFF"/>
                </a:highlight>
                <a:latin typeface="Helvetica Neue" panose="02000503000000020004" pitchFamily="2" charset="0"/>
              </a:rPr>
              <a:t>First you set about listing all external stakeholders that might be negatively affected by this service use case and then set out to examine the potential unwanted events that could happen to each stakeholder in different use environments, at different steps of using the AI system, or under different failure mode, which includes both technical failures and misuse or abuse of the AI system. </a:t>
            </a:r>
          </a:p>
          <a:p>
            <a:pPr algn="l"/>
            <a:r>
              <a:rPr lang="en-US" sz="1200" b="0" i="0" dirty="0">
                <a:solidFill>
                  <a:srgbClr val="333333"/>
                </a:solidFill>
                <a:effectLst/>
                <a:highlight>
                  <a:srgbClr val="FFFFFF"/>
                </a:highlight>
                <a:latin typeface="Helvetica Neue" panose="02000503000000020004" pitchFamily="2" charset="0"/>
              </a:rPr>
              <a:t>Each potentially harmful event is identified within one of the 7 risk dimensions.</a:t>
            </a:r>
          </a:p>
          <a:p>
            <a:pPr algn="l"/>
            <a:r>
              <a:rPr lang="en-US" sz="1200" b="0" i="0" dirty="0">
                <a:solidFill>
                  <a:srgbClr val="333333"/>
                </a:solidFill>
                <a:effectLst/>
                <a:highlight>
                  <a:srgbClr val="FFFFFF"/>
                </a:highlight>
                <a:latin typeface="Helvetica Neue" panose="02000503000000020004" pitchFamily="2" charset="0"/>
              </a:rPr>
              <a:t>Here are a few strategies we recommend that service teams consider in order to cover potential harmful events:</a:t>
            </a:r>
          </a:p>
          <a:p>
            <a:pPr marL="514350" indent="-514350" algn="l">
              <a:buFont typeface="+mj-lt"/>
              <a:buAutoNum type="arabicPeriod"/>
            </a:pPr>
            <a:r>
              <a:rPr lang="en-US" sz="1200" b="0" i="0" dirty="0">
                <a:solidFill>
                  <a:srgbClr val="333333"/>
                </a:solidFill>
                <a:effectLst/>
                <a:highlight>
                  <a:srgbClr val="FFFFFF"/>
                </a:highlight>
                <a:latin typeface="Helvetica Neue" panose="02000503000000020004" pitchFamily="2" charset="0"/>
              </a:rPr>
              <a:t>Acknowledging system limitations: Identify system inaccuracies, errors and operational constraints (such as latency and availability limits) within normal system performance expectations that could lead to harmful outcomes to different stakeholders.</a:t>
            </a:r>
          </a:p>
          <a:p>
            <a:pPr marL="514350" indent="-514350" algn="l">
              <a:buFont typeface="+mj-lt"/>
              <a:buAutoNum type="arabicPeriod"/>
            </a:pPr>
            <a:r>
              <a:rPr lang="en-US" sz="1200" b="0" i="0" dirty="0">
                <a:solidFill>
                  <a:srgbClr val="333333"/>
                </a:solidFill>
                <a:effectLst/>
                <a:highlight>
                  <a:srgbClr val="FFFFFF"/>
                </a:highlight>
                <a:latin typeface="Helvetica Neue" panose="02000503000000020004" pitchFamily="2" charset="0"/>
              </a:rPr>
              <a:t>Identify potential failure modes: Identify all the ways in which the AI system might fail to perform as intended. This includes both technical failures and misuse or abuse of the system.</a:t>
            </a:r>
          </a:p>
          <a:p>
            <a:pPr marL="514350" indent="-514350" algn="l">
              <a:buFont typeface="+mj-lt"/>
              <a:buAutoNum type="arabicPeriod"/>
            </a:pPr>
            <a:r>
              <a:rPr lang="en-US" sz="1200" b="0" i="0" dirty="0">
                <a:solidFill>
                  <a:srgbClr val="333333"/>
                </a:solidFill>
                <a:effectLst/>
                <a:highlight>
                  <a:srgbClr val="FFFFFF"/>
                </a:highlight>
                <a:latin typeface="Helvetica Neue" panose="02000503000000020004" pitchFamily="2" charset="0"/>
              </a:rPr>
              <a:t>Collecting inputs from a diverse team: Invite team members with different background, such as science, software engineering, data engineering, operations, UX design, testing, security assurance and sales, to brainstorm and contribute potential harmful events.</a:t>
            </a:r>
          </a:p>
          <a:p>
            <a:pPr marL="514350" indent="-514350" algn="l">
              <a:buFont typeface="+mj-lt"/>
              <a:buAutoNum type="arabicPeriod"/>
            </a:pPr>
            <a:r>
              <a:rPr lang="en-US" sz="1200" b="0" i="0" dirty="0">
                <a:solidFill>
                  <a:srgbClr val="333333"/>
                </a:solidFill>
                <a:effectLst/>
                <a:highlight>
                  <a:srgbClr val="FFFFFF"/>
                </a:highlight>
                <a:latin typeface="Helvetica Neue" panose="02000503000000020004" pitchFamily="2" charset="0"/>
              </a:rPr>
              <a:t>Consult external stakeholders: Consult with a wide range of stakeholders, including customers, end users, downstream application developers, system operators, and potentially affected third parties. They may be able to identify potential harms that you haven't considered.</a:t>
            </a:r>
          </a:p>
          <a:p>
            <a:pPr marL="514350" indent="-514350" algn="l">
              <a:buFont typeface="+mj-lt"/>
              <a:buAutoNum type="arabicPeriod"/>
            </a:pPr>
            <a:r>
              <a:rPr lang="en-US" sz="1200" b="0" i="0" dirty="0">
                <a:solidFill>
                  <a:srgbClr val="333333"/>
                </a:solidFill>
                <a:effectLst/>
                <a:highlight>
                  <a:srgbClr val="FFFFFF"/>
                </a:highlight>
                <a:latin typeface="Helvetica Neue" panose="02000503000000020004" pitchFamily="2" charset="0"/>
              </a:rPr>
              <a:t>Review historical incidents or risk assessment results: Look at past incidents and earlier risk assessment reports involving similar AI systems or technologies to identify potential harmful events.</a:t>
            </a:r>
          </a:p>
          <a:p>
            <a:pPr marL="514350" indent="-514350" algn="l">
              <a:buFont typeface="+mj-lt"/>
              <a:buAutoNum type="arabicPeriod"/>
            </a:pPr>
            <a:r>
              <a:rPr lang="en-US" sz="1200" b="0" i="0" dirty="0">
                <a:solidFill>
                  <a:srgbClr val="333333"/>
                </a:solidFill>
                <a:effectLst/>
                <a:highlight>
                  <a:srgbClr val="FFFFFF"/>
                </a:highlight>
                <a:latin typeface="Helvetica Neue" panose="02000503000000020004" pitchFamily="2" charset="0"/>
              </a:rPr>
              <a:t>Regulatory and legal considerations: Consider harmful events from a regulatory and legal perspective. Certain behaviors or outcomes might lead to violations of existing regulations/laws or introductions of new regulations/laws. Consult with business line lawyers for regulatory and legal considerations.</a:t>
            </a:r>
          </a:p>
          <a:p>
            <a:pPr marL="514350" indent="-514350" algn="l">
              <a:buFont typeface="+mj-lt"/>
              <a:buAutoNum type="arabicPeriod"/>
            </a:pPr>
            <a:r>
              <a:rPr lang="en-US" sz="1200" b="0" i="0" dirty="0">
                <a:solidFill>
                  <a:srgbClr val="333333"/>
                </a:solidFill>
                <a:effectLst/>
                <a:highlight>
                  <a:srgbClr val="FFFFFF"/>
                </a:highlight>
                <a:latin typeface="Helvetica Neue" panose="02000503000000020004" pitchFamily="2" charset="0"/>
              </a:rPr>
              <a:t>‘What-if’ scenario analysis: Create 'what-if' scenarios to identify possible harmful events, including edge cases that might seem unlikely but would have severe consequences.</a:t>
            </a: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1" i="0" dirty="0">
                <a:solidFill>
                  <a:srgbClr val="333333"/>
                </a:solidFill>
                <a:effectLst/>
                <a:latin typeface="Helvetica Neue" panose="02000503000000020004" pitchFamily="2" charset="0"/>
              </a:rPr>
              <a:t>EDUCATOR NOTES:</a:t>
            </a: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0" i="0" dirty="0">
                <a:solidFill>
                  <a:srgbClr val="333333"/>
                </a:solidFill>
                <a:effectLst/>
                <a:latin typeface="Helvetica Neue" panose="02000503000000020004" pitchFamily="2" charset="0"/>
              </a:rPr>
              <a:t>"In this crucial second step of our risk assessment process, we focus on two main elements: identifying harmful events and evaluating risks at different stages.</a:t>
            </a: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0" i="0" dirty="0">
                <a:solidFill>
                  <a:srgbClr val="333333"/>
                </a:solidFill>
                <a:effectLst/>
                <a:latin typeface="Helvetica Neue" panose="02000503000000020004" pitchFamily="2" charset="0"/>
              </a:rPr>
              <a:t>When identifying harmful events, we need to be thorough and systematic in our approach. Consider all potential scenarios that could negatively impact our stakeholders or objectives.</a:t>
            </a: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0" i="0" dirty="0">
                <a:solidFill>
                  <a:srgbClr val="333333"/>
                </a:solidFill>
                <a:effectLst/>
                <a:latin typeface="Helvetica Neue" panose="02000503000000020004" pitchFamily="2" charset="0"/>
              </a:rPr>
              <a:t>For risk evaluation, we look at both inherent and residual risk levels. Think of inherent risk as the 'worst-case scenario' - what could happen with no controls in place. Then, we assess residual risk, which shows us what risk remains after we've implemented our control measures.</a:t>
            </a: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0" i="0" dirty="0">
                <a:solidFill>
                  <a:srgbClr val="333333"/>
                </a:solidFill>
                <a:effectLst/>
                <a:latin typeface="Helvetica Neue" panose="02000503000000020004" pitchFamily="2" charset="0"/>
              </a:rPr>
              <a:t>Remember, the goal isn't to eliminate all risk - that's often impossible - but to understand and manage it effectively to an acceptable level.</a:t>
            </a:r>
          </a:p>
          <a:p>
            <a:pPr marL="0" indent="0" algn="l">
              <a:buFont typeface="+mj-lt"/>
              <a:buNone/>
            </a:pPr>
            <a:endParaRPr lang="en-US" sz="1200" b="0" i="0" dirty="0">
              <a:solidFill>
                <a:srgbClr val="333333"/>
              </a:solidFill>
              <a:effectLst/>
              <a:latin typeface="Helvetica Neue" panose="02000503000000020004" pitchFamily="2" charset="0"/>
            </a:endParaRPr>
          </a:p>
          <a:p>
            <a:pPr marL="0" indent="0" algn="l">
              <a:buFont typeface="+mj-lt"/>
              <a:buNone/>
            </a:pPr>
            <a:r>
              <a:rPr lang="en-US" sz="1200" b="0" i="0" dirty="0">
                <a:solidFill>
                  <a:srgbClr val="333333"/>
                </a:solidFill>
                <a:effectLst/>
                <a:latin typeface="Helvetica Neue" panose="02000503000000020004" pitchFamily="2" charset="0"/>
              </a:rPr>
              <a:t>Are there any questions about how we evaluate these different risk levels?"</a:t>
            </a:r>
          </a:p>
          <a:p>
            <a:pPr marL="0" indent="0" algn="l">
              <a:buFont typeface="+mj-lt"/>
              <a:buNone/>
            </a:pPr>
            <a:endParaRPr lang="en-US" sz="1200" b="0" i="0" dirty="0">
              <a:solidFill>
                <a:srgbClr val="333333"/>
              </a:solidFill>
              <a:effectLst/>
              <a:latin typeface="Helvetica Neue" panose="02000503000000020004" pitchFamily="2" charset="0"/>
            </a:endParaRP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A3D89E5F-BEEF-42A1-A57B-E5A736D51194}" type="slidenum">
              <a:rPr kumimoji="0" lang="en-US" sz="1200" b="0" i="0" u="none" strike="noStrike" kern="1200" cap="none" spc="0" normalizeH="0" baseline="0" noProof="0" smtClean="0">
                <a:ln>
                  <a:noFill/>
                </a:ln>
                <a:solidFill>
                  <a:prstClr val="black"/>
                </a:solidFill>
                <a:effectLst/>
                <a:uLnTx/>
                <a:uFillTx/>
                <a:latin typeface="Amazon Ember Display" panose="020F0603020204020204" pitchFamily="34"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Amazon Ember Display" panose="020F0603020204020204" pitchFamily="34" charset="0"/>
              <a:ea typeface="+mn-ea"/>
              <a:cs typeface="+mn-cs"/>
            </a:endParaRPr>
          </a:p>
        </p:txBody>
      </p:sp>
    </p:spTree>
    <p:extLst>
      <p:ext uri="{BB962C8B-B14F-4D97-AF65-F5344CB8AC3E}">
        <p14:creationId xmlns:p14="http://schemas.microsoft.com/office/powerpoint/2010/main" val="3883583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457200"/>
            <a:ext cx="5978525" cy="3363913"/>
          </a:xfrm>
        </p:spPr>
      </p:sp>
      <p:sp>
        <p:nvSpPr>
          <p:cNvPr id="3" name="Notes Placeholder 2"/>
          <p:cNvSpPr>
            <a:spLocks noGrp="1"/>
          </p:cNvSpPr>
          <p:nvPr>
            <p:ph type="body" idx="1"/>
          </p:nvPr>
        </p:nvSpPr>
        <p:spPr/>
        <p:txBody>
          <a:bodyPr/>
          <a:lstStyle/>
          <a:p>
            <a:pPr algn="l">
              <a:spcBef>
                <a:spcPts val="1200"/>
              </a:spcBef>
            </a:pPr>
            <a:r>
              <a:rPr lang="en-US" b="1" i="0" dirty="0">
                <a:solidFill>
                  <a:srgbClr val="333333"/>
                </a:solidFill>
                <a:effectLst/>
                <a:highlight>
                  <a:srgbClr val="FFFFFF"/>
                </a:highlight>
                <a:latin typeface="Helvetica Neue" panose="02000503000000020004" pitchFamily="2" charset="0"/>
              </a:rPr>
              <a:t>Step 3: Assess the Inherent Risk Rating</a:t>
            </a:r>
          </a:p>
          <a:p>
            <a:pPr algn="l">
              <a:spcBef>
                <a:spcPts val="1200"/>
              </a:spcBef>
            </a:pPr>
            <a:endParaRPr lang="en-US" sz="1200" b="1" i="0" kern="1200" dirty="0">
              <a:solidFill>
                <a:srgbClr val="333333"/>
              </a:solidFill>
              <a:effectLst/>
              <a:highlight>
                <a:srgbClr val="FFFFFF"/>
              </a:highlight>
              <a:latin typeface="Helvetica Neue" panose="02000503000000020004" pitchFamily="2" charset="0"/>
              <a:ea typeface="+mn-ea"/>
              <a:cs typeface="+mn-cs"/>
            </a:endParaRPr>
          </a:p>
          <a:p>
            <a:pPr algn="l">
              <a:spcBef>
                <a:spcPts val="1200"/>
              </a:spcBef>
            </a:pPr>
            <a:r>
              <a:rPr lang="en-US" sz="1200" b="1" i="0" kern="1200" dirty="0">
                <a:solidFill>
                  <a:srgbClr val="333333"/>
                </a:solidFill>
                <a:effectLst/>
                <a:highlight>
                  <a:srgbClr val="FFFFFF"/>
                </a:highlight>
                <a:latin typeface="Helvetica Neue" panose="02000503000000020004" pitchFamily="2" charset="0"/>
                <a:ea typeface="+mn-ea"/>
                <a:cs typeface="+mn-cs"/>
              </a:rPr>
              <a:t>Key points:</a:t>
            </a:r>
          </a:p>
          <a:p>
            <a:pPr algn="l">
              <a:spcBef>
                <a:spcPts val="1200"/>
              </a:spcBef>
            </a:pPr>
            <a:endParaRPr lang="en-US" b="0" i="0" dirty="0">
              <a:solidFill>
                <a:srgbClr val="333333"/>
              </a:solidFill>
              <a:effectLst/>
              <a:highlight>
                <a:srgbClr val="FFFFFF"/>
              </a:highlight>
              <a:latin typeface="Helvetica Neue" panose="02000503000000020004" pitchFamily="2" charset="0"/>
            </a:endParaRPr>
          </a:p>
          <a:p>
            <a:pPr algn="l"/>
            <a:r>
              <a:rPr lang="en-US" b="0" i="0" dirty="0">
                <a:solidFill>
                  <a:srgbClr val="333333"/>
                </a:solidFill>
                <a:effectLst/>
                <a:highlight>
                  <a:srgbClr val="FFFFFF"/>
                </a:highlight>
                <a:latin typeface="Helvetica Neue" panose="02000503000000020004" pitchFamily="2" charset="0"/>
              </a:rPr>
              <a:t>After identifying potentially harmful events associated with a RAI risk dimension, use a risk rating matrix to qualify the significance of each risk. The risk level of a specific harmful event can be characterized from the likelihood of the event occurs and the severity of the event outcome or impact. Likelihood is defined </a:t>
            </a:r>
            <a:r>
              <a:rPr lang="en-US" b="0" i="0" dirty="0">
                <a:solidFill>
                  <a:srgbClr val="202122"/>
                </a:solidFill>
                <a:effectLst/>
                <a:highlight>
                  <a:srgbClr val="FFFFFF"/>
                </a:highlight>
                <a:latin typeface="Helvetica Neue" panose="02000503000000020004" pitchFamily="2" charset="0"/>
              </a:rPr>
              <a:t>as the chance of the specific harm happening, and can be characterized by the frequency, ranging from highly unlikely to almost certain. The likelihood scale criteria can be different for different type of services, depending on the specific harmful event type and the service deployment scale (measured by the number of accounts or by the number of inferences). </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Notes for Step 3:</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Main Points:</a:t>
            </a:r>
          </a:p>
          <a:p>
            <a:pPr algn="l"/>
            <a:r>
              <a:rPr lang="en-US" b="0" i="0" dirty="0">
                <a:solidFill>
                  <a:srgbClr val="333333"/>
                </a:solidFill>
                <a:effectLst/>
                <a:latin typeface="Helvetica Neue" panose="02000503000000020004" pitchFamily="2" charset="0"/>
              </a:rPr>
              <a:t>1. Risk Level Summarization</a:t>
            </a:r>
          </a:p>
          <a:p>
            <a:pPr algn="l"/>
            <a:r>
              <a:rPr lang="en-US" b="0" i="0" dirty="0">
                <a:solidFill>
                  <a:srgbClr val="333333"/>
                </a:solidFill>
                <a:effectLst/>
                <a:latin typeface="Helvetica Neue" panose="02000503000000020004" pitchFamily="2" charset="0"/>
              </a:rPr>
              <a:t>- Compile and analyze risk levels across all identified dimensions</a:t>
            </a:r>
          </a:p>
          <a:p>
            <a:pPr algn="l"/>
            <a:r>
              <a:rPr lang="en-US" b="0" i="0" dirty="0">
                <a:solidFill>
                  <a:srgbClr val="333333"/>
                </a:solidFill>
                <a:effectLst/>
                <a:latin typeface="Helvetica Neue" panose="02000503000000020004" pitchFamily="2" charset="0"/>
              </a:rPr>
              <a:t>- Create comprehensive overview of risk assessment findings</a:t>
            </a:r>
          </a:p>
          <a:p>
            <a:pPr algn="l"/>
            <a:r>
              <a:rPr lang="en-US" b="0" i="0" dirty="0">
                <a:solidFill>
                  <a:srgbClr val="333333"/>
                </a:solidFill>
                <a:effectLst/>
                <a:latin typeface="Helvetica Neue" panose="02000503000000020004" pitchFamily="2" charset="0"/>
              </a:rPr>
              <a:t>- Present risk levels in a clear, structured format</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2. Risk Dimensions Coverage</a:t>
            </a:r>
          </a:p>
          <a:p>
            <a:pPr algn="l"/>
            <a:r>
              <a:rPr lang="en-US" b="0" i="0" dirty="0">
                <a:solidFill>
                  <a:srgbClr val="333333"/>
                </a:solidFill>
                <a:effectLst/>
                <a:latin typeface="Helvetica Neue" panose="02000503000000020004" pitchFamily="2" charset="0"/>
              </a:rPr>
              <a:t>- Ensure all risk categories are included</a:t>
            </a:r>
          </a:p>
          <a:p>
            <a:pPr algn="l"/>
            <a:r>
              <a:rPr lang="en-US" b="0" i="0" dirty="0">
                <a:solidFill>
                  <a:srgbClr val="333333"/>
                </a:solidFill>
                <a:effectLst/>
                <a:latin typeface="Helvetica Neue" panose="02000503000000020004" pitchFamily="2" charset="0"/>
              </a:rPr>
              <a:t>- Consider interdependencies between different risk dimensions</a:t>
            </a:r>
          </a:p>
          <a:p>
            <a:pPr algn="l"/>
            <a:r>
              <a:rPr lang="en-US" b="0" i="0" dirty="0">
                <a:solidFill>
                  <a:srgbClr val="333333"/>
                </a:solidFill>
                <a:effectLst/>
                <a:latin typeface="Helvetica Neue" panose="02000503000000020004" pitchFamily="2" charset="0"/>
              </a:rPr>
              <a:t>- Validate completeness of assessment</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3. Conclusion Development</a:t>
            </a:r>
          </a:p>
          <a:p>
            <a:pPr algn="l"/>
            <a:r>
              <a:rPr lang="en-US" b="0" i="0" dirty="0">
                <a:solidFill>
                  <a:srgbClr val="333333"/>
                </a:solidFill>
                <a:effectLst/>
                <a:latin typeface="Helvetica Neue" panose="02000503000000020004" pitchFamily="2" charset="0"/>
              </a:rPr>
              <a:t>- Synthesize key findings</a:t>
            </a:r>
          </a:p>
          <a:p>
            <a:pPr algn="l"/>
            <a:r>
              <a:rPr lang="en-US" b="0" i="0" dirty="0">
                <a:solidFill>
                  <a:srgbClr val="333333"/>
                </a:solidFill>
                <a:effectLst/>
                <a:latin typeface="Helvetica Neue" panose="02000503000000020004" pitchFamily="2" charset="0"/>
              </a:rPr>
              <a:t>- Highlight critical risk areas</a:t>
            </a:r>
          </a:p>
          <a:p>
            <a:pPr algn="l"/>
            <a:r>
              <a:rPr lang="en-US" b="0" i="0" dirty="0">
                <a:solidFill>
                  <a:srgbClr val="333333"/>
                </a:solidFill>
                <a:effectLst/>
                <a:latin typeface="Helvetica Neue" panose="02000503000000020004" pitchFamily="2" charset="0"/>
              </a:rPr>
              <a:t>- Provide actionable insights</a:t>
            </a:r>
          </a:p>
          <a:p>
            <a:pPr algn="l"/>
            <a:endParaRPr lang="en-US" b="0" i="0" dirty="0">
              <a:solidFill>
                <a:srgbClr val="333333"/>
              </a:solidFill>
              <a:effectLst/>
              <a:latin typeface="Helvetica Neue" panose="02000503000000020004" pitchFamily="2" charset="0"/>
            </a:endParaRPr>
          </a:p>
          <a:p>
            <a:pPr algn="l"/>
            <a:r>
              <a:rPr lang="en-US" b="1" i="0" dirty="0">
                <a:solidFill>
                  <a:srgbClr val="333333"/>
                </a:solidFill>
                <a:effectLst/>
                <a:latin typeface="Helvetica Neue" panose="02000503000000020004" pitchFamily="2" charset="0"/>
              </a:rPr>
              <a:t>EDUCATOR NOTES:</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"In this final step of our risk assessment process, we focus on bringing all our findings together into a coherent summary. First, we'll examine the risk levels we've identified across all dimensions, ensuring no critical areas have been overlooked. Then, we'll present our conclusions in a format that clearly communicates both the severity and priority of each risk identified.</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Remember to:</a:t>
            </a:r>
          </a:p>
          <a:p>
            <a:pPr algn="l"/>
            <a:r>
              <a:rPr lang="en-US" b="0" i="0" dirty="0">
                <a:solidFill>
                  <a:srgbClr val="333333"/>
                </a:solidFill>
                <a:effectLst/>
                <a:latin typeface="Helvetica Neue" panose="02000503000000020004" pitchFamily="2" charset="0"/>
              </a:rPr>
              <a:t>- Present risk levels using consistent measurement criteria</a:t>
            </a:r>
          </a:p>
          <a:p>
            <a:pPr algn="l"/>
            <a:r>
              <a:rPr lang="en-US" b="0" i="0" dirty="0">
                <a:solidFill>
                  <a:srgbClr val="333333"/>
                </a:solidFill>
                <a:effectLst/>
                <a:latin typeface="Helvetica Neue" panose="02000503000000020004" pitchFamily="2" charset="0"/>
              </a:rPr>
              <a:t>- Highlight any patterns or trends in the risk assessment</a:t>
            </a:r>
          </a:p>
          <a:p>
            <a:pPr algn="l"/>
            <a:r>
              <a:rPr lang="en-US" b="0" i="0" dirty="0">
                <a:solidFill>
                  <a:srgbClr val="333333"/>
                </a:solidFill>
                <a:effectLst/>
                <a:latin typeface="Helvetica Neue" panose="02000503000000020004" pitchFamily="2" charset="0"/>
              </a:rPr>
              <a:t>- Make clear recommendations based on the findings</a:t>
            </a:r>
          </a:p>
          <a:p>
            <a:pPr algn="l"/>
            <a:r>
              <a:rPr lang="en-US" b="0" i="0" dirty="0">
                <a:solidFill>
                  <a:srgbClr val="333333"/>
                </a:solidFill>
                <a:effectLst/>
                <a:latin typeface="Helvetica Neue" panose="02000503000000020004" pitchFamily="2" charset="0"/>
              </a:rPr>
              <a:t>- Ensure the summary can be understood by all stakeholders</a:t>
            </a:r>
          </a:p>
          <a:p>
            <a:pPr algn="l"/>
            <a:r>
              <a:rPr lang="en-US" b="0" i="0" dirty="0">
                <a:solidFill>
                  <a:srgbClr val="333333"/>
                </a:solidFill>
                <a:effectLst/>
                <a:latin typeface="Helvetica Neue" panose="02000503000000020004" pitchFamily="2" charset="0"/>
              </a:rPr>
              <a:t>- Include both quantitative and qualitative risk measures where applicable</a:t>
            </a:r>
          </a:p>
          <a:p>
            <a:pPr algn="l"/>
            <a:endParaRPr lang="en-US" b="0" i="0" dirty="0">
              <a:solidFill>
                <a:srgbClr val="333333"/>
              </a:solidFill>
              <a:effectLst/>
              <a:latin typeface="Helvetica Neue" panose="02000503000000020004" pitchFamily="2" charset="0"/>
            </a:endParaRPr>
          </a:p>
          <a:p>
            <a:pPr algn="l"/>
            <a:r>
              <a:rPr lang="en-US" b="0" i="0" dirty="0">
                <a:solidFill>
                  <a:srgbClr val="333333"/>
                </a:solidFill>
                <a:effectLst/>
                <a:latin typeface="Helvetica Neue" panose="02000503000000020004" pitchFamily="2" charset="0"/>
              </a:rPr>
              <a:t>The success of this step relies heavily on clear communication and proper documentation of our findings. This will serve as the foundation for any risk mitigation strategies moving forward."</a:t>
            </a:r>
          </a:p>
          <a:p>
            <a:pPr algn="l"/>
            <a:endParaRPr lang="en-US" b="0" i="0" dirty="0">
              <a:solidFill>
                <a:srgbClr val="333333"/>
              </a:solidFill>
              <a:effectLst/>
              <a:latin typeface="Helvetica Neue" panose="02000503000000020004" pitchFamily="2" charset="0"/>
            </a:endParaRP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A3D89E5F-BEEF-42A1-A57B-E5A736D51194}" type="slidenum">
              <a:rPr kumimoji="0" lang="en-US" sz="1200" b="0" i="0" u="none" strike="noStrike" kern="1200" cap="none" spc="0" normalizeH="0" baseline="0" noProof="0" smtClean="0">
                <a:ln>
                  <a:noFill/>
                </a:ln>
                <a:solidFill>
                  <a:prstClr val="black"/>
                </a:solidFill>
                <a:effectLst/>
                <a:uLnTx/>
                <a:uFillTx/>
                <a:latin typeface="Amazon Ember Display" panose="020F0603020204020204" pitchFamily="34"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Amazon Ember Display" panose="020F0603020204020204" pitchFamily="34" charset="0"/>
              <a:ea typeface="+mn-ea"/>
              <a:cs typeface="+mn-cs"/>
            </a:endParaRPr>
          </a:p>
        </p:txBody>
      </p:sp>
    </p:spTree>
    <p:extLst>
      <p:ext uri="{BB962C8B-B14F-4D97-AF65-F5344CB8AC3E}">
        <p14:creationId xmlns:p14="http://schemas.microsoft.com/office/powerpoint/2010/main" val="3135078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AI System Risk</a:t>
            </a:r>
          </a:p>
          <a:p>
            <a:r>
              <a:rPr lang="en-US" dirty="0"/>
              <a:t>- Risk is calculated as a product of two key factors:</a:t>
            </a:r>
          </a:p>
          <a:p>
            <a:r>
              <a:rPr lang="en-US" dirty="0"/>
              <a:t>  * Likelihood (probability of occurrence)</a:t>
            </a:r>
          </a:p>
          <a:p>
            <a:r>
              <a:rPr lang="en-US" dirty="0"/>
              <a:t>  * Severity (magnitude of consequences)</a:t>
            </a:r>
          </a:p>
          <a:p>
            <a:endParaRPr lang="en-US" dirty="0"/>
          </a:p>
          <a:p>
            <a:r>
              <a:rPr lang="en-US" dirty="0"/>
              <a:t>2. Risk Formula</a:t>
            </a:r>
          </a:p>
          <a:p>
            <a:r>
              <a:rPr lang="en-US" dirty="0"/>
              <a:t>- Risk = Likelihood × Severity</a:t>
            </a:r>
          </a:p>
          <a:p>
            <a:r>
              <a:rPr lang="en-US" dirty="0"/>
              <a:t>- This is based on NIST's AI Risk Management Framework 1.0</a:t>
            </a:r>
          </a:p>
          <a:p>
            <a:endParaRPr lang="en-US" dirty="0"/>
          </a:p>
          <a:p>
            <a:r>
              <a:rPr lang="en-US" dirty="0"/>
              <a:t>3. Key Components:</a:t>
            </a:r>
          </a:p>
          <a:p>
            <a:r>
              <a:rPr lang="en-US" dirty="0"/>
              <a:t>- Likelihood:</a:t>
            </a:r>
          </a:p>
          <a:p>
            <a:r>
              <a:rPr lang="en-US" dirty="0"/>
              <a:t>  * Measures the probability of an event occurring</a:t>
            </a:r>
          </a:p>
          <a:p>
            <a:r>
              <a:rPr lang="en-US" dirty="0"/>
              <a:t>  * Focuses on frequency and possibility</a:t>
            </a:r>
          </a:p>
          <a:p>
            <a:r>
              <a:rPr lang="en-US" dirty="0"/>
              <a:t>- Severity:</a:t>
            </a:r>
          </a:p>
          <a:p>
            <a:r>
              <a:rPr lang="en-US" dirty="0"/>
              <a:t>  * Measures the magnitude or degree of consequences</a:t>
            </a:r>
          </a:p>
          <a:p>
            <a:r>
              <a:rPr lang="en-US" dirty="0"/>
              <a:t>  * Evaluates the impact of the event</a:t>
            </a:r>
          </a:p>
          <a:p>
            <a:endParaRPr lang="en-US" dirty="0"/>
          </a:p>
          <a:p>
            <a:r>
              <a:rPr lang="en-US" b="1" dirty="0"/>
              <a:t>EDUCATOR NOTES:</a:t>
            </a:r>
          </a:p>
          <a:p>
            <a:endParaRPr lang="en-US" dirty="0"/>
          </a:p>
          <a:p>
            <a:r>
              <a:rPr lang="en-US" dirty="0"/>
              <a:t>”Let’s discuss how to quantify risk in AI systems. The fundamental approach comes from NIST's AI Risk Management Framework, which tells us that risk is a product of two essential factors: likelihood and severity.</a:t>
            </a:r>
          </a:p>
          <a:p>
            <a:endParaRPr lang="en-US" dirty="0"/>
          </a:p>
          <a:p>
            <a:r>
              <a:rPr lang="en-US" dirty="0"/>
              <a:t>When we talk about likelihood, we're looking at how probable an event is to occur. This could be a system failure, a bias incident, or any other AI-related risk.</a:t>
            </a:r>
          </a:p>
          <a:p>
            <a:endParaRPr lang="en-US" dirty="0"/>
          </a:p>
          <a:p>
            <a:r>
              <a:rPr lang="en-US" dirty="0"/>
              <a:t>Severity, on the other hand, measures how serious the consequences would be if that event actually happened. This could range from minor inconveniences to major system failures or regulatory violations.</a:t>
            </a:r>
          </a:p>
          <a:p>
            <a:endParaRPr lang="en-US" dirty="0"/>
          </a:p>
          <a:p>
            <a:r>
              <a:rPr lang="en-US" dirty="0"/>
              <a:t>By multiplying these two factors together, we get a quantitative measure of risk that helps us prioritize our risk management efforts and allocate resources appropriately.</a:t>
            </a:r>
          </a:p>
          <a:p>
            <a:endParaRPr lang="en-US" dirty="0"/>
          </a:p>
          <a:p>
            <a:r>
              <a:rPr lang="en-US" dirty="0"/>
              <a:t>Remember, this isn't just about identifying risks – it's about measuring them in a way that allows us to make informed decisions about risk mitigation strategies."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20</a:t>
            </a:fld>
            <a:endParaRPr lang="en-US"/>
          </a:p>
        </p:txBody>
      </p:sp>
    </p:spTree>
    <p:extLst>
      <p:ext uri="{BB962C8B-B14F-4D97-AF65-F5344CB8AC3E}">
        <p14:creationId xmlns:p14="http://schemas.microsoft.com/office/powerpoint/2010/main" val="2166631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CONCEPT: VERACITY (RISK)</a:t>
            </a:r>
            <a:endParaRPr lang="en-US" b="1" dirty="0"/>
          </a:p>
          <a:p>
            <a:endParaRPr lang="en-US" b="1" dirty="0"/>
          </a:p>
          <a:p>
            <a:r>
              <a:rPr lang="en-US" dirty="0"/>
              <a:t>1. Definition: Veracity refers to the truthfulness and accuracy of generated content</a:t>
            </a:r>
          </a:p>
          <a:p>
            <a:r>
              <a:rPr lang="en-US" dirty="0"/>
              <a:t>2. Primary Risk: Generation of unverifiable content</a:t>
            </a:r>
          </a:p>
          <a:p>
            <a:r>
              <a:rPr lang="en-US" dirty="0"/>
              <a:t>3. Specific Concern: AI hallucinations - when AI systems produce content that appears plausible but is factually incorrect</a:t>
            </a:r>
          </a:p>
          <a:p>
            <a:endParaRPr lang="en-US" dirty="0"/>
          </a:p>
          <a:p>
            <a:r>
              <a:rPr lang="en-US" dirty="0"/>
              <a:t>Important Considerations:</a:t>
            </a:r>
          </a:p>
          <a:p>
            <a:r>
              <a:rPr lang="en-US" dirty="0"/>
              <a:t>- This is a critical dimension of AI risk assessment</a:t>
            </a:r>
          </a:p>
          <a:p>
            <a:r>
              <a:rPr lang="en-US" dirty="0"/>
              <a:t>- Directly impacts trust in AI systems</a:t>
            </a:r>
          </a:p>
          <a:p>
            <a:r>
              <a:rPr lang="en-US" dirty="0"/>
              <a:t>- Can have significant consequences in real-world applications</a:t>
            </a:r>
          </a:p>
          <a:p>
            <a:endParaRPr lang="en-US" dirty="0"/>
          </a:p>
          <a:p>
            <a:r>
              <a:rPr lang="en-US" b="1" dirty="0"/>
              <a:t>EDUCATOR NOTES:</a:t>
            </a:r>
          </a:p>
          <a:p>
            <a:endParaRPr lang="en-US" dirty="0"/>
          </a:p>
          <a:p>
            <a:r>
              <a:rPr lang="en-US" dirty="0"/>
              <a:t>”Let’s discuss one of the crucial risk dimensions in AI systems - Veracity. This refers to the challenge of ensuring AI-generated content is truthful and verifiable. A major concern we face is what we call 'AI hallucinations,' where systems can confidently produce content that seems correct but isn't actually based on factual information. This is particularly important because incorrect information can lead to misunderstandings, poor decision-making, or even harmful outcomes. As we develop and deploy AI systems, maintaining veracity must be a top priority to ensure reliable and trustworthy AI applications. </a:t>
            </a:r>
          </a:p>
          <a:p>
            <a:endParaRPr lang="en-US" dirty="0"/>
          </a:p>
          <a:p>
            <a:r>
              <a:rPr lang="en-US" dirty="0"/>
              <a:t>Does anyone have questions about how veracity impacts AI system reliability?</a:t>
            </a:r>
          </a:p>
        </p:txBody>
      </p:sp>
      <p:sp>
        <p:nvSpPr>
          <p:cNvPr id="4" name="Slide Number Placeholder 3"/>
          <p:cNvSpPr>
            <a:spLocks noGrp="1"/>
          </p:cNvSpPr>
          <p:nvPr>
            <p:ph type="sldNum" sz="quarter" idx="5"/>
          </p:nvPr>
        </p:nvSpPr>
        <p:spPr/>
        <p:txBody>
          <a:bodyPr/>
          <a:lstStyle/>
          <a:p>
            <a:fld id="{688EF870-5850-6643-A228-25AFAA8E2BB1}" type="slidenum">
              <a:rPr lang="en-US" smtClean="0"/>
              <a:t>21</a:t>
            </a:fld>
            <a:endParaRPr lang="en-US"/>
          </a:p>
        </p:txBody>
      </p:sp>
    </p:spTree>
    <p:extLst>
      <p:ext uri="{BB962C8B-B14F-4D97-AF65-F5344CB8AC3E}">
        <p14:creationId xmlns:p14="http://schemas.microsoft.com/office/powerpoint/2010/main" val="2930779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 The scale presents 5 levels of likelihood/probability categories</a:t>
            </a:r>
          </a:p>
          <a:p>
            <a:r>
              <a:rPr lang="en-US" dirty="0"/>
              <a:t>- Each level has both frequency-based and probability-based criteria</a:t>
            </a:r>
          </a:p>
          <a:p>
            <a:endParaRPr lang="en-US" dirty="0"/>
          </a:p>
          <a:p>
            <a:r>
              <a:rPr lang="en-US" dirty="0"/>
              <a:t>Breakdown by level:</a:t>
            </a:r>
          </a:p>
          <a:p>
            <a:r>
              <a:rPr lang="en-US" dirty="0"/>
              <a:t>1. Frequent</a:t>
            </a:r>
          </a:p>
          <a:p>
            <a:r>
              <a:rPr lang="en-US" dirty="0"/>
              <a:t>- Frequency: &gt;100 times per year</a:t>
            </a:r>
          </a:p>
          <a:p>
            <a:r>
              <a:rPr lang="en-US" dirty="0"/>
              <a:t>- Probability: Nearly 100%</a:t>
            </a:r>
          </a:p>
          <a:p>
            <a:endParaRPr lang="en-US" dirty="0"/>
          </a:p>
          <a:p>
            <a:r>
              <a:rPr lang="en-US" dirty="0"/>
              <a:t>2. Likely</a:t>
            </a:r>
          </a:p>
          <a:p>
            <a:r>
              <a:rPr lang="en-US" dirty="0"/>
              <a:t>- Frequency: 10-100 times annually </a:t>
            </a:r>
          </a:p>
          <a:p>
            <a:r>
              <a:rPr lang="en-US" dirty="0"/>
              <a:t>- Probability: 50-99%</a:t>
            </a:r>
          </a:p>
          <a:p>
            <a:endParaRPr lang="en-US" dirty="0"/>
          </a:p>
          <a:p>
            <a:r>
              <a:rPr lang="en-US" dirty="0"/>
              <a:t>3. Possible</a:t>
            </a:r>
          </a:p>
          <a:p>
            <a:r>
              <a:rPr lang="en-US" dirty="0"/>
              <a:t>- Frequency: 1-10 times per year</a:t>
            </a:r>
          </a:p>
          <a:p>
            <a:r>
              <a:rPr lang="en-US" dirty="0"/>
              <a:t>- Probability: 1-49%</a:t>
            </a:r>
          </a:p>
          <a:p>
            <a:endParaRPr lang="en-US" dirty="0"/>
          </a:p>
          <a:p>
            <a:r>
              <a:rPr lang="en-US" dirty="0"/>
              <a:t>4. Unlikely</a:t>
            </a:r>
          </a:p>
          <a:p>
            <a:r>
              <a:rPr lang="en-US" dirty="0"/>
              <a:t>- Frequency: &lt;1 time per year but &gt;1 time per decade</a:t>
            </a:r>
          </a:p>
          <a:p>
            <a:r>
              <a:rPr lang="en-US" dirty="0"/>
              <a:t>- Probability: Around 1%</a:t>
            </a:r>
          </a:p>
          <a:p>
            <a:endParaRPr lang="en-US" dirty="0"/>
          </a:p>
          <a:p>
            <a:r>
              <a:rPr lang="en-US" dirty="0"/>
              <a:t>5. Highly Unlikely</a:t>
            </a:r>
          </a:p>
          <a:p>
            <a:r>
              <a:rPr lang="en-US" dirty="0"/>
              <a:t>- Frequency: &lt;1 time per 10 years</a:t>
            </a:r>
          </a:p>
          <a:p>
            <a:r>
              <a:rPr lang="en-US" dirty="0"/>
              <a:t>- Probability: Close to 0%</a:t>
            </a:r>
          </a:p>
          <a:p>
            <a:endParaRPr lang="en-US" dirty="0"/>
          </a:p>
          <a:p>
            <a:r>
              <a:rPr lang="en-US" dirty="0"/>
              <a:t>EDUCATOR NOTES:</a:t>
            </a:r>
          </a:p>
          <a:p>
            <a:endParaRPr lang="en-US" dirty="0"/>
          </a:p>
          <a:p>
            <a:r>
              <a:rPr lang="en-US" dirty="0"/>
              <a:t>”Let’s discuss first likelihood risk and criteria.  A likelihood assessment scale helps us evaluate and categorize risks based on both their frequency of occurrence and probability. The scale ranges from 'Frequent' events that happen multiple times per year to 'Highly Unlikely' events that may occur less than once per decade. When assessing risks, consider both the historical frequency of similar events and the probability of future occurrences. This standardized scale ensures consistent risk assessment across our organization."</a:t>
            </a:r>
          </a:p>
          <a:p>
            <a:endParaRPr lang="en-US" dirty="0"/>
          </a:p>
          <a:p>
            <a:r>
              <a:rPr lang="en-US" dirty="0"/>
              <a:t>"For example, when evaluating a potential risk, first determine if you have historical data on its frequency. If not, estimate its probability based on available information and expert judgment. Then match these findings to the appropriate category on this scale.</a:t>
            </a:r>
          </a:p>
          <a:p>
            <a:endParaRPr lang="en-US" dirty="0"/>
          </a:p>
          <a:p>
            <a:r>
              <a:rPr lang="en-US" dirty="0"/>
              <a:t>Also, remember that, based on your historical data, you can create a scale adapted to your own reality"</a:t>
            </a:r>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2006901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Severity Levels:</a:t>
            </a:r>
          </a:p>
          <a:p>
            <a:r>
              <a:rPr lang="en-US" dirty="0"/>
              <a:t>   - Extreme: Most severe level - causes irreversible negative real-world impact</a:t>
            </a:r>
          </a:p>
          <a:p>
            <a:r>
              <a:rPr lang="en-US" dirty="0"/>
              <a:t>   - Major: Second highest severity - substantial negative impact from fabricated output</a:t>
            </a:r>
          </a:p>
          <a:p>
            <a:r>
              <a:rPr lang="en-US" dirty="0"/>
              <a:t>   - Moderate: Middle level - hallucinations causing clear performance degradation</a:t>
            </a:r>
          </a:p>
          <a:p>
            <a:r>
              <a:rPr lang="en-US" dirty="0"/>
              <a:t>   - Low: Minor hallucinations with limited performance impact</a:t>
            </a:r>
          </a:p>
          <a:p>
            <a:r>
              <a:rPr lang="en-US" dirty="0"/>
              <a:t>   - Very Low: Minimal hallucinations with negligible effects</a:t>
            </a:r>
          </a:p>
          <a:p>
            <a:endParaRPr lang="en-US" dirty="0"/>
          </a:p>
          <a:p>
            <a:r>
              <a:rPr lang="en-US" dirty="0"/>
              <a:t>2. Key Concepts:</a:t>
            </a:r>
          </a:p>
          <a:p>
            <a:r>
              <a:rPr lang="en-US" dirty="0"/>
              <a:t>   - Scale focuses on truthfulness/accuracy of AI outputs</a:t>
            </a:r>
          </a:p>
          <a:p>
            <a:r>
              <a:rPr lang="en-US" dirty="0"/>
              <a:t>   - Measures severity of hallucinations and fabrications</a:t>
            </a:r>
          </a:p>
          <a:p>
            <a:r>
              <a:rPr lang="en-US" dirty="0"/>
              <a:t>   - Considers real-world consequences</a:t>
            </a:r>
          </a:p>
          <a:p>
            <a:r>
              <a:rPr lang="en-US" dirty="0"/>
              <a:t>   - Evaluates impact on model performance</a:t>
            </a:r>
          </a:p>
          <a:p>
            <a:endParaRPr lang="en-US" dirty="0"/>
          </a:p>
          <a:p>
            <a:r>
              <a:rPr lang="en-US" dirty="0"/>
              <a:t>3. Impact Categories:</a:t>
            </a:r>
          </a:p>
          <a:p>
            <a:r>
              <a:rPr lang="en-US" dirty="0"/>
              <a:t>   - Social impact</a:t>
            </a:r>
          </a:p>
          <a:p>
            <a:r>
              <a:rPr lang="en-US" dirty="0"/>
              <a:t>   - Model reliability</a:t>
            </a:r>
          </a:p>
          <a:p>
            <a:r>
              <a:rPr lang="en-US" dirty="0"/>
              <a:t>   - Task performance</a:t>
            </a:r>
          </a:p>
          <a:p>
            <a:r>
              <a:rPr lang="en-US" dirty="0"/>
              <a:t>   - Real-world consequences</a:t>
            </a:r>
          </a:p>
          <a:p>
            <a:endParaRPr lang="en-US" dirty="0"/>
          </a:p>
          <a:p>
            <a:r>
              <a:rPr lang="en-US" b="1" dirty="0"/>
              <a:t>EDUCATOR NOTES:</a:t>
            </a:r>
          </a:p>
          <a:p>
            <a:endParaRPr lang="en-US" dirty="0"/>
          </a:p>
          <a:p>
            <a:r>
              <a:rPr lang="en-US" dirty="0"/>
              <a:t>”Now, let’s discuss the example of a Veracity Severity Scale, which helps us measure and categorize the severity of AI model hallucinations and inaccuracies. This scale ranges from 'Very Low' to 'Extreme' severity, with each level representing increasingly serious consequences.</a:t>
            </a:r>
          </a:p>
          <a:p>
            <a:endParaRPr lang="en-US" dirty="0"/>
          </a:p>
          <a:p>
            <a:r>
              <a:rPr lang="en-US" dirty="0"/>
              <a:t>Pay special attention to how the scale progresses from minimal impact at the 'Very Low' level to potentially dangerous and irreversible consequences at the 'Extreme' level. When evaluating AI outputs, we must consider both the immediate performance impact and the broader real-world implications.</a:t>
            </a:r>
          </a:p>
          <a:p>
            <a:endParaRPr lang="en-US" dirty="0"/>
          </a:p>
          <a:p>
            <a:r>
              <a:rPr lang="en-US" dirty="0"/>
              <a:t>Remember that this scale is particularly crucial for understanding risk management in AI systems and ensuring responsible AI deployment. </a:t>
            </a:r>
          </a:p>
          <a:p>
            <a:endParaRPr lang="en-US" dirty="0"/>
          </a:p>
          <a:p>
            <a:r>
              <a:rPr lang="en-US" dirty="0"/>
              <a:t>Any questions about the different severity levels or their practical applications?"</a:t>
            </a:r>
          </a:p>
        </p:txBody>
      </p:sp>
      <p:sp>
        <p:nvSpPr>
          <p:cNvPr id="4" name="Slide Number Placeholder 3"/>
          <p:cNvSpPr>
            <a:spLocks noGrp="1"/>
          </p:cNvSpPr>
          <p:nvPr>
            <p:ph type="sldNum" sz="quarter" idx="5"/>
          </p:nvPr>
        </p:nvSpPr>
        <p:spPr/>
        <p:txBody>
          <a:bodyPr/>
          <a:lstStyle/>
          <a:p>
            <a:fld id="{688EF870-5850-6643-A228-25AFAA8E2BB1}" type="slidenum">
              <a:rPr lang="en-US" smtClean="0"/>
              <a:t>23</a:t>
            </a:fld>
            <a:endParaRPr lang="en-US"/>
          </a:p>
        </p:txBody>
      </p:sp>
    </p:spTree>
    <p:extLst>
      <p:ext uri="{BB962C8B-B14F-4D97-AF65-F5344CB8AC3E}">
        <p14:creationId xmlns:p14="http://schemas.microsoft.com/office/powerpoint/2010/main" val="1011646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Risk Assessment Matrix - Likelihood vs Severity Analysis</a:t>
            </a:r>
          </a:p>
          <a:p>
            <a:endParaRPr lang="en-US" dirty="0"/>
          </a:p>
          <a:p>
            <a:r>
              <a:rPr lang="en-US" dirty="0"/>
              <a:t>Main Components:</a:t>
            </a:r>
          </a:p>
          <a:p>
            <a:r>
              <a:rPr lang="en-US" dirty="0"/>
              <a:t>1. Axes</a:t>
            </a:r>
          </a:p>
          <a:p>
            <a:r>
              <a:rPr lang="en-US" dirty="0"/>
              <a:t>   - Vertical: Likelihood (from Highly unlikely to Frequent)</a:t>
            </a:r>
          </a:p>
          <a:p>
            <a:r>
              <a:rPr lang="en-US" dirty="0"/>
              <a:t>   - Horizontal: Severity (from Very low to Extreme)</a:t>
            </a:r>
          </a:p>
          <a:p>
            <a:endParaRPr lang="en-US" dirty="0"/>
          </a:p>
          <a:p>
            <a:r>
              <a:rPr lang="en-US" dirty="0"/>
              <a:t>2. Risk Levels (color-coded):</a:t>
            </a:r>
          </a:p>
          <a:p>
            <a:r>
              <a:rPr lang="en-US" dirty="0"/>
              <a:t>   - Very Low (Dark green)</a:t>
            </a:r>
          </a:p>
          <a:p>
            <a:r>
              <a:rPr lang="en-US" dirty="0"/>
              <a:t>   - Low (Light green)</a:t>
            </a:r>
          </a:p>
          <a:p>
            <a:r>
              <a:rPr lang="en-US" dirty="0"/>
              <a:t>   - Medium (Yellow)</a:t>
            </a:r>
          </a:p>
          <a:p>
            <a:r>
              <a:rPr lang="en-US" dirty="0"/>
              <a:t>   - High (Orange)</a:t>
            </a:r>
          </a:p>
          <a:p>
            <a:r>
              <a:rPr lang="en-US" dirty="0"/>
              <a:t>   - Critical (Red)</a:t>
            </a:r>
          </a:p>
          <a:p>
            <a:endParaRPr lang="en-US" dirty="0"/>
          </a:p>
          <a:p>
            <a:r>
              <a:rPr lang="en-US" dirty="0"/>
              <a:t>3. Likelihood Categories (top to bottom):</a:t>
            </a:r>
          </a:p>
          <a:p>
            <a:r>
              <a:rPr lang="en-US" dirty="0"/>
              <a:t>   - Frequent</a:t>
            </a:r>
          </a:p>
          <a:p>
            <a:r>
              <a:rPr lang="en-US" dirty="0"/>
              <a:t>   - Likely</a:t>
            </a:r>
          </a:p>
          <a:p>
            <a:r>
              <a:rPr lang="en-US" dirty="0"/>
              <a:t>   - Possible</a:t>
            </a:r>
          </a:p>
          <a:p>
            <a:r>
              <a:rPr lang="en-US" dirty="0"/>
              <a:t>   - Unlikely</a:t>
            </a:r>
          </a:p>
          <a:p>
            <a:r>
              <a:rPr lang="en-US" dirty="0"/>
              <a:t>   - Highly unlikely</a:t>
            </a:r>
          </a:p>
          <a:p>
            <a:endParaRPr lang="en-US" dirty="0"/>
          </a:p>
          <a:p>
            <a:r>
              <a:rPr lang="en-US" dirty="0"/>
              <a:t>4. Severity Categories (left to right):</a:t>
            </a:r>
          </a:p>
          <a:p>
            <a:r>
              <a:rPr lang="en-US" dirty="0"/>
              <a:t>   - Very low</a:t>
            </a:r>
          </a:p>
          <a:p>
            <a:r>
              <a:rPr lang="en-US" dirty="0"/>
              <a:t>   - Low</a:t>
            </a:r>
          </a:p>
          <a:p>
            <a:r>
              <a:rPr lang="en-US" dirty="0"/>
              <a:t>   - Moderate</a:t>
            </a:r>
          </a:p>
          <a:p>
            <a:r>
              <a:rPr lang="en-US" dirty="0"/>
              <a:t>   - Major</a:t>
            </a:r>
          </a:p>
          <a:p>
            <a:r>
              <a:rPr lang="en-US" dirty="0"/>
              <a:t>   - Extreme</a:t>
            </a:r>
          </a:p>
          <a:p>
            <a:endParaRPr lang="en-US" dirty="0"/>
          </a:p>
          <a:p>
            <a:r>
              <a:rPr lang="en-US" dirty="0"/>
              <a:t>Risk Level Patterns:</a:t>
            </a:r>
          </a:p>
          <a:p>
            <a:r>
              <a:rPr lang="en-US" dirty="0"/>
              <a:t>- Higher severity and likelihood result in higher risk levels</a:t>
            </a:r>
          </a:p>
          <a:p>
            <a:r>
              <a:rPr lang="en-US" dirty="0"/>
              <a:t>- Critical risks appear in the upper right portion</a:t>
            </a:r>
          </a:p>
          <a:p>
            <a:r>
              <a:rPr lang="en-US" dirty="0"/>
              <a:t>- Very low risks appear in the lower left portion</a:t>
            </a:r>
          </a:p>
          <a:p>
            <a:r>
              <a:rPr lang="en-US" dirty="0"/>
              <a:t>- Diagonal pattern shows escalating risk levels</a:t>
            </a:r>
          </a:p>
          <a:p>
            <a:endParaRPr lang="en-US" dirty="0"/>
          </a:p>
          <a:p>
            <a:r>
              <a:rPr lang="en-US" b="1" dirty="0"/>
              <a:t>EDUCATOR NOTES:</a:t>
            </a:r>
          </a:p>
          <a:p>
            <a:endParaRPr lang="en-US" dirty="0"/>
          </a:p>
          <a:p>
            <a:r>
              <a:rPr lang="en-US" dirty="0"/>
              <a:t>”Now let’s put likelihood and impact together in the risk assessment matrix. It helps us evaluate potential risks by considering both their likelihood of occurrence and potential severity of impact. The color coding provides an immediate visual indication of risk levels, from very low (green) to critical (red). Notice how even unlikely events with extreme severity are still considered high risk, while frequent events with very low severity are considered low risk. </a:t>
            </a:r>
          </a:p>
          <a:p>
            <a:r>
              <a:rPr lang="en-US" dirty="0"/>
              <a:t>This tool is essential for prioritizing risk mitigation efforts and resource allocation in risk management. When using this matrix, remember that the goal is to identify areas requiring immediate attention (red/critical) versus those that may need monitoring but are less urgent (green/very low)."</a:t>
            </a:r>
          </a:p>
        </p:txBody>
      </p:sp>
      <p:sp>
        <p:nvSpPr>
          <p:cNvPr id="4" name="Slide Number Placeholder 3"/>
          <p:cNvSpPr>
            <a:spLocks noGrp="1"/>
          </p:cNvSpPr>
          <p:nvPr>
            <p:ph type="sldNum" sz="quarter" idx="5"/>
          </p:nvPr>
        </p:nvSpPr>
        <p:spPr/>
        <p:txBody>
          <a:bodyPr/>
          <a:lstStyle/>
          <a:p>
            <a:fld id="{688EF870-5850-6643-A228-25AFAA8E2BB1}" type="slidenum">
              <a:rPr lang="en-US" smtClean="0"/>
              <a:t>24</a:t>
            </a:fld>
            <a:endParaRPr lang="en-US"/>
          </a:p>
        </p:txBody>
      </p:sp>
    </p:spTree>
    <p:extLst>
      <p:ext uri="{BB962C8B-B14F-4D97-AF65-F5344CB8AC3E}">
        <p14:creationId xmlns:p14="http://schemas.microsoft.com/office/powerpoint/2010/main" val="3415859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Responsible AI Implementation</a:t>
            </a:r>
          </a:p>
          <a:p>
            <a:r>
              <a:rPr lang="en-US" dirty="0"/>
              <a:t>- Focus on responsible design, development, and operation of AI systems</a:t>
            </a:r>
          </a:p>
          <a:p>
            <a:r>
              <a:rPr lang="en-US" dirty="0"/>
              <a:t>- Three main benefits:</a:t>
            </a:r>
          </a:p>
          <a:p>
            <a:r>
              <a:rPr lang="en-US" dirty="0"/>
              <a:t>  * Harm mitigation</a:t>
            </a:r>
          </a:p>
          <a:p>
            <a:r>
              <a:rPr lang="en-US" dirty="0"/>
              <a:t>  * Enhanced customer trust</a:t>
            </a:r>
          </a:p>
          <a:p>
            <a:r>
              <a:rPr lang="en-US" dirty="0"/>
              <a:t>  * Regulatory compliance alignment</a:t>
            </a:r>
          </a:p>
          <a:p>
            <a:endParaRPr lang="en-US" dirty="0"/>
          </a:p>
          <a:p>
            <a:r>
              <a:rPr lang="en-US" dirty="0"/>
              <a:t>2. Dynamic Nature of Responsible AI</a:t>
            </a:r>
          </a:p>
          <a:p>
            <a:r>
              <a:rPr lang="en-US" dirty="0"/>
              <a:t>- Multiple dimensions exist in responsible AI</a:t>
            </a:r>
          </a:p>
          <a:p>
            <a:r>
              <a:rPr lang="en-US" dirty="0"/>
              <a:t>- Framework needs to be adaptable</a:t>
            </a:r>
          </a:p>
          <a:p>
            <a:r>
              <a:rPr lang="en-US" dirty="0"/>
              <a:t>- Continuous evolution alongside technological advancement</a:t>
            </a:r>
          </a:p>
          <a:p>
            <a:endParaRPr lang="en-US" dirty="0"/>
          </a:p>
          <a:p>
            <a:r>
              <a:rPr lang="en-US" dirty="0"/>
              <a:t>3. Governance Structure</a:t>
            </a:r>
          </a:p>
          <a:p>
            <a:r>
              <a:rPr lang="en-US" dirty="0"/>
              <a:t>- Essential for implementing RAI practices</a:t>
            </a:r>
          </a:p>
          <a:p>
            <a:r>
              <a:rPr lang="en-US" dirty="0"/>
              <a:t>- Ensures consistency across organizational levels</a:t>
            </a:r>
          </a:p>
          <a:p>
            <a:r>
              <a:rPr lang="en-US" dirty="0"/>
              <a:t>- Facilitates team coordination and compliance</a:t>
            </a:r>
          </a:p>
          <a:p>
            <a:endParaRPr lang="en-US" dirty="0"/>
          </a:p>
          <a:p>
            <a:r>
              <a:rPr lang="en-US" b="1" dirty="0"/>
              <a:t>EDUCATOR NOTES:</a:t>
            </a:r>
          </a:p>
          <a:p>
            <a:endParaRPr lang="en-US" b="1" dirty="0"/>
          </a:p>
          <a:p>
            <a:r>
              <a:rPr lang="en-US" dirty="0"/>
              <a:t>”In this lesson  we’ve discussed three crucial aspects of Responsible AI implementation. First, by designing and operating AI systems responsibly, organizations can protect against potential harms while building stronger relationships with customers and meeting regulatory requirements. </a:t>
            </a:r>
          </a:p>
          <a:p>
            <a:endParaRPr lang="en-US" dirty="0"/>
          </a:p>
          <a:p>
            <a:r>
              <a:rPr lang="en-US" dirty="0"/>
              <a:t>It's important to note that Responsible AI isn't static - it's a dynamic concept that evolves as AI technology advances. What we consider responsible today might need adjustment tomorrow as new challenges and opportunities emerge.</a:t>
            </a:r>
          </a:p>
          <a:p>
            <a:endParaRPr lang="en-US" dirty="0"/>
          </a:p>
          <a:p>
            <a:r>
              <a:rPr lang="en-US" dirty="0"/>
              <a:t>Finally, strong governance is the backbone of successful RAI implementation. Without proper governance structures, even the best RAI practices may fail to achieve their intended impact. This ensures that everyone in the organization, from development teams to leadership, is aligned with our responsible AI principles.”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25</a:t>
            </a:fld>
            <a:endParaRPr lang="en-US"/>
          </a:p>
        </p:txBody>
      </p:sp>
    </p:spTree>
    <p:extLst>
      <p:ext uri="{BB962C8B-B14F-4D97-AF65-F5344CB8AC3E}">
        <p14:creationId xmlns:p14="http://schemas.microsoft.com/office/powerpoint/2010/main" val="23085162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27</a:t>
            </a:fld>
            <a:endParaRPr lang="en-US"/>
          </a:p>
        </p:txBody>
      </p:sp>
    </p:spTree>
    <p:extLst>
      <p:ext uri="{BB962C8B-B14F-4D97-AF65-F5344CB8AC3E}">
        <p14:creationId xmlns:p14="http://schemas.microsoft.com/office/powerpoint/2010/main" val="32382994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7D4F-D14F-9F31-01D5-161DF06DF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A9DFE-869A-17C2-26FA-C966E66A74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7C207-46A7-38AB-94CD-9D309ACB82C5}"/>
              </a:ext>
            </a:extLst>
          </p:cNvPr>
          <p:cNvSpPr>
            <a:spLocks noGrp="1"/>
          </p:cNvSpPr>
          <p:nvPr>
            <p:ph type="body" idx="1"/>
          </p:nvPr>
        </p:nvSpPr>
        <p:spPr/>
        <p:txBody>
          <a:bodyPr/>
          <a:lstStyle/>
          <a:p>
            <a:r>
              <a:rPr lang="en-US" dirty="0"/>
              <a:t>This is the original slide before its components were combined into a single  image, for accessibility purposes, in this slide deck. Use this slide to update content and then recreate the image for the associated slide in the lesson.</a:t>
            </a:r>
          </a:p>
        </p:txBody>
      </p:sp>
      <p:sp>
        <p:nvSpPr>
          <p:cNvPr id="4" name="Slide Number Placeholder 3">
            <a:extLst>
              <a:ext uri="{FF2B5EF4-FFF2-40B4-BE49-F238E27FC236}">
                <a16:creationId xmlns:a16="http://schemas.microsoft.com/office/drawing/2014/main" id="{A7D10C77-099B-791E-C43E-930B93313E7B}"/>
              </a:ext>
            </a:extLst>
          </p:cNvPr>
          <p:cNvSpPr>
            <a:spLocks noGrp="1"/>
          </p:cNvSpPr>
          <p:nvPr>
            <p:ph type="sldNum" sz="quarter" idx="5"/>
          </p:nvPr>
        </p:nvSpPr>
        <p:spPr/>
        <p:txBody>
          <a:bodyPr/>
          <a:lstStyle/>
          <a:p>
            <a:fld id="{688EF870-5850-6643-A228-25AFAA8E2BB1}" type="slidenum">
              <a:rPr lang="en-US" smtClean="0"/>
              <a:t>28</a:t>
            </a:fld>
            <a:endParaRPr lang="en-US"/>
          </a:p>
        </p:txBody>
      </p:sp>
    </p:spTree>
    <p:extLst>
      <p:ext uri="{BB962C8B-B14F-4D97-AF65-F5344CB8AC3E}">
        <p14:creationId xmlns:p14="http://schemas.microsoft.com/office/powerpoint/2010/main" val="1007563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Header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5D57B1-75EF-4C97-9A07-06C42A328D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5" y="6356868"/>
            <a:ext cx="4032606" cy="365125"/>
          </a:xfrm>
          <a:prstGeom prst="rect">
            <a:avLst/>
          </a:prstGeom>
        </p:spPr>
        <p:txBody>
          <a:bodyPr/>
          <a:lstStyle>
            <a:lvl1pPr algn="r">
              <a:defRPr sz="1400"/>
            </a:lvl1pPr>
          </a:lstStyle>
          <a:p>
            <a:pPr>
              <a:defRPr/>
            </a:pPr>
            <a:fld id="{2613A35D-97EF-7A48-AACF-97D95E22C11E}" type="slidenum">
              <a:rPr lang="en-US" smtClean="0">
                <a:solidFill>
                  <a:srgbClr val="232F3E"/>
                </a:solidFill>
              </a:rPr>
              <a:pPr>
                <a:defRPr/>
              </a:pPr>
              <a:t>‹#›</a:t>
            </a:fld>
            <a:endParaRPr lang="en-US" dirty="0">
              <a:solidFill>
                <a:srgbClr val="232F3E"/>
              </a:solidFill>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dirty="0"/>
              <a:t>[Header Only]</a:t>
            </a:r>
          </a:p>
        </p:txBody>
      </p:sp>
      <p:pic>
        <p:nvPicPr>
          <p:cNvPr id="4" name="Picture 3">
            <a:extLst>
              <a:ext uri="{FF2B5EF4-FFF2-40B4-BE49-F238E27FC236}">
                <a16:creationId xmlns:a16="http://schemas.microsoft.com/office/drawing/2014/main" id="{029D4D66-306A-48BD-BDF3-2741FFD17D1D}"/>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52AB2642-77B5-4B79-9B47-7A7B6D920503}"/>
              </a:ext>
            </a:extLst>
          </p:cNvPr>
          <p:cNvSpPr txBox="1"/>
          <p:nvPr userDrawn="1"/>
        </p:nvSpPr>
        <p:spPr>
          <a:xfrm>
            <a:off x="94047" y="6503766"/>
            <a:ext cx="1928718" cy="307777"/>
          </a:xfrm>
          <a:prstGeom prst="rect">
            <a:avLst/>
          </a:prstGeom>
          <a:noFill/>
        </p:spPr>
        <p:txBody>
          <a:bodyPr wrap="square" rtlCol="0">
            <a:spAutoFit/>
          </a:bodyPr>
          <a:lstStyle/>
          <a:p>
            <a:r>
              <a:rPr lang="en-US" sz="1400" dirty="0"/>
              <a:t>Amazon Confidential</a:t>
            </a:r>
          </a:p>
        </p:txBody>
      </p:sp>
    </p:spTree>
    <p:extLst>
      <p:ext uri="{BB962C8B-B14F-4D97-AF65-F5344CB8AC3E}">
        <p14:creationId xmlns:p14="http://schemas.microsoft.com/office/powerpoint/2010/main" val="2637482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5" r:id="rId11"/>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hyperlink" Target="https://nvlpubs.nist.gov/nistpubs/ai/nist.ai.100-1.pdf"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a:t>Foundations of Responsible AI</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2 – Lesson 2</a:t>
            </a:r>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of lesson 1</a:t>
            </a:r>
          </a:p>
          <a:p>
            <a:r>
              <a:rPr lang="en-US" dirty="0"/>
              <a:t>Introduction to responsible AI</a:t>
            </a:r>
          </a:p>
          <a:p>
            <a:r>
              <a:rPr lang="en-US" dirty="0"/>
              <a:t>Assessing the risk of an AI application</a:t>
            </a:r>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A9F1-16AC-1ED9-E241-952634A699A9}"/>
              </a:ext>
            </a:extLst>
          </p:cNvPr>
          <p:cNvSpPr>
            <a:spLocks noGrp="1"/>
          </p:cNvSpPr>
          <p:nvPr>
            <p:ph type="title" idx="1"/>
          </p:nvPr>
        </p:nvSpPr>
        <p:spPr/>
        <p:txBody>
          <a:bodyPr/>
          <a:lstStyle/>
          <a:p>
            <a:r>
              <a:rPr lang="en-US" dirty="0"/>
              <a:t>Review: Why is it important to evaluate LLMs?</a:t>
            </a:r>
          </a:p>
        </p:txBody>
      </p:sp>
      <p:sp>
        <p:nvSpPr>
          <p:cNvPr id="8" name="Content Placeholder 7">
            <a:extLst>
              <a:ext uri="{FF2B5EF4-FFF2-40B4-BE49-F238E27FC236}">
                <a16:creationId xmlns:a16="http://schemas.microsoft.com/office/drawing/2014/main" id="{13831FBB-23BE-C854-6C00-7262206C4B4D}"/>
              </a:ext>
            </a:extLst>
          </p:cNvPr>
          <p:cNvSpPr>
            <a:spLocks noGrp="1"/>
          </p:cNvSpPr>
          <p:nvPr>
            <p:ph idx="2"/>
          </p:nvPr>
        </p:nvSpPr>
        <p:spPr/>
        <p:txBody>
          <a:bodyPr/>
          <a:lstStyle/>
          <a:p>
            <a:r>
              <a:rPr lang="en-US" dirty="0"/>
              <a:t>Increasing number of core abilities</a:t>
            </a:r>
          </a:p>
          <a:p>
            <a:r>
              <a:rPr lang="en-US" dirty="0"/>
              <a:t>Knowledge of diverse topics</a:t>
            </a:r>
          </a:p>
          <a:p>
            <a:r>
              <a:rPr lang="en-US" dirty="0"/>
              <a:t>Increasing visibility and influence on society</a:t>
            </a:r>
          </a:p>
          <a:p>
            <a:r>
              <a:rPr lang="en-US" dirty="0"/>
              <a:t>Use cases beyond content generation</a:t>
            </a:r>
          </a:p>
          <a:p>
            <a:r>
              <a:rPr lang="en-US" dirty="0"/>
              <a:t>Experts for other systems</a:t>
            </a:r>
          </a:p>
        </p:txBody>
      </p:sp>
      <p:sp>
        <p:nvSpPr>
          <p:cNvPr id="3" name="Slide Number Placeholder 6">
            <a:extLst>
              <a:ext uri="{FF2B5EF4-FFF2-40B4-BE49-F238E27FC236}">
                <a16:creationId xmlns:a16="http://schemas.microsoft.com/office/drawing/2014/main" id="{855AE9B5-9A86-4BA9-B9D1-A405AE6BDBF8}"/>
              </a:ext>
            </a:extLst>
          </p:cNvPr>
          <p:cNvSpPr>
            <a:spLocks noGrp="1"/>
          </p:cNvSpPr>
          <p:nvPr>
            <p:ph type="sldNum" idx="97"/>
          </p:nvPr>
        </p:nvSpPr>
        <p:spPr>
          <a:xfrm>
            <a:off x="11347704" y="6446520"/>
            <a:ext cx="484632" cy="228600"/>
          </a:xfrm>
        </p:spPr>
        <p:txBody>
          <a:bodyPr/>
          <a:lstStyle/>
          <a:p>
            <a:fld id="{86A8BF56-6CB3-514C-9A64-F39D95C9E25B}" type="slidenum">
              <a:rPr lang="en-US" smtClean="0"/>
              <a:t>3</a:t>
            </a:fld>
            <a:endParaRPr lang="en-US"/>
          </a:p>
        </p:txBody>
      </p:sp>
    </p:spTree>
    <p:extLst>
      <p:ext uri="{BB962C8B-B14F-4D97-AF65-F5344CB8AC3E}">
        <p14:creationId xmlns:p14="http://schemas.microsoft.com/office/powerpoint/2010/main" val="4096022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6AC55E-80B7-B2E8-B1B7-64669A6C5B86}"/>
              </a:ext>
            </a:extLst>
          </p:cNvPr>
          <p:cNvSpPr>
            <a:spLocks noGrp="1"/>
          </p:cNvSpPr>
          <p:nvPr>
            <p:ph type="sldNum" idx="97"/>
          </p:nvPr>
        </p:nvSpPr>
        <p:spPr/>
        <p:txBody>
          <a:bodyPr/>
          <a:lstStyle/>
          <a:p>
            <a:fld id="{86A8BF56-6CB3-514C-9A64-F39D95C9E25B}" type="slidenum">
              <a:rPr lang="en-US" smtClean="0"/>
              <a:t>4</a:t>
            </a:fld>
            <a:endParaRPr lang="en-US"/>
          </a:p>
        </p:txBody>
      </p:sp>
      <p:sp>
        <p:nvSpPr>
          <p:cNvPr id="3" name="Title 2">
            <a:extLst>
              <a:ext uri="{FF2B5EF4-FFF2-40B4-BE49-F238E27FC236}">
                <a16:creationId xmlns:a16="http://schemas.microsoft.com/office/drawing/2014/main" id="{082D9B11-742F-6262-075D-87744C32EE3F}"/>
              </a:ext>
            </a:extLst>
          </p:cNvPr>
          <p:cNvSpPr>
            <a:spLocks noGrp="1"/>
          </p:cNvSpPr>
          <p:nvPr>
            <p:ph type="title" idx="1"/>
          </p:nvPr>
        </p:nvSpPr>
        <p:spPr/>
        <p:txBody>
          <a:bodyPr/>
          <a:lstStyle/>
          <a:p>
            <a:r>
              <a:rPr lang="en-US" dirty="0"/>
              <a:t>Review: Evaluating LLMs</a:t>
            </a:r>
          </a:p>
        </p:txBody>
      </p:sp>
      <p:sp>
        <p:nvSpPr>
          <p:cNvPr id="5" name="Rounded Rectangle 4">
            <a:extLst>
              <a:ext uri="{FF2B5EF4-FFF2-40B4-BE49-F238E27FC236}">
                <a16:creationId xmlns:a16="http://schemas.microsoft.com/office/drawing/2014/main" id="{74EC0576-E7FD-BF04-4A16-291787B2F0D5}"/>
              </a:ext>
              <a:ext uri="{C183D7F6-B498-43B3-948B-1728B52AA6E4}">
                <adec:decorative xmlns:adec="http://schemas.microsoft.com/office/drawing/2017/decorative" val="1"/>
              </a:ext>
            </a:extLst>
          </p:cNvPr>
          <p:cNvSpPr/>
          <p:nvPr/>
        </p:nvSpPr>
        <p:spPr>
          <a:xfrm>
            <a:off x="648227" y="2443828"/>
            <a:ext cx="11265877" cy="664476"/>
          </a:xfrm>
          <a:prstGeom prst="roundRect">
            <a:avLst/>
          </a:prstGeom>
          <a:gradFill flip="none" rotWithShape="1">
            <a:gsLst>
              <a:gs pos="51000">
                <a:schemeClr val="accent5">
                  <a:lumMod val="40000"/>
                  <a:lumOff val="60000"/>
                </a:schemeClr>
              </a:gs>
              <a:gs pos="0">
                <a:schemeClr val="accent3"/>
              </a:gs>
              <a:gs pos="100000">
                <a:schemeClr val="accent5">
                  <a:lumMod val="75000"/>
                </a:schemeClr>
              </a:gs>
            </a:gsLst>
            <a:path path="circle">
              <a:fillToRect l="100000" t="100000"/>
            </a:path>
            <a:tileRect r="-100000" b="-100000"/>
          </a:gra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6" name="TextBox 5">
            <a:extLst>
              <a:ext uri="{FF2B5EF4-FFF2-40B4-BE49-F238E27FC236}">
                <a16:creationId xmlns:a16="http://schemas.microsoft.com/office/drawing/2014/main" id="{9F502A03-5F73-0968-E3A7-18E45EA26E05}"/>
              </a:ext>
            </a:extLst>
          </p:cNvPr>
          <p:cNvSpPr txBox="1"/>
          <p:nvPr/>
        </p:nvSpPr>
        <p:spPr>
          <a:xfrm>
            <a:off x="1504012" y="1837072"/>
            <a:ext cx="196720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DF2A5D"/>
                </a:solidFill>
                <a:effectLst/>
                <a:uLnTx/>
                <a:uFillTx/>
                <a:latin typeface="Amazon Ember Medium"/>
                <a:ea typeface="+mn-ea"/>
                <a:cs typeface="+mn-cs"/>
              </a:rPr>
              <a:t>Objective</a:t>
            </a:r>
          </a:p>
        </p:txBody>
      </p:sp>
      <p:sp>
        <p:nvSpPr>
          <p:cNvPr id="7" name="TextBox 6">
            <a:extLst>
              <a:ext uri="{FF2B5EF4-FFF2-40B4-BE49-F238E27FC236}">
                <a16:creationId xmlns:a16="http://schemas.microsoft.com/office/drawing/2014/main" id="{3D36A90D-A887-E36D-98AD-0648CF844002}"/>
              </a:ext>
            </a:extLst>
          </p:cNvPr>
          <p:cNvSpPr txBox="1"/>
          <p:nvPr/>
        </p:nvSpPr>
        <p:spPr>
          <a:xfrm>
            <a:off x="8795196" y="1815091"/>
            <a:ext cx="21307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DF2A5D"/>
                </a:solidFill>
                <a:effectLst/>
                <a:uLnTx/>
                <a:uFillTx/>
                <a:latin typeface="Amazon Ember Medium"/>
                <a:ea typeface="+mn-ea"/>
                <a:cs typeface="+mn-cs"/>
              </a:rPr>
              <a:t>Subjective</a:t>
            </a:r>
          </a:p>
        </p:txBody>
      </p:sp>
      <p:sp>
        <p:nvSpPr>
          <p:cNvPr id="8" name="Right Arrow 7">
            <a:extLst>
              <a:ext uri="{FF2B5EF4-FFF2-40B4-BE49-F238E27FC236}">
                <a16:creationId xmlns:a16="http://schemas.microsoft.com/office/drawing/2014/main" id="{E0770796-1877-10A9-B0AF-F9E60A270EE0}"/>
              </a:ext>
              <a:ext uri="{C183D7F6-B498-43B3-948B-1728B52AA6E4}">
                <adec:decorative xmlns:adec="http://schemas.microsoft.com/office/drawing/2017/decorative" val="1"/>
              </a:ext>
            </a:extLst>
          </p:cNvPr>
          <p:cNvSpPr/>
          <p:nvPr/>
        </p:nvSpPr>
        <p:spPr>
          <a:xfrm>
            <a:off x="10925907" y="1906648"/>
            <a:ext cx="855785" cy="449257"/>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9" name="Right Arrow 8">
            <a:extLst>
              <a:ext uri="{FF2B5EF4-FFF2-40B4-BE49-F238E27FC236}">
                <a16:creationId xmlns:a16="http://schemas.microsoft.com/office/drawing/2014/main" id="{07D4781B-1F45-234B-1BF4-AE41903B8915}"/>
              </a:ext>
              <a:ext uri="{C183D7F6-B498-43B3-948B-1728B52AA6E4}">
                <adec:decorative xmlns:adec="http://schemas.microsoft.com/office/drawing/2017/decorative" val="1"/>
              </a:ext>
            </a:extLst>
          </p:cNvPr>
          <p:cNvSpPr/>
          <p:nvPr/>
        </p:nvSpPr>
        <p:spPr>
          <a:xfrm rot="10800000">
            <a:off x="648227" y="1882848"/>
            <a:ext cx="855785" cy="449257"/>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cxnSp>
        <p:nvCxnSpPr>
          <p:cNvPr id="10" name="Straight Arrow Connector 9">
            <a:extLst>
              <a:ext uri="{FF2B5EF4-FFF2-40B4-BE49-F238E27FC236}">
                <a16:creationId xmlns:a16="http://schemas.microsoft.com/office/drawing/2014/main" id="{E28083DE-83BB-393A-6299-F9A096A1631B}"/>
              </a:ext>
              <a:ext uri="{C183D7F6-B498-43B3-948B-1728B52AA6E4}">
                <adec:decorative xmlns:adec="http://schemas.microsoft.com/office/drawing/2017/decorative" val="1"/>
              </a:ext>
            </a:extLst>
          </p:cNvPr>
          <p:cNvCxnSpPr>
            <a:cxnSpLocks/>
          </p:cNvCxnSpPr>
          <p:nvPr/>
        </p:nvCxnSpPr>
        <p:spPr>
          <a:xfrm>
            <a:off x="1076119" y="3108304"/>
            <a:ext cx="0" cy="2307324"/>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55DAEF2-F221-07D3-613D-3D3D0F7E6F58}"/>
              </a:ext>
            </a:extLst>
          </p:cNvPr>
          <p:cNvSpPr txBox="1"/>
          <p:nvPr/>
        </p:nvSpPr>
        <p:spPr>
          <a:xfrm>
            <a:off x="11943" y="5367818"/>
            <a:ext cx="3028393"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Accuracy, precision, </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BLEU, Perplexity</a:t>
            </a:r>
          </a:p>
        </p:txBody>
      </p:sp>
      <p:cxnSp>
        <p:nvCxnSpPr>
          <p:cNvPr id="12" name="Straight Arrow Connector 11">
            <a:extLst>
              <a:ext uri="{FF2B5EF4-FFF2-40B4-BE49-F238E27FC236}">
                <a16:creationId xmlns:a16="http://schemas.microsoft.com/office/drawing/2014/main" id="{9DD0E221-EF69-9651-76E9-F7F04211047D}"/>
              </a:ext>
              <a:ext uri="{C183D7F6-B498-43B3-948B-1728B52AA6E4}">
                <adec:decorative xmlns:adec="http://schemas.microsoft.com/office/drawing/2017/decorative" val="1"/>
              </a:ext>
            </a:extLst>
          </p:cNvPr>
          <p:cNvCxnSpPr>
            <a:cxnSpLocks/>
          </p:cNvCxnSpPr>
          <p:nvPr/>
        </p:nvCxnSpPr>
        <p:spPr>
          <a:xfrm>
            <a:off x="11461579" y="3108304"/>
            <a:ext cx="0" cy="1768063"/>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0DE045D-04C9-4AA2-9CC5-C459B48FE55C}"/>
              </a:ext>
            </a:extLst>
          </p:cNvPr>
          <p:cNvSpPr txBox="1"/>
          <p:nvPr/>
        </p:nvSpPr>
        <p:spPr>
          <a:xfrm>
            <a:off x="9860230" y="4888856"/>
            <a:ext cx="2414444"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Manual Human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Evaluation</a:t>
            </a:r>
          </a:p>
        </p:txBody>
      </p:sp>
      <p:cxnSp>
        <p:nvCxnSpPr>
          <p:cNvPr id="14" name="Straight Arrow Connector 13">
            <a:extLst>
              <a:ext uri="{FF2B5EF4-FFF2-40B4-BE49-F238E27FC236}">
                <a16:creationId xmlns:a16="http://schemas.microsoft.com/office/drawing/2014/main" id="{D137137B-1B8C-F32B-9B5D-837AA7CA4D5A}"/>
              </a:ext>
              <a:ext uri="{C183D7F6-B498-43B3-948B-1728B52AA6E4}">
                <adec:decorative xmlns:adec="http://schemas.microsoft.com/office/drawing/2017/decorative" val="1"/>
              </a:ext>
            </a:extLst>
          </p:cNvPr>
          <p:cNvCxnSpPr>
            <a:cxnSpLocks/>
          </p:cNvCxnSpPr>
          <p:nvPr/>
        </p:nvCxnSpPr>
        <p:spPr>
          <a:xfrm>
            <a:off x="3877935" y="3108304"/>
            <a:ext cx="0" cy="990537"/>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5E97900-1118-2F63-CE4E-0A128718BAC6}"/>
              </a:ext>
              <a:ext uri="{C183D7F6-B498-43B3-948B-1728B52AA6E4}">
                <adec:decorative xmlns:adec="http://schemas.microsoft.com/office/drawing/2017/decorative" val="1"/>
              </a:ext>
            </a:extLst>
          </p:cNvPr>
          <p:cNvCxnSpPr>
            <a:cxnSpLocks/>
            <a:stCxn id="5" idx="2"/>
          </p:cNvCxnSpPr>
          <p:nvPr/>
        </p:nvCxnSpPr>
        <p:spPr>
          <a:xfrm flipH="1">
            <a:off x="6281165" y="3108304"/>
            <a:ext cx="1" cy="2307324"/>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5B586E6-4B71-EB58-331D-A4360EA49BF8}"/>
              </a:ext>
              <a:ext uri="{C183D7F6-B498-43B3-948B-1728B52AA6E4}">
                <adec:decorative xmlns:adec="http://schemas.microsoft.com/office/drawing/2017/decorative" val="1"/>
              </a:ext>
            </a:extLst>
          </p:cNvPr>
          <p:cNvCxnSpPr>
            <a:cxnSpLocks/>
          </p:cNvCxnSpPr>
          <p:nvPr/>
        </p:nvCxnSpPr>
        <p:spPr>
          <a:xfrm>
            <a:off x="8781069" y="3108304"/>
            <a:ext cx="0" cy="990537"/>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EBA6658-5268-CE09-73C0-0DCB82C4F5C9}"/>
              </a:ext>
            </a:extLst>
          </p:cNvPr>
          <p:cNvSpPr txBox="1"/>
          <p:nvPr/>
        </p:nvSpPr>
        <p:spPr>
          <a:xfrm>
            <a:off x="7545795" y="4069697"/>
            <a:ext cx="2470548"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Feedback-based</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(A/B Testing)</a:t>
            </a:r>
          </a:p>
        </p:txBody>
      </p:sp>
      <p:sp>
        <p:nvSpPr>
          <p:cNvPr id="18" name="TextBox 17">
            <a:extLst>
              <a:ext uri="{FF2B5EF4-FFF2-40B4-BE49-F238E27FC236}">
                <a16:creationId xmlns:a16="http://schemas.microsoft.com/office/drawing/2014/main" id="{5E76B72F-4C13-AAD3-5703-FE1BBA501DFC}"/>
              </a:ext>
            </a:extLst>
          </p:cNvPr>
          <p:cNvSpPr txBox="1"/>
          <p:nvPr/>
        </p:nvSpPr>
        <p:spPr>
          <a:xfrm>
            <a:off x="5110816" y="5383207"/>
            <a:ext cx="2340705"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LLM Evaluators</a:t>
            </a:r>
          </a:p>
        </p:txBody>
      </p:sp>
      <p:sp>
        <p:nvSpPr>
          <p:cNvPr id="19" name="TextBox 18">
            <a:extLst>
              <a:ext uri="{FF2B5EF4-FFF2-40B4-BE49-F238E27FC236}">
                <a16:creationId xmlns:a16="http://schemas.microsoft.com/office/drawing/2014/main" id="{E9F7C444-95E8-7381-D96E-36A86805B871}"/>
              </a:ext>
            </a:extLst>
          </p:cNvPr>
          <p:cNvSpPr txBox="1"/>
          <p:nvPr/>
        </p:nvSpPr>
        <p:spPr>
          <a:xfrm>
            <a:off x="2666706" y="3974332"/>
            <a:ext cx="2422458" cy="120032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Evaluation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Datasets</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(Benchmarking)</a:t>
            </a:r>
          </a:p>
        </p:txBody>
      </p:sp>
    </p:spTree>
    <p:extLst>
      <p:ext uri="{BB962C8B-B14F-4D97-AF65-F5344CB8AC3E}">
        <p14:creationId xmlns:p14="http://schemas.microsoft.com/office/powerpoint/2010/main" val="241005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5</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Introduction to responsible AI</a:t>
            </a:r>
          </a:p>
        </p:txBody>
      </p:sp>
    </p:spTree>
    <p:extLst>
      <p:ext uri="{BB962C8B-B14F-4D97-AF65-F5344CB8AC3E}">
        <p14:creationId xmlns:p14="http://schemas.microsoft.com/office/powerpoint/2010/main" val="1291583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6</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a:t>What is responsible AI?</a:t>
            </a:r>
          </a:p>
        </p:txBody>
      </p:sp>
      <p:grpSp>
        <p:nvGrpSpPr>
          <p:cNvPr id="5" name="Group 4">
            <a:extLst>
              <a:ext uri="{FF2B5EF4-FFF2-40B4-BE49-F238E27FC236}">
                <a16:creationId xmlns:a16="http://schemas.microsoft.com/office/drawing/2014/main" id="{C02B3B71-09E1-3F63-656D-6548CEE1BD6E}"/>
              </a:ext>
            </a:extLst>
          </p:cNvPr>
          <p:cNvGrpSpPr/>
          <p:nvPr/>
        </p:nvGrpSpPr>
        <p:grpSpPr>
          <a:xfrm>
            <a:off x="428444" y="1809093"/>
            <a:ext cx="10928422" cy="2576641"/>
            <a:chOff x="317789" y="2766927"/>
            <a:chExt cx="9579503" cy="2576641"/>
          </a:xfrm>
        </p:grpSpPr>
        <p:grpSp>
          <p:nvGrpSpPr>
            <p:cNvPr id="6" name="Group 5">
              <a:extLst>
                <a:ext uri="{FF2B5EF4-FFF2-40B4-BE49-F238E27FC236}">
                  <a16:creationId xmlns:a16="http://schemas.microsoft.com/office/drawing/2014/main" id="{905F4EDF-604C-348F-D551-4A60CC3503D2}"/>
                </a:ext>
              </a:extLst>
            </p:cNvPr>
            <p:cNvGrpSpPr/>
            <p:nvPr/>
          </p:nvGrpSpPr>
          <p:grpSpPr>
            <a:xfrm>
              <a:off x="702896" y="2766927"/>
              <a:ext cx="9194396" cy="2576641"/>
              <a:chOff x="726021" y="3286897"/>
              <a:chExt cx="2610410" cy="1736702"/>
            </a:xfrm>
          </p:grpSpPr>
          <p:sp>
            <p:nvSpPr>
              <p:cNvPr id="14" name="TextBox 13">
                <a:extLst>
                  <a:ext uri="{FF2B5EF4-FFF2-40B4-BE49-F238E27FC236}">
                    <a16:creationId xmlns:a16="http://schemas.microsoft.com/office/drawing/2014/main" id="{07BBBB12-FB3F-AB5C-3B6B-8EBD22DF318D}"/>
                  </a:ext>
                </a:extLst>
              </p:cNvPr>
              <p:cNvSpPr txBox="1"/>
              <p:nvPr/>
            </p:nvSpPr>
            <p:spPr bwMode="auto">
              <a:xfrm>
                <a:off x="726021" y="3286897"/>
                <a:ext cx="2610410" cy="1736702"/>
              </a:xfrm>
              <a:prstGeom prst="rect">
                <a:avLst/>
              </a:prstGeom>
              <a:solidFill>
                <a:schemeClr val="bg1">
                  <a:lumMod val="95000"/>
                </a:schemeClr>
              </a:solidFill>
              <a:ln w="9525">
                <a:noFill/>
                <a:miter lim="800000"/>
                <a:headEnd/>
                <a:tailEnd/>
              </a:ln>
              <a:effectLst>
                <a:outerShdw blurRad="50800" dist="38100" dir="2700000" algn="tl" rotWithShape="0">
                  <a:prstClr val="black">
                    <a:alpha val="40000"/>
                  </a:prstClr>
                </a:outerShdw>
              </a:effectLst>
            </p:spPr>
            <p:txBody>
              <a:bodyPr vert="horz" wrap="square" lIns="0" tIns="91416" rIns="91416" bIns="45708" numCol="1" rtlCol="0" anchor="t" anchorCtr="0" compatLnSpc="1">
                <a:prstTxWarp prst="textNoShape">
                  <a:avLst/>
                </a:prstTxWarp>
                <a:noAutofit/>
              </a:bodyPr>
              <a:lstStyle>
                <a:defPPr>
                  <a:defRPr lang="en-US"/>
                </a:defPPr>
                <a:lvl3pPr marL="114300" lvl="2">
                  <a:defRPr sz="1200" kern="0">
                    <a:solidFill>
                      <a:schemeClr val="tx1">
                        <a:lumMod val="65000"/>
                        <a:lumOff val="35000"/>
                      </a:schemeClr>
                    </a:solidFill>
                  </a:defRPr>
                </a:lvl3pPr>
              </a:lstStyle>
              <a:p>
                <a:pPr marL="115888"/>
                <a:r>
                  <a:rPr lang="en-US" sz="3600" dirty="0"/>
                  <a:t>Responsible AI is the practice of </a:t>
                </a:r>
                <a:r>
                  <a:rPr lang="en-US" sz="3600" b="1" dirty="0">
                    <a:solidFill>
                      <a:schemeClr val="accent6"/>
                    </a:solidFill>
                    <a:latin typeface="+mj-lt"/>
                    <a:ea typeface="Amazon Ember Light" panose="020B0403020204020204" pitchFamily="34" charset="0"/>
                    <a:cs typeface="Amazon Ember Light" panose="020B0403020204020204" pitchFamily="34" charset="0"/>
                  </a:rPr>
                  <a:t>designing, developing, and using</a:t>
                </a:r>
                <a:r>
                  <a:rPr lang="en-US" sz="3600" dirty="0">
                    <a:latin typeface="+mj-lt"/>
                  </a:rPr>
                  <a:t> </a:t>
                </a:r>
                <a:r>
                  <a:rPr lang="en-US" sz="3600" dirty="0"/>
                  <a:t>AI technology with the goal of maximizing benefits and minimizing risks and unintended harms. </a:t>
                </a:r>
              </a:p>
            </p:txBody>
          </p:sp>
          <p:cxnSp>
            <p:nvCxnSpPr>
              <p:cNvPr id="15" name="Straight Connector 14">
                <a:extLst>
                  <a:ext uri="{FF2B5EF4-FFF2-40B4-BE49-F238E27FC236}">
                    <a16:creationId xmlns:a16="http://schemas.microsoft.com/office/drawing/2014/main" id="{AB723BFC-E5B2-6F1B-C0C6-44C71A9638CC}"/>
                  </a:ext>
                </a:extLst>
              </p:cNvPr>
              <p:cNvCxnSpPr/>
              <p:nvPr/>
            </p:nvCxnSpPr>
            <p:spPr bwMode="auto">
              <a:xfrm>
                <a:off x="726021" y="3301184"/>
                <a:ext cx="2610410" cy="0"/>
              </a:xfrm>
              <a:prstGeom prst="line">
                <a:avLst/>
              </a:prstGeom>
              <a:noFill/>
              <a:ln w="38100" cap="flat" cmpd="sng" algn="ctr">
                <a:solidFill>
                  <a:schemeClr val="bg1">
                    <a:lumMod val="50000"/>
                  </a:schemeClr>
                </a:solidFill>
                <a:prstDash val="solid"/>
                <a:round/>
                <a:headEnd type="none" w="med" len="med"/>
                <a:tailEnd type="none" w="med" len="med"/>
              </a:ln>
              <a:effectLst/>
            </p:spPr>
          </p:cxnSp>
        </p:grpSp>
        <p:grpSp>
          <p:nvGrpSpPr>
            <p:cNvPr id="7" name="Group 6">
              <a:extLst>
                <a:ext uri="{FF2B5EF4-FFF2-40B4-BE49-F238E27FC236}">
                  <a16:creationId xmlns:a16="http://schemas.microsoft.com/office/drawing/2014/main" id="{9747607A-C931-BDF7-BB82-95C2C2584B98}"/>
                </a:ext>
              </a:extLst>
            </p:cNvPr>
            <p:cNvGrpSpPr>
              <a:grpSpLocks noChangeAspect="1"/>
            </p:cNvGrpSpPr>
            <p:nvPr/>
          </p:nvGrpSpPr>
          <p:grpSpPr>
            <a:xfrm>
              <a:off x="317789" y="2783877"/>
              <a:ext cx="420327" cy="322748"/>
              <a:chOff x="1435959" y="1931663"/>
              <a:chExt cx="206694" cy="158710"/>
            </a:xfrm>
            <a:solidFill>
              <a:schemeClr val="bg1">
                <a:lumMod val="50000"/>
              </a:schemeClr>
            </a:solidFill>
          </p:grpSpPr>
          <p:grpSp>
            <p:nvGrpSpPr>
              <p:cNvPr id="8" name="Group 7">
                <a:extLst>
                  <a:ext uri="{FF2B5EF4-FFF2-40B4-BE49-F238E27FC236}">
                    <a16:creationId xmlns:a16="http://schemas.microsoft.com/office/drawing/2014/main" id="{FC57D596-1763-D3F3-B44F-A0E554004D94}"/>
                  </a:ext>
                </a:extLst>
              </p:cNvPr>
              <p:cNvGrpSpPr/>
              <p:nvPr/>
            </p:nvGrpSpPr>
            <p:grpSpPr>
              <a:xfrm>
                <a:off x="1525849" y="1931663"/>
                <a:ext cx="116804" cy="158710"/>
                <a:chOff x="1293301" y="1942173"/>
                <a:chExt cx="116804" cy="158710"/>
              </a:xfrm>
              <a:grpFill/>
            </p:grpSpPr>
            <p:sp>
              <p:nvSpPr>
                <p:cNvPr id="12" name="Rectangle 11">
                  <a:extLst>
                    <a:ext uri="{FF2B5EF4-FFF2-40B4-BE49-F238E27FC236}">
                      <a16:creationId xmlns:a16="http://schemas.microsoft.com/office/drawing/2014/main" id="{64A1597B-D81C-9708-2421-3074ADDF665B}"/>
                    </a:ext>
                  </a:extLst>
                </p:cNvPr>
                <p:cNvSpPr>
                  <a:spLocks noChangeAspect="1"/>
                </p:cNvSpPr>
                <p:nvPr/>
              </p:nvSpPr>
              <p:spPr bwMode="auto">
                <a:xfrm>
                  <a:off x="1293301" y="2025926"/>
                  <a:ext cx="64293" cy="74957"/>
                </a:xfrm>
                <a:prstGeom prst="rect">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rgbClr val="FF9900"/>
                    </a:buClr>
                  </a:pPr>
                  <a:endParaRPr kumimoji="1" lang="en-US" sz="1400" b="1" dirty="0">
                    <a:solidFill>
                      <a:srgbClr val="FFFFFF"/>
                    </a:solidFill>
                    <a:latin typeface="Arial" pitchFamily="34" charset="0"/>
                    <a:ea typeface="굴림" pitchFamily="50" charset="-127"/>
                    <a:cs typeface="Arial" pitchFamily="34" charset="0"/>
                  </a:endParaRPr>
                </a:p>
              </p:txBody>
            </p:sp>
            <p:sp>
              <p:nvSpPr>
                <p:cNvPr id="13" name="Block Arc 12">
                  <a:extLst>
                    <a:ext uri="{FF2B5EF4-FFF2-40B4-BE49-F238E27FC236}">
                      <a16:creationId xmlns:a16="http://schemas.microsoft.com/office/drawing/2014/main" id="{CCCDD07A-AC01-04AE-5561-A2DE99D91D21}"/>
                    </a:ext>
                  </a:extLst>
                </p:cNvPr>
                <p:cNvSpPr/>
                <p:nvPr/>
              </p:nvSpPr>
              <p:spPr bwMode="auto">
                <a:xfrm rot="16200000">
                  <a:off x="1272349" y="1963126"/>
                  <a:ext cx="158710" cy="116803"/>
                </a:xfrm>
                <a:prstGeom prst="blockArc">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rgbClr val="FF9900"/>
                    </a:buClr>
                  </a:pPr>
                  <a:endParaRPr kumimoji="1" lang="en-US" sz="1400" b="1" dirty="0">
                    <a:solidFill>
                      <a:srgbClr val="FFFFFF"/>
                    </a:solidFill>
                    <a:latin typeface="Arial" pitchFamily="34" charset="0"/>
                    <a:ea typeface="굴림" pitchFamily="50" charset="-127"/>
                    <a:cs typeface="Arial" pitchFamily="34" charset="0"/>
                  </a:endParaRPr>
                </a:p>
              </p:txBody>
            </p:sp>
          </p:grpSp>
          <p:grpSp>
            <p:nvGrpSpPr>
              <p:cNvPr id="9" name="Group 8">
                <a:extLst>
                  <a:ext uri="{FF2B5EF4-FFF2-40B4-BE49-F238E27FC236}">
                    <a16:creationId xmlns:a16="http://schemas.microsoft.com/office/drawing/2014/main" id="{EF88770B-B8A7-5165-7A21-27FF44A7B899}"/>
                  </a:ext>
                </a:extLst>
              </p:cNvPr>
              <p:cNvGrpSpPr/>
              <p:nvPr/>
            </p:nvGrpSpPr>
            <p:grpSpPr>
              <a:xfrm>
                <a:off x="1435959" y="1931663"/>
                <a:ext cx="116804" cy="158710"/>
                <a:chOff x="1293301" y="1942173"/>
                <a:chExt cx="116804" cy="158710"/>
              </a:xfrm>
              <a:grpFill/>
            </p:grpSpPr>
            <p:sp>
              <p:nvSpPr>
                <p:cNvPr id="10" name="Rectangle 9">
                  <a:extLst>
                    <a:ext uri="{FF2B5EF4-FFF2-40B4-BE49-F238E27FC236}">
                      <a16:creationId xmlns:a16="http://schemas.microsoft.com/office/drawing/2014/main" id="{0D43E719-D92D-1C5A-DDB9-DE4AE1499D10}"/>
                    </a:ext>
                  </a:extLst>
                </p:cNvPr>
                <p:cNvSpPr/>
                <p:nvPr/>
              </p:nvSpPr>
              <p:spPr bwMode="auto">
                <a:xfrm>
                  <a:off x="1293301" y="2025926"/>
                  <a:ext cx="64293" cy="74957"/>
                </a:xfrm>
                <a:prstGeom prst="rect">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rgbClr val="FF9900"/>
                    </a:buClr>
                  </a:pPr>
                  <a:endParaRPr kumimoji="1" lang="en-US" sz="1400" b="1" dirty="0">
                    <a:solidFill>
                      <a:srgbClr val="FFFFFF"/>
                    </a:solidFill>
                    <a:latin typeface="Arial" pitchFamily="34" charset="0"/>
                    <a:ea typeface="굴림" pitchFamily="50" charset="-127"/>
                    <a:cs typeface="Arial" pitchFamily="34" charset="0"/>
                  </a:endParaRPr>
                </a:p>
              </p:txBody>
            </p:sp>
            <p:sp>
              <p:nvSpPr>
                <p:cNvPr id="11" name="Block Arc 10">
                  <a:extLst>
                    <a:ext uri="{FF2B5EF4-FFF2-40B4-BE49-F238E27FC236}">
                      <a16:creationId xmlns:a16="http://schemas.microsoft.com/office/drawing/2014/main" id="{30D976C0-E8C7-8095-C0BE-7FA2A469A09C}"/>
                    </a:ext>
                  </a:extLst>
                </p:cNvPr>
                <p:cNvSpPr>
                  <a:spLocks noChangeAspect="1"/>
                </p:cNvSpPr>
                <p:nvPr/>
              </p:nvSpPr>
              <p:spPr bwMode="auto">
                <a:xfrm rot="16200000">
                  <a:off x="1272349" y="1963126"/>
                  <a:ext cx="158710" cy="116803"/>
                </a:xfrm>
                <a:prstGeom prst="blockArc">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rgbClr val="FF9900"/>
                    </a:buClr>
                  </a:pPr>
                  <a:endParaRPr kumimoji="1" lang="en-US" sz="1400" b="1" dirty="0">
                    <a:solidFill>
                      <a:srgbClr val="FFFFFF"/>
                    </a:solidFill>
                    <a:latin typeface="Arial" pitchFamily="34" charset="0"/>
                    <a:ea typeface="굴림" pitchFamily="50" charset="-127"/>
                    <a:cs typeface="Arial" pitchFamily="34" charset="0"/>
                  </a:endParaRPr>
                </a:p>
              </p:txBody>
            </p:sp>
          </p:grpSp>
        </p:grpSp>
      </p:grpSp>
      <p:sp>
        <p:nvSpPr>
          <p:cNvPr id="16" name="TextBox 15">
            <a:extLst>
              <a:ext uri="{FF2B5EF4-FFF2-40B4-BE49-F238E27FC236}">
                <a16:creationId xmlns:a16="http://schemas.microsoft.com/office/drawing/2014/main" id="{5329B31E-2C8F-EDAC-2D82-7873763443B9}"/>
              </a:ext>
            </a:extLst>
          </p:cNvPr>
          <p:cNvSpPr txBox="1"/>
          <p:nvPr/>
        </p:nvSpPr>
        <p:spPr>
          <a:xfrm>
            <a:off x="867779" y="4615771"/>
            <a:ext cx="10489087" cy="1569660"/>
          </a:xfrm>
          <a:prstGeom prst="rect">
            <a:avLst/>
          </a:prstGeom>
          <a:noFill/>
        </p:spPr>
        <p:txBody>
          <a:bodyPr wrap="square" rtlCol="0">
            <a:spAutoFit/>
          </a:bodyPr>
          <a:lstStyle/>
          <a:p>
            <a:r>
              <a:rPr lang="en-US" sz="3200" dirty="0"/>
              <a:t>In practice, responsible AI is defined using a core set of dimensions that are assessed and updated over time as technology evolves.</a:t>
            </a:r>
          </a:p>
        </p:txBody>
      </p:sp>
    </p:spTree>
    <p:extLst>
      <p:ext uri="{BB962C8B-B14F-4D97-AF65-F5344CB8AC3E}">
        <p14:creationId xmlns:p14="http://schemas.microsoft.com/office/powerpoint/2010/main" val="1555340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2377FA-CBE2-60B5-1E85-9295AD70C992}"/>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34729062-6D5F-32F7-1DCC-662EFFD59184}"/>
              </a:ext>
            </a:extLst>
          </p:cNvPr>
          <p:cNvSpPr>
            <a:spLocks noGrp="1"/>
          </p:cNvSpPr>
          <p:nvPr>
            <p:ph type="title" idx="1"/>
          </p:nvPr>
        </p:nvSpPr>
        <p:spPr/>
        <p:txBody>
          <a:bodyPr/>
          <a:lstStyle/>
          <a:p>
            <a:r>
              <a:rPr lang="en-US" dirty="0"/>
              <a:t>Organizational culture of responsible AI</a:t>
            </a:r>
          </a:p>
        </p:txBody>
      </p:sp>
      <p:sp>
        <p:nvSpPr>
          <p:cNvPr id="4" name="Content Placeholder 3">
            <a:extLst>
              <a:ext uri="{FF2B5EF4-FFF2-40B4-BE49-F238E27FC236}">
                <a16:creationId xmlns:a16="http://schemas.microsoft.com/office/drawing/2014/main" id="{2D3C00E1-BA9A-13A8-4DB6-EE0F52D92CC3}"/>
              </a:ext>
            </a:extLst>
          </p:cNvPr>
          <p:cNvSpPr>
            <a:spLocks noGrp="1"/>
          </p:cNvSpPr>
          <p:nvPr>
            <p:ph idx="2"/>
          </p:nvPr>
        </p:nvSpPr>
        <p:spPr/>
        <p:txBody>
          <a:bodyPr/>
          <a:lstStyle/>
          <a:p>
            <a:r>
              <a:rPr lang="en-US" dirty="0"/>
              <a:t>RAI is an </a:t>
            </a:r>
            <a:r>
              <a:rPr lang="en-US" b="1" dirty="0">
                <a:solidFill>
                  <a:schemeClr val="accent6"/>
                </a:solidFill>
              </a:rPr>
              <a:t>organizational structure</a:t>
            </a:r>
            <a:r>
              <a:rPr lang="en-US" dirty="0"/>
              <a:t>, a set of principles (</a:t>
            </a:r>
            <a:r>
              <a:rPr lang="en-US" b="1" dirty="0">
                <a:solidFill>
                  <a:schemeClr val="accent6"/>
                </a:solidFill>
              </a:rPr>
              <a:t>dimensions</a:t>
            </a:r>
            <a:r>
              <a:rPr lang="en-US" dirty="0"/>
              <a:t>),</a:t>
            </a:r>
            <a:r>
              <a:rPr lang="en-US" dirty="0">
                <a:solidFill>
                  <a:schemeClr val="accent1"/>
                </a:solidFill>
              </a:rPr>
              <a:t> </a:t>
            </a:r>
            <a:r>
              <a:rPr lang="en-US" dirty="0"/>
              <a:t>and</a:t>
            </a:r>
            <a:r>
              <a:rPr lang="en-US" dirty="0">
                <a:solidFill>
                  <a:schemeClr val="accent1"/>
                </a:solidFill>
              </a:rPr>
              <a:t> </a:t>
            </a:r>
            <a:r>
              <a:rPr lang="en-US" b="1" dirty="0">
                <a:solidFill>
                  <a:schemeClr val="accent6"/>
                </a:solidFill>
              </a:rPr>
              <a:t>practice</a:t>
            </a:r>
          </a:p>
          <a:p>
            <a:pPr lvl="1"/>
            <a:r>
              <a:rPr lang="en-US" dirty="0"/>
              <a:t>Responsible AI is </a:t>
            </a:r>
            <a:r>
              <a:rPr lang="en-US" u="sng" dirty="0"/>
              <a:t>not</a:t>
            </a:r>
            <a:r>
              <a:rPr lang="en-US" dirty="0"/>
              <a:t> a subdomain of AI</a:t>
            </a:r>
          </a:p>
          <a:p>
            <a:endParaRPr lang="en-US" dirty="0"/>
          </a:p>
          <a:p>
            <a:r>
              <a:rPr lang="en-US" dirty="0"/>
              <a:t>There are several different dimensions of responsible AI; each dimension depends on organization and RAI maturity</a:t>
            </a:r>
          </a:p>
          <a:p>
            <a:endParaRPr lang="en-US" dirty="0"/>
          </a:p>
          <a:p>
            <a:r>
              <a:rPr lang="en-US" dirty="0"/>
              <a:t>New RAI dimensions can emerge as new scientific evidence comes to light</a:t>
            </a:r>
          </a:p>
        </p:txBody>
      </p:sp>
    </p:spTree>
    <p:extLst>
      <p:ext uri="{BB962C8B-B14F-4D97-AF65-F5344CB8AC3E}">
        <p14:creationId xmlns:p14="http://schemas.microsoft.com/office/powerpoint/2010/main" val="2678909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826838-3AB8-3CFF-BB63-C36629B6A5C8}"/>
              </a:ext>
            </a:extLst>
          </p:cNvPr>
          <p:cNvSpPr>
            <a:spLocks noGrp="1"/>
          </p:cNvSpPr>
          <p:nvPr>
            <p:ph type="sldNum" idx="97"/>
          </p:nvPr>
        </p:nvSpPr>
        <p:spPr/>
        <p:txBody>
          <a:bodyPr/>
          <a:lstStyle/>
          <a:p>
            <a:fld id="{86A8BF56-6CB3-514C-9A64-F39D95C9E25B}" type="slidenum">
              <a:rPr lang="en-US" smtClean="0"/>
              <a:t>8</a:t>
            </a:fld>
            <a:endParaRPr lang="en-US"/>
          </a:p>
        </p:txBody>
      </p:sp>
      <p:sp>
        <p:nvSpPr>
          <p:cNvPr id="3" name="Title 2">
            <a:extLst>
              <a:ext uri="{FF2B5EF4-FFF2-40B4-BE49-F238E27FC236}">
                <a16:creationId xmlns:a16="http://schemas.microsoft.com/office/drawing/2014/main" id="{7A14BBA9-156C-2ABC-9902-5203B80B8901}"/>
              </a:ext>
            </a:extLst>
          </p:cNvPr>
          <p:cNvSpPr>
            <a:spLocks noGrp="1"/>
          </p:cNvSpPr>
          <p:nvPr>
            <p:ph type="title" idx="1"/>
          </p:nvPr>
        </p:nvSpPr>
        <p:spPr/>
        <p:txBody>
          <a:bodyPr/>
          <a:lstStyle/>
          <a:p>
            <a:r>
              <a:rPr lang="en-US" dirty="0"/>
              <a:t>Why so much focus on responsible AI?</a:t>
            </a:r>
          </a:p>
        </p:txBody>
      </p:sp>
      <p:sp>
        <p:nvSpPr>
          <p:cNvPr id="4" name="Content Placeholder 3">
            <a:extLst>
              <a:ext uri="{FF2B5EF4-FFF2-40B4-BE49-F238E27FC236}">
                <a16:creationId xmlns:a16="http://schemas.microsoft.com/office/drawing/2014/main" id="{62372797-5F92-3405-56EC-7EF52BFFB37E}"/>
              </a:ext>
            </a:extLst>
          </p:cNvPr>
          <p:cNvSpPr>
            <a:spLocks noGrp="1"/>
          </p:cNvSpPr>
          <p:nvPr>
            <p:ph idx="2"/>
          </p:nvPr>
        </p:nvSpPr>
        <p:spPr/>
        <p:txBody>
          <a:bodyPr/>
          <a:lstStyle/>
          <a:p>
            <a:r>
              <a:rPr lang="en-US" dirty="0"/>
              <a:t>Building and maintaining </a:t>
            </a:r>
            <a:r>
              <a:rPr lang="en-US" b="1" dirty="0">
                <a:solidFill>
                  <a:schemeClr val="accent6"/>
                </a:solidFill>
              </a:rPr>
              <a:t>customer trust </a:t>
            </a:r>
            <a:r>
              <a:rPr lang="en-US" dirty="0"/>
              <a:t>is a key priority </a:t>
            </a:r>
          </a:p>
          <a:p>
            <a:pPr lvl="0"/>
            <a:r>
              <a:rPr lang="en-US" b="1" dirty="0">
                <a:solidFill>
                  <a:schemeClr val="accent6"/>
                </a:solidFill>
              </a:rPr>
              <a:t>Unwanted</a:t>
            </a:r>
            <a:r>
              <a:rPr lang="en-US" dirty="0"/>
              <a:t> model output includes</a:t>
            </a:r>
          </a:p>
          <a:p>
            <a:pPr lvl="1"/>
            <a:r>
              <a:rPr lang="en-US" dirty="0"/>
              <a:t>Hallucinations, inaccuracies</a:t>
            </a:r>
          </a:p>
          <a:p>
            <a:pPr lvl="1"/>
            <a:r>
              <a:rPr lang="en-US" dirty="0"/>
              <a:t>Instructions to share private information</a:t>
            </a:r>
          </a:p>
          <a:p>
            <a:pPr lvl="1"/>
            <a:r>
              <a:rPr lang="en-US" dirty="0"/>
              <a:t>Biased, aggressive, hateful, or demeaning text</a:t>
            </a:r>
          </a:p>
          <a:p>
            <a:pPr lvl="1"/>
            <a:r>
              <a:rPr lang="en-US" dirty="0"/>
              <a:t>Lawless text or unlicensed content</a:t>
            </a:r>
          </a:p>
          <a:p>
            <a:pPr lvl="1"/>
            <a:r>
              <a:rPr lang="en-US" dirty="0"/>
              <a:t>…</a:t>
            </a:r>
          </a:p>
          <a:p>
            <a:r>
              <a:rPr lang="en-US" dirty="0"/>
              <a:t>Many </a:t>
            </a:r>
            <a:r>
              <a:rPr lang="en-US" b="1" dirty="0">
                <a:solidFill>
                  <a:schemeClr val="accent6"/>
                </a:solidFill>
              </a:rPr>
              <a:t>new risks </a:t>
            </a:r>
            <a:r>
              <a:rPr lang="en-US" dirty="0"/>
              <a:t>have arisen with generative AI</a:t>
            </a:r>
          </a:p>
          <a:p>
            <a:pPr lvl="1"/>
            <a:r>
              <a:rPr lang="en-US" dirty="0"/>
              <a:t>Customer obsession drives us to provide safe and accurate models</a:t>
            </a:r>
          </a:p>
        </p:txBody>
      </p:sp>
    </p:spTree>
    <p:extLst>
      <p:ext uri="{BB962C8B-B14F-4D97-AF65-F5344CB8AC3E}">
        <p14:creationId xmlns:p14="http://schemas.microsoft.com/office/powerpoint/2010/main" val="127384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9E4639-8ED8-F819-0917-5E5A48C477D4}"/>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4BF6CF78-AAD3-6189-D79A-25D090A52465}"/>
              </a:ext>
            </a:extLst>
          </p:cNvPr>
          <p:cNvSpPr>
            <a:spLocks noGrp="1"/>
          </p:cNvSpPr>
          <p:nvPr>
            <p:ph type="title" idx="1"/>
          </p:nvPr>
        </p:nvSpPr>
        <p:spPr/>
        <p:txBody>
          <a:bodyPr/>
          <a:lstStyle/>
          <a:p>
            <a:r>
              <a:rPr lang="en-US" dirty="0"/>
              <a:t>Regulatory landscape under development</a:t>
            </a:r>
          </a:p>
        </p:txBody>
      </p:sp>
      <p:sp>
        <p:nvSpPr>
          <p:cNvPr id="4" name="Content Placeholder 3">
            <a:extLst>
              <a:ext uri="{FF2B5EF4-FFF2-40B4-BE49-F238E27FC236}">
                <a16:creationId xmlns:a16="http://schemas.microsoft.com/office/drawing/2014/main" id="{247C7BFD-6343-E6A6-EC9A-6205A9163847}"/>
              </a:ext>
            </a:extLst>
          </p:cNvPr>
          <p:cNvSpPr>
            <a:spLocks noGrp="1"/>
          </p:cNvSpPr>
          <p:nvPr>
            <p:ph idx="2"/>
          </p:nvPr>
        </p:nvSpPr>
        <p:spPr/>
        <p:txBody>
          <a:bodyPr/>
          <a:lstStyle/>
          <a:p>
            <a:r>
              <a:rPr lang="en-US" dirty="0"/>
              <a:t>Various standards, recommendations, and regulations are currently being discussed to better understand and mitigate risk of AI systems</a:t>
            </a:r>
          </a:p>
          <a:p>
            <a:endParaRPr lang="en-US" dirty="0"/>
          </a:p>
        </p:txBody>
      </p:sp>
      <p:pic>
        <p:nvPicPr>
          <p:cNvPr id="5" name="Picture 2" descr="Logo of the National Institute of Standards and Technology's Risk Management Framework.">
            <a:extLst>
              <a:ext uri="{FF2B5EF4-FFF2-40B4-BE49-F238E27FC236}">
                <a16:creationId xmlns:a16="http://schemas.microsoft.com/office/drawing/2014/main" id="{BD7C6CFC-73BF-2B3E-C465-E7AE97D32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1981" y="3272066"/>
            <a:ext cx="2342720" cy="234272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 of the ISO designation. ISO 42001 is the AI designation.">
            <a:extLst>
              <a:ext uri="{FF2B5EF4-FFF2-40B4-BE49-F238E27FC236}">
                <a16:creationId xmlns:a16="http://schemas.microsoft.com/office/drawing/2014/main" id="{A73AD0A4-A020-3517-BEE4-B8D4D39791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7299" y="3332811"/>
            <a:ext cx="2342720" cy="234272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descr="Logo of the European Commission's AI Act.">
            <a:extLst>
              <a:ext uri="{FF2B5EF4-FFF2-40B4-BE49-F238E27FC236}">
                <a16:creationId xmlns:a16="http://schemas.microsoft.com/office/drawing/2014/main" id="{87AC7BF0-7A1A-F7CA-C865-052F683538C5}"/>
              </a:ext>
            </a:extLst>
          </p:cNvPr>
          <p:cNvGrpSpPr/>
          <p:nvPr/>
        </p:nvGrpSpPr>
        <p:grpSpPr>
          <a:xfrm>
            <a:off x="4823769" y="3628553"/>
            <a:ext cx="2544462" cy="1751235"/>
            <a:chOff x="4823769" y="3221117"/>
            <a:chExt cx="2544462" cy="1751235"/>
          </a:xfrm>
        </p:grpSpPr>
        <p:pic>
          <p:nvPicPr>
            <p:cNvPr id="8" name="Picture 4" descr="The Artificial Intelligence Act">
              <a:extLst>
                <a:ext uri="{FF2B5EF4-FFF2-40B4-BE49-F238E27FC236}">
                  <a16:creationId xmlns:a16="http://schemas.microsoft.com/office/drawing/2014/main" id="{93474F6A-DB34-497E-4428-CCA60D1B0B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3769" y="4035990"/>
              <a:ext cx="2544462" cy="93636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ommission launches EU missions to tackle major challenges - EU Neighbours">
              <a:extLst>
                <a:ext uri="{FF2B5EF4-FFF2-40B4-BE49-F238E27FC236}">
                  <a16:creationId xmlns:a16="http://schemas.microsoft.com/office/drawing/2014/main" id="{B045A488-458D-23BF-6BF6-767360C26F4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185" t="27820" r="18704" b="31187"/>
            <a:stretch/>
          </p:blipFill>
          <p:spPr bwMode="auto">
            <a:xfrm>
              <a:off x="4823769" y="3221117"/>
              <a:ext cx="2544462" cy="81487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11348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D5CBD2-2523-F639-8A80-27C0311F589F}"/>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61F0FF96-3171-FBA0-C001-D9B9C1394E72}"/>
              </a:ext>
            </a:extLst>
          </p:cNvPr>
          <p:cNvSpPr>
            <a:spLocks noGrp="1"/>
          </p:cNvSpPr>
          <p:nvPr>
            <p:ph type="title" idx="1"/>
          </p:nvPr>
        </p:nvSpPr>
        <p:spPr/>
        <p:txBody>
          <a:bodyPr/>
          <a:lstStyle/>
          <a:p>
            <a:r>
              <a:rPr lang="en-US" dirty="0"/>
              <a:t>Responsible AI dimensions</a:t>
            </a:r>
          </a:p>
        </p:txBody>
      </p:sp>
      <p:grpSp>
        <p:nvGrpSpPr>
          <p:cNvPr id="5" name="Group 4" descr="Controllability: Having mechanisms to monitor and steer AI system behavior.">
            <a:extLst>
              <a:ext uri="{FF2B5EF4-FFF2-40B4-BE49-F238E27FC236}">
                <a16:creationId xmlns:a16="http://schemas.microsoft.com/office/drawing/2014/main" id="{34058D0E-881D-EBED-6D26-83DF850B0530}"/>
              </a:ext>
            </a:extLst>
          </p:cNvPr>
          <p:cNvGrpSpPr/>
          <p:nvPr/>
        </p:nvGrpSpPr>
        <p:grpSpPr>
          <a:xfrm>
            <a:off x="625283" y="1490639"/>
            <a:ext cx="2560320" cy="2103120"/>
            <a:chOff x="625283" y="1332143"/>
            <a:chExt cx="2560320" cy="2103120"/>
          </a:xfrm>
        </p:grpSpPr>
        <p:sp>
          <p:nvSpPr>
            <p:cNvPr id="6" name="Rectangle: Rounded Corners 4">
              <a:extLst>
                <a:ext uri="{FF2B5EF4-FFF2-40B4-BE49-F238E27FC236}">
                  <a16:creationId xmlns:a16="http://schemas.microsoft.com/office/drawing/2014/main" id="{B3495591-3A0C-5D51-6A6D-3E7FFBB88C14}"/>
                </a:ext>
              </a:extLst>
            </p:cNvPr>
            <p:cNvSpPr/>
            <p:nvPr/>
          </p:nvSpPr>
          <p:spPr>
            <a:xfrm>
              <a:off x="625283"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7" name="Rectangle: Rounded Corners 22">
              <a:extLst>
                <a:ext uri="{FF2B5EF4-FFF2-40B4-BE49-F238E27FC236}">
                  <a16:creationId xmlns:a16="http://schemas.microsoft.com/office/drawing/2014/main" id="{58738DEC-B2F9-1EA9-D8F9-2F1A01F82CA1}"/>
                </a:ext>
              </a:extLst>
            </p:cNvPr>
            <p:cNvSpPr/>
            <p:nvPr/>
          </p:nvSpPr>
          <p:spPr>
            <a:xfrm>
              <a:off x="625283"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Controllability</a:t>
              </a:r>
            </a:p>
          </p:txBody>
        </p:sp>
        <p:sp>
          <p:nvSpPr>
            <p:cNvPr id="8" name="Rectangle: Rounded Corners 38">
              <a:extLst>
                <a:ext uri="{FF2B5EF4-FFF2-40B4-BE49-F238E27FC236}">
                  <a16:creationId xmlns:a16="http://schemas.microsoft.com/office/drawing/2014/main" id="{2464718B-7019-4D59-93C4-EC630828039F}"/>
                </a:ext>
              </a:extLst>
            </p:cNvPr>
            <p:cNvSpPr/>
            <p:nvPr/>
          </p:nvSpPr>
          <p:spPr>
            <a:xfrm>
              <a:off x="625283"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Having mechanisms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 to monitor and steer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AI system behavior</a:t>
              </a:r>
              <a:endParaRPr kumimoji="0" lang="en-US" sz="1600" b="0" i="1" u="none" strike="noStrike" kern="0" cap="none" spc="0" normalizeH="0" baseline="0" noProof="0" dirty="0">
                <a:ln>
                  <a:noFill/>
                </a:ln>
                <a:solidFill>
                  <a:srgbClr val="000000"/>
                </a:solidFill>
                <a:effectLst/>
                <a:uLnTx/>
                <a:uFillTx/>
                <a:latin typeface="Amazon Ember Display"/>
                <a:ea typeface="+mn-ea"/>
                <a:cs typeface="+mn-cs"/>
              </a:endParaRPr>
            </a:p>
          </p:txBody>
        </p:sp>
      </p:grpSp>
      <p:grpSp>
        <p:nvGrpSpPr>
          <p:cNvPr id="9" name="Group 8" descr="Privacy and security: Appropriately obtaining, using and protecting data and models.">
            <a:extLst>
              <a:ext uri="{FF2B5EF4-FFF2-40B4-BE49-F238E27FC236}">
                <a16:creationId xmlns:a16="http://schemas.microsoft.com/office/drawing/2014/main" id="{EC3581DC-4801-7AEF-D1D7-4B13491FDD44}"/>
              </a:ext>
            </a:extLst>
          </p:cNvPr>
          <p:cNvGrpSpPr/>
          <p:nvPr/>
        </p:nvGrpSpPr>
        <p:grpSpPr>
          <a:xfrm>
            <a:off x="3428062" y="1490639"/>
            <a:ext cx="2560320" cy="2103120"/>
            <a:chOff x="3428062" y="1332143"/>
            <a:chExt cx="2560320" cy="2103120"/>
          </a:xfrm>
        </p:grpSpPr>
        <p:sp>
          <p:nvSpPr>
            <p:cNvPr id="10" name="Rectangle: Rounded Corners 43">
              <a:extLst>
                <a:ext uri="{FF2B5EF4-FFF2-40B4-BE49-F238E27FC236}">
                  <a16:creationId xmlns:a16="http://schemas.microsoft.com/office/drawing/2014/main" id="{E618A136-73A8-64E8-6C10-D589C765942D}"/>
                </a:ext>
              </a:extLst>
            </p:cNvPr>
            <p:cNvSpPr/>
            <p:nvPr/>
          </p:nvSpPr>
          <p:spPr>
            <a:xfrm>
              <a:off x="3428062"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1" name="Rectangle: Rounded Corners 20">
              <a:extLst>
                <a:ext uri="{FF2B5EF4-FFF2-40B4-BE49-F238E27FC236}">
                  <a16:creationId xmlns:a16="http://schemas.microsoft.com/office/drawing/2014/main" id="{35A00522-B303-E0E9-6621-0EE74BDBBC6D}"/>
                </a:ext>
              </a:extLst>
            </p:cNvPr>
            <p:cNvSpPr/>
            <p:nvPr/>
          </p:nvSpPr>
          <p:spPr>
            <a:xfrm>
              <a:off x="3428062"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Privacy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Security</a:t>
              </a:r>
            </a:p>
          </p:txBody>
        </p:sp>
        <p:sp>
          <p:nvSpPr>
            <p:cNvPr id="12" name="Rectangle: Rounded Corners 41">
              <a:extLst>
                <a:ext uri="{FF2B5EF4-FFF2-40B4-BE49-F238E27FC236}">
                  <a16:creationId xmlns:a16="http://schemas.microsoft.com/office/drawing/2014/main" id="{91814564-C51A-06E7-211A-823E331613C2}"/>
                </a:ext>
              </a:extLst>
            </p:cNvPr>
            <p:cNvSpPr/>
            <p:nvPr/>
          </p:nvSpPr>
          <p:spPr>
            <a:xfrm>
              <a:off x="3428062"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Appropriately obtaining,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using and protecting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data and models</a:t>
              </a:r>
            </a:p>
          </p:txBody>
        </p:sp>
      </p:grpSp>
      <p:grpSp>
        <p:nvGrpSpPr>
          <p:cNvPr id="13" name="Group 12" descr="Safety: Preventing harmful system output and misuse.">
            <a:extLst>
              <a:ext uri="{FF2B5EF4-FFF2-40B4-BE49-F238E27FC236}">
                <a16:creationId xmlns:a16="http://schemas.microsoft.com/office/drawing/2014/main" id="{4331E3FD-A0C9-2D37-9817-19211D892357}"/>
              </a:ext>
            </a:extLst>
          </p:cNvPr>
          <p:cNvGrpSpPr/>
          <p:nvPr/>
        </p:nvGrpSpPr>
        <p:grpSpPr>
          <a:xfrm>
            <a:off x="6230841" y="1490639"/>
            <a:ext cx="2560320" cy="2103120"/>
            <a:chOff x="6230841" y="1332143"/>
            <a:chExt cx="2560320" cy="2103120"/>
          </a:xfrm>
        </p:grpSpPr>
        <p:sp>
          <p:nvSpPr>
            <p:cNvPr id="14" name="Rectangle: Rounded Corners 44">
              <a:extLst>
                <a:ext uri="{FF2B5EF4-FFF2-40B4-BE49-F238E27FC236}">
                  <a16:creationId xmlns:a16="http://schemas.microsoft.com/office/drawing/2014/main" id="{4667812D-89C5-21E1-445C-CCC2649D94E3}"/>
                </a:ext>
              </a:extLst>
            </p:cNvPr>
            <p:cNvSpPr/>
            <p:nvPr/>
          </p:nvSpPr>
          <p:spPr>
            <a:xfrm>
              <a:off x="6230841"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5" name="Rectangle: Rounded Corners 10">
              <a:extLst>
                <a:ext uri="{FF2B5EF4-FFF2-40B4-BE49-F238E27FC236}">
                  <a16:creationId xmlns:a16="http://schemas.microsoft.com/office/drawing/2014/main" id="{45C6131C-5D7E-F6F5-2456-D25F9FEF2368}"/>
                </a:ext>
              </a:extLst>
            </p:cNvPr>
            <p:cNvSpPr/>
            <p:nvPr/>
          </p:nvSpPr>
          <p:spPr>
            <a:xfrm>
              <a:off x="6230841"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Safety</a:t>
              </a:r>
            </a:p>
          </p:txBody>
        </p:sp>
        <p:sp>
          <p:nvSpPr>
            <p:cNvPr id="16" name="Rectangle: Rounded Corners 40">
              <a:extLst>
                <a:ext uri="{FF2B5EF4-FFF2-40B4-BE49-F238E27FC236}">
                  <a16:creationId xmlns:a16="http://schemas.microsoft.com/office/drawing/2014/main" id="{20CD9834-A222-8E6B-9CE3-9E4BFD3D6A76}"/>
                </a:ext>
              </a:extLst>
            </p:cNvPr>
            <p:cNvSpPr/>
            <p:nvPr/>
          </p:nvSpPr>
          <p:spPr>
            <a:xfrm>
              <a:off x="6230841"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Preventing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harmful system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output and misuse</a:t>
              </a:r>
            </a:p>
          </p:txBody>
        </p:sp>
      </p:grpSp>
      <p:grpSp>
        <p:nvGrpSpPr>
          <p:cNvPr id="17" name="Group 16" descr="Fairness: Considering impacts on different groups of stakeholders.">
            <a:extLst>
              <a:ext uri="{FF2B5EF4-FFF2-40B4-BE49-F238E27FC236}">
                <a16:creationId xmlns:a16="http://schemas.microsoft.com/office/drawing/2014/main" id="{6D26C085-79F0-6174-3608-B48ADC3244C8}"/>
              </a:ext>
            </a:extLst>
          </p:cNvPr>
          <p:cNvGrpSpPr/>
          <p:nvPr/>
        </p:nvGrpSpPr>
        <p:grpSpPr>
          <a:xfrm>
            <a:off x="9033619" y="1490639"/>
            <a:ext cx="2560320" cy="2103120"/>
            <a:chOff x="9033619" y="1332143"/>
            <a:chExt cx="2560320" cy="2103120"/>
          </a:xfrm>
        </p:grpSpPr>
        <p:sp>
          <p:nvSpPr>
            <p:cNvPr id="18" name="Rectangle: Rounded Corners 45">
              <a:extLst>
                <a:ext uri="{FF2B5EF4-FFF2-40B4-BE49-F238E27FC236}">
                  <a16:creationId xmlns:a16="http://schemas.microsoft.com/office/drawing/2014/main" id="{74A55D64-DE2A-9350-FB3C-A9CCC26AF7DA}"/>
                </a:ext>
              </a:extLst>
            </p:cNvPr>
            <p:cNvSpPr/>
            <p:nvPr/>
          </p:nvSpPr>
          <p:spPr>
            <a:xfrm>
              <a:off x="9033619"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9" name="Rectangle: Rounded Corners 63">
              <a:extLst>
                <a:ext uri="{FF2B5EF4-FFF2-40B4-BE49-F238E27FC236}">
                  <a16:creationId xmlns:a16="http://schemas.microsoft.com/office/drawing/2014/main" id="{191A91C7-DAA6-628A-C13F-C52293309AAA}"/>
                </a:ext>
              </a:extLst>
            </p:cNvPr>
            <p:cNvSpPr/>
            <p:nvPr/>
          </p:nvSpPr>
          <p:spPr>
            <a:xfrm>
              <a:off x="9033619"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Fairness</a:t>
              </a:r>
            </a:p>
          </p:txBody>
        </p:sp>
        <p:sp>
          <p:nvSpPr>
            <p:cNvPr id="20" name="Rectangle: Rounded Corners 42">
              <a:extLst>
                <a:ext uri="{FF2B5EF4-FFF2-40B4-BE49-F238E27FC236}">
                  <a16:creationId xmlns:a16="http://schemas.microsoft.com/office/drawing/2014/main" id="{05F65058-D579-6A51-BE9B-54048FA25313}"/>
                </a:ext>
              </a:extLst>
            </p:cNvPr>
            <p:cNvSpPr/>
            <p:nvPr/>
          </p:nvSpPr>
          <p:spPr>
            <a:xfrm>
              <a:off x="9033619"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Considering impacts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on different groups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of stakeholders</a:t>
              </a:r>
            </a:p>
          </p:txBody>
        </p:sp>
      </p:grpSp>
      <p:grpSp>
        <p:nvGrpSpPr>
          <p:cNvPr id="21" name="Group 20" descr="Governance: Incorporating best practices into the AI supply chain, including providers and deployers.">
            <a:extLst>
              <a:ext uri="{FF2B5EF4-FFF2-40B4-BE49-F238E27FC236}">
                <a16:creationId xmlns:a16="http://schemas.microsoft.com/office/drawing/2014/main" id="{C95F10BA-D819-1E0A-7E01-59CA7AF2B05C}"/>
              </a:ext>
            </a:extLst>
          </p:cNvPr>
          <p:cNvGrpSpPr/>
          <p:nvPr/>
        </p:nvGrpSpPr>
        <p:grpSpPr>
          <a:xfrm>
            <a:off x="9033619" y="4121487"/>
            <a:ext cx="2560320" cy="2103120"/>
            <a:chOff x="9033619" y="3962991"/>
            <a:chExt cx="2560320" cy="2103120"/>
          </a:xfrm>
        </p:grpSpPr>
        <p:sp>
          <p:nvSpPr>
            <p:cNvPr id="22" name="Rectangle: Rounded Corners 46">
              <a:extLst>
                <a:ext uri="{FF2B5EF4-FFF2-40B4-BE49-F238E27FC236}">
                  <a16:creationId xmlns:a16="http://schemas.microsoft.com/office/drawing/2014/main" id="{158319EE-EDE1-625E-D532-366DE67136B2}"/>
                </a:ext>
              </a:extLst>
            </p:cNvPr>
            <p:cNvSpPr/>
            <p:nvPr/>
          </p:nvSpPr>
          <p:spPr>
            <a:xfrm>
              <a:off x="9033619"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3" name="Rectangle: Rounded Corners 18">
              <a:extLst>
                <a:ext uri="{FF2B5EF4-FFF2-40B4-BE49-F238E27FC236}">
                  <a16:creationId xmlns:a16="http://schemas.microsoft.com/office/drawing/2014/main" id="{F637A5DC-908F-6819-A867-EDC4BAC0951E}"/>
                </a:ext>
              </a:extLst>
            </p:cNvPr>
            <p:cNvSpPr/>
            <p:nvPr/>
          </p:nvSpPr>
          <p:spPr>
            <a:xfrm>
              <a:off x="9033619"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Governance</a:t>
              </a:r>
            </a:p>
          </p:txBody>
        </p:sp>
        <p:sp>
          <p:nvSpPr>
            <p:cNvPr id="24" name="Rectangle: Rounded Corners 31">
              <a:extLst>
                <a:ext uri="{FF2B5EF4-FFF2-40B4-BE49-F238E27FC236}">
                  <a16:creationId xmlns:a16="http://schemas.microsoft.com/office/drawing/2014/main" id="{00AB4E5F-50DB-0305-4E2F-5D4328BD9438}"/>
                </a:ext>
              </a:extLst>
            </p:cNvPr>
            <p:cNvSpPr/>
            <p:nvPr/>
          </p:nvSpPr>
          <p:spPr>
            <a:xfrm>
              <a:off x="9033619" y="4920341"/>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Incorporating best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practices into the 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supply chain, including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providers and deployers</a:t>
              </a:r>
            </a:p>
          </p:txBody>
        </p:sp>
      </p:grpSp>
      <p:grpSp>
        <p:nvGrpSpPr>
          <p:cNvPr id="25" name="Group 24" descr="Transparency: Enabling stakeholders to make informed choices about their engagement with an AI system.">
            <a:extLst>
              <a:ext uri="{FF2B5EF4-FFF2-40B4-BE49-F238E27FC236}">
                <a16:creationId xmlns:a16="http://schemas.microsoft.com/office/drawing/2014/main" id="{5B808C0E-EFC9-0A14-A8B4-7764E94334AE}"/>
              </a:ext>
            </a:extLst>
          </p:cNvPr>
          <p:cNvGrpSpPr/>
          <p:nvPr/>
        </p:nvGrpSpPr>
        <p:grpSpPr>
          <a:xfrm>
            <a:off x="6230841" y="4121487"/>
            <a:ext cx="2560320" cy="2103120"/>
            <a:chOff x="6230841" y="3962991"/>
            <a:chExt cx="2560320" cy="2103120"/>
          </a:xfrm>
        </p:grpSpPr>
        <p:sp>
          <p:nvSpPr>
            <p:cNvPr id="26" name="Rectangle: Rounded Corners 47">
              <a:extLst>
                <a:ext uri="{FF2B5EF4-FFF2-40B4-BE49-F238E27FC236}">
                  <a16:creationId xmlns:a16="http://schemas.microsoft.com/office/drawing/2014/main" id="{47BC185B-A95E-22FE-1299-F42ADEECD008}"/>
                </a:ext>
              </a:extLst>
            </p:cNvPr>
            <p:cNvSpPr/>
            <p:nvPr/>
          </p:nvSpPr>
          <p:spPr>
            <a:xfrm>
              <a:off x="6230841"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7" name="Rectangle: Rounded Corners 19">
              <a:extLst>
                <a:ext uri="{FF2B5EF4-FFF2-40B4-BE49-F238E27FC236}">
                  <a16:creationId xmlns:a16="http://schemas.microsoft.com/office/drawing/2014/main" id="{83F2B707-E20F-DBBC-2273-15FFCA6311F2}"/>
                </a:ext>
              </a:extLst>
            </p:cNvPr>
            <p:cNvSpPr/>
            <p:nvPr/>
          </p:nvSpPr>
          <p:spPr>
            <a:xfrm>
              <a:off x="6230841"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Transparency</a:t>
              </a:r>
              <a:endParaRPr kumimoji="0" lang="en-US" sz="1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8" name="Rectangle: Rounded Corners 29">
              <a:extLst>
                <a:ext uri="{FF2B5EF4-FFF2-40B4-BE49-F238E27FC236}">
                  <a16:creationId xmlns:a16="http://schemas.microsoft.com/office/drawing/2014/main" id="{1A4C84A1-EB5F-7961-38F5-ABF62FBC2AFF}"/>
                </a:ext>
              </a:extLst>
            </p:cNvPr>
            <p:cNvSpPr/>
            <p:nvPr/>
          </p:nvSpPr>
          <p:spPr>
            <a:xfrm>
              <a:off x="6230841" y="4920341"/>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Enabling stakeholders 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make informed choices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about their engagement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with an AI system</a:t>
              </a:r>
            </a:p>
          </p:txBody>
        </p:sp>
      </p:grpSp>
      <p:grpSp>
        <p:nvGrpSpPr>
          <p:cNvPr id="29" name="Group 28" descr="Veracity and robustness: Achieving correct system outputs, even with unexpected or adversarial inputs.">
            <a:extLst>
              <a:ext uri="{FF2B5EF4-FFF2-40B4-BE49-F238E27FC236}">
                <a16:creationId xmlns:a16="http://schemas.microsoft.com/office/drawing/2014/main" id="{B795F0CE-065F-7499-5067-EAADBD0B3A13}"/>
              </a:ext>
            </a:extLst>
          </p:cNvPr>
          <p:cNvGrpSpPr/>
          <p:nvPr/>
        </p:nvGrpSpPr>
        <p:grpSpPr>
          <a:xfrm>
            <a:off x="625283" y="4121487"/>
            <a:ext cx="2560320" cy="2103120"/>
            <a:chOff x="625283" y="3962991"/>
            <a:chExt cx="2560320" cy="2103120"/>
          </a:xfrm>
        </p:grpSpPr>
        <p:sp>
          <p:nvSpPr>
            <p:cNvPr id="30" name="Rectangle: Rounded Corners 48">
              <a:extLst>
                <a:ext uri="{FF2B5EF4-FFF2-40B4-BE49-F238E27FC236}">
                  <a16:creationId xmlns:a16="http://schemas.microsoft.com/office/drawing/2014/main" id="{DF68CB8D-1C92-87EB-08BE-3D45E8D4B54F}"/>
                </a:ext>
              </a:extLst>
            </p:cNvPr>
            <p:cNvSpPr/>
            <p:nvPr/>
          </p:nvSpPr>
          <p:spPr>
            <a:xfrm>
              <a:off x="625283"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1" name="Rectangle: Rounded Corners 17">
              <a:extLst>
                <a:ext uri="{FF2B5EF4-FFF2-40B4-BE49-F238E27FC236}">
                  <a16:creationId xmlns:a16="http://schemas.microsoft.com/office/drawing/2014/main" id="{91BA3F60-6630-20CA-65D2-583A58A53439}"/>
                </a:ext>
              </a:extLst>
            </p:cNvPr>
            <p:cNvSpPr/>
            <p:nvPr/>
          </p:nvSpPr>
          <p:spPr>
            <a:xfrm>
              <a:off x="625283"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Veracity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Robustness</a:t>
              </a:r>
            </a:p>
          </p:txBody>
        </p:sp>
        <p:sp>
          <p:nvSpPr>
            <p:cNvPr id="32" name="Rectangle: Rounded Corners 33">
              <a:extLst>
                <a:ext uri="{FF2B5EF4-FFF2-40B4-BE49-F238E27FC236}">
                  <a16:creationId xmlns:a16="http://schemas.microsoft.com/office/drawing/2014/main" id="{FA55F7F2-8F68-48FF-C5B6-F8017AEDD1B2}"/>
                </a:ext>
              </a:extLst>
            </p:cNvPr>
            <p:cNvSpPr/>
            <p:nvPr/>
          </p:nvSpPr>
          <p:spPr>
            <a:xfrm>
              <a:off x="625283" y="4920341"/>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Achieving correct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system outputs,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even with unexpected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or adversarial inputs</a:t>
              </a:r>
            </a:p>
          </p:txBody>
        </p:sp>
      </p:grpSp>
      <p:grpSp>
        <p:nvGrpSpPr>
          <p:cNvPr id="33" name="Group 32" descr="Explainability: Understanding and evaluating outputs generated by an AI system.">
            <a:extLst>
              <a:ext uri="{FF2B5EF4-FFF2-40B4-BE49-F238E27FC236}">
                <a16:creationId xmlns:a16="http://schemas.microsoft.com/office/drawing/2014/main" id="{41005EC6-8F00-2F82-56BE-DF91BBB4CFF5}"/>
              </a:ext>
            </a:extLst>
          </p:cNvPr>
          <p:cNvGrpSpPr/>
          <p:nvPr/>
        </p:nvGrpSpPr>
        <p:grpSpPr>
          <a:xfrm>
            <a:off x="3428062" y="4121487"/>
            <a:ext cx="2560320" cy="2103120"/>
            <a:chOff x="3428062" y="3962991"/>
            <a:chExt cx="2560320" cy="2103120"/>
          </a:xfrm>
        </p:grpSpPr>
        <p:sp>
          <p:nvSpPr>
            <p:cNvPr id="34" name="Rectangle: Rounded Corners 49">
              <a:extLst>
                <a:ext uri="{FF2B5EF4-FFF2-40B4-BE49-F238E27FC236}">
                  <a16:creationId xmlns:a16="http://schemas.microsoft.com/office/drawing/2014/main" id="{2E1D17F9-A464-E9A6-D37A-82A7BFE30751}"/>
                </a:ext>
              </a:extLst>
            </p:cNvPr>
            <p:cNvSpPr/>
            <p:nvPr/>
          </p:nvSpPr>
          <p:spPr>
            <a:xfrm>
              <a:off x="3428062"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5" name="Rectangle: Rounded Corners 15">
              <a:extLst>
                <a:ext uri="{FF2B5EF4-FFF2-40B4-BE49-F238E27FC236}">
                  <a16:creationId xmlns:a16="http://schemas.microsoft.com/office/drawing/2014/main" id="{36693F92-D8A6-21FB-45DA-C8DCE7994BBD}"/>
                </a:ext>
              </a:extLst>
            </p:cNvPr>
            <p:cNvSpPr/>
            <p:nvPr/>
          </p:nvSpPr>
          <p:spPr>
            <a:xfrm>
              <a:off x="3428062"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Explainability</a:t>
              </a:r>
            </a:p>
          </p:txBody>
        </p:sp>
        <p:sp>
          <p:nvSpPr>
            <p:cNvPr id="36" name="Rectangle: Rounded Corners 36">
              <a:extLst>
                <a:ext uri="{FF2B5EF4-FFF2-40B4-BE49-F238E27FC236}">
                  <a16:creationId xmlns:a16="http://schemas.microsoft.com/office/drawing/2014/main" id="{594BD969-2A7A-4FA2-234F-8C550079FBB0}"/>
                </a:ext>
              </a:extLst>
            </p:cNvPr>
            <p:cNvSpPr/>
            <p:nvPr/>
          </p:nvSpPr>
          <p:spPr>
            <a:xfrm>
              <a:off x="3428062" y="4920341"/>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Understanding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and evaluating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outputs generated by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mazon Ember Display"/>
                  <a:ea typeface="+mn-ea"/>
                  <a:cs typeface="+mn-cs"/>
                </a:rPr>
                <a:t>an AI system</a:t>
              </a:r>
            </a:p>
          </p:txBody>
        </p:sp>
      </p:grpSp>
    </p:spTree>
    <p:extLst>
      <p:ext uri="{BB962C8B-B14F-4D97-AF65-F5344CB8AC3E}">
        <p14:creationId xmlns:p14="http://schemas.microsoft.com/office/powerpoint/2010/main" val="223103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B863F6-A35C-A399-CE1D-AF00415496D9}"/>
              </a:ext>
            </a:extLst>
          </p:cNvPr>
          <p:cNvSpPr>
            <a:spLocks noGrp="1"/>
          </p:cNvSpPr>
          <p:nvPr>
            <p:ph type="sldNum" idx="97"/>
          </p:nvPr>
        </p:nvSpPr>
        <p:spPr/>
        <p:txBody>
          <a:bodyPr/>
          <a:lstStyle/>
          <a:p>
            <a:fld id="{86A8BF56-6CB3-514C-9A64-F39D95C9E25B}" type="slidenum">
              <a:rPr lang="en-US" smtClean="0"/>
              <a:t>11</a:t>
            </a:fld>
            <a:endParaRPr lang="en-US"/>
          </a:p>
        </p:txBody>
      </p:sp>
      <p:sp>
        <p:nvSpPr>
          <p:cNvPr id="3" name="Title 2">
            <a:extLst>
              <a:ext uri="{FF2B5EF4-FFF2-40B4-BE49-F238E27FC236}">
                <a16:creationId xmlns:a16="http://schemas.microsoft.com/office/drawing/2014/main" id="{CB69B489-9801-BCA0-8C98-0D550D9BA016}"/>
              </a:ext>
            </a:extLst>
          </p:cNvPr>
          <p:cNvSpPr>
            <a:spLocks noGrp="1"/>
          </p:cNvSpPr>
          <p:nvPr>
            <p:ph type="title" idx="1"/>
          </p:nvPr>
        </p:nvSpPr>
        <p:spPr/>
        <p:txBody>
          <a:bodyPr/>
          <a:lstStyle/>
          <a:p>
            <a:r>
              <a:rPr lang="en-US" dirty="0"/>
              <a:t>Who should think about RAI?</a:t>
            </a:r>
          </a:p>
        </p:txBody>
      </p:sp>
      <p:sp>
        <p:nvSpPr>
          <p:cNvPr id="5" name="Right Arrow 4">
            <a:extLst>
              <a:ext uri="{FF2B5EF4-FFF2-40B4-BE49-F238E27FC236}">
                <a16:creationId xmlns:a16="http://schemas.microsoft.com/office/drawing/2014/main" id="{E103CA53-B1F4-8E1C-D238-6D416EAD090A}"/>
              </a:ext>
              <a:ext uri="{C183D7F6-B498-43B3-948B-1728B52AA6E4}">
                <adec:decorative xmlns:adec="http://schemas.microsoft.com/office/drawing/2017/decorative" val="1"/>
              </a:ext>
            </a:extLst>
          </p:cNvPr>
          <p:cNvSpPr/>
          <p:nvPr/>
        </p:nvSpPr>
        <p:spPr>
          <a:xfrm>
            <a:off x="3521291" y="3528924"/>
            <a:ext cx="1122600" cy="55605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6" name="Right Arrow 5">
            <a:extLst>
              <a:ext uri="{FF2B5EF4-FFF2-40B4-BE49-F238E27FC236}">
                <a16:creationId xmlns:a16="http://schemas.microsoft.com/office/drawing/2014/main" id="{95E89E88-245D-489F-EFDF-B8EB4205D0CB}"/>
              </a:ext>
              <a:ext uri="{C183D7F6-B498-43B3-948B-1728B52AA6E4}">
                <adec:decorative xmlns:adec="http://schemas.microsoft.com/office/drawing/2017/decorative" val="1"/>
              </a:ext>
            </a:extLst>
          </p:cNvPr>
          <p:cNvSpPr/>
          <p:nvPr/>
        </p:nvSpPr>
        <p:spPr>
          <a:xfrm>
            <a:off x="7652737" y="3528924"/>
            <a:ext cx="1122600" cy="55605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nvGrpSpPr>
          <p:cNvPr id="7" name="Group 6" descr="Design icon">
            <a:extLst>
              <a:ext uri="{FF2B5EF4-FFF2-40B4-BE49-F238E27FC236}">
                <a16:creationId xmlns:a16="http://schemas.microsoft.com/office/drawing/2014/main" id="{182CA2EF-671A-A50D-8117-A6D0DABC3E20}"/>
              </a:ext>
            </a:extLst>
          </p:cNvPr>
          <p:cNvGrpSpPr/>
          <p:nvPr/>
        </p:nvGrpSpPr>
        <p:grpSpPr>
          <a:xfrm>
            <a:off x="615350" y="1645624"/>
            <a:ext cx="2685287" cy="4322655"/>
            <a:chOff x="615350" y="1741714"/>
            <a:chExt cx="2685287" cy="4322655"/>
          </a:xfrm>
        </p:grpSpPr>
        <p:sp>
          <p:nvSpPr>
            <p:cNvPr id="8" name="Rectangle: Rounded Corners 45">
              <a:extLst>
                <a:ext uri="{FF2B5EF4-FFF2-40B4-BE49-F238E27FC236}">
                  <a16:creationId xmlns:a16="http://schemas.microsoft.com/office/drawing/2014/main" id="{0035EE45-A116-8DAE-E33F-E6C41A95AEE0}"/>
                </a:ext>
              </a:extLst>
            </p:cNvPr>
            <p:cNvSpPr/>
            <p:nvPr/>
          </p:nvSpPr>
          <p:spPr>
            <a:xfrm>
              <a:off x="648227"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232F3E"/>
                  </a:solidFill>
                  <a:effectLst/>
                  <a:uLnTx/>
                  <a:uFillTx/>
                  <a:latin typeface="Amazon Ember Medium"/>
                  <a:ea typeface="+mn-ea"/>
                  <a:cs typeface="+mn-cs"/>
                </a:rPr>
                <a:t>Design</a:t>
              </a:r>
            </a:p>
          </p:txBody>
        </p:sp>
        <p:pic>
          <p:nvPicPr>
            <p:cNvPr id="9" name="Graphic 16">
              <a:extLst>
                <a:ext uri="{FF2B5EF4-FFF2-40B4-BE49-F238E27FC236}">
                  <a16:creationId xmlns:a16="http://schemas.microsoft.com/office/drawing/2014/main" id="{3C89A955-E872-DB06-3E5D-A33C29268C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350" y="2576835"/>
              <a:ext cx="2652411" cy="2652411"/>
            </a:xfrm>
            <a:prstGeom prst="rect">
              <a:avLst/>
            </a:prstGeom>
          </p:spPr>
        </p:pic>
      </p:grpSp>
      <p:grpSp>
        <p:nvGrpSpPr>
          <p:cNvPr id="10" name="Group 9" descr="Build icon">
            <a:extLst>
              <a:ext uri="{FF2B5EF4-FFF2-40B4-BE49-F238E27FC236}">
                <a16:creationId xmlns:a16="http://schemas.microsoft.com/office/drawing/2014/main" id="{1EFF9575-A58F-1398-3698-4124EE4DCD6F}"/>
              </a:ext>
            </a:extLst>
          </p:cNvPr>
          <p:cNvGrpSpPr/>
          <p:nvPr/>
        </p:nvGrpSpPr>
        <p:grpSpPr>
          <a:xfrm>
            <a:off x="4781828" y="1645626"/>
            <a:ext cx="2652410" cy="4322655"/>
            <a:chOff x="4781828" y="1741714"/>
            <a:chExt cx="2652410" cy="4322655"/>
          </a:xfrm>
        </p:grpSpPr>
        <p:sp>
          <p:nvSpPr>
            <p:cNvPr id="11" name="Rectangle: Rounded Corners 12">
              <a:extLst>
                <a:ext uri="{FF2B5EF4-FFF2-40B4-BE49-F238E27FC236}">
                  <a16:creationId xmlns:a16="http://schemas.microsoft.com/office/drawing/2014/main" id="{D27D9117-FAD3-539D-F8D5-F27A918818D3}"/>
                </a:ext>
              </a:extLst>
            </p:cNvPr>
            <p:cNvSpPr/>
            <p:nvPr/>
          </p:nvSpPr>
          <p:spPr>
            <a:xfrm>
              <a:off x="4781828"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232F3E"/>
                  </a:solidFill>
                  <a:effectLst/>
                  <a:uLnTx/>
                  <a:uFillTx/>
                  <a:latin typeface="Amazon Ember Medium"/>
                  <a:ea typeface="+mn-ea"/>
                  <a:cs typeface="+mn-cs"/>
                </a:rPr>
                <a:t>Build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232F3E"/>
                </a:solidFill>
                <a:effectLst/>
                <a:uLnTx/>
                <a:uFillTx/>
                <a:latin typeface="Amazon Ember Medium"/>
                <a:ea typeface="+mn-ea"/>
                <a:cs typeface="+mn-cs"/>
              </a:endParaRPr>
            </a:p>
          </p:txBody>
        </p:sp>
        <p:grpSp>
          <p:nvGrpSpPr>
            <p:cNvPr id="12" name="Group 11">
              <a:extLst>
                <a:ext uri="{FF2B5EF4-FFF2-40B4-BE49-F238E27FC236}">
                  <a16:creationId xmlns:a16="http://schemas.microsoft.com/office/drawing/2014/main" id="{B391BAF1-8E3B-3559-31E2-08804EBAE413}"/>
                </a:ext>
              </a:extLst>
            </p:cNvPr>
            <p:cNvGrpSpPr/>
            <p:nvPr/>
          </p:nvGrpSpPr>
          <p:grpSpPr>
            <a:xfrm>
              <a:off x="5216987" y="3019819"/>
              <a:ext cx="1758021" cy="1766487"/>
              <a:chOff x="5216987" y="3019819"/>
              <a:chExt cx="1758021" cy="1766487"/>
            </a:xfrm>
          </p:grpSpPr>
          <p:sp>
            <p:nvSpPr>
              <p:cNvPr id="13" name="Freeform 47">
                <a:extLst>
                  <a:ext uri="{FF2B5EF4-FFF2-40B4-BE49-F238E27FC236}">
                    <a16:creationId xmlns:a16="http://schemas.microsoft.com/office/drawing/2014/main" id="{4A08EB1D-D1BC-532F-64E1-F2E431BB8ED5}"/>
                  </a:ext>
                </a:extLst>
              </p:cNvPr>
              <p:cNvSpPr/>
              <p:nvPr/>
            </p:nvSpPr>
            <p:spPr>
              <a:xfrm>
                <a:off x="5216987" y="3410480"/>
                <a:ext cx="49069" cy="963349"/>
              </a:xfrm>
              <a:custGeom>
                <a:avLst/>
                <a:gdLst>
                  <a:gd name="connsiteX0" fmla="*/ 0 w 49069"/>
                  <a:gd name="connsiteY0" fmla="*/ 963350 h 963349"/>
                  <a:gd name="connsiteX1" fmla="*/ 0 w 49069"/>
                  <a:gd name="connsiteY1" fmla="*/ 0 h 963349"/>
                  <a:gd name="connsiteX2" fmla="*/ 49070 w 49069"/>
                  <a:gd name="connsiteY2" fmla="*/ 0 h 963349"/>
                </a:gdLst>
                <a:ahLst/>
                <a:cxnLst>
                  <a:cxn ang="0">
                    <a:pos x="connsiteX0" y="connsiteY0"/>
                  </a:cxn>
                  <a:cxn ang="0">
                    <a:pos x="connsiteX1" y="connsiteY1"/>
                  </a:cxn>
                  <a:cxn ang="0">
                    <a:pos x="connsiteX2" y="connsiteY2"/>
                  </a:cxn>
                </a:cxnLst>
                <a:rect l="l" t="t" r="r" b="b"/>
                <a:pathLst>
                  <a:path w="49069" h="963349">
                    <a:moveTo>
                      <a:pt x="0" y="963350"/>
                    </a:moveTo>
                    <a:lnTo>
                      <a:pt x="0" y="0"/>
                    </a:lnTo>
                    <a:lnTo>
                      <a:pt x="4907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4" name="Freeform 48">
                <a:extLst>
                  <a:ext uri="{FF2B5EF4-FFF2-40B4-BE49-F238E27FC236}">
                    <a16:creationId xmlns:a16="http://schemas.microsoft.com/office/drawing/2014/main" id="{58299178-D026-9ED8-3BA4-625F0DF5DC85}"/>
                  </a:ext>
                </a:extLst>
              </p:cNvPr>
              <p:cNvSpPr/>
              <p:nvPr/>
            </p:nvSpPr>
            <p:spPr>
              <a:xfrm>
                <a:off x="5216987" y="4439119"/>
                <a:ext cx="13262" cy="147076"/>
              </a:xfrm>
              <a:custGeom>
                <a:avLst/>
                <a:gdLst>
                  <a:gd name="connsiteX0" fmla="*/ 0 w 13262"/>
                  <a:gd name="connsiteY0" fmla="*/ 147076 h 147076"/>
                  <a:gd name="connsiteX1" fmla="*/ 0 w 13262"/>
                  <a:gd name="connsiteY1" fmla="*/ 0 h 147076"/>
                </a:gdLst>
                <a:ahLst/>
                <a:cxnLst>
                  <a:cxn ang="0">
                    <a:pos x="connsiteX0" y="connsiteY0"/>
                  </a:cxn>
                  <a:cxn ang="0">
                    <a:pos x="connsiteX1" y="connsiteY1"/>
                  </a:cxn>
                </a:cxnLst>
                <a:rect l="l" t="t" r="r" b="b"/>
                <a:pathLst>
                  <a:path w="13262" h="147076">
                    <a:moveTo>
                      <a:pt x="0" y="147076"/>
                    </a:moveTo>
                    <a:lnTo>
                      <a:pt x="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5" name="Freeform 49">
                <a:extLst>
                  <a:ext uri="{FF2B5EF4-FFF2-40B4-BE49-F238E27FC236}">
                    <a16:creationId xmlns:a16="http://schemas.microsoft.com/office/drawing/2014/main" id="{07D9BC84-F4B6-C599-DFF0-575E737DEE99}"/>
                  </a:ext>
                </a:extLst>
              </p:cNvPr>
              <p:cNvSpPr/>
              <p:nvPr/>
            </p:nvSpPr>
            <p:spPr>
              <a:xfrm>
                <a:off x="5216987" y="3752133"/>
                <a:ext cx="145749" cy="1034173"/>
              </a:xfrm>
              <a:custGeom>
                <a:avLst/>
                <a:gdLst>
                  <a:gd name="connsiteX0" fmla="*/ 145750 w 145749"/>
                  <a:gd name="connsiteY0" fmla="*/ 0 h 1034173"/>
                  <a:gd name="connsiteX1" fmla="*/ 145750 w 145749"/>
                  <a:gd name="connsiteY1" fmla="*/ 1034173 h 1034173"/>
                  <a:gd name="connsiteX2" fmla="*/ 0 w 145749"/>
                  <a:gd name="connsiteY2" fmla="*/ 1034173 h 1034173"/>
                  <a:gd name="connsiteX3" fmla="*/ 0 w 145749"/>
                  <a:gd name="connsiteY3" fmla="*/ 902614 h 1034173"/>
                </a:gdLst>
                <a:ahLst/>
                <a:cxnLst>
                  <a:cxn ang="0">
                    <a:pos x="connsiteX0" y="connsiteY0"/>
                  </a:cxn>
                  <a:cxn ang="0">
                    <a:pos x="connsiteX1" y="connsiteY1"/>
                  </a:cxn>
                  <a:cxn ang="0">
                    <a:pos x="connsiteX2" y="connsiteY2"/>
                  </a:cxn>
                  <a:cxn ang="0">
                    <a:pos x="connsiteX3" y="connsiteY3"/>
                  </a:cxn>
                </a:cxnLst>
                <a:rect l="l" t="t" r="r" b="b"/>
                <a:pathLst>
                  <a:path w="145749" h="1034173">
                    <a:moveTo>
                      <a:pt x="145750" y="0"/>
                    </a:moveTo>
                    <a:lnTo>
                      <a:pt x="145750" y="1034173"/>
                    </a:lnTo>
                    <a:lnTo>
                      <a:pt x="0" y="1034173"/>
                    </a:lnTo>
                    <a:lnTo>
                      <a:pt x="0" y="902614"/>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6" name="Freeform 50">
                <a:extLst>
                  <a:ext uri="{FF2B5EF4-FFF2-40B4-BE49-F238E27FC236}">
                    <a16:creationId xmlns:a16="http://schemas.microsoft.com/office/drawing/2014/main" id="{A263E582-D934-9911-D0FE-668B00F6C023}"/>
                  </a:ext>
                </a:extLst>
              </p:cNvPr>
              <p:cNvSpPr/>
              <p:nvPr/>
            </p:nvSpPr>
            <p:spPr>
              <a:xfrm>
                <a:off x="6829258" y="3410480"/>
                <a:ext cx="145750" cy="1375799"/>
              </a:xfrm>
              <a:custGeom>
                <a:avLst/>
                <a:gdLst>
                  <a:gd name="connsiteX0" fmla="*/ 106494 w 145750"/>
                  <a:gd name="connsiteY0" fmla="*/ 0 h 1375799"/>
                  <a:gd name="connsiteX1" fmla="*/ 145750 w 145750"/>
                  <a:gd name="connsiteY1" fmla="*/ 0 h 1375799"/>
                  <a:gd name="connsiteX2" fmla="*/ 145750 w 145750"/>
                  <a:gd name="connsiteY2" fmla="*/ 1375800 h 1375799"/>
                  <a:gd name="connsiteX3" fmla="*/ 0 w 145750"/>
                  <a:gd name="connsiteY3" fmla="*/ 1375800 h 1375799"/>
                  <a:gd name="connsiteX4" fmla="*/ 0 w 145750"/>
                  <a:gd name="connsiteY4" fmla="*/ 283808 h 1375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750" h="1375799">
                    <a:moveTo>
                      <a:pt x="106494" y="0"/>
                    </a:moveTo>
                    <a:lnTo>
                      <a:pt x="145750" y="0"/>
                    </a:lnTo>
                    <a:lnTo>
                      <a:pt x="145750" y="1375800"/>
                    </a:lnTo>
                    <a:lnTo>
                      <a:pt x="0" y="1375800"/>
                    </a:lnTo>
                    <a:lnTo>
                      <a:pt x="0" y="283808"/>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7" name="Freeform 51">
                <a:extLst>
                  <a:ext uri="{FF2B5EF4-FFF2-40B4-BE49-F238E27FC236}">
                    <a16:creationId xmlns:a16="http://schemas.microsoft.com/office/drawing/2014/main" id="{C993BD96-28A2-451F-D1B1-0136FBC577BE}"/>
                  </a:ext>
                </a:extLst>
              </p:cNvPr>
              <p:cNvSpPr/>
              <p:nvPr/>
            </p:nvSpPr>
            <p:spPr>
              <a:xfrm>
                <a:off x="6606854" y="4726216"/>
                <a:ext cx="163521" cy="13262"/>
              </a:xfrm>
              <a:custGeom>
                <a:avLst/>
                <a:gdLst>
                  <a:gd name="connsiteX0" fmla="*/ 0 w 163521"/>
                  <a:gd name="connsiteY0" fmla="*/ 0 h 13262"/>
                  <a:gd name="connsiteX1" fmla="*/ 163521 w 163521"/>
                  <a:gd name="connsiteY1" fmla="*/ 0 h 13262"/>
                </a:gdLst>
                <a:ahLst/>
                <a:cxnLst>
                  <a:cxn ang="0">
                    <a:pos x="connsiteX0" y="connsiteY0"/>
                  </a:cxn>
                  <a:cxn ang="0">
                    <a:pos x="connsiteX1" y="connsiteY1"/>
                  </a:cxn>
                </a:cxnLst>
                <a:rect l="l" t="t" r="r" b="b"/>
                <a:pathLst>
                  <a:path w="163521" h="13262">
                    <a:moveTo>
                      <a:pt x="0" y="0"/>
                    </a:moveTo>
                    <a:lnTo>
                      <a:pt x="163521"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8" name="Freeform 52">
                <a:extLst>
                  <a:ext uri="{FF2B5EF4-FFF2-40B4-BE49-F238E27FC236}">
                    <a16:creationId xmlns:a16="http://schemas.microsoft.com/office/drawing/2014/main" id="{092B1CF7-F4D2-FA61-9012-D3B80200C770}"/>
                  </a:ext>
                </a:extLst>
              </p:cNvPr>
              <p:cNvSpPr/>
              <p:nvPr/>
            </p:nvSpPr>
            <p:spPr>
              <a:xfrm>
                <a:off x="6358323" y="4726216"/>
                <a:ext cx="167764" cy="13262"/>
              </a:xfrm>
              <a:custGeom>
                <a:avLst/>
                <a:gdLst>
                  <a:gd name="connsiteX0" fmla="*/ 0 w 167764"/>
                  <a:gd name="connsiteY0" fmla="*/ 0 h 13262"/>
                  <a:gd name="connsiteX1" fmla="*/ 167765 w 167764"/>
                  <a:gd name="connsiteY1" fmla="*/ 0 h 13262"/>
                </a:gdLst>
                <a:ahLst/>
                <a:cxnLst>
                  <a:cxn ang="0">
                    <a:pos x="connsiteX0" y="connsiteY0"/>
                  </a:cxn>
                  <a:cxn ang="0">
                    <a:pos x="connsiteX1" y="connsiteY1"/>
                  </a:cxn>
                </a:cxnLst>
                <a:rect l="l" t="t" r="r" b="b"/>
                <a:pathLst>
                  <a:path w="167764" h="13262">
                    <a:moveTo>
                      <a:pt x="0" y="0"/>
                    </a:moveTo>
                    <a:lnTo>
                      <a:pt x="167765"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9" name="Freeform 53">
                <a:extLst>
                  <a:ext uri="{FF2B5EF4-FFF2-40B4-BE49-F238E27FC236}">
                    <a16:creationId xmlns:a16="http://schemas.microsoft.com/office/drawing/2014/main" id="{DD8D9F15-B5D3-5EE5-75DA-40447CAC846D}"/>
                  </a:ext>
                </a:extLst>
              </p:cNvPr>
              <p:cNvSpPr/>
              <p:nvPr/>
            </p:nvSpPr>
            <p:spPr>
              <a:xfrm>
                <a:off x="5421630" y="4726216"/>
                <a:ext cx="882186" cy="13262"/>
              </a:xfrm>
              <a:custGeom>
                <a:avLst/>
                <a:gdLst>
                  <a:gd name="connsiteX0" fmla="*/ 0 w 882186"/>
                  <a:gd name="connsiteY0" fmla="*/ 0 h 13262"/>
                  <a:gd name="connsiteX1" fmla="*/ 882186 w 882186"/>
                  <a:gd name="connsiteY1" fmla="*/ 0 h 13262"/>
                </a:gdLst>
                <a:ahLst/>
                <a:cxnLst>
                  <a:cxn ang="0">
                    <a:pos x="connsiteX0" y="connsiteY0"/>
                  </a:cxn>
                  <a:cxn ang="0">
                    <a:pos x="connsiteX1" y="connsiteY1"/>
                  </a:cxn>
                </a:cxnLst>
                <a:rect l="l" t="t" r="r" b="b"/>
                <a:pathLst>
                  <a:path w="882186" h="13262">
                    <a:moveTo>
                      <a:pt x="0" y="0"/>
                    </a:moveTo>
                    <a:lnTo>
                      <a:pt x="882186"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0" name="Freeform 54">
                <a:extLst>
                  <a:ext uri="{FF2B5EF4-FFF2-40B4-BE49-F238E27FC236}">
                    <a16:creationId xmlns:a16="http://schemas.microsoft.com/office/drawing/2014/main" id="{3DA5B7B7-8C7C-98A6-085D-9B903DBE06EF}"/>
                  </a:ext>
                </a:extLst>
              </p:cNvPr>
              <p:cNvSpPr/>
              <p:nvPr/>
            </p:nvSpPr>
            <p:spPr>
              <a:xfrm>
                <a:off x="6383123" y="3509272"/>
                <a:ext cx="264710" cy="13262"/>
              </a:xfrm>
              <a:custGeom>
                <a:avLst/>
                <a:gdLst>
                  <a:gd name="connsiteX0" fmla="*/ 0 w 264710"/>
                  <a:gd name="connsiteY0" fmla="*/ 0 h 13262"/>
                  <a:gd name="connsiteX1" fmla="*/ 264711 w 264710"/>
                  <a:gd name="connsiteY1" fmla="*/ 0 h 13262"/>
                </a:gdLst>
                <a:ahLst/>
                <a:cxnLst>
                  <a:cxn ang="0">
                    <a:pos x="connsiteX0" y="connsiteY0"/>
                  </a:cxn>
                  <a:cxn ang="0">
                    <a:pos x="connsiteX1" y="connsiteY1"/>
                  </a:cxn>
                </a:cxnLst>
                <a:rect l="l" t="t" r="r" b="b"/>
                <a:pathLst>
                  <a:path w="264710" h="13262">
                    <a:moveTo>
                      <a:pt x="0" y="0"/>
                    </a:moveTo>
                    <a:lnTo>
                      <a:pt x="264711"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Freeform 55">
                <a:extLst>
                  <a:ext uri="{FF2B5EF4-FFF2-40B4-BE49-F238E27FC236}">
                    <a16:creationId xmlns:a16="http://schemas.microsoft.com/office/drawing/2014/main" id="{AA07C474-3D92-5CB1-B542-62A1672F3D7E}"/>
                  </a:ext>
                </a:extLst>
              </p:cNvPr>
              <p:cNvSpPr/>
              <p:nvPr/>
            </p:nvSpPr>
            <p:spPr>
              <a:xfrm>
                <a:off x="5678245" y="3509272"/>
                <a:ext cx="175589" cy="13262"/>
              </a:xfrm>
              <a:custGeom>
                <a:avLst/>
                <a:gdLst>
                  <a:gd name="connsiteX0" fmla="*/ 0 w 175589"/>
                  <a:gd name="connsiteY0" fmla="*/ 0 h 13262"/>
                  <a:gd name="connsiteX1" fmla="*/ 175590 w 175589"/>
                  <a:gd name="connsiteY1" fmla="*/ 0 h 13262"/>
                </a:gdLst>
                <a:ahLst/>
                <a:cxnLst>
                  <a:cxn ang="0">
                    <a:pos x="connsiteX0" y="connsiteY0"/>
                  </a:cxn>
                  <a:cxn ang="0">
                    <a:pos x="connsiteX1" y="connsiteY1"/>
                  </a:cxn>
                </a:cxnLst>
                <a:rect l="l" t="t" r="r" b="b"/>
                <a:pathLst>
                  <a:path w="175589" h="13262">
                    <a:moveTo>
                      <a:pt x="0" y="0"/>
                    </a:moveTo>
                    <a:lnTo>
                      <a:pt x="17559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2" name="Freeform 56">
                <a:extLst>
                  <a:ext uri="{FF2B5EF4-FFF2-40B4-BE49-F238E27FC236}">
                    <a16:creationId xmlns:a16="http://schemas.microsoft.com/office/drawing/2014/main" id="{9652BAE9-41A5-44DA-A698-8B4107E0671B}"/>
                  </a:ext>
                </a:extLst>
              </p:cNvPr>
              <p:cNvSpPr/>
              <p:nvPr/>
            </p:nvSpPr>
            <p:spPr>
              <a:xfrm>
                <a:off x="6395457" y="3626247"/>
                <a:ext cx="261262" cy="13262"/>
              </a:xfrm>
              <a:custGeom>
                <a:avLst/>
                <a:gdLst>
                  <a:gd name="connsiteX0" fmla="*/ 0 w 261262"/>
                  <a:gd name="connsiteY0" fmla="*/ 0 h 13262"/>
                  <a:gd name="connsiteX1" fmla="*/ 261262 w 261262"/>
                  <a:gd name="connsiteY1" fmla="*/ 0 h 13262"/>
                </a:gdLst>
                <a:ahLst/>
                <a:cxnLst>
                  <a:cxn ang="0">
                    <a:pos x="connsiteX0" y="connsiteY0"/>
                  </a:cxn>
                  <a:cxn ang="0">
                    <a:pos x="connsiteX1" y="connsiteY1"/>
                  </a:cxn>
                </a:cxnLst>
                <a:rect l="l" t="t" r="r" b="b"/>
                <a:pathLst>
                  <a:path w="261262" h="13262">
                    <a:moveTo>
                      <a:pt x="0" y="0"/>
                    </a:moveTo>
                    <a:lnTo>
                      <a:pt x="261262"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3" name="Freeform 57">
                <a:extLst>
                  <a:ext uri="{FF2B5EF4-FFF2-40B4-BE49-F238E27FC236}">
                    <a16:creationId xmlns:a16="http://schemas.microsoft.com/office/drawing/2014/main" id="{C47BA41D-3ECA-4B5E-FFB8-B3376EE9069E}"/>
                  </a:ext>
                </a:extLst>
              </p:cNvPr>
              <p:cNvSpPr/>
              <p:nvPr/>
            </p:nvSpPr>
            <p:spPr>
              <a:xfrm>
                <a:off x="6069605" y="3626247"/>
                <a:ext cx="50531" cy="13262"/>
              </a:xfrm>
              <a:custGeom>
                <a:avLst/>
                <a:gdLst>
                  <a:gd name="connsiteX0" fmla="*/ 0 w 50531"/>
                  <a:gd name="connsiteY0" fmla="*/ 0 h 13262"/>
                  <a:gd name="connsiteX1" fmla="*/ 50531 w 50531"/>
                  <a:gd name="connsiteY1" fmla="*/ 0 h 13262"/>
                </a:gdLst>
                <a:ahLst/>
                <a:cxnLst>
                  <a:cxn ang="0">
                    <a:pos x="connsiteX0" y="connsiteY0"/>
                  </a:cxn>
                  <a:cxn ang="0">
                    <a:pos x="connsiteX1" y="connsiteY1"/>
                  </a:cxn>
                </a:cxnLst>
                <a:rect l="l" t="t" r="r" b="b"/>
                <a:pathLst>
                  <a:path w="50531" h="13262">
                    <a:moveTo>
                      <a:pt x="0" y="0"/>
                    </a:moveTo>
                    <a:lnTo>
                      <a:pt x="50531"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4" name="Freeform 58">
                <a:extLst>
                  <a:ext uri="{FF2B5EF4-FFF2-40B4-BE49-F238E27FC236}">
                    <a16:creationId xmlns:a16="http://schemas.microsoft.com/office/drawing/2014/main" id="{A972A7CF-971A-C151-D636-13E8083CAC15}"/>
                  </a:ext>
                </a:extLst>
              </p:cNvPr>
              <p:cNvSpPr/>
              <p:nvPr/>
            </p:nvSpPr>
            <p:spPr>
              <a:xfrm>
                <a:off x="5661926" y="3626247"/>
                <a:ext cx="173202" cy="13262"/>
              </a:xfrm>
              <a:custGeom>
                <a:avLst/>
                <a:gdLst>
                  <a:gd name="connsiteX0" fmla="*/ 0 w 173202"/>
                  <a:gd name="connsiteY0" fmla="*/ 0 h 13262"/>
                  <a:gd name="connsiteX1" fmla="*/ 173202 w 173202"/>
                  <a:gd name="connsiteY1" fmla="*/ 0 h 13262"/>
                </a:gdLst>
                <a:ahLst/>
                <a:cxnLst>
                  <a:cxn ang="0">
                    <a:pos x="connsiteX0" y="connsiteY0"/>
                  </a:cxn>
                  <a:cxn ang="0">
                    <a:pos x="connsiteX1" y="connsiteY1"/>
                  </a:cxn>
                </a:cxnLst>
                <a:rect l="l" t="t" r="r" b="b"/>
                <a:pathLst>
                  <a:path w="173202" h="13262">
                    <a:moveTo>
                      <a:pt x="0" y="0"/>
                    </a:moveTo>
                    <a:lnTo>
                      <a:pt x="173202"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5" name="Freeform 59">
                <a:extLst>
                  <a:ext uri="{FF2B5EF4-FFF2-40B4-BE49-F238E27FC236}">
                    <a16:creationId xmlns:a16="http://schemas.microsoft.com/office/drawing/2014/main" id="{FDDB29B7-79D6-80EC-819C-F9BFFB9BBEA1}"/>
                  </a:ext>
                </a:extLst>
              </p:cNvPr>
              <p:cNvSpPr/>
              <p:nvPr/>
            </p:nvSpPr>
            <p:spPr>
              <a:xfrm>
                <a:off x="6167084" y="3638577"/>
                <a:ext cx="78113" cy="8355"/>
              </a:xfrm>
              <a:custGeom>
                <a:avLst/>
                <a:gdLst>
                  <a:gd name="connsiteX0" fmla="*/ 78113 w 78113"/>
                  <a:gd name="connsiteY0" fmla="*/ 0 h 8355"/>
                  <a:gd name="connsiteX1" fmla="*/ 0 w 78113"/>
                  <a:gd name="connsiteY1" fmla="*/ 8355 h 8355"/>
                </a:gdLst>
                <a:ahLst/>
                <a:cxnLst>
                  <a:cxn ang="0">
                    <a:pos x="connsiteX0" y="connsiteY0"/>
                  </a:cxn>
                  <a:cxn ang="0">
                    <a:pos x="connsiteX1" y="connsiteY1"/>
                  </a:cxn>
                </a:cxnLst>
                <a:rect l="l" t="t" r="r" b="b"/>
                <a:pathLst>
                  <a:path w="78113" h="8355">
                    <a:moveTo>
                      <a:pt x="78113" y="0"/>
                    </a:moveTo>
                    <a:lnTo>
                      <a:pt x="0" y="8355"/>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6" name="Freeform 60">
                <a:extLst>
                  <a:ext uri="{FF2B5EF4-FFF2-40B4-BE49-F238E27FC236}">
                    <a16:creationId xmlns:a16="http://schemas.microsoft.com/office/drawing/2014/main" id="{605058F5-D306-86EA-F1DF-B04FF795910F}"/>
                  </a:ext>
                </a:extLst>
              </p:cNvPr>
              <p:cNvSpPr/>
              <p:nvPr/>
            </p:nvSpPr>
            <p:spPr>
              <a:xfrm>
                <a:off x="6180479" y="3764203"/>
                <a:ext cx="78113" cy="8356"/>
              </a:xfrm>
              <a:custGeom>
                <a:avLst/>
                <a:gdLst>
                  <a:gd name="connsiteX0" fmla="*/ 78113 w 78113"/>
                  <a:gd name="connsiteY0" fmla="*/ 0 h 8356"/>
                  <a:gd name="connsiteX1" fmla="*/ 0 w 78113"/>
                  <a:gd name="connsiteY1" fmla="*/ 8356 h 8356"/>
                </a:gdLst>
                <a:ahLst/>
                <a:cxnLst>
                  <a:cxn ang="0">
                    <a:pos x="connsiteX0" y="connsiteY0"/>
                  </a:cxn>
                  <a:cxn ang="0">
                    <a:pos x="connsiteX1" y="connsiteY1"/>
                  </a:cxn>
                </a:cxnLst>
                <a:rect l="l" t="t" r="r" b="b"/>
                <a:pathLst>
                  <a:path w="78113" h="8356">
                    <a:moveTo>
                      <a:pt x="78113" y="0"/>
                    </a:moveTo>
                    <a:lnTo>
                      <a:pt x="0" y="8356"/>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7" name="Freeform 61">
                <a:extLst>
                  <a:ext uri="{FF2B5EF4-FFF2-40B4-BE49-F238E27FC236}">
                    <a16:creationId xmlns:a16="http://schemas.microsoft.com/office/drawing/2014/main" id="{4D803125-ABDD-BF86-9806-EFA91AD7E2CE}"/>
                  </a:ext>
                </a:extLst>
              </p:cNvPr>
              <p:cNvSpPr/>
              <p:nvPr/>
            </p:nvSpPr>
            <p:spPr>
              <a:xfrm>
                <a:off x="6193873" y="3889934"/>
                <a:ext cx="78113" cy="8355"/>
              </a:xfrm>
              <a:custGeom>
                <a:avLst/>
                <a:gdLst>
                  <a:gd name="connsiteX0" fmla="*/ 78113 w 78113"/>
                  <a:gd name="connsiteY0" fmla="*/ 0 h 8355"/>
                  <a:gd name="connsiteX1" fmla="*/ 0 w 78113"/>
                  <a:gd name="connsiteY1" fmla="*/ 8355 h 8355"/>
                </a:gdLst>
                <a:ahLst/>
                <a:cxnLst>
                  <a:cxn ang="0">
                    <a:pos x="connsiteX0" y="connsiteY0"/>
                  </a:cxn>
                  <a:cxn ang="0">
                    <a:pos x="connsiteX1" y="connsiteY1"/>
                  </a:cxn>
                </a:cxnLst>
                <a:rect l="l" t="t" r="r" b="b"/>
                <a:pathLst>
                  <a:path w="78113" h="8355">
                    <a:moveTo>
                      <a:pt x="78113" y="0"/>
                    </a:moveTo>
                    <a:lnTo>
                      <a:pt x="0" y="8355"/>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8" name="Freeform 62">
                <a:extLst>
                  <a:ext uri="{FF2B5EF4-FFF2-40B4-BE49-F238E27FC236}">
                    <a16:creationId xmlns:a16="http://schemas.microsoft.com/office/drawing/2014/main" id="{63D8811F-4AD7-77F6-0045-5013ACE22AA3}"/>
                  </a:ext>
                </a:extLst>
              </p:cNvPr>
              <p:cNvSpPr/>
              <p:nvPr/>
            </p:nvSpPr>
            <p:spPr>
              <a:xfrm>
                <a:off x="6207268" y="4015609"/>
                <a:ext cx="78113" cy="8355"/>
              </a:xfrm>
              <a:custGeom>
                <a:avLst/>
                <a:gdLst>
                  <a:gd name="connsiteX0" fmla="*/ 78113 w 78113"/>
                  <a:gd name="connsiteY0" fmla="*/ 0 h 8355"/>
                  <a:gd name="connsiteX1" fmla="*/ 0 w 78113"/>
                  <a:gd name="connsiteY1" fmla="*/ 8355 h 8355"/>
                </a:gdLst>
                <a:ahLst/>
                <a:cxnLst>
                  <a:cxn ang="0">
                    <a:pos x="connsiteX0" y="connsiteY0"/>
                  </a:cxn>
                  <a:cxn ang="0">
                    <a:pos x="connsiteX1" y="connsiteY1"/>
                  </a:cxn>
                </a:cxnLst>
                <a:rect l="l" t="t" r="r" b="b"/>
                <a:pathLst>
                  <a:path w="78113" h="8355">
                    <a:moveTo>
                      <a:pt x="78113" y="0"/>
                    </a:moveTo>
                    <a:lnTo>
                      <a:pt x="0" y="8355"/>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9" name="Freeform 63">
                <a:extLst>
                  <a:ext uri="{FF2B5EF4-FFF2-40B4-BE49-F238E27FC236}">
                    <a16:creationId xmlns:a16="http://schemas.microsoft.com/office/drawing/2014/main" id="{173A65C0-3BE5-E11F-69BF-C41D55223B6C}"/>
                  </a:ext>
                </a:extLst>
              </p:cNvPr>
              <p:cNvSpPr/>
              <p:nvPr/>
            </p:nvSpPr>
            <p:spPr>
              <a:xfrm>
                <a:off x="6146130" y="3469382"/>
                <a:ext cx="265506" cy="628756"/>
              </a:xfrm>
              <a:custGeom>
                <a:avLst/>
                <a:gdLst>
                  <a:gd name="connsiteX0" fmla="*/ 64719 w 265506"/>
                  <a:gd name="connsiteY0" fmla="*/ 628757 h 628756"/>
                  <a:gd name="connsiteX1" fmla="*/ 0 w 265506"/>
                  <a:gd name="connsiteY1" fmla="*/ 21219 h 628756"/>
                  <a:gd name="connsiteX2" fmla="*/ 199196 w 265506"/>
                  <a:gd name="connsiteY2" fmla="*/ 0 h 628756"/>
                  <a:gd name="connsiteX3" fmla="*/ 265506 w 265506"/>
                  <a:gd name="connsiteY3" fmla="*/ 621728 h 628756"/>
                </a:gdLst>
                <a:ahLst/>
                <a:cxnLst>
                  <a:cxn ang="0">
                    <a:pos x="connsiteX0" y="connsiteY0"/>
                  </a:cxn>
                  <a:cxn ang="0">
                    <a:pos x="connsiteX1" y="connsiteY1"/>
                  </a:cxn>
                  <a:cxn ang="0">
                    <a:pos x="connsiteX2" y="connsiteY2"/>
                  </a:cxn>
                  <a:cxn ang="0">
                    <a:pos x="connsiteX3" y="connsiteY3"/>
                  </a:cxn>
                </a:cxnLst>
                <a:rect l="l" t="t" r="r" b="b"/>
                <a:pathLst>
                  <a:path w="265506" h="628756">
                    <a:moveTo>
                      <a:pt x="64719" y="628757"/>
                    </a:moveTo>
                    <a:lnTo>
                      <a:pt x="0" y="21219"/>
                    </a:lnTo>
                    <a:lnTo>
                      <a:pt x="199196" y="0"/>
                    </a:lnTo>
                    <a:lnTo>
                      <a:pt x="265506" y="621728"/>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0" name="Freeform 64">
                <a:extLst>
                  <a:ext uri="{FF2B5EF4-FFF2-40B4-BE49-F238E27FC236}">
                    <a16:creationId xmlns:a16="http://schemas.microsoft.com/office/drawing/2014/main" id="{60BF9695-95A3-FE60-5BE4-DD7CF0E58145}"/>
                  </a:ext>
                </a:extLst>
              </p:cNvPr>
              <p:cNvSpPr/>
              <p:nvPr/>
            </p:nvSpPr>
            <p:spPr>
              <a:xfrm>
                <a:off x="5935664" y="3341268"/>
                <a:ext cx="165905" cy="766551"/>
              </a:xfrm>
              <a:custGeom>
                <a:avLst/>
                <a:gdLst>
                  <a:gd name="connsiteX0" fmla="*/ 0 w 165905"/>
                  <a:gd name="connsiteY0" fmla="*/ 766552 h 766551"/>
                  <a:gd name="connsiteX1" fmla="*/ 165906 w 165905"/>
                  <a:gd name="connsiteY1" fmla="*/ 0 h 766551"/>
                </a:gdLst>
                <a:ahLst/>
                <a:cxnLst>
                  <a:cxn ang="0">
                    <a:pos x="connsiteX0" y="connsiteY0"/>
                  </a:cxn>
                  <a:cxn ang="0">
                    <a:pos x="connsiteX1" y="connsiteY1"/>
                  </a:cxn>
                </a:cxnLst>
                <a:rect l="l" t="t" r="r" b="b"/>
                <a:pathLst>
                  <a:path w="165905" h="766551">
                    <a:moveTo>
                      <a:pt x="0" y="766552"/>
                    </a:moveTo>
                    <a:lnTo>
                      <a:pt x="165906"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1" name="Freeform 65">
                <a:extLst>
                  <a:ext uri="{FF2B5EF4-FFF2-40B4-BE49-F238E27FC236}">
                    <a16:creationId xmlns:a16="http://schemas.microsoft.com/office/drawing/2014/main" id="{CBEA3901-BBBE-4889-7649-19E5FDDE55EE}"/>
                  </a:ext>
                </a:extLst>
              </p:cNvPr>
              <p:cNvSpPr/>
              <p:nvPr/>
            </p:nvSpPr>
            <p:spPr>
              <a:xfrm>
                <a:off x="5771742" y="3310755"/>
                <a:ext cx="170284" cy="787635"/>
              </a:xfrm>
              <a:custGeom>
                <a:avLst/>
                <a:gdLst>
                  <a:gd name="connsiteX0" fmla="*/ 170285 w 170284"/>
                  <a:gd name="connsiteY0" fmla="*/ 0 h 787635"/>
                  <a:gd name="connsiteX1" fmla="*/ 0 w 170284"/>
                  <a:gd name="connsiteY1" fmla="*/ 787636 h 787635"/>
                </a:gdLst>
                <a:ahLst/>
                <a:cxnLst>
                  <a:cxn ang="0">
                    <a:pos x="connsiteX0" y="connsiteY0"/>
                  </a:cxn>
                  <a:cxn ang="0">
                    <a:pos x="connsiteX1" y="connsiteY1"/>
                  </a:cxn>
                </a:cxnLst>
                <a:rect l="l" t="t" r="r" b="b"/>
                <a:pathLst>
                  <a:path w="170284" h="787635">
                    <a:moveTo>
                      <a:pt x="170285" y="0"/>
                    </a:moveTo>
                    <a:lnTo>
                      <a:pt x="0" y="787636"/>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2" name="Freeform 66">
                <a:extLst>
                  <a:ext uri="{FF2B5EF4-FFF2-40B4-BE49-F238E27FC236}">
                    <a16:creationId xmlns:a16="http://schemas.microsoft.com/office/drawing/2014/main" id="{16F3056B-9349-F2E2-CC01-470F3DAA5A6E}"/>
                  </a:ext>
                </a:extLst>
              </p:cNvPr>
              <p:cNvSpPr/>
              <p:nvPr/>
            </p:nvSpPr>
            <p:spPr>
              <a:xfrm>
                <a:off x="6209125" y="3085300"/>
                <a:ext cx="115777" cy="39784"/>
              </a:xfrm>
              <a:custGeom>
                <a:avLst/>
                <a:gdLst>
                  <a:gd name="connsiteX0" fmla="*/ 0 w 115777"/>
                  <a:gd name="connsiteY0" fmla="*/ 0 h 39784"/>
                  <a:gd name="connsiteX1" fmla="*/ 62730 w 115777"/>
                  <a:gd name="connsiteY1" fmla="*/ 37001 h 39784"/>
                  <a:gd name="connsiteX2" fmla="*/ 115778 w 115777"/>
                  <a:gd name="connsiteY2" fmla="*/ 36338 h 39784"/>
                </a:gdLst>
                <a:ahLst/>
                <a:cxnLst>
                  <a:cxn ang="0">
                    <a:pos x="connsiteX0" y="connsiteY0"/>
                  </a:cxn>
                  <a:cxn ang="0">
                    <a:pos x="connsiteX1" y="connsiteY1"/>
                  </a:cxn>
                  <a:cxn ang="0">
                    <a:pos x="connsiteX2" y="connsiteY2"/>
                  </a:cxn>
                </a:cxnLst>
                <a:rect l="l" t="t" r="r" b="b"/>
                <a:pathLst>
                  <a:path w="115777" h="39784">
                    <a:moveTo>
                      <a:pt x="0" y="0"/>
                    </a:moveTo>
                    <a:cubicBezTo>
                      <a:pt x="16180" y="19014"/>
                      <a:pt x="38274" y="32044"/>
                      <a:pt x="62730" y="37001"/>
                    </a:cubicBezTo>
                    <a:cubicBezTo>
                      <a:pt x="80222" y="40924"/>
                      <a:pt x="98391" y="40697"/>
                      <a:pt x="115778" y="36338"/>
                    </a:cubicBez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3" name="Freeform 67">
                <a:extLst>
                  <a:ext uri="{FF2B5EF4-FFF2-40B4-BE49-F238E27FC236}">
                    <a16:creationId xmlns:a16="http://schemas.microsoft.com/office/drawing/2014/main" id="{E0E6AA16-EA8C-3CC8-8EEA-3B56FD4B621B}"/>
                  </a:ext>
                </a:extLst>
              </p:cNvPr>
              <p:cNvSpPr/>
              <p:nvPr/>
            </p:nvSpPr>
            <p:spPr>
              <a:xfrm>
                <a:off x="6179948" y="3216522"/>
                <a:ext cx="114981" cy="27519"/>
              </a:xfrm>
              <a:custGeom>
                <a:avLst/>
                <a:gdLst>
                  <a:gd name="connsiteX0" fmla="*/ 114982 w 114981"/>
                  <a:gd name="connsiteY0" fmla="*/ 27519 h 27519"/>
                  <a:gd name="connsiteX1" fmla="*/ 67106 w 114981"/>
                  <a:gd name="connsiteY1" fmla="*/ 2321 h 27519"/>
                  <a:gd name="connsiteX2" fmla="*/ 0 w 114981"/>
                  <a:gd name="connsiteY2" fmla="*/ 11339 h 27519"/>
                </a:gdLst>
                <a:ahLst/>
                <a:cxnLst>
                  <a:cxn ang="0">
                    <a:pos x="connsiteX0" y="connsiteY0"/>
                  </a:cxn>
                  <a:cxn ang="0">
                    <a:pos x="connsiteX1" y="connsiteY1"/>
                  </a:cxn>
                  <a:cxn ang="0">
                    <a:pos x="connsiteX2" y="connsiteY2"/>
                  </a:cxn>
                </a:cxnLst>
                <a:rect l="l" t="t" r="r" b="b"/>
                <a:pathLst>
                  <a:path w="114981" h="27519">
                    <a:moveTo>
                      <a:pt x="114982" y="27519"/>
                    </a:moveTo>
                    <a:cubicBezTo>
                      <a:pt x="101627" y="14903"/>
                      <a:pt x="85063" y="6187"/>
                      <a:pt x="67106" y="2321"/>
                    </a:cubicBezTo>
                    <a:cubicBezTo>
                      <a:pt x="44375" y="-2705"/>
                      <a:pt x="20596" y="490"/>
                      <a:pt x="0" y="11339"/>
                    </a:cubicBez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4" name="Freeform 68">
                <a:extLst>
                  <a:ext uri="{FF2B5EF4-FFF2-40B4-BE49-F238E27FC236}">
                    <a16:creationId xmlns:a16="http://schemas.microsoft.com/office/drawing/2014/main" id="{244AB192-313F-92FF-299B-63B44C19203B}"/>
                  </a:ext>
                </a:extLst>
              </p:cNvPr>
              <p:cNvSpPr/>
              <p:nvPr/>
            </p:nvSpPr>
            <p:spPr>
              <a:xfrm>
                <a:off x="5607829" y="3019819"/>
                <a:ext cx="598245" cy="330746"/>
              </a:xfrm>
              <a:custGeom>
                <a:avLst/>
                <a:gdLst>
                  <a:gd name="connsiteX0" fmla="*/ 379560 w 598245"/>
                  <a:gd name="connsiteY0" fmla="*/ 3705 h 330746"/>
                  <a:gd name="connsiteX1" fmla="*/ 598246 w 598245"/>
                  <a:gd name="connsiteY1" fmla="*/ 51050 h 330746"/>
                  <a:gd name="connsiteX2" fmla="*/ 561908 w 598245"/>
                  <a:gd name="connsiteY2" fmla="*/ 219345 h 330746"/>
                  <a:gd name="connsiteX3" fmla="*/ 492282 w 598245"/>
                  <a:gd name="connsiteY3" fmla="*/ 330747 h 330746"/>
                  <a:gd name="connsiteX4" fmla="*/ 333143 w 598245"/>
                  <a:gd name="connsiteY4" fmla="*/ 295868 h 330746"/>
                  <a:gd name="connsiteX5" fmla="*/ 308077 w 598245"/>
                  <a:gd name="connsiteY5" fmla="*/ 139773 h 330746"/>
                  <a:gd name="connsiteX6" fmla="*/ 26524 w 598245"/>
                  <a:gd name="connsiteY6" fmla="*/ 295868 h 330746"/>
                  <a:gd name="connsiteX7" fmla="*/ 0 w 598245"/>
                  <a:gd name="connsiteY7" fmla="*/ 269343 h 330746"/>
                  <a:gd name="connsiteX8" fmla="*/ 379560 w 598245"/>
                  <a:gd name="connsiteY8" fmla="*/ 3705 h 33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8245" h="330746">
                    <a:moveTo>
                      <a:pt x="379560" y="3705"/>
                    </a:moveTo>
                    <a:lnTo>
                      <a:pt x="598246" y="51050"/>
                    </a:lnTo>
                    <a:lnTo>
                      <a:pt x="561908" y="219345"/>
                    </a:lnTo>
                    <a:lnTo>
                      <a:pt x="492282" y="330747"/>
                    </a:lnTo>
                    <a:lnTo>
                      <a:pt x="333143" y="295868"/>
                    </a:lnTo>
                    <a:cubicBezTo>
                      <a:pt x="333143" y="295868"/>
                      <a:pt x="351975" y="164573"/>
                      <a:pt x="308077" y="139773"/>
                    </a:cubicBezTo>
                    <a:cubicBezTo>
                      <a:pt x="250785" y="107281"/>
                      <a:pt x="128377" y="183936"/>
                      <a:pt x="26524" y="295868"/>
                    </a:cubicBezTo>
                    <a:lnTo>
                      <a:pt x="0" y="269343"/>
                    </a:lnTo>
                    <a:cubicBezTo>
                      <a:pt x="0" y="269343"/>
                      <a:pt x="191504" y="-36877"/>
                      <a:pt x="379560" y="3705"/>
                    </a:cubicBezTo>
                    <a:close/>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5" name="Freeform 69">
                <a:extLst>
                  <a:ext uri="{FF2B5EF4-FFF2-40B4-BE49-F238E27FC236}">
                    <a16:creationId xmlns:a16="http://schemas.microsoft.com/office/drawing/2014/main" id="{D404B28A-49FC-0168-107F-B26F72424E13}"/>
                  </a:ext>
                </a:extLst>
              </p:cNvPr>
              <p:cNvSpPr/>
              <p:nvPr/>
            </p:nvSpPr>
            <p:spPr>
              <a:xfrm>
                <a:off x="6829258" y="4200084"/>
                <a:ext cx="145750" cy="13262"/>
              </a:xfrm>
              <a:custGeom>
                <a:avLst/>
                <a:gdLst>
                  <a:gd name="connsiteX0" fmla="*/ 0 w 145750"/>
                  <a:gd name="connsiteY0" fmla="*/ 0 h 13262"/>
                  <a:gd name="connsiteX1" fmla="*/ 145750 w 145750"/>
                  <a:gd name="connsiteY1" fmla="*/ 0 h 13262"/>
                </a:gdLst>
                <a:ahLst/>
                <a:cxnLst>
                  <a:cxn ang="0">
                    <a:pos x="connsiteX0" y="connsiteY0"/>
                  </a:cxn>
                  <a:cxn ang="0">
                    <a:pos x="connsiteX1" y="connsiteY1"/>
                  </a:cxn>
                </a:cxnLst>
                <a:rect l="l" t="t" r="r" b="b"/>
                <a:pathLst>
                  <a:path w="145750" h="13262">
                    <a:moveTo>
                      <a:pt x="0" y="0"/>
                    </a:moveTo>
                    <a:lnTo>
                      <a:pt x="14575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6" name="Freeform 70">
                <a:extLst>
                  <a:ext uri="{FF2B5EF4-FFF2-40B4-BE49-F238E27FC236}">
                    <a16:creationId xmlns:a16="http://schemas.microsoft.com/office/drawing/2014/main" id="{D3D3D127-A785-4F6A-C74B-1D5837AF06AF}"/>
                  </a:ext>
                </a:extLst>
              </p:cNvPr>
              <p:cNvSpPr/>
              <p:nvPr/>
            </p:nvSpPr>
            <p:spPr>
              <a:xfrm>
                <a:off x="6423042" y="4200084"/>
                <a:ext cx="325848" cy="13262"/>
              </a:xfrm>
              <a:custGeom>
                <a:avLst/>
                <a:gdLst>
                  <a:gd name="connsiteX0" fmla="*/ 0 w 325848"/>
                  <a:gd name="connsiteY0" fmla="*/ 0 h 13262"/>
                  <a:gd name="connsiteX1" fmla="*/ 325848 w 325848"/>
                  <a:gd name="connsiteY1" fmla="*/ 0 h 13262"/>
                </a:gdLst>
                <a:ahLst/>
                <a:cxnLst>
                  <a:cxn ang="0">
                    <a:pos x="connsiteX0" y="connsiteY0"/>
                  </a:cxn>
                  <a:cxn ang="0">
                    <a:pos x="connsiteX1" y="connsiteY1"/>
                  </a:cxn>
                </a:cxnLst>
                <a:rect l="l" t="t" r="r" b="b"/>
                <a:pathLst>
                  <a:path w="325848" h="13262">
                    <a:moveTo>
                      <a:pt x="0" y="0"/>
                    </a:moveTo>
                    <a:lnTo>
                      <a:pt x="325848"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7" name="Freeform 71">
                <a:extLst>
                  <a:ext uri="{FF2B5EF4-FFF2-40B4-BE49-F238E27FC236}">
                    <a16:creationId xmlns:a16="http://schemas.microsoft.com/office/drawing/2014/main" id="{D6A176BB-73F6-03AB-F66D-122586DE5EF4}"/>
                  </a:ext>
                </a:extLst>
              </p:cNvPr>
              <p:cNvSpPr/>
              <p:nvPr/>
            </p:nvSpPr>
            <p:spPr>
              <a:xfrm>
                <a:off x="5423481" y="4200084"/>
                <a:ext cx="999560" cy="13262"/>
              </a:xfrm>
              <a:custGeom>
                <a:avLst/>
                <a:gdLst>
                  <a:gd name="connsiteX0" fmla="*/ 0 w 999560"/>
                  <a:gd name="connsiteY0" fmla="*/ 0 h 13262"/>
                  <a:gd name="connsiteX1" fmla="*/ 999561 w 999560"/>
                  <a:gd name="connsiteY1" fmla="*/ 0 h 13262"/>
                </a:gdLst>
                <a:ahLst/>
                <a:cxnLst>
                  <a:cxn ang="0">
                    <a:pos x="connsiteX0" y="connsiteY0"/>
                  </a:cxn>
                  <a:cxn ang="0">
                    <a:pos x="connsiteX1" y="connsiteY1"/>
                  </a:cxn>
                </a:cxnLst>
                <a:rect l="l" t="t" r="r" b="b"/>
                <a:pathLst>
                  <a:path w="999560" h="13262">
                    <a:moveTo>
                      <a:pt x="0" y="0"/>
                    </a:moveTo>
                    <a:lnTo>
                      <a:pt x="999561"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8" name="Freeform 72">
                <a:extLst>
                  <a:ext uri="{FF2B5EF4-FFF2-40B4-BE49-F238E27FC236}">
                    <a16:creationId xmlns:a16="http://schemas.microsoft.com/office/drawing/2014/main" id="{150B6B25-47C7-ED74-2DD5-7D0ACEF16AB2}"/>
                  </a:ext>
                </a:extLst>
              </p:cNvPr>
              <p:cNvSpPr/>
              <p:nvPr/>
            </p:nvSpPr>
            <p:spPr>
              <a:xfrm>
                <a:off x="5216987" y="4200084"/>
                <a:ext cx="145749" cy="13262"/>
              </a:xfrm>
              <a:custGeom>
                <a:avLst/>
                <a:gdLst>
                  <a:gd name="connsiteX0" fmla="*/ 0 w 145749"/>
                  <a:gd name="connsiteY0" fmla="*/ 0 h 13262"/>
                  <a:gd name="connsiteX1" fmla="*/ 145750 w 145749"/>
                  <a:gd name="connsiteY1" fmla="*/ 0 h 13262"/>
                </a:gdLst>
                <a:ahLst/>
                <a:cxnLst>
                  <a:cxn ang="0">
                    <a:pos x="connsiteX0" y="connsiteY0"/>
                  </a:cxn>
                  <a:cxn ang="0">
                    <a:pos x="connsiteX1" y="connsiteY1"/>
                  </a:cxn>
                </a:cxnLst>
                <a:rect l="l" t="t" r="r" b="b"/>
                <a:pathLst>
                  <a:path w="145749" h="13262">
                    <a:moveTo>
                      <a:pt x="0" y="0"/>
                    </a:moveTo>
                    <a:lnTo>
                      <a:pt x="14575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9" name="Freeform 73">
                <a:extLst>
                  <a:ext uri="{FF2B5EF4-FFF2-40B4-BE49-F238E27FC236}">
                    <a16:creationId xmlns:a16="http://schemas.microsoft.com/office/drawing/2014/main" id="{0D6E88B3-4774-14C4-9828-DCA584A3F1CA}"/>
                  </a:ext>
                </a:extLst>
              </p:cNvPr>
              <p:cNvSpPr/>
              <p:nvPr/>
            </p:nvSpPr>
            <p:spPr>
              <a:xfrm>
                <a:off x="5307309" y="3606924"/>
                <a:ext cx="350118" cy="500909"/>
              </a:xfrm>
              <a:custGeom>
                <a:avLst/>
                <a:gdLst>
                  <a:gd name="connsiteX0" fmla="*/ 350118 w 350118"/>
                  <a:gd name="connsiteY0" fmla="*/ 500909 h 500909"/>
                  <a:gd name="connsiteX1" fmla="*/ 157951 w 350118"/>
                  <a:gd name="connsiteY1" fmla="*/ 100394 h 500909"/>
                  <a:gd name="connsiteX2" fmla="*/ 64524 w 350118"/>
                  <a:gd name="connsiteY2" fmla="*/ 72933 h 500909"/>
                  <a:gd name="connsiteX3" fmla="*/ 0 w 350118"/>
                  <a:gd name="connsiteY3" fmla="*/ 0 h 500909"/>
                </a:gdLst>
                <a:ahLst/>
                <a:cxnLst>
                  <a:cxn ang="0">
                    <a:pos x="connsiteX0" y="connsiteY0"/>
                  </a:cxn>
                  <a:cxn ang="0">
                    <a:pos x="connsiteX1" y="connsiteY1"/>
                  </a:cxn>
                  <a:cxn ang="0">
                    <a:pos x="connsiteX2" y="connsiteY2"/>
                  </a:cxn>
                  <a:cxn ang="0">
                    <a:pos x="connsiteX3" y="connsiteY3"/>
                  </a:cxn>
                </a:cxnLst>
                <a:rect l="l" t="t" r="r" b="b"/>
                <a:pathLst>
                  <a:path w="350118" h="500909">
                    <a:moveTo>
                      <a:pt x="350118" y="500909"/>
                    </a:moveTo>
                    <a:lnTo>
                      <a:pt x="157951" y="100394"/>
                    </a:lnTo>
                    <a:cubicBezTo>
                      <a:pt x="124845" y="100209"/>
                      <a:pt x="92463" y="90693"/>
                      <a:pt x="64524" y="72933"/>
                    </a:cubicBezTo>
                    <a:cubicBezTo>
                      <a:pt x="36583" y="55175"/>
                      <a:pt x="14220" y="29897"/>
                      <a:pt x="0" y="0"/>
                    </a:cubicBez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40" name="Freeform 74">
                <a:extLst>
                  <a:ext uri="{FF2B5EF4-FFF2-40B4-BE49-F238E27FC236}">
                    <a16:creationId xmlns:a16="http://schemas.microsoft.com/office/drawing/2014/main" id="{F14152E6-AB30-C099-9DCE-C5BB8506EB0C}"/>
                  </a:ext>
                </a:extLst>
              </p:cNvPr>
              <p:cNvSpPr/>
              <p:nvPr/>
            </p:nvSpPr>
            <p:spPr>
              <a:xfrm>
                <a:off x="5289915" y="3353909"/>
                <a:ext cx="458614" cy="584143"/>
              </a:xfrm>
              <a:custGeom>
                <a:avLst/>
                <a:gdLst>
                  <a:gd name="connsiteX0" fmla="*/ 17386 w 458614"/>
                  <a:gd name="connsiteY0" fmla="*/ 252990 h 584143"/>
                  <a:gd name="connsiteX1" fmla="*/ 2644 w 458614"/>
                  <a:gd name="connsiteY1" fmla="*/ 146123 h 584143"/>
                  <a:gd name="connsiteX2" fmla="*/ 52796 w 458614"/>
                  <a:gd name="connsiteY2" fmla="*/ 50611 h 584143"/>
                  <a:gd name="connsiteX3" fmla="*/ 115127 w 458614"/>
                  <a:gd name="connsiteY3" fmla="*/ 180446 h 584143"/>
                  <a:gd name="connsiteX4" fmla="*/ 218306 w 458614"/>
                  <a:gd name="connsiteY4" fmla="*/ 130846 h 584143"/>
                  <a:gd name="connsiteX5" fmla="*/ 156240 w 458614"/>
                  <a:gd name="connsiteY5" fmla="*/ 1143 h 584143"/>
                  <a:gd name="connsiteX6" fmla="*/ 257071 w 458614"/>
                  <a:gd name="connsiteY6" fmla="*/ 19505 h 584143"/>
                  <a:gd name="connsiteX7" fmla="*/ 330801 w 458614"/>
                  <a:gd name="connsiteY7" fmla="*/ 90693 h 584143"/>
                  <a:gd name="connsiteX8" fmla="*/ 352688 w 458614"/>
                  <a:gd name="connsiteY8" fmla="*/ 190817 h 584143"/>
                  <a:gd name="connsiteX9" fmla="*/ 315384 w 458614"/>
                  <a:gd name="connsiteY9" fmla="*/ 286278 h 584143"/>
                  <a:gd name="connsiteX10" fmla="*/ 458614 w 458614"/>
                  <a:gd name="connsiteY10" fmla="*/ 584143 h 58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8614" h="584143">
                    <a:moveTo>
                      <a:pt x="17386" y="252990"/>
                    </a:moveTo>
                    <a:cubicBezTo>
                      <a:pt x="1449" y="219775"/>
                      <a:pt x="-3706" y="182411"/>
                      <a:pt x="2644" y="146123"/>
                    </a:cubicBezTo>
                    <a:cubicBezTo>
                      <a:pt x="8992" y="109834"/>
                      <a:pt x="26529" y="76439"/>
                      <a:pt x="52796" y="50611"/>
                    </a:cubicBezTo>
                    <a:lnTo>
                      <a:pt x="115127" y="180446"/>
                    </a:lnTo>
                    <a:lnTo>
                      <a:pt x="218306" y="130846"/>
                    </a:lnTo>
                    <a:lnTo>
                      <a:pt x="156240" y="1143"/>
                    </a:lnTo>
                    <a:cubicBezTo>
                      <a:pt x="190925" y="-2819"/>
                      <a:pt x="226009" y="3569"/>
                      <a:pt x="257071" y="19505"/>
                    </a:cubicBezTo>
                    <a:cubicBezTo>
                      <a:pt x="288133" y="35439"/>
                      <a:pt x="313786" y="60209"/>
                      <a:pt x="330801" y="90693"/>
                    </a:cubicBezTo>
                    <a:cubicBezTo>
                      <a:pt x="347815" y="121177"/>
                      <a:pt x="355430" y="156014"/>
                      <a:pt x="352688" y="190817"/>
                    </a:cubicBezTo>
                    <a:cubicBezTo>
                      <a:pt x="349944" y="225621"/>
                      <a:pt x="336966" y="258834"/>
                      <a:pt x="315384" y="286278"/>
                    </a:cubicBezTo>
                    <a:lnTo>
                      <a:pt x="458614" y="584143"/>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41" name="Freeform 75">
                <a:extLst>
                  <a:ext uri="{FF2B5EF4-FFF2-40B4-BE49-F238E27FC236}">
                    <a16:creationId xmlns:a16="http://schemas.microsoft.com/office/drawing/2014/main" id="{3DA98CDF-5086-3105-75B2-04A8097A8F02}"/>
                  </a:ext>
                </a:extLst>
              </p:cNvPr>
              <p:cNvSpPr/>
              <p:nvPr/>
            </p:nvSpPr>
            <p:spPr>
              <a:xfrm>
                <a:off x="6607517" y="3310807"/>
                <a:ext cx="269497" cy="599528"/>
              </a:xfrm>
              <a:custGeom>
                <a:avLst/>
                <a:gdLst>
                  <a:gd name="connsiteX0" fmla="*/ 82755 w 269497"/>
                  <a:gd name="connsiteY0" fmla="*/ 203119 h 599528"/>
                  <a:gd name="connsiteX1" fmla="*/ 76973 w 269497"/>
                  <a:gd name="connsiteY1" fmla="*/ 192386 h 599528"/>
                  <a:gd name="connsiteX2" fmla="*/ 78644 w 269497"/>
                  <a:gd name="connsiteY2" fmla="*/ 180308 h 599528"/>
                  <a:gd name="connsiteX3" fmla="*/ 199329 w 269497"/>
                  <a:gd name="connsiteY3" fmla="*/ 11217 h 599528"/>
                  <a:gd name="connsiteX4" fmla="*/ 208864 w 269497"/>
                  <a:gd name="connsiteY4" fmla="*/ 1589 h 599528"/>
                  <a:gd name="connsiteX5" fmla="*/ 222404 w 269497"/>
                  <a:gd name="connsiteY5" fmla="*/ 1005 h 599528"/>
                  <a:gd name="connsiteX6" fmla="*/ 256886 w 269497"/>
                  <a:gd name="connsiteY6" fmla="*/ 12808 h 599528"/>
                  <a:gd name="connsiteX7" fmla="*/ 267217 w 269497"/>
                  <a:gd name="connsiteY7" fmla="*/ 21541 h 599528"/>
                  <a:gd name="connsiteX8" fmla="*/ 268954 w 269497"/>
                  <a:gd name="connsiteY8" fmla="*/ 34956 h 599528"/>
                  <a:gd name="connsiteX9" fmla="*/ 261262 w 269497"/>
                  <a:gd name="connsiteY9" fmla="*/ 242507 h 599528"/>
                  <a:gd name="connsiteX10" fmla="*/ 255175 w 269497"/>
                  <a:gd name="connsiteY10" fmla="*/ 253029 h 599528"/>
                  <a:gd name="connsiteX11" fmla="*/ 244022 w 269497"/>
                  <a:gd name="connsiteY11" fmla="*/ 257891 h 599528"/>
                  <a:gd name="connsiteX12" fmla="*/ 199992 w 269497"/>
                  <a:gd name="connsiteY12" fmla="*/ 262665 h 599528"/>
                  <a:gd name="connsiteX13" fmla="*/ 85275 w 269497"/>
                  <a:gd name="connsiteY13" fmla="*/ 599528 h 599528"/>
                  <a:gd name="connsiteX14" fmla="*/ 0 w 269497"/>
                  <a:gd name="connsiteY14" fmla="*/ 570610 h 599528"/>
                  <a:gd name="connsiteX15" fmla="*/ 114717 w 269497"/>
                  <a:gd name="connsiteY15" fmla="*/ 234152 h 599528"/>
                  <a:gd name="connsiteX16" fmla="*/ 82755 w 269497"/>
                  <a:gd name="connsiteY16" fmla="*/ 203119 h 59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9497" h="599528">
                    <a:moveTo>
                      <a:pt x="82755" y="203119"/>
                    </a:moveTo>
                    <a:cubicBezTo>
                      <a:pt x="79745" y="200246"/>
                      <a:pt x="77715" y="196486"/>
                      <a:pt x="76973" y="192386"/>
                    </a:cubicBezTo>
                    <a:cubicBezTo>
                      <a:pt x="76243" y="188285"/>
                      <a:pt x="76827" y="184055"/>
                      <a:pt x="78644" y="180308"/>
                    </a:cubicBezTo>
                    <a:lnTo>
                      <a:pt x="199329" y="11217"/>
                    </a:lnTo>
                    <a:cubicBezTo>
                      <a:pt x="201185" y="6921"/>
                      <a:pt x="204593" y="3482"/>
                      <a:pt x="208864" y="1589"/>
                    </a:cubicBezTo>
                    <a:cubicBezTo>
                      <a:pt x="213148" y="-305"/>
                      <a:pt x="217988" y="-513"/>
                      <a:pt x="222404" y="1005"/>
                    </a:cubicBezTo>
                    <a:lnTo>
                      <a:pt x="256886" y="12808"/>
                    </a:lnTo>
                    <a:cubicBezTo>
                      <a:pt x="261302" y="14328"/>
                      <a:pt x="264989" y="17443"/>
                      <a:pt x="267217" y="21541"/>
                    </a:cubicBezTo>
                    <a:cubicBezTo>
                      <a:pt x="269458" y="25639"/>
                      <a:pt x="270068" y="30424"/>
                      <a:pt x="268954" y="34956"/>
                    </a:cubicBezTo>
                    <a:lnTo>
                      <a:pt x="261262" y="242507"/>
                    </a:lnTo>
                    <a:cubicBezTo>
                      <a:pt x="260413" y="246575"/>
                      <a:pt x="258278" y="250261"/>
                      <a:pt x="255175" y="253029"/>
                    </a:cubicBezTo>
                    <a:cubicBezTo>
                      <a:pt x="252072" y="255797"/>
                      <a:pt x="248159" y="257500"/>
                      <a:pt x="244022" y="257891"/>
                    </a:cubicBezTo>
                    <a:cubicBezTo>
                      <a:pt x="233677" y="257891"/>
                      <a:pt x="203307" y="252851"/>
                      <a:pt x="199992" y="262665"/>
                    </a:cubicBezTo>
                    <a:lnTo>
                      <a:pt x="85275" y="599528"/>
                    </a:lnTo>
                    <a:lnTo>
                      <a:pt x="0" y="570610"/>
                    </a:lnTo>
                    <a:lnTo>
                      <a:pt x="114717" y="234152"/>
                    </a:lnTo>
                    <a:cubicBezTo>
                      <a:pt x="118032" y="223940"/>
                      <a:pt x="90977" y="209352"/>
                      <a:pt x="82755" y="203119"/>
                    </a:cubicBezTo>
                    <a:close/>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42" name="Freeform 76">
                <a:extLst>
                  <a:ext uri="{FF2B5EF4-FFF2-40B4-BE49-F238E27FC236}">
                    <a16:creationId xmlns:a16="http://schemas.microsoft.com/office/drawing/2014/main" id="{F69708CD-DACB-95F9-DFFA-EE8758860926}"/>
                  </a:ext>
                </a:extLst>
              </p:cNvPr>
              <p:cNvSpPr/>
              <p:nvPr/>
            </p:nvSpPr>
            <p:spPr>
              <a:xfrm>
                <a:off x="6464950" y="3867140"/>
                <a:ext cx="283882" cy="231250"/>
              </a:xfrm>
              <a:custGeom>
                <a:avLst/>
                <a:gdLst>
                  <a:gd name="connsiteX0" fmla="*/ 232616 w 283882"/>
                  <a:gd name="connsiteY0" fmla="*/ 231251 h 231250"/>
                  <a:gd name="connsiteX1" fmla="*/ 282879 w 283882"/>
                  <a:gd name="connsiteY1" fmla="*/ 83379 h 231250"/>
                  <a:gd name="connsiteX2" fmla="*/ 283848 w 283882"/>
                  <a:gd name="connsiteY2" fmla="*/ 76164 h 231250"/>
                  <a:gd name="connsiteX3" fmla="*/ 281951 w 283882"/>
                  <a:gd name="connsiteY3" fmla="*/ 69149 h 231250"/>
                  <a:gd name="connsiteX4" fmla="*/ 277522 w 283882"/>
                  <a:gd name="connsiteY4" fmla="*/ 63380 h 231250"/>
                  <a:gd name="connsiteX5" fmla="*/ 271209 w 283882"/>
                  <a:gd name="connsiteY5" fmla="*/ 59772 h 231250"/>
                  <a:gd name="connsiteX6" fmla="*/ 98139 w 283882"/>
                  <a:gd name="connsiteY6" fmla="*/ 1015 h 231250"/>
                  <a:gd name="connsiteX7" fmla="*/ 83896 w 283882"/>
                  <a:gd name="connsiteY7" fmla="*/ 1881 h 231250"/>
                  <a:gd name="connsiteX8" fmla="*/ 74400 w 283882"/>
                  <a:gd name="connsiteY8" fmla="*/ 12553 h 231250"/>
                  <a:gd name="connsiteX9" fmla="*/ 0 w 283882"/>
                  <a:gd name="connsiteY9" fmla="*/ 230985 h 231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882" h="231250">
                    <a:moveTo>
                      <a:pt x="232616" y="231251"/>
                    </a:moveTo>
                    <a:lnTo>
                      <a:pt x="282879" y="83379"/>
                    </a:lnTo>
                    <a:cubicBezTo>
                      <a:pt x="283675" y="81058"/>
                      <a:pt x="283993" y="78605"/>
                      <a:pt x="283848" y="76164"/>
                    </a:cubicBezTo>
                    <a:cubicBezTo>
                      <a:pt x="283689" y="73724"/>
                      <a:pt x="283039" y="71337"/>
                      <a:pt x="281951" y="69149"/>
                    </a:cubicBezTo>
                    <a:cubicBezTo>
                      <a:pt x="280877" y="66947"/>
                      <a:pt x="279365" y="64984"/>
                      <a:pt x="277522" y="63380"/>
                    </a:cubicBezTo>
                    <a:cubicBezTo>
                      <a:pt x="275678" y="61775"/>
                      <a:pt x="273530" y="60542"/>
                      <a:pt x="271209" y="59772"/>
                    </a:cubicBezTo>
                    <a:lnTo>
                      <a:pt x="98139" y="1015"/>
                    </a:lnTo>
                    <a:cubicBezTo>
                      <a:pt x="93471" y="-592"/>
                      <a:pt x="88339" y="-281"/>
                      <a:pt x="83896" y="1881"/>
                    </a:cubicBezTo>
                    <a:cubicBezTo>
                      <a:pt x="79440" y="4044"/>
                      <a:pt x="76031" y="7881"/>
                      <a:pt x="74400" y="12553"/>
                    </a:cubicBezTo>
                    <a:lnTo>
                      <a:pt x="0" y="230985"/>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43" name="Freeform 77">
                <a:extLst>
                  <a:ext uri="{FF2B5EF4-FFF2-40B4-BE49-F238E27FC236}">
                    <a16:creationId xmlns:a16="http://schemas.microsoft.com/office/drawing/2014/main" id="{8AC951A8-DC60-8573-79AD-9E3B0427187C}"/>
                  </a:ext>
                </a:extLst>
              </p:cNvPr>
              <p:cNvSpPr/>
              <p:nvPr/>
            </p:nvSpPr>
            <p:spPr>
              <a:xfrm>
                <a:off x="6289101" y="3105098"/>
                <a:ext cx="146751" cy="190530"/>
              </a:xfrm>
              <a:custGeom>
                <a:avLst/>
                <a:gdLst>
                  <a:gd name="connsiteX0" fmla="*/ 109220 w 146751"/>
                  <a:gd name="connsiteY0" fmla="*/ 190530 h 190530"/>
                  <a:gd name="connsiteX1" fmla="*/ 35457 w 146751"/>
                  <a:gd name="connsiteY1" fmla="*/ 174584 h 190530"/>
                  <a:gd name="connsiteX2" fmla="*/ 7169 w 146751"/>
                  <a:gd name="connsiteY2" fmla="*/ 154995 h 190530"/>
                  <a:gd name="connsiteX3" fmla="*/ 1015 w 146751"/>
                  <a:gd name="connsiteY3" fmla="*/ 121139 h 190530"/>
                  <a:gd name="connsiteX4" fmla="*/ 19542 w 146751"/>
                  <a:gd name="connsiteY4" fmla="*/ 35457 h 190530"/>
                  <a:gd name="connsiteX5" fmla="*/ 39130 w 146751"/>
                  <a:gd name="connsiteY5" fmla="*/ 7168 h 190530"/>
                  <a:gd name="connsiteX6" fmla="*/ 72988 w 146751"/>
                  <a:gd name="connsiteY6" fmla="*/ 1015 h 190530"/>
                  <a:gd name="connsiteX7" fmla="*/ 146752 w 146751"/>
                  <a:gd name="connsiteY7" fmla="*/ 16962 h 190530"/>
                  <a:gd name="connsiteX8" fmla="*/ 109220 w 146751"/>
                  <a:gd name="connsiteY8" fmla="*/ 190530 h 19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751" h="190530">
                    <a:moveTo>
                      <a:pt x="109220" y="190530"/>
                    </a:moveTo>
                    <a:lnTo>
                      <a:pt x="35457" y="174584"/>
                    </a:lnTo>
                    <a:cubicBezTo>
                      <a:pt x="23813" y="172064"/>
                      <a:pt x="13627" y="165018"/>
                      <a:pt x="7169" y="154995"/>
                    </a:cubicBezTo>
                    <a:cubicBezTo>
                      <a:pt x="710" y="144972"/>
                      <a:pt x="-1505" y="132794"/>
                      <a:pt x="1015" y="121139"/>
                    </a:cubicBezTo>
                    <a:lnTo>
                      <a:pt x="19542" y="35457"/>
                    </a:lnTo>
                    <a:cubicBezTo>
                      <a:pt x="22062" y="23804"/>
                      <a:pt x="29117" y="13626"/>
                      <a:pt x="39130" y="7168"/>
                    </a:cubicBezTo>
                    <a:cubicBezTo>
                      <a:pt x="49156" y="709"/>
                      <a:pt x="61331" y="-1504"/>
                      <a:pt x="72988" y="1015"/>
                    </a:cubicBezTo>
                    <a:lnTo>
                      <a:pt x="146752" y="16962"/>
                    </a:lnTo>
                    <a:lnTo>
                      <a:pt x="109220" y="190530"/>
                    </a:lnTo>
                    <a:close/>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grpSp>
      </p:grpSp>
      <p:grpSp>
        <p:nvGrpSpPr>
          <p:cNvPr id="44" name="Group 43" descr="Operate icon">
            <a:extLst>
              <a:ext uri="{FF2B5EF4-FFF2-40B4-BE49-F238E27FC236}">
                <a16:creationId xmlns:a16="http://schemas.microsoft.com/office/drawing/2014/main" id="{DDFC40FD-44F8-4A5F-6DE7-140B2C0442A3}"/>
              </a:ext>
            </a:extLst>
          </p:cNvPr>
          <p:cNvGrpSpPr/>
          <p:nvPr/>
        </p:nvGrpSpPr>
        <p:grpSpPr>
          <a:xfrm>
            <a:off x="8924239" y="1645626"/>
            <a:ext cx="2652410" cy="4322655"/>
            <a:chOff x="8924239" y="1741714"/>
            <a:chExt cx="2652410" cy="4322655"/>
          </a:xfrm>
        </p:grpSpPr>
        <p:sp>
          <p:nvSpPr>
            <p:cNvPr id="45" name="Rectangle: Rounded Corners 10">
              <a:extLst>
                <a:ext uri="{FF2B5EF4-FFF2-40B4-BE49-F238E27FC236}">
                  <a16:creationId xmlns:a16="http://schemas.microsoft.com/office/drawing/2014/main" id="{4A73E3FC-2A7C-879C-AC1F-320F6E1A2F68}"/>
                </a:ext>
              </a:extLst>
            </p:cNvPr>
            <p:cNvSpPr/>
            <p:nvPr/>
          </p:nvSpPr>
          <p:spPr>
            <a:xfrm>
              <a:off x="8924239"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232F3E"/>
                  </a:solidFill>
                  <a:effectLst/>
                  <a:uLnTx/>
                  <a:uFillTx/>
                  <a:latin typeface="Amazon Ember Medium"/>
                  <a:ea typeface="+mn-ea"/>
                  <a:cs typeface="+mn-cs"/>
                </a:rPr>
                <a:t>Operate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232F3E"/>
                </a:solidFill>
                <a:effectLst/>
                <a:uLnTx/>
                <a:uFillTx/>
                <a:latin typeface="Amazon Ember Medium"/>
                <a:ea typeface="+mn-ea"/>
                <a:cs typeface="+mn-cs"/>
              </a:endParaRPr>
            </a:p>
          </p:txBody>
        </p:sp>
        <p:pic>
          <p:nvPicPr>
            <p:cNvPr id="46" name="Graphic 25">
              <a:extLst>
                <a:ext uri="{FF2B5EF4-FFF2-40B4-BE49-F238E27FC236}">
                  <a16:creationId xmlns:a16="http://schemas.microsoft.com/office/drawing/2014/main" id="{2B1CC7FE-DFD4-F4FA-4F2C-6FD15C71F8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43893" y="2562396"/>
              <a:ext cx="2613101" cy="2613101"/>
            </a:xfrm>
            <a:prstGeom prst="rect">
              <a:avLst/>
            </a:prstGeom>
          </p:spPr>
        </p:pic>
      </p:grpSp>
    </p:spTree>
    <p:extLst>
      <p:ext uri="{BB962C8B-B14F-4D97-AF65-F5344CB8AC3E}">
        <p14:creationId xmlns:p14="http://schemas.microsoft.com/office/powerpoint/2010/main" val="349351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7AF9-25D7-5229-A95F-06E259C4583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AB658B-05EB-CF27-CFAB-D4D3E0238DE6}"/>
              </a:ext>
            </a:extLst>
          </p:cNvPr>
          <p:cNvSpPr>
            <a:spLocks noGrp="1"/>
          </p:cNvSpPr>
          <p:nvPr>
            <p:ph type="sldNum" idx="97"/>
          </p:nvPr>
        </p:nvSpPr>
        <p:spPr/>
        <p:txBody>
          <a:bodyPr/>
          <a:lstStyle/>
          <a:p>
            <a:fld id="{86A8BF56-6CB3-514C-9A64-F39D95C9E25B}" type="slidenum">
              <a:rPr lang="en-US" smtClean="0"/>
              <a:t>12</a:t>
            </a:fld>
            <a:endParaRPr lang="en-US"/>
          </a:p>
        </p:txBody>
      </p:sp>
      <p:sp>
        <p:nvSpPr>
          <p:cNvPr id="3" name="Title 2">
            <a:extLst>
              <a:ext uri="{FF2B5EF4-FFF2-40B4-BE49-F238E27FC236}">
                <a16:creationId xmlns:a16="http://schemas.microsoft.com/office/drawing/2014/main" id="{176B1681-6015-456C-4804-83DBC56D4885}"/>
              </a:ext>
            </a:extLst>
          </p:cNvPr>
          <p:cNvSpPr>
            <a:spLocks noGrp="1"/>
          </p:cNvSpPr>
          <p:nvPr>
            <p:ph type="title" idx="1"/>
          </p:nvPr>
        </p:nvSpPr>
        <p:spPr/>
        <p:txBody>
          <a:bodyPr/>
          <a:lstStyle/>
          <a:p>
            <a:r>
              <a:rPr lang="en-US" dirty="0"/>
              <a:t>Everyone must consider RAI!</a:t>
            </a:r>
          </a:p>
        </p:txBody>
      </p:sp>
      <p:sp>
        <p:nvSpPr>
          <p:cNvPr id="5" name="Right Arrow 4">
            <a:extLst>
              <a:ext uri="{FF2B5EF4-FFF2-40B4-BE49-F238E27FC236}">
                <a16:creationId xmlns:a16="http://schemas.microsoft.com/office/drawing/2014/main" id="{A79B4AF6-4539-E19B-28EC-AF64F576C88E}"/>
              </a:ext>
              <a:ext uri="{C183D7F6-B498-43B3-948B-1728B52AA6E4}">
                <adec:decorative xmlns:adec="http://schemas.microsoft.com/office/drawing/2017/decorative" val="1"/>
              </a:ext>
            </a:extLst>
          </p:cNvPr>
          <p:cNvSpPr/>
          <p:nvPr/>
        </p:nvSpPr>
        <p:spPr>
          <a:xfrm>
            <a:off x="3521291" y="3528924"/>
            <a:ext cx="1122600" cy="55605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6" name="Right Arrow 5">
            <a:extLst>
              <a:ext uri="{FF2B5EF4-FFF2-40B4-BE49-F238E27FC236}">
                <a16:creationId xmlns:a16="http://schemas.microsoft.com/office/drawing/2014/main" id="{C12832AF-15C7-FB76-5F3F-4442984E6502}"/>
              </a:ext>
              <a:ext uri="{C183D7F6-B498-43B3-948B-1728B52AA6E4}">
                <adec:decorative xmlns:adec="http://schemas.microsoft.com/office/drawing/2017/decorative" val="1"/>
              </a:ext>
            </a:extLst>
          </p:cNvPr>
          <p:cNvSpPr/>
          <p:nvPr/>
        </p:nvSpPr>
        <p:spPr>
          <a:xfrm>
            <a:off x="7652737" y="3528924"/>
            <a:ext cx="1122600" cy="55605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nvGrpSpPr>
          <p:cNvPr id="7" name="Group 6" descr="Design">
            <a:extLst>
              <a:ext uri="{FF2B5EF4-FFF2-40B4-BE49-F238E27FC236}">
                <a16:creationId xmlns:a16="http://schemas.microsoft.com/office/drawing/2014/main" id="{57E96F5E-F5B8-8952-5EB1-2B6AEBA51F91}"/>
              </a:ext>
            </a:extLst>
          </p:cNvPr>
          <p:cNvGrpSpPr/>
          <p:nvPr/>
        </p:nvGrpSpPr>
        <p:grpSpPr>
          <a:xfrm>
            <a:off x="615350" y="1645624"/>
            <a:ext cx="2685287" cy="4322655"/>
            <a:chOff x="615350" y="1741714"/>
            <a:chExt cx="2685287" cy="4322655"/>
          </a:xfrm>
        </p:grpSpPr>
        <p:sp>
          <p:nvSpPr>
            <p:cNvPr id="8" name="Rectangle: Rounded Corners 45">
              <a:extLst>
                <a:ext uri="{FF2B5EF4-FFF2-40B4-BE49-F238E27FC236}">
                  <a16:creationId xmlns:a16="http://schemas.microsoft.com/office/drawing/2014/main" id="{E35CB249-D04B-1215-6805-2FBA8E5EDA3F}"/>
                </a:ext>
              </a:extLst>
            </p:cNvPr>
            <p:cNvSpPr/>
            <p:nvPr/>
          </p:nvSpPr>
          <p:spPr>
            <a:xfrm>
              <a:off x="648227"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232F3E"/>
                  </a:solidFill>
                  <a:effectLst/>
                  <a:uLnTx/>
                  <a:uFillTx/>
                  <a:latin typeface="Amazon Ember Medium"/>
                  <a:ea typeface="+mn-ea"/>
                  <a:cs typeface="+mn-cs"/>
                </a:rPr>
                <a:t>Design</a:t>
              </a:r>
            </a:p>
          </p:txBody>
        </p:sp>
        <p:pic>
          <p:nvPicPr>
            <p:cNvPr id="9" name="Graphic 16">
              <a:extLst>
                <a:ext uri="{FF2B5EF4-FFF2-40B4-BE49-F238E27FC236}">
                  <a16:creationId xmlns:a16="http://schemas.microsoft.com/office/drawing/2014/main" id="{2E366D1E-838D-F6F7-6F7A-5844C4B799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350" y="2576835"/>
              <a:ext cx="2652411" cy="2652411"/>
            </a:xfrm>
            <a:prstGeom prst="rect">
              <a:avLst/>
            </a:prstGeom>
          </p:spPr>
        </p:pic>
      </p:grpSp>
      <p:grpSp>
        <p:nvGrpSpPr>
          <p:cNvPr id="10" name="Group 9" descr="Build.">
            <a:extLst>
              <a:ext uri="{FF2B5EF4-FFF2-40B4-BE49-F238E27FC236}">
                <a16:creationId xmlns:a16="http://schemas.microsoft.com/office/drawing/2014/main" id="{4155E078-D255-90D7-97B4-A89FAA482F06}"/>
              </a:ext>
            </a:extLst>
          </p:cNvPr>
          <p:cNvGrpSpPr/>
          <p:nvPr/>
        </p:nvGrpSpPr>
        <p:grpSpPr>
          <a:xfrm>
            <a:off x="4781828" y="1645626"/>
            <a:ext cx="2652410" cy="4322655"/>
            <a:chOff x="4781828" y="1741714"/>
            <a:chExt cx="2652410" cy="4322655"/>
          </a:xfrm>
        </p:grpSpPr>
        <p:sp>
          <p:nvSpPr>
            <p:cNvPr id="11" name="Rectangle: Rounded Corners 12">
              <a:extLst>
                <a:ext uri="{FF2B5EF4-FFF2-40B4-BE49-F238E27FC236}">
                  <a16:creationId xmlns:a16="http://schemas.microsoft.com/office/drawing/2014/main" id="{FBE9997A-7718-41E3-0DD3-7A7DCB9933D6}"/>
                </a:ext>
              </a:extLst>
            </p:cNvPr>
            <p:cNvSpPr/>
            <p:nvPr/>
          </p:nvSpPr>
          <p:spPr>
            <a:xfrm>
              <a:off x="4781828"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232F3E"/>
                  </a:solidFill>
                  <a:effectLst/>
                  <a:uLnTx/>
                  <a:uFillTx/>
                  <a:latin typeface="Amazon Ember Medium"/>
                  <a:ea typeface="+mn-ea"/>
                  <a:cs typeface="+mn-cs"/>
                </a:rPr>
                <a:t>Build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232F3E"/>
                </a:solidFill>
                <a:effectLst/>
                <a:uLnTx/>
                <a:uFillTx/>
                <a:latin typeface="Amazon Ember Medium"/>
                <a:ea typeface="+mn-ea"/>
                <a:cs typeface="+mn-cs"/>
              </a:endParaRPr>
            </a:p>
          </p:txBody>
        </p:sp>
        <p:grpSp>
          <p:nvGrpSpPr>
            <p:cNvPr id="12" name="Group 11">
              <a:extLst>
                <a:ext uri="{FF2B5EF4-FFF2-40B4-BE49-F238E27FC236}">
                  <a16:creationId xmlns:a16="http://schemas.microsoft.com/office/drawing/2014/main" id="{5F39FA52-CA21-4A38-8B81-E2CAC5E81AB7}"/>
                </a:ext>
              </a:extLst>
            </p:cNvPr>
            <p:cNvGrpSpPr/>
            <p:nvPr/>
          </p:nvGrpSpPr>
          <p:grpSpPr>
            <a:xfrm>
              <a:off x="5216987" y="3019819"/>
              <a:ext cx="1758021" cy="1766487"/>
              <a:chOff x="5216987" y="3019819"/>
              <a:chExt cx="1758021" cy="1766487"/>
            </a:xfrm>
          </p:grpSpPr>
          <p:sp>
            <p:nvSpPr>
              <p:cNvPr id="13" name="Freeform 47">
                <a:extLst>
                  <a:ext uri="{FF2B5EF4-FFF2-40B4-BE49-F238E27FC236}">
                    <a16:creationId xmlns:a16="http://schemas.microsoft.com/office/drawing/2014/main" id="{6930E79D-F0CF-2969-D891-2CB4B9F35AC0}"/>
                  </a:ext>
                </a:extLst>
              </p:cNvPr>
              <p:cNvSpPr/>
              <p:nvPr/>
            </p:nvSpPr>
            <p:spPr>
              <a:xfrm>
                <a:off x="5216987" y="3410480"/>
                <a:ext cx="49069" cy="963349"/>
              </a:xfrm>
              <a:custGeom>
                <a:avLst/>
                <a:gdLst>
                  <a:gd name="connsiteX0" fmla="*/ 0 w 49069"/>
                  <a:gd name="connsiteY0" fmla="*/ 963350 h 963349"/>
                  <a:gd name="connsiteX1" fmla="*/ 0 w 49069"/>
                  <a:gd name="connsiteY1" fmla="*/ 0 h 963349"/>
                  <a:gd name="connsiteX2" fmla="*/ 49070 w 49069"/>
                  <a:gd name="connsiteY2" fmla="*/ 0 h 963349"/>
                </a:gdLst>
                <a:ahLst/>
                <a:cxnLst>
                  <a:cxn ang="0">
                    <a:pos x="connsiteX0" y="connsiteY0"/>
                  </a:cxn>
                  <a:cxn ang="0">
                    <a:pos x="connsiteX1" y="connsiteY1"/>
                  </a:cxn>
                  <a:cxn ang="0">
                    <a:pos x="connsiteX2" y="connsiteY2"/>
                  </a:cxn>
                </a:cxnLst>
                <a:rect l="l" t="t" r="r" b="b"/>
                <a:pathLst>
                  <a:path w="49069" h="963349">
                    <a:moveTo>
                      <a:pt x="0" y="963350"/>
                    </a:moveTo>
                    <a:lnTo>
                      <a:pt x="0" y="0"/>
                    </a:lnTo>
                    <a:lnTo>
                      <a:pt x="4907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4" name="Freeform 48">
                <a:extLst>
                  <a:ext uri="{FF2B5EF4-FFF2-40B4-BE49-F238E27FC236}">
                    <a16:creationId xmlns:a16="http://schemas.microsoft.com/office/drawing/2014/main" id="{23A8EBC1-1750-8E05-1109-DD59CCB3FD73}"/>
                  </a:ext>
                </a:extLst>
              </p:cNvPr>
              <p:cNvSpPr/>
              <p:nvPr/>
            </p:nvSpPr>
            <p:spPr>
              <a:xfrm>
                <a:off x="5216987" y="4439119"/>
                <a:ext cx="13262" cy="147076"/>
              </a:xfrm>
              <a:custGeom>
                <a:avLst/>
                <a:gdLst>
                  <a:gd name="connsiteX0" fmla="*/ 0 w 13262"/>
                  <a:gd name="connsiteY0" fmla="*/ 147076 h 147076"/>
                  <a:gd name="connsiteX1" fmla="*/ 0 w 13262"/>
                  <a:gd name="connsiteY1" fmla="*/ 0 h 147076"/>
                </a:gdLst>
                <a:ahLst/>
                <a:cxnLst>
                  <a:cxn ang="0">
                    <a:pos x="connsiteX0" y="connsiteY0"/>
                  </a:cxn>
                  <a:cxn ang="0">
                    <a:pos x="connsiteX1" y="connsiteY1"/>
                  </a:cxn>
                </a:cxnLst>
                <a:rect l="l" t="t" r="r" b="b"/>
                <a:pathLst>
                  <a:path w="13262" h="147076">
                    <a:moveTo>
                      <a:pt x="0" y="147076"/>
                    </a:moveTo>
                    <a:lnTo>
                      <a:pt x="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5" name="Freeform 49">
                <a:extLst>
                  <a:ext uri="{FF2B5EF4-FFF2-40B4-BE49-F238E27FC236}">
                    <a16:creationId xmlns:a16="http://schemas.microsoft.com/office/drawing/2014/main" id="{19BD717F-7069-D7F1-B198-B6DA36EFC636}"/>
                  </a:ext>
                </a:extLst>
              </p:cNvPr>
              <p:cNvSpPr/>
              <p:nvPr/>
            </p:nvSpPr>
            <p:spPr>
              <a:xfrm>
                <a:off x="5216987" y="3752133"/>
                <a:ext cx="145749" cy="1034173"/>
              </a:xfrm>
              <a:custGeom>
                <a:avLst/>
                <a:gdLst>
                  <a:gd name="connsiteX0" fmla="*/ 145750 w 145749"/>
                  <a:gd name="connsiteY0" fmla="*/ 0 h 1034173"/>
                  <a:gd name="connsiteX1" fmla="*/ 145750 w 145749"/>
                  <a:gd name="connsiteY1" fmla="*/ 1034173 h 1034173"/>
                  <a:gd name="connsiteX2" fmla="*/ 0 w 145749"/>
                  <a:gd name="connsiteY2" fmla="*/ 1034173 h 1034173"/>
                  <a:gd name="connsiteX3" fmla="*/ 0 w 145749"/>
                  <a:gd name="connsiteY3" fmla="*/ 902614 h 1034173"/>
                </a:gdLst>
                <a:ahLst/>
                <a:cxnLst>
                  <a:cxn ang="0">
                    <a:pos x="connsiteX0" y="connsiteY0"/>
                  </a:cxn>
                  <a:cxn ang="0">
                    <a:pos x="connsiteX1" y="connsiteY1"/>
                  </a:cxn>
                  <a:cxn ang="0">
                    <a:pos x="connsiteX2" y="connsiteY2"/>
                  </a:cxn>
                  <a:cxn ang="0">
                    <a:pos x="connsiteX3" y="connsiteY3"/>
                  </a:cxn>
                </a:cxnLst>
                <a:rect l="l" t="t" r="r" b="b"/>
                <a:pathLst>
                  <a:path w="145749" h="1034173">
                    <a:moveTo>
                      <a:pt x="145750" y="0"/>
                    </a:moveTo>
                    <a:lnTo>
                      <a:pt x="145750" y="1034173"/>
                    </a:lnTo>
                    <a:lnTo>
                      <a:pt x="0" y="1034173"/>
                    </a:lnTo>
                    <a:lnTo>
                      <a:pt x="0" y="902614"/>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6" name="Freeform 50">
                <a:extLst>
                  <a:ext uri="{FF2B5EF4-FFF2-40B4-BE49-F238E27FC236}">
                    <a16:creationId xmlns:a16="http://schemas.microsoft.com/office/drawing/2014/main" id="{3161EFDB-FC93-D65A-F4B4-168E6C89DE25}"/>
                  </a:ext>
                </a:extLst>
              </p:cNvPr>
              <p:cNvSpPr/>
              <p:nvPr/>
            </p:nvSpPr>
            <p:spPr>
              <a:xfrm>
                <a:off x="6829258" y="3410480"/>
                <a:ext cx="145750" cy="1375799"/>
              </a:xfrm>
              <a:custGeom>
                <a:avLst/>
                <a:gdLst>
                  <a:gd name="connsiteX0" fmla="*/ 106494 w 145750"/>
                  <a:gd name="connsiteY0" fmla="*/ 0 h 1375799"/>
                  <a:gd name="connsiteX1" fmla="*/ 145750 w 145750"/>
                  <a:gd name="connsiteY1" fmla="*/ 0 h 1375799"/>
                  <a:gd name="connsiteX2" fmla="*/ 145750 w 145750"/>
                  <a:gd name="connsiteY2" fmla="*/ 1375800 h 1375799"/>
                  <a:gd name="connsiteX3" fmla="*/ 0 w 145750"/>
                  <a:gd name="connsiteY3" fmla="*/ 1375800 h 1375799"/>
                  <a:gd name="connsiteX4" fmla="*/ 0 w 145750"/>
                  <a:gd name="connsiteY4" fmla="*/ 283808 h 1375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750" h="1375799">
                    <a:moveTo>
                      <a:pt x="106494" y="0"/>
                    </a:moveTo>
                    <a:lnTo>
                      <a:pt x="145750" y="0"/>
                    </a:lnTo>
                    <a:lnTo>
                      <a:pt x="145750" y="1375800"/>
                    </a:lnTo>
                    <a:lnTo>
                      <a:pt x="0" y="1375800"/>
                    </a:lnTo>
                    <a:lnTo>
                      <a:pt x="0" y="283808"/>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7" name="Freeform 51">
                <a:extLst>
                  <a:ext uri="{FF2B5EF4-FFF2-40B4-BE49-F238E27FC236}">
                    <a16:creationId xmlns:a16="http://schemas.microsoft.com/office/drawing/2014/main" id="{117E5725-F063-FC83-B896-B53C0DADD6AC}"/>
                  </a:ext>
                </a:extLst>
              </p:cNvPr>
              <p:cNvSpPr/>
              <p:nvPr/>
            </p:nvSpPr>
            <p:spPr>
              <a:xfrm>
                <a:off x="6606854" y="4726216"/>
                <a:ext cx="163521" cy="13262"/>
              </a:xfrm>
              <a:custGeom>
                <a:avLst/>
                <a:gdLst>
                  <a:gd name="connsiteX0" fmla="*/ 0 w 163521"/>
                  <a:gd name="connsiteY0" fmla="*/ 0 h 13262"/>
                  <a:gd name="connsiteX1" fmla="*/ 163521 w 163521"/>
                  <a:gd name="connsiteY1" fmla="*/ 0 h 13262"/>
                </a:gdLst>
                <a:ahLst/>
                <a:cxnLst>
                  <a:cxn ang="0">
                    <a:pos x="connsiteX0" y="connsiteY0"/>
                  </a:cxn>
                  <a:cxn ang="0">
                    <a:pos x="connsiteX1" y="connsiteY1"/>
                  </a:cxn>
                </a:cxnLst>
                <a:rect l="l" t="t" r="r" b="b"/>
                <a:pathLst>
                  <a:path w="163521" h="13262">
                    <a:moveTo>
                      <a:pt x="0" y="0"/>
                    </a:moveTo>
                    <a:lnTo>
                      <a:pt x="163521"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8" name="Freeform 52">
                <a:extLst>
                  <a:ext uri="{FF2B5EF4-FFF2-40B4-BE49-F238E27FC236}">
                    <a16:creationId xmlns:a16="http://schemas.microsoft.com/office/drawing/2014/main" id="{C26B5FBF-267F-3287-09D5-BA5E16D80683}"/>
                  </a:ext>
                </a:extLst>
              </p:cNvPr>
              <p:cNvSpPr/>
              <p:nvPr/>
            </p:nvSpPr>
            <p:spPr>
              <a:xfrm>
                <a:off x="6358323" y="4726216"/>
                <a:ext cx="167764" cy="13262"/>
              </a:xfrm>
              <a:custGeom>
                <a:avLst/>
                <a:gdLst>
                  <a:gd name="connsiteX0" fmla="*/ 0 w 167764"/>
                  <a:gd name="connsiteY0" fmla="*/ 0 h 13262"/>
                  <a:gd name="connsiteX1" fmla="*/ 167765 w 167764"/>
                  <a:gd name="connsiteY1" fmla="*/ 0 h 13262"/>
                </a:gdLst>
                <a:ahLst/>
                <a:cxnLst>
                  <a:cxn ang="0">
                    <a:pos x="connsiteX0" y="connsiteY0"/>
                  </a:cxn>
                  <a:cxn ang="0">
                    <a:pos x="connsiteX1" y="connsiteY1"/>
                  </a:cxn>
                </a:cxnLst>
                <a:rect l="l" t="t" r="r" b="b"/>
                <a:pathLst>
                  <a:path w="167764" h="13262">
                    <a:moveTo>
                      <a:pt x="0" y="0"/>
                    </a:moveTo>
                    <a:lnTo>
                      <a:pt x="167765"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9" name="Freeform 53">
                <a:extLst>
                  <a:ext uri="{FF2B5EF4-FFF2-40B4-BE49-F238E27FC236}">
                    <a16:creationId xmlns:a16="http://schemas.microsoft.com/office/drawing/2014/main" id="{C817ECBD-0168-DB85-4DD9-93037FC7E36B}"/>
                  </a:ext>
                </a:extLst>
              </p:cNvPr>
              <p:cNvSpPr/>
              <p:nvPr/>
            </p:nvSpPr>
            <p:spPr>
              <a:xfrm>
                <a:off x="5421630" y="4726216"/>
                <a:ext cx="882186" cy="13262"/>
              </a:xfrm>
              <a:custGeom>
                <a:avLst/>
                <a:gdLst>
                  <a:gd name="connsiteX0" fmla="*/ 0 w 882186"/>
                  <a:gd name="connsiteY0" fmla="*/ 0 h 13262"/>
                  <a:gd name="connsiteX1" fmla="*/ 882186 w 882186"/>
                  <a:gd name="connsiteY1" fmla="*/ 0 h 13262"/>
                </a:gdLst>
                <a:ahLst/>
                <a:cxnLst>
                  <a:cxn ang="0">
                    <a:pos x="connsiteX0" y="connsiteY0"/>
                  </a:cxn>
                  <a:cxn ang="0">
                    <a:pos x="connsiteX1" y="connsiteY1"/>
                  </a:cxn>
                </a:cxnLst>
                <a:rect l="l" t="t" r="r" b="b"/>
                <a:pathLst>
                  <a:path w="882186" h="13262">
                    <a:moveTo>
                      <a:pt x="0" y="0"/>
                    </a:moveTo>
                    <a:lnTo>
                      <a:pt x="882186"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0" name="Freeform 54">
                <a:extLst>
                  <a:ext uri="{FF2B5EF4-FFF2-40B4-BE49-F238E27FC236}">
                    <a16:creationId xmlns:a16="http://schemas.microsoft.com/office/drawing/2014/main" id="{72E660C3-242F-7F5D-D42E-C40CC267CCA5}"/>
                  </a:ext>
                </a:extLst>
              </p:cNvPr>
              <p:cNvSpPr/>
              <p:nvPr/>
            </p:nvSpPr>
            <p:spPr>
              <a:xfrm>
                <a:off x="6383123" y="3509272"/>
                <a:ext cx="264710" cy="13262"/>
              </a:xfrm>
              <a:custGeom>
                <a:avLst/>
                <a:gdLst>
                  <a:gd name="connsiteX0" fmla="*/ 0 w 264710"/>
                  <a:gd name="connsiteY0" fmla="*/ 0 h 13262"/>
                  <a:gd name="connsiteX1" fmla="*/ 264711 w 264710"/>
                  <a:gd name="connsiteY1" fmla="*/ 0 h 13262"/>
                </a:gdLst>
                <a:ahLst/>
                <a:cxnLst>
                  <a:cxn ang="0">
                    <a:pos x="connsiteX0" y="connsiteY0"/>
                  </a:cxn>
                  <a:cxn ang="0">
                    <a:pos x="connsiteX1" y="connsiteY1"/>
                  </a:cxn>
                </a:cxnLst>
                <a:rect l="l" t="t" r="r" b="b"/>
                <a:pathLst>
                  <a:path w="264710" h="13262">
                    <a:moveTo>
                      <a:pt x="0" y="0"/>
                    </a:moveTo>
                    <a:lnTo>
                      <a:pt x="264711"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Freeform 55">
                <a:extLst>
                  <a:ext uri="{FF2B5EF4-FFF2-40B4-BE49-F238E27FC236}">
                    <a16:creationId xmlns:a16="http://schemas.microsoft.com/office/drawing/2014/main" id="{A5F805AB-F51E-3AE7-CB5C-25499E565915}"/>
                  </a:ext>
                </a:extLst>
              </p:cNvPr>
              <p:cNvSpPr/>
              <p:nvPr/>
            </p:nvSpPr>
            <p:spPr>
              <a:xfrm>
                <a:off x="5678245" y="3509272"/>
                <a:ext cx="175589" cy="13262"/>
              </a:xfrm>
              <a:custGeom>
                <a:avLst/>
                <a:gdLst>
                  <a:gd name="connsiteX0" fmla="*/ 0 w 175589"/>
                  <a:gd name="connsiteY0" fmla="*/ 0 h 13262"/>
                  <a:gd name="connsiteX1" fmla="*/ 175590 w 175589"/>
                  <a:gd name="connsiteY1" fmla="*/ 0 h 13262"/>
                </a:gdLst>
                <a:ahLst/>
                <a:cxnLst>
                  <a:cxn ang="0">
                    <a:pos x="connsiteX0" y="connsiteY0"/>
                  </a:cxn>
                  <a:cxn ang="0">
                    <a:pos x="connsiteX1" y="connsiteY1"/>
                  </a:cxn>
                </a:cxnLst>
                <a:rect l="l" t="t" r="r" b="b"/>
                <a:pathLst>
                  <a:path w="175589" h="13262">
                    <a:moveTo>
                      <a:pt x="0" y="0"/>
                    </a:moveTo>
                    <a:lnTo>
                      <a:pt x="17559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2" name="Freeform 56">
                <a:extLst>
                  <a:ext uri="{FF2B5EF4-FFF2-40B4-BE49-F238E27FC236}">
                    <a16:creationId xmlns:a16="http://schemas.microsoft.com/office/drawing/2014/main" id="{EFC97CF5-35C0-BC95-74D0-C4E1ECFF36FC}"/>
                  </a:ext>
                </a:extLst>
              </p:cNvPr>
              <p:cNvSpPr/>
              <p:nvPr/>
            </p:nvSpPr>
            <p:spPr>
              <a:xfrm>
                <a:off x="6395457" y="3626247"/>
                <a:ext cx="261262" cy="13262"/>
              </a:xfrm>
              <a:custGeom>
                <a:avLst/>
                <a:gdLst>
                  <a:gd name="connsiteX0" fmla="*/ 0 w 261262"/>
                  <a:gd name="connsiteY0" fmla="*/ 0 h 13262"/>
                  <a:gd name="connsiteX1" fmla="*/ 261262 w 261262"/>
                  <a:gd name="connsiteY1" fmla="*/ 0 h 13262"/>
                </a:gdLst>
                <a:ahLst/>
                <a:cxnLst>
                  <a:cxn ang="0">
                    <a:pos x="connsiteX0" y="connsiteY0"/>
                  </a:cxn>
                  <a:cxn ang="0">
                    <a:pos x="connsiteX1" y="connsiteY1"/>
                  </a:cxn>
                </a:cxnLst>
                <a:rect l="l" t="t" r="r" b="b"/>
                <a:pathLst>
                  <a:path w="261262" h="13262">
                    <a:moveTo>
                      <a:pt x="0" y="0"/>
                    </a:moveTo>
                    <a:lnTo>
                      <a:pt x="261262"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3" name="Freeform 57">
                <a:extLst>
                  <a:ext uri="{FF2B5EF4-FFF2-40B4-BE49-F238E27FC236}">
                    <a16:creationId xmlns:a16="http://schemas.microsoft.com/office/drawing/2014/main" id="{B6103901-2381-C590-DC59-24EA0E65B504}"/>
                  </a:ext>
                </a:extLst>
              </p:cNvPr>
              <p:cNvSpPr/>
              <p:nvPr/>
            </p:nvSpPr>
            <p:spPr>
              <a:xfrm>
                <a:off x="6069605" y="3626247"/>
                <a:ext cx="50531" cy="13262"/>
              </a:xfrm>
              <a:custGeom>
                <a:avLst/>
                <a:gdLst>
                  <a:gd name="connsiteX0" fmla="*/ 0 w 50531"/>
                  <a:gd name="connsiteY0" fmla="*/ 0 h 13262"/>
                  <a:gd name="connsiteX1" fmla="*/ 50531 w 50531"/>
                  <a:gd name="connsiteY1" fmla="*/ 0 h 13262"/>
                </a:gdLst>
                <a:ahLst/>
                <a:cxnLst>
                  <a:cxn ang="0">
                    <a:pos x="connsiteX0" y="connsiteY0"/>
                  </a:cxn>
                  <a:cxn ang="0">
                    <a:pos x="connsiteX1" y="connsiteY1"/>
                  </a:cxn>
                </a:cxnLst>
                <a:rect l="l" t="t" r="r" b="b"/>
                <a:pathLst>
                  <a:path w="50531" h="13262">
                    <a:moveTo>
                      <a:pt x="0" y="0"/>
                    </a:moveTo>
                    <a:lnTo>
                      <a:pt x="50531"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4" name="Freeform 58">
                <a:extLst>
                  <a:ext uri="{FF2B5EF4-FFF2-40B4-BE49-F238E27FC236}">
                    <a16:creationId xmlns:a16="http://schemas.microsoft.com/office/drawing/2014/main" id="{D44AF78D-A34B-B766-90AD-6B361B3B32F0}"/>
                  </a:ext>
                </a:extLst>
              </p:cNvPr>
              <p:cNvSpPr/>
              <p:nvPr/>
            </p:nvSpPr>
            <p:spPr>
              <a:xfrm>
                <a:off x="5661926" y="3626247"/>
                <a:ext cx="173202" cy="13262"/>
              </a:xfrm>
              <a:custGeom>
                <a:avLst/>
                <a:gdLst>
                  <a:gd name="connsiteX0" fmla="*/ 0 w 173202"/>
                  <a:gd name="connsiteY0" fmla="*/ 0 h 13262"/>
                  <a:gd name="connsiteX1" fmla="*/ 173202 w 173202"/>
                  <a:gd name="connsiteY1" fmla="*/ 0 h 13262"/>
                </a:gdLst>
                <a:ahLst/>
                <a:cxnLst>
                  <a:cxn ang="0">
                    <a:pos x="connsiteX0" y="connsiteY0"/>
                  </a:cxn>
                  <a:cxn ang="0">
                    <a:pos x="connsiteX1" y="connsiteY1"/>
                  </a:cxn>
                </a:cxnLst>
                <a:rect l="l" t="t" r="r" b="b"/>
                <a:pathLst>
                  <a:path w="173202" h="13262">
                    <a:moveTo>
                      <a:pt x="0" y="0"/>
                    </a:moveTo>
                    <a:lnTo>
                      <a:pt x="173202"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5" name="Freeform 59">
                <a:extLst>
                  <a:ext uri="{FF2B5EF4-FFF2-40B4-BE49-F238E27FC236}">
                    <a16:creationId xmlns:a16="http://schemas.microsoft.com/office/drawing/2014/main" id="{3F371FDC-781C-2446-4BC2-BC98531CF649}"/>
                  </a:ext>
                </a:extLst>
              </p:cNvPr>
              <p:cNvSpPr/>
              <p:nvPr/>
            </p:nvSpPr>
            <p:spPr>
              <a:xfrm>
                <a:off x="6167084" y="3638577"/>
                <a:ext cx="78113" cy="8355"/>
              </a:xfrm>
              <a:custGeom>
                <a:avLst/>
                <a:gdLst>
                  <a:gd name="connsiteX0" fmla="*/ 78113 w 78113"/>
                  <a:gd name="connsiteY0" fmla="*/ 0 h 8355"/>
                  <a:gd name="connsiteX1" fmla="*/ 0 w 78113"/>
                  <a:gd name="connsiteY1" fmla="*/ 8355 h 8355"/>
                </a:gdLst>
                <a:ahLst/>
                <a:cxnLst>
                  <a:cxn ang="0">
                    <a:pos x="connsiteX0" y="connsiteY0"/>
                  </a:cxn>
                  <a:cxn ang="0">
                    <a:pos x="connsiteX1" y="connsiteY1"/>
                  </a:cxn>
                </a:cxnLst>
                <a:rect l="l" t="t" r="r" b="b"/>
                <a:pathLst>
                  <a:path w="78113" h="8355">
                    <a:moveTo>
                      <a:pt x="78113" y="0"/>
                    </a:moveTo>
                    <a:lnTo>
                      <a:pt x="0" y="8355"/>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6" name="Freeform 60">
                <a:extLst>
                  <a:ext uri="{FF2B5EF4-FFF2-40B4-BE49-F238E27FC236}">
                    <a16:creationId xmlns:a16="http://schemas.microsoft.com/office/drawing/2014/main" id="{5B468C64-5A04-954C-A198-6DDBF3960E9D}"/>
                  </a:ext>
                </a:extLst>
              </p:cNvPr>
              <p:cNvSpPr/>
              <p:nvPr/>
            </p:nvSpPr>
            <p:spPr>
              <a:xfrm>
                <a:off x="6180479" y="3764203"/>
                <a:ext cx="78113" cy="8356"/>
              </a:xfrm>
              <a:custGeom>
                <a:avLst/>
                <a:gdLst>
                  <a:gd name="connsiteX0" fmla="*/ 78113 w 78113"/>
                  <a:gd name="connsiteY0" fmla="*/ 0 h 8356"/>
                  <a:gd name="connsiteX1" fmla="*/ 0 w 78113"/>
                  <a:gd name="connsiteY1" fmla="*/ 8356 h 8356"/>
                </a:gdLst>
                <a:ahLst/>
                <a:cxnLst>
                  <a:cxn ang="0">
                    <a:pos x="connsiteX0" y="connsiteY0"/>
                  </a:cxn>
                  <a:cxn ang="0">
                    <a:pos x="connsiteX1" y="connsiteY1"/>
                  </a:cxn>
                </a:cxnLst>
                <a:rect l="l" t="t" r="r" b="b"/>
                <a:pathLst>
                  <a:path w="78113" h="8356">
                    <a:moveTo>
                      <a:pt x="78113" y="0"/>
                    </a:moveTo>
                    <a:lnTo>
                      <a:pt x="0" y="8356"/>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7" name="Freeform 61">
                <a:extLst>
                  <a:ext uri="{FF2B5EF4-FFF2-40B4-BE49-F238E27FC236}">
                    <a16:creationId xmlns:a16="http://schemas.microsoft.com/office/drawing/2014/main" id="{C47D5447-1C7F-F347-D3BE-0F6BE19A437A}"/>
                  </a:ext>
                </a:extLst>
              </p:cNvPr>
              <p:cNvSpPr/>
              <p:nvPr/>
            </p:nvSpPr>
            <p:spPr>
              <a:xfrm>
                <a:off x="6193873" y="3889934"/>
                <a:ext cx="78113" cy="8355"/>
              </a:xfrm>
              <a:custGeom>
                <a:avLst/>
                <a:gdLst>
                  <a:gd name="connsiteX0" fmla="*/ 78113 w 78113"/>
                  <a:gd name="connsiteY0" fmla="*/ 0 h 8355"/>
                  <a:gd name="connsiteX1" fmla="*/ 0 w 78113"/>
                  <a:gd name="connsiteY1" fmla="*/ 8355 h 8355"/>
                </a:gdLst>
                <a:ahLst/>
                <a:cxnLst>
                  <a:cxn ang="0">
                    <a:pos x="connsiteX0" y="connsiteY0"/>
                  </a:cxn>
                  <a:cxn ang="0">
                    <a:pos x="connsiteX1" y="connsiteY1"/>
                  </a:cxn>
                </a:cxnLst>
                <a:rect l="l" t="t" r="r" b="b"/>
                <a:pathLst>
                  <a:path w="78113" h="8355">
                    <a:moveTo>
                      <a:pt x="78113" y="0"/>
                    </a:moveTo>
                    <a:lnTo>
                      <a:pt x="0" y="8355"/>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8" name="Freeform 62">
                <a:extLst>
                  <a:ext uri="{FF2B5EF4-FFF2-40B4-BE49-F238E27FC236}">
                    <a16:creationId xmlns:a16="http://schemas.microsoft.com/office/drawing/2014/main" id="{DA977E6A-28D2-9287-5DCA-A6BA1373F10F}"/>
                  </a:ext>
                </a:extLst>
              </p:cNvPr>
              <p:cNvSpPr/>
              <p:nvPr/>
            </p:nvSpPr>
            <p:spPr>
              <a:xfrm>
                <a:off x="6207268" y="4015609"/>
                <a:ext cx="78113" cy="8355"/>
              </a:xfrm>
              <a:custGeom>
                <a:avLst/>
                <a:gdLst>
                  <a:gd name="connsiteX0" fmla="*/ 78113 w 78113"/>
                  <a:gd name="connsiteY0" fmla="*/ 0 h 8355"/>
                  <a:gd name="connsiteX1" fmla="*/ 0 w 78113"/>
                  <a:gd name="connsiteY1" fmla="*/ 8355 h 8355"/>
                </a:gdLst>
                <a:ahLst/>
                <a:cxnLst>
                  <a:cxn ang="0">
                    <a:pos x="connsiteX0" y="connsiteY0"/>
                  </a:cxn>
                  <a:cxn ang="0">
                    <a:pos x="connsiteX1" y="connsiteY1"/>
                  </a:cxn>
                </a:cxnLst>
                <a:rect l="l" t="t" r="r" b="b"/>
                <a:pathLst>
                  <a:path w="78113" h="8355">
                    <a:moveTo>
                      <a:pt x="78113" y="0"/>
                    </a:moveTo>
                    <a:lnTo>
                      <a:pt x="0" y="8355"/>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9" name="Freeform 63">
                <a:extLst>
                  <a:ext uri="{FF2B5EF4-FFF2-40B4-BE49-F238E27FC236}">
                    <a16:creationId xmlns:a16="http://schemas.microsoft.com/office/drawing/2014/main" id="{5FD92109-F97A-307A-2481-F9AF018F9C16}"/>
                  </a:ext>
                </a:extLst>
              </p:cNvPr>
              <p:cNvSpPr/>
              <p:nvPr/>
            </p:nvSpPr>
            <p:spPr>
              <a:xfrm>
                <a:off x="6146130" y="3469382"/>
                <a:ext cx="265506" cy="628756"/>
              </a:xfrm>
              <a:custGeom>
                <a:avLst/>
                <a:gdLst>
                  <a:gd name="connsiteX0" fmla="*/ 64719 w 265506"/>
                  <a:gd name="connsiteY0" fmla="*/ 628757 h 628756"/>
                  <a:gd name="connsiteX1" fmla="*/ 0 w 265506"/>
                  <a:gd name="connsiteY1" fmla="*/ 21219 h 628756"/>
                  <a:gd name="connsiteX2" fmla="*/ 199196 w 265506"/>
                  <a:gd name="connsiteY2" fmla="*/ 0 h 628756"/>
                  <a:gd name="connsiteX3" fmla="*/ 265506 w 265506"/>
                  <a:gd name="connsiteY3" fmla="*/ 621728 h 628756"/>
                </a:gdLst>
                <a:ahLst/>
                <a:cxnLst>
                  <a:cxn ang="0">
                    <a:pos x="connsiteX0" y="connsiteY0"/>
                  </a:cxn>
                  <a:cxn ang="0">
                    <a:pos x="connsiteX1" y="connsiteY1"/>
                  </a:cxn>
                  <a:cxn ang="0">
                    <a:pos x="connsiteX2" y="connsiteY2"/>
                  </a:cxn>
                  <a:cxn ang="0">
                    <a:pos x="connsiteX3" y="connsiteY3"/>
                  </a:cxn>
                </a:cxnLst>
                <a:rect l="l" t="t" r="r" b="b"/>
                <a:pathLst>
                  <a:path w="265506" h="628756">
                    <a:moveTo>
                      <a:pt x="64719" y="628757"/>
                    </a:moveTo>
                    <a:lnTo>
                      <a:pt x="0" y="21219"/>
                    </a:lnTo>
                    <a:lnTo>
                      <a:pt x="199196" y="0"/>
                    </a:lnTo>
                    <a:lnTo>
                      <a:pt x="265506" y="621728"/>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0" name="Freeform 64">
                <a:extLst>
                  <a:ext uri="{FF2B5EF4-FFF2-40B4-BE49-F238E27FC236}">
                    <a16:creationId xmlns:a16="http://schemas.microsoft.com/office/drawing/2014/main" id="{06A61F09-477C-D03C-4DCE-7D2DE7D605B4}"/>
                  </a:ext>
                </a:extLst>
              </p:cNvPr>
              <p:cNvSpPr/>
              <p:nvPr/>
            </p:nvSpPr>
            <p:spPr>
              <a:xfrm>
                <a:off x="5935664" y="3341268"/>
                <a:ext cx="165905" cy="766551"/>
              </a:xfrm>
              <a:custGeom>
                <a:avLst/>
                <a:gdLst>
                  <a:gd name="connsiteX0" fmla="*/ 0 w 165905"/>
                  <a:gd name="connsiteY0" fmla="*/ 766552 h 766551"/>
                  <a:gd name="connsiteX1" fmla="*/ 165906 w 165905"/>
                  <a:gd name="connsiteY1" fmla="*/ 0 h 766551"/>
                </a:gdLst>
                <a:ahLst/>
                <a:cxnLst>
                  <a:cxn ang="0">
                    <a:pos x="connsiteX0" y="connsiteY0"/>
                  </a:cxn>
                  <a:cxn ang="0">
                    <a:pos x="connsiteX1" y="connsiteY1"/>
                  </a:cxn>
                </a:cxnLst>
                <a:rect l="l" t="t" r="r" b="b"/>
                <a:pathLst>
                  <a:path w="165905" h="766551">
                    <a:moveTo>
                      <a:pt x="0" y="766552"/>
                    </a:moveTo>
                    <a:lnTo>
                      <a:pt x="165906"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1" name="Freeform 65">
                <a:extLst>
                  <a:ext uri="{FF2B5EF4-FFF2-40B4-BE49-F238E27FC236}">
                    <a16:creationId xmlns:a16="http://schemas.microsoft.com/office/drawing/2014/main" id="{8F82C0EA-A123-205F-EBC4-3F7BCD2F61EE}"/>
                  </a:ext>
                </a:extLst>
              </p:cNvPr>
              <p:cNvSpPr/>
              <p:nvPr/>
            </p:nvSpPr>
            <p:spPr>
              <a:xfrm>
                <a:off x="5771742" y="3310755"/>
                <a:ext cx="170284" cy="787635"/>
              </a:xfrm>
              <a:custGeom>
                <a:avLst/>
                <a:gdLst>
                  <a:gd name="connsiteX0" fmla="*/ 170285 w 170284"/>
                  <a:gd name="connsiteY0" fmla="*/ 0 h 787635"/>
                  <a:gd name="connsiteX1" fmla="*/ 0 w 170284"/>
                  <a:gd name="connsiteY1" fmla="*/ 787636 h 787635"/>
                </a:gdLst>
                <a:ahLst/>
                <a:cxnLst>
                  <a:cxn ang="0">
                    <a:pos x="connsiteX0" y="connsiteY0"/>
                  </a:cxn>
                  <a:cxn ang="0">
                    <a:pos x="connsiteX1" y="connsiteY1"/>
                  </a:cxn>
                </a:cxnLst>
                <a:rect l="l" t="t" r="r" b="b"/>
                <a:pathLst>
                  <a:path w="170284" h="787635">
                    <a:moveTo>
                      <a:pt x="170285" y="0"/>
                    </a:moveTo>
                    <a:lnTo>
                      <a:pt x="0" y="787636"/>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2" name="Freeform 66">
                <a:extLst>
                  <a:ext uri="{FF2B5EF4-FFF2-40B4-BE49-F238E27FC236}">
                    <a16:creationId xmlns:a16="http://schemas.microsoft.com/office/drawing/2014/main" id="{758F4F90-3963-1B56-25C5-0C50A4BBB9B0}"/>
                  </a:ext>
                </a:extLst>
              </p:cNvPr>
              <p:cNvSpPr/>
              <p:nvPr/>
            </p:nvSpPr>
            <p:spPr>
              <a:xfrm>
                <a:off x="6209125" y="3085300"/>
                <a:ext cx="115777" cy="39784"/>
              </a:xfrm>
              <a:custGeom>
                <a:avLst/>
                <a:gdLst>
                  <a:gd name="connsiteX0" fmla="*/ 0 w 115777"/>
                  <a:gd name="connsiteY0" fmla="*/ 0 h 39784"/>
                  <a:gd name="connsiteX1" fmla="*/ 62730 w 115777"/>
                  <a:gd name="connsiteY1" fmla="*/ 37001 h 39784"/>
                  <a:gd name="connsiteX2" fmla="*/ 115778 w 115777"/>
                  <a:gd name="connsiteY2" fmla="*/ 36338 h 39784"/>
                </a:gdLst>
                <a:ahLst/>
                <a:cxnLst>
                  <a:cxn ang="0">
                    <a:pos x="connsiteX0" y="connsiteY0"/>
                  </a:cxn>
                  <a:cxn ang="0">
                    <a:pos x="connsiteX1" y="connsiteY1"/>
                  </a:cxn>
                  <a:cxn ang="0">
                    <a:pos x="connsiteX2" y="connsiteY2"/>
                  </a:cxn>
                </a:cxnLst>
                <a:rect l="l" t="t" r="r" b="b"/>
                <a:pathLst>
                  <a:path w="115777" h="39784">
                    <a:moveTo>
                      <a:pt x="0" y="0"/>
                    </a:moveTo>
                    <a:cubicBezTo>
                      <a:pt x="16180" y="19014"/>
                      <a:pt x="38274" y="32044"/>
                      <a:pt x="62730" y="37001"/>
                    </a:cubicBezTo>
                    <a:cubicBezTo>
                      <a:pt x="80222" y="40924"/>
                      <a:pt x="98391" y="40697"/>
                      <a:pt x="115778" y="36338"/>
                    </a:cubicBez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3" name="Freeform 67">
                <a:extLst>
                  <a:ext uri="{FF2B5EF4-FFF2-40B4-BE49-F238E27FC236}">
                    <a16:creationId xmlns:a16="http://schemas.microsoft.com/office/drawing/2014/main" id="{FA21072A-CD98-8806-89E6-D8B9326F3D69}"/>
                  </a:ext>
                </a:extLst>
              </p:cNvPr>
              <p:cNvSpPr/>
              <p:nvPr/>
            </p:nvSpPr>
            <p:spPr>
              <a:xfrm>
                <a:off x="6179948" y="3216522"/>
                <a:ext cx="114981" cy="27519"/>
              </a:xfrm>
              <a:custGeom>
                <a:avLst/>
                <a:gdLst>
                  <a:gd name="connsiteX0" fmla="*/ 114982 w 114981"/>
                  <a:gd name="connsiteY0" fmla="*/ 27519 h 27519"/>
                  <a:gd name="connsiteX1" fmla="*/ 67106 w 114981"/>
                  <a:gd name="connsiteY1" fmla="*/ 2321 h 27519"/>
                  <a:gd name="connsiteX2" fmla="*/ 0 w 114981"/>
                  <a:gd name="connsiteY2" fmla="*/ 11339 h 27519"/>
                </a:gdLst>
                <a:ahLst/>
                <a:cxnLst>
                  <a:cxn ang="0">
                    <a:pos x="connsiteX0" y="connsiteY0"/>
                  </a:cxn>
                  <a:cxn ang="0">
                    <a:pos x="connsiteX1" y="connsiteY1"/>
                  </a:cxn>
                  <a:cxn ang="0">
                    <a:pos x="connsiteX2" y="connsiteY2"/>
                  </a:cxn>
                </a:cxnLst>
                <a:rect l="l" t="t" r="r" b="b"/>
                <a:pathLst>
                  <a:path w="114981" h="27519">
                    <a:moveTo>
                      <a:pt x="114982" y="27519"/>
                    </a:moveTo>
                    <a:cubicBezTo>
                      <a:pt x="101627" y="14903"/>
                      <a:pt x="85063" y="6187"/>
                      <a:pt x="67106" y="2321"/>
                    </a:cubicBezTo>
                    <a:cubicBezTo>
                      <a:pt x="44375" y="-2705"/>
                      <a:pt x="20596" y="490"/>
                      <a:pt x="0" y="11339"/>
                    </a:cubicBez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4" name="Freeform 68">
                <a:extLst>
                  <a:ext uri="{FF2B5EF4-FFF2-40B4-BE49-F238E27FC236}">
                    <a16:creationId xmlns:a16="http://schemas.microsoft.com/office/drawing/2014/main" id="{FE815C8C-C168-9EBA-617F-7D60F9B8000C}"/>
                  </a:ext>
                </a:extLst>
              </p:cNvPr>
              <p:cNvSpPr/>
              <p:nvPr/>
            </p:nvSpPr>
            <p:spPr>
              <a:xfrm>
                <a:off x="5607829" y="3019819"/>
                <a:ext cx="598245" cy="330746"/>
              </a:xfrm>
              <a:custGeom>
                <a:avLst/>
                <a:gdLst>
                  <a:gd name="connsiteX0" fmla="*/ 379560 w 598245"/>
                  <a:gd name="connsiteY0" fmla="*/ 3705 h 330746"/>
                  <a:gd name="connsiteX1" fmla="*/ 598246 w 598245"/>
                  <a:gd name="connsiteY1" fmla="*/ 51050 h 330746"/>
                  <a:gd name="connsiteX2" fmla="*/ 561908 w 598245"/>
                  <a:gd name="connsiteY2" fmla="*/ 219345 h 330746"/>
                  <a:gd name="connsiteX3" fmla="*/ 492282 w 598245"/>
                  <a:gd name="connsiteY3" fmla="*/ 330747 h 330746"/>
                  <a:gd name="connsiteX4" fmla="*/ 333143 w 598245"/>
                  <a:gd name="connsiteY4" fmla="*/ 295868 h 330746"/>
                  <a:gd name="connsiteX5" fmla="*/ 308077 w 598245"/>
                  <a:gd name="connsiteY5" fmla="*/ 139773 h 330746"/>
                  <a:gd name="connsiteX6" fmla="*/ 26524 w 598245"/>
                  <a:gd name="connsiteY6" fmla="*/ 295868 h 330746"/>
                  <a:gd name="connsiteX7" fmla="*/ 0 w 598245"/>
                  <a:gd name="connsiteY7" fmla="*/ 269343 h 330746"/>
                  <a:gd name="connsiteX8" fmla="*/ 379560 w 598245"/>
                  <a:gd name="connsiteY8" fmla="*/ 3705 h 33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8245" h="330746">
                    <a:moveTo>
                      <a:pt x="379560" y="3705"/>
                    </a:moveTo>
                    <a:lnTo>
                      <a:pt x="598246" y="51050"/>
                    </a:lnTo>
                    <a:lnTo>
                      <a:pt x="561908" y="219345"/>
                    </a:lnTo>
                    <a:lnTo>
                      <a:pt x="492282" y="330747"/>
                    </a:lnTo>
                    <a:lnTo>
                      <a:pt x="333143" y="295868"/>
                    </a:lnTo>
                    <a:cubicBezTo>
                      <a:pt x="333143" y="295868"/>
                      <a:pt x="351975" y="164573"/>
                      <a:pt x="308077" y="139773"/>
                    </a:cubicBezTo>
                    <a:cubicBezTo>
                      <a:pt x="250785" y="107281"/>
                      <a:pt x="128377" y="183936"/>
                      <a:pt x="26524" y="295868"/>
                    </a:cubicBezTo>
                    <a:lnTo>
                      <a:pt x="0" y="269343"/>
                    </a:lnTo>
                    <a:cubicBezTo>
                      <a:pt x="0" y="269343"/>
                      <a:pt x="191504" y="-36877"/>
                      <a:pt x="379560" y="3705"/>
                    </a:cubicBezTo>
                    <a:close/>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5" name="Freeform 69">
                <a:extLst>
                  <a:ext uri="{FF2B5EF4-FFF2-40B4-BE49-F238E27FC236}">
                    <a16:creationId xmlns:a16="http://schemas.microsoft.com/office/drawing/2014/main" id="{8C03A4B6-D908-E2C3-3714-64D94FF4462F}"/>
                  </a:ext>
                </a:extLst>
              </p:cNvPr>
              <p:cNvSpPr/>
              <p:nvPr/>
            </p:nvSpPr>
            <p:spPr>
              <a:xfrm>
                <a:off x="6829258" y="4200084"/>
                <a:ext cx="145750" cy="13262"/>
              </a:xfrm>
              <a:custGeom>
                <a:avLst/>
                <a:gdLst>
                  <a:gd name="connsiteX0" fmla="*/ 0 w 145750"/>
                  <a:gd name="connsiteY0" fmla="*/ 0 h 13262"/>
                  <a:gd name="connsiteX1" fmla="*/ 145750 w 145750"/>
                  <a:gd name="connsiteY1" fmla="*/ 0 h 13262"/>
                </a:gdLst>
                <a:ahLst/>
                <a:cxnLst>
                  <a:cxn ang="0">
                    <a:pos x="connsiteX0" y="connsiteY0"/>
                  </a:cxn>
                  <a:cxn ang="0">
                    <a:pos x="connsiteX1" y="connsiteY1"/>
                  </a:cxn>
                </a:cxnLst>
                <a:rect l="l" t="t" r="r" b="b"/>
                <a:pathLst>
                  <a:path w="145750" h="13262">
                    <a:moveTo>
                      <a:pt x="0" y="0"/>
                    </a:moveTo>
                    <a:lnTo>
                      <a:pt x="14575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6" name="Freeform 70">
                <a:extLst>
                  <a:ext uri="{FF2B5EF4-FFF2-40B4-BE49-F238E27FC236}">
                    <a16:creationId xmlns:a16="http://schemas.microsoft.com/office/drawing/2014/main" id="{C4684735-9123-E194-EEC1-3ADAD22533AC}"/>
                  </a:ext>
                </a:extLst>
              </p:cNvPr>
              <p:cNvSpPr/>
              <p:nvPr/>
            </p:nvSpPr>
            <p:spPr>
              <a:xfrm>
                <a:off x="6423042" y="4200084"/>
                <a:ext cx="325848" cy="13262"/>
              </a:xfrm>
              <a:custGeom>
                <a:avLst/>
                <a:gdLst>
                  <a:gd name="connsiteX0" fmla="*/ 0 w 325848"/>
                  <a:gd name="connsiteY0" fmla="*/ 0 h 13262"/>
                  <a:gd name="connsiteX1" fmla="*/ 325848 w 325848"/>
                  <a:gd name="connsiteY1" fmla="*/ 0 h 13262"/>
                </a:gdLst>
                <a:ahLst/>
                <a:cxnLst>
                  <a:cxn ang="0">
                    <a:pos x="connsiteX0" y="connsiteY0"/>
                  </a:cxn>
                  <a:cxn ang="0">
                    <a:pos x="connsiteX1" y="connsiteY1"/>
                  </a:cxn>
                </a:cxnLst>
                <a:rect l="l" t="t" r="r" b="b"/>
                <a:pathLst>
                  <a:path w="325848" h="13262">
                    <a:moveTo>
                      <a:pt x="0" y="0"/>
                    </a:moveTo>
                    <a:lnTo>
                      <a:pt x="325848"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7" name="Freeform 71">
                <a:extLst>
                  <a:ext uri="{FF2B5EF4-FFF2-40B4-BE49-F238E27FC236}">
                    <a16:creationId xmlns:a16="http://schemas.microsoft.com/office/drawing/2014/main" id="{EA4FD39D-9438-AB65-EC48-BD7B9C30FA6C}"/>
                  </a:ext>
                </a:extLst>
              </p:cNvPr>
              <p:cNvSpPr/>
              <p:nvPr/>
            </p:nvSpPr>
            <p:spPr>
              <a:xfrm>
                <a:off x="5423481" y="4200084"/>
                <a:ext cx="999560" cy="13262"/>
              </a:xfrm>
              <a:custGeom>
                <a:avLst/>
                <a:gdLst>
                  <a:gd name="connsiteX0" fmla="*/ 0 w 999560"/>
                  <a:gd name="connsiteY0" fmla="*/ 0 h 13262"/>
                  <a:gd name="connsiteX1" fmla="*/ 999561 w 999560"/>
                  <a:gd name="connsiteY1" fmla="*/ 0 h 13262"/>
                </a:gdLst>
                <a:ahLst/>
                <a:cxnLst>
                  <a:cxn ang="0">
                    <a:pos x="connsiteX0" y="connsiteY0"/>
                  </a:cxn>
                  <a:cxn ang="0">
                    <a:pos x="connsiteX1" y="connsiteY1"/>
                  </a:cxn>
                </a:cxnLst>
                <a:rect l="l" t="t" r="r" b="b"/>
                <a:pathLst>
                  <a:path w="999560" h="13262">
                    <a:moveTo>
                      <a:pt x="0" y="0"/>
                    </a:moveTo>
                    <a:lnTo>
                      <a:pt x="999561"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8" name="Freeform 72">
                <a:extLst>
                  <a:ext uri="{FF2B5EF4-FFF2-40B4-BE49-F238E27FC236}">
                    <a16:creationId xmlns:a16="http://schemas.microsoft.com/office/drawing/2014/main" id="{8CF31814-E21A-43AE-CE0F-4EB2EEC89A90}"/>
                  </a:ext>
                </a:extLst>
              </p:cNvPr>
              <p:cNvSpPr/>
              <p:nvPr/>
            </p:nvSpPr>
            <p:spPr>
              <a:xfrm>
                <a:off x="5216987" y="4200084"/>
                <a:ext cx="145749" cy="13262"/>
              </a:xfrm>
              <a:custGeom>
                <a:avLst/>
                <a:gdLst>
                  <a:gd name="connsiteX0" fmla="*/ 0 w 145749"/>
                  <a:gd name="connsiteY0" fmla="*/ 0 h 13262"/>
                  <a:gd name="connsiteX1" fmla="*/ 145750 w 145749"/>
                  <a:gd name="connsiteY1" fmla="*/ 0 h 13262"/>
                </a:gdLst>
                <a:ahLst/>
                <a:cxnLst>
                  <a:cxn ang="0">
                    <a:pos x="connsiteX0" y="connsiteY0"/>
                  </a:cxn>
                  <a:cxn ang="0">
                    <a:pos x="connsiteX1" y="connsiteY1"/>
                  </a:cxn>
                </a:cxnLst>
                <a:rect l="l" t="t" r="r" b="b"/>
                <a:pathLst>
                  <a:path w="145749" h="13262">
                    <a:moveTo>
                      <a:pt x="0" y="0"/>
                    </a:moveTo>
                    <a:lnTo>
                      <a:pt x="145750" y="0"/>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39" name="Freeform 73">
                <a:extLst>
                  <a:ext uri="{FF2B5EF4-FFF2-40B4-BE49-F238E27FC236}">
                    <a16:creationId xmlns:a16="http://schemas.microsoft.com/office/drawing/2014/main" id="{7303B864-71C0-AA74-1451-40DAD0299100}"/>
                  </a:ext>
                </a:extLst>
              </p:cNvPr>
              <p:cNvSpPr/>
              <p:nvPr/>
            </p:nvSpPr>
            <p:spPr>
              <a:xfrm>
                <a:off x="5307309" y="3606924"/>
                <a:ext cx="350118" cy="500909"/>
              </a:xfrm>
              <a:custGeom>
                <a:avLst/>
                <a:gdLst>
                  <a:gd name="connsiteX0" fmla="*/ 350118 w 350118"/>
                  <a:gd name="connsiteY0" fmla="*/ 500909 h 500909"/>
                  <a:gd name="connsiteX1" fmla="*/ 157951 w 350118"/>
                  <a:gd name="connsiteY1" fmla="*/ 100394 h 500909"/>
                  <a:gd name="connsiteX2" fmla="*/ 64524 w 350118"/>
                  <a:gd name="connsiteY2" fmla="*/ 72933 h 500909"/>
                  <a:gd name="connsiteX3" fmla="*/ 0 w 350118"/>
                  <a:gd name="connsiteY3" fmla="*/ 0 h 500909"/>
                </a:gdLst>
                <a:ahLst/>
                <a:cxnLst>
                  <a:cxn ang="0">
                    <a:pos x="connsiteX0" y="connsiteY0"/>
                  </a:cxn>
                  <a:cxn ang="0">
                    <a:pos x="connsiteX1" y="connsiteY1"/>
                  </a:cxn>
                  <a:cxn ang="0">
                    <a:pos x="connsiteX2" y="connsiteY2"/>
                  </a:cxn>
                  <a:cxn ang="0">
                    <a:pos x="connsiteX3" y="connsiteY3"/>
                  </a:cxn>
                </a:cxnLst>
                <a:rect l="l" t="t" r="r" b="b"/>
                <a:pathLst>
                  <a:path w="350118" h="500909">
                    <a:moveTo>
                      <a:pt x="350118" y="500909"/>
                    </a:moveTo>
                    <a:lnTo>
                      <a:pt x="157951" y="100394"/>
                    </a:lnTo>
                    <a:cubicBezTo>
                      <a:pt x="124845" y="100209"/>
                      <a:pt x="92463" y="90693"/>
                      <a:pt x="64524" y="72933"/>
                    </a:cubicBezTo>
                    <a:cubicBezTo>
                      <a:pt x="36583" y="55175"/>
                      <a:pt x="14220" y="29897"/>
                      <a:pt x="0" y="0"/>
                    </a:cubicBez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40" name="Freeform 74">
                <a:extLst>
                  <a:ext uri="{FF2B5EF4-FFF2-40B4-BE49-F238E27FC236}">
                    <a16:creationId xmlns:a16="http://schemas.microsoft.com/office/drawing/2014/main" id="{76A3EB8E-350B-DCAC-8650-E5068385BD61}"/>
                  </a:ext>
                </a:extLst>
              </p:cNvPr>
              <p:cNvSpPr/>
              <p:nvPr/>
            </p:nvSpPr>
            <p:spPr>
              <a:xfrm>
                <a:off x="5289915" y="3353909"/>
                <a:ext cx="458614" cy="584143"/>
              </a:xfrm>
              <a:custGeom>
                <a:avLst/>
                <a:gdLst>
                  <a:gd name="connsiteX0" fmla="*/ 17386 w 458614"/>
                  <a:gd name="connsiteY0" fmla="*/ 252990 h 584143"/>
                  <a:gd name="connsiteX1" fmla="*/ 2644 w 458614"/>
                  <a:gd name="connsiteY1" fmla="*/ 146123 h 584143"/>
                  <a:gd name="connsiteX2" fmla="*/ 52796 w 458614"/>
                  <a:gd name="connsiteY2" fmla="*/ 50611 h 584143"/>
                  <a:gd name="connsiteX3" fmla="*/ 115127 w 458614"/>
                  <a:gd name="connsiteY3" fmla="*/ 180446 h 584143"/>
                  <a:gd name="connsiteX4" fmla="*/ 218306 w 458614"/>
                  <a:gd name="connsiteY4" fmla="*/ 130846 h 584143"/>
                  <a:gd name="connsiteX5" fmla="*/ 156240 w 458614"/>
                  <a:gd name="connsiteY5" fmla="*/ 1143 h 584143"/>
                  <a:gd name="connsiteX6" fmla="*/ 257071 w 458614"/>
                  <a:gd name="connsiteY6" fmla="*/ 19505 h 584143"/>
                  <a:gd name="connsiteX7" fmla="*/ 330801 w 458614"/>
                  <a:gd name="connsiteY7" fmla="*/ 90693 h 584143"/>
                  <a:gd name="connsiteX8" fmla="*/ 352688 w 458614"/>
                  <a:gd name="connsiteY8" fmla="*/ 190817 h 584143"/>
                  <a:gd name="connsiteX9" fmla="*/ 315384 w 458614"/>
                  <a:gd name="connsiteY9" fmla="*/ 286278 h 584143"/>
                  <a:gd name="connsiteX10" fmla="*/ 458614 w 458614"/>
                  <a:gd name="connsiteY10" fmla="*/ 584143 h 58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8614" h="584143">
                    <a:moveTo>
                      <a:pt x="17386" y="252990"/>
                    </a:moveTo>
                    <a:cubicBezTo>
                      <a:pt x="1449" y="219775"/>
                      <a:pt x="-3706" y="182411"/>
                      <a:pt x="2644" y="146123"/>
                    </a:cubicBezTo>
                    <a:cubicBezTo>
                      <a:pt x="8992" y="109834"/>
                      <a:pt x="26529" y="76439"/>
                      <a:pt x="52796" y="50611"/>
                    </a:cubicBezTo>
                    <a:lnTo>
                      <a:pt x="115127" y="180446"/>
                    </a:lnTo>
                    <a:lnTo>
                      <a:pt x="218306" y="130846"/>
                    </a:lnTo>
                    <a:lnTo>
                      <a:pt x="156240" y="1143"/>
                    </a:lnTo>
                    <a:cubicBezTo>
                      <a:pt x="190925" y="-2819"/>
                      <a:pt x="226009" y="3569"/>
                      <a:pt x="257071" y="19505"/>
                    </a:cubicBezTo>
                    <a:cubicBezTo>
                      <a:pt x="288133" y="35439"/>
                      <a:pt x="313786" y="60209"/>
                      <a:pt x="330801" y="90693"/>
                    </a:cubicBezTo>
                    <a:cubicBezTo>
                      <a:pt x="347815" y="121177"/>
                      <a:pt x="355430" y="156014"/>
                      <a:pt x="352688" y="190817"/>
                    </a:cubicBezTo>
                    <a:cubicBezTo>
                      <a:pt x="349944" y="225621"/>
                      <a:pt x="336966" y="258834"/>
                      <a:pt x="315384" y="286278"/>
                    </a:cubicBezTo>
                    <a:lnTo>
                      <a:pt x="458614" y="584143"/>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41" name="Freeform 75">
                <a:extLst>
                  <a:ext uri="{FF2B5EF4-FFF2-40B4-BE49-F238E27FC236}">
                    <a16:creationId xmlns:a16="http://schemas.microsoft.com/office/drawing/2014/main" id="{F9557B6C-D6F9-ED7C-33EF-4FDF5972977D}"/>
                  </a:ext>
                </a:extLst>
              </p:cNvPr>
              <p:cNvSpPr/>
              <p:nvPr/>
            </p:nvSpPr>
            <p:spPr>
              <a:xfrm>
                <a:off x="6607517" y="3310807"/>
                <a:ext cx="269497" cy="599528"/>
              </a:xfrm>
              <a:custGeom>
                <a:avLst/>
                <a:gdLst>
                  <a:gd name="connsiteX0" fmla="*/ 82755 w 269497"/>
                  <a:gd name="connsiteY0" fmla="*/ 203119 h 599528"/>
                  <a:gd name="connsiteX1" fmla="*/ 76973 w 269497"/>
                  <a:gd name="connsiteY1" fmla="*/ 192386 h 599528"/>
                  <a:gd name="connsiteX2" fmla="*/ 78644 w 269497"/>
                  <a:gd name="connsiteY2" fmla="*/ 180308 h 599528"/>
                  <a:gd name="connsiteX3" fmla="*/ 199329 w 269497"/>
                  <a:gd name="connsiteY3" fmla="*/ 11217 h 599528"/>
                  <a:gd name="connsiteX4" fmla="*/ 208864 w 269497"/>
                  <a:gd name="connsiteY4" fmla="*/ 1589 h 599528"/>
                  <a:gd name="connsiteX5" fmla="*/ 222404 w 269497"/>
                  <a:gd name="connsiteY5" fmla="*/ 1005 h 599528"/>
                  <a:gd name="connsiteX6" fmla="*/ 256886 w 269497"/>
                  <a:gd name="connsiteY6" fmla="*/ 12808 h 599528"/>
                  <a:gd name="connsiteX7" fmla="*/ 267217 w 269497"/>
                  <a:gd name="connsiteY7" fmla="*/ 21541 h 599528"/>
                  <a:gd name="connsiteX8" fmla="*/ 268954 w 269497"/>
                  <a:gd name="connsiteY8" fmla="*/ 34956 h 599528"/>
                  <a:gd name="connsiteX9" fmla="*/ 261262 w 269497"/>
                  <a:gd name="connsiteY9" fmla="*/ 242507 h 599528"/>
                  <a:gd name="connsiteX10" fmla="*/ 255175 w 269497"/>
                  <a:gd name="connsiteY10" fmla="*/ 253029 h 599528"/>
                  <a:gd name="connsiteX11" fmla="*/ 244022 w 269497"/>
                  <a:gd name="connsiteY11" fmla="*/ 257891 h 599528"/>
                  <a:gd name="connsiteX12" fmla="*/ 199992 w 269497"/>
                  <a:gd name="connsiteY12" fmla="*/ 262665 h 599528"/>
                  <a:gd name="connsiteX13" fmla="*/ 85275 w 269497"/>
                  <a:gd name="connsiteY13" fmla="*/ 599528 h 599528"/>
                  <a:gd name="connsiteX14" fmla="*/ 0 w 269497"/>
                  <a:gd name="connsiteY14" fmla="*/ 570610 h 599528"/>
                  <a:gd name="connsiteX15" fmla="*/ 114717 w 269497"/>
                  <a:gd name="connsiteY15" fmla="*/ 234152 h 599528"/>
                  <a:gd name="connsiteX16" fmla="*/ 82755 w 269497"/>
                  <a:gd name="connsiteY16" fmla="*/ 203119 h 59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9497" h="599528">
                    <a:moveTo>
                      <a:pt x="82755" y="203119"/>
                    </a:moveTo>
                    <a:cubicBezTo>
                      <a:pt x="79745" y="200246"/>
                      <a:pt x="77715" y="196486"/>
                      <a:pt x="76973" y="192386"/>
                    </a:cubicBezTo>
                    <a:cubicBezTo>
                      <a:pt x="76243" y="188285"/>
                      <a:pt x="76827" y="184055"/>
                      <a:pt x="78644" y="180308"/>
                    </a:cubicBezTo>
                    <a:lnTo>
                      <a:pt x="199329" y="11217"/>
                    </a:lnTo>
                    <a:cubicBezTo>
                      <a:pt x="201185" y="6921"/>
                      <a:pt x="204593" y="3482"/>
                      <a:pt x="208864" y="1589"/>
                    </a:cubicBezTo>
                    <a:cubicBezTo>
                      <a:pt x="213148" y="-305"/>
                      <a:pt x="217988" y="-513"/>
                      <a:pt x="222404" y="1005"/>
                    </a:cubicBezTo>
                    <a:lnTo>
                      <a:pt x="256886" y="12808"/>
                    </a:lnTo>
                    <a:cubicBezTo>
                      <a:pt x="261302" y="14328"/>
                      <a:pt x="264989" y="17443"/>
                      <a:pt x="267217" y="21541"/>
                    </a:cubicBezTo>
                    <a:cubicBezTo>
                      <a:pt x="269458" y="25639"/>
                      <a:pt x="270068" y="30424"/>
                      <a:pt x="268954" y="34956"/>
                    </a:cubicBezTo>
                    <a:lnTo>
                      <a:pt x="261262" y="242507"/>
                    </a:lnTo>
                    <a:cubicBezTo>
                      <a:pt x="260413" y="246575"/>
                      <a:pt x="258278" y="250261"/>
                      <a:pt x="255175" y="253029"/>
                    </a:cubicBezTo>
                    <a:cubicBezTo>
                      <a:pt x="252072" y="255797"/>
                      <a:pt x="248159" y="257500"/>
                      <a:pt x="244022" y="257891"/>
                    </a:cubicBezTo>
                    <a:cubicBezTo>
                      <a:pt x="233677" y="257891"/>
                      <a:pt x="203307" y="252851"/>
                      <a:pt x="199992" y="262665"/>
                    </a:cubicBezTo>
                    <a:lnTo>
                      <a:pt x="85275" y="599528"/>
                    </a:lnTo>
                    <a:lnTo>
                      <a:pt x="0" y="570610"/>
                    </a:lnTo>
                    <a:lnTo>
                      <a:pt x="114717" y="234152"/>
                    </a:lnTo>
                    <a:cubicBezTo>
                      <a:pt x="118032" y="223940"/>
                      <a:pt x="90977" y="209352"/>
                      <a:pt x="82755" y="203119"/>
                    </a:cubicBezTo>
                    <a:close/>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42" name="Freeform 76">
                <a:extLst>
                  <a:ext uri="{FF2B5EF4-FFF2-40B4-BE49-F238E27FC236}">
                    <a16:creationId xmlns:a16="http://schemas.microsoft.com/office/drawing/2014/main" id="{517579DE-CA37-9FE1-8CE9-F15EC5D38696}"/>
                  </a:ext>
                </a:extLst>
              </p:cNvPr>
              <p:cNvSpPr/>
              <p:nvPr/>
            </p:nvSpPr>
            <p:spPr>
              <a:xfrm>
                <a:off x="6464950" y="3867140"/>
                <a:ext cx="283882" cy="231250"/>
              </a:xfrm>
              <a:custGeom>
                <a:avLst/>
                <a:gdLst>
                  <a:gd name="connsiteX0" fmla="*/ 232616 w 283882"/>
                  <a:gd name="connsiteY0" fmla="*/ 231251 h 231250"/>
                  <a:gd name="connsiteX1" fmla="*/ 282879 w 283882"/>
                  <a:gd name="connsiteY1" fmla="*/ 83379 h 231250"/>
                  <a:gd name="connsiteX2" fmla="*/ 283848 w 283882"/>
                  <a:gd name="connsiteY2" fmla="*/ 76164 h 231250"/>
                  <a:gd name="connsiteX3" fmla="*/ 281951 w 283882"/>
                  <a:gd name="connsiteY3" fmla="*/ 69149 h 231250"/>
                  <a:gd name="connsiteX4" fmla="*/ 277522 w 283882"/>
                  <a:gd name="connsiteY4" fmla="*/ 63380 h 231250"/>
                  <a:gd name="connsiteX5" fmla="*/ 271209 w 283882"/>
                  <a:gd name="connsiteY5" fmla="*/ 59772 h 231250"/>
                  <a:gd name="connsiteX6" fmla="*/ 98139 w 283882"/>
                  <a:gd name="connsiteY6" fmla="*/ 1015 h 231250"/>
                  <a:gd name="connsiteX7" fmla="*/ 83896 w 283882"/>
                  <a:gd name="connsiteY7" fmla="*/ 1881 h 231250"/>
                  <a:gd name="connsiteX8" fmla="*/ 74400 w 283882"/>
                  <a:gd name="connsiteY8" fmla="*/ 12553 h 231250"/>
                  <a:gd name="connsiteX9" fmla="*/ 0 w 283882"/>
                  <a:gd name="connsiteY9" fmla="*/ 230985 h 231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882" h="231250">
                    <a:moveTo>
                      <a:pt x="232616" y="231251"/>
                    </a:moveTo>
                    <a:lnTo>
                      <a:pt x="282879" y="83379"/>
                    </a:lnTo>
                    <a:cubicBezTo>
                      <a:pt x="283675" y="81058"/>
                      <a:pt x="283993" y="78605"/>
                      <a:pt x="283848" y="76164"/>
                    </a:cubicBezTo>
                    <a:cubicBezTo>
                      <a:pt x="283689" y="73724"/>
                      <a:pt x="283039" y="71337"/>
                      <a:pt x="281951" y="69149"/>
                    </a:cubicBezTo>
                    <a:cubicBezTo>
                      <a:pt x="280877" y="66947"/>
                      <a:pt x="279365" y="64984"/>
                      <a:pt x="277522" y="63380"/>
                    </a:cubicBezTo>
                    <a:cubicBezTo>
                      <a:pt x="275678" y="61775"/>
                      <a:pt x="273530" y="60542"/>
                      <a:pt x="271209" y="59772"/>
                    </a:cubicBezTo>
                    <a:lnTo>
                      <a:pt x="98139" y="1015"/>
                    </a:lnTo>
                    <a:cubicBezTo>
                      <a:pt x="93471" y="-592"/>
                      <a:pt x="88339" y="-281"/>
                      <a:pt x="83896" y="1881"/>
                    </a:cubicBezTo>
                    <a:cubicBezTo>
                      <a:pt x="79440" y="4044"/>
                      <a:pt x="76031" y="7881"/>
                      <a:pt x="74400" y="12553"/>
                    </a:cubicBezTo>
                    <a:lnTo>
                      <a:pt x="0" y="230985"/>
                    </a:lnTo>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43" name="Freeform 77">
                <a:extLst>
                  <a:ext uri="{FF2B5EF4-FFF2-40B4-BE49-F238E27FC236}">
                    <a16:creationId xmlns:a16="http://schemas.microsoft.com/office/drawing/2014/main" id="{F779D7D2-A3E0-A349-40A1-8D6170614770}"/>
                  </a:ext>
                </a:extLst>
              </p:cNvPr>
              <p:cNvSpPr/>
              <p:nvPr/>
            </p:nvSpPr>
            <p:spPr>
              <a:xfrm>
                <a:off x="6289101" y="3105098"/>
                <a:ext cx="146751" cy="190530"/>
              </a:xfrm>
              <a:custGeom>
                <a:avLst/>
                <a:gdLst>
                  <a:gd name="connsiteX0" fmla="*/ 109220 w 146751"/>
                  <a:gd name="connsiteY0" fmla="*/ 190530 h 190530"/>
                  <a:gd name="connsiteX1" fmla="*/ 35457 w 146751"/>
                  <a:gd name="connsiteY1" fmla="*/ 174584 h 190530"/>
                  <a:gd name="connsiteX2" fmla="*/ 7169 w 146751"/>
                  <a:gd name="connsiteY2" fmla="*/ 154995 h 190530"/>
                  <a:gd name="connsiteX3" fmla="*/ 1015 w 146751"/>
                  <a:gd name="connsiteY3" fmla="*/ 121139 h 190530"/>
                  <a:gd name="connsiteX4" fmla="*/ 19542 w 146751"/>
                  <a:gd name="connsiteY4" fmla="*/ 35457 h 190530"/>
                  <a:gd name="connsiteX5" fmla="*/ 39130 w 146751"/>
                  <a:gd name="connsiteY5" fmla="*/ 7168 h 190530"/>
                  <a:gd name="connsiteX6" fmla="*/ 72988 w 146751"/>
                  <a:gd name="connsiteY6" fmla="*/ 1015 h 190530"/>
                  <a:gd name="connsiteX7" fmla="*/ 146752 w 146751"/>
                  <a:gd name="connsiteY7" fmla="*/ 16962 h 190530"/>
                  <a:gd name="connsiteX8" fmla="*/ 109220 w 146751"/>
                  <a:gd name="connsiteY8" fmla="*/ 190530 h 19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751" h="190530">
                    <a:moveTo>
                      <a:pt x="109220" y="190530"/>
                    </a:moveTo>
                    <a:lnTo>
                      <a:pt x="35457" y="174584"/>
                    </a:lnTo>
                    <a:cubicBezTo>
                      <a:pt x="23813" y="172064"/>
                      <a:pt x="13627" y="165018"/>
                      <a:pt x="7169" y="154995"/>
                    </a:cubicBezTo>
                    <a:cubicBezTo>
                      <a:pt x="710" y="144972"/>
                      <a:pt x="-1505" y="132794"/>
                      <a:pt x="1015" y="121139"/>
                    </a:cubicBezTo>
                    <a:lnTo>
                      <a:pt x="19542" y="35457"/>
                    </a:lnTo>
                    <a:cubicBezTo>
                      <a:pt x="22062" y="23804"/>
                      <a:pt x="29117" y="13626"/>
                      <a:pt x="39130" y="7168"/>
                    </a:cubicBezTo>
                    <a:cubicBezTo>
                      <a:pt x="49156" y="709"/>
                      <a:pt x="61331" y="-1504"/>
                      <a:pt x="72988" y="1015"/>
                    </a:cubicBezTo>
                    <a:lnTo>
                      <a:pt x="146752" y="16962"/>
                    </a:lnTo>
                    <a:lnTo>
                      <a:pt x="109220" y="190530"/>
                    </a:lnTo>
                    <a:close/>
                  </a:path>
                </a:pathLst>
              </a:custGeom>
              <a:noFill/>
              <a:ln w="26480" cap="flat">
                <a:solidFill>
                  <a:srgbClr val="232F3E"/>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2F3E"/>
                  </a:solidFill>
                  <a:effectLst/>
                  <a:uLnTx/>
                  <a:uFillTx/>
                  <a:latin typeface="Amazon Ember Light"/>
                  <a:ea typeface="+mn-ea"/>
                  <a:cs typeface="+mn-cs"/>
                </a:endParaRPr>
              </a:p>
            </p:txBody>
          </p:sp>
        </p:grpSp>
      </p:grpSp>
      <p:grpSp>
        <p:nvGrpSpPr>
          <p:cNvPr id="44" name="Group 43" descr="Operate.">
            <a:extLst>
              <a:ext uri="{FF2B5EF4-FFF2-40B4-BE49-F238E27FC236}">
                <a16:creationId xmlns:a16="http://schemas.microsoft.com/office/drawing/2014/main" id="{B9ECBFA5-B6F1-D173-143A-E678EF684D61}"/>
              </a:ext>
            </a:extLst>
          </p:cNvPr>
          <p:cNvGrpSpPr/>
          <p:nvPr/>
        </p:nvGrpSpPr>
        <p:grpSpPr>
          <a:xfrm>
            <a:off x="8924239" y="1645626"/>
            <a:ext cx="2652410" cy="4322655"/>
            <a:chOff x="8924239" y="1741714"/>
            <a:chExt cx="2652410" cy="4322655"/>
          </a:xfrm>
        </p:grpSpPr>
        <p:sp>
          <p:nvSpPr>
            <p:cNvPr id="45" name="Rectangle: Rounded Corners 10">
              <a:extLst>
                <a:ext uri="{FF2B5EF4-FFF2-40B4-BE49-F238E27FC236}">
                  <a16:creationId xmlns:a16="http://schemas.microsoft.com/office/drawing/2014/main" id="{8303B0E4-B5B9-FC19-7A0F-223BEA4D4275}"/>
                </a:ext>
              </a:extLst>
            </p:cNvPr>
            <p:cNvSpPr/>
            <p:nvPr/>
          </p:nvSpPr>
          <p:spPr>
            <a:xfrm>
              <a:off x="8924239"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232F3E"/>
                  </a:solidFill>
                  <a:effectLst/>
                  <a:uLnTx/>
                  <a:uFillTx/>
                  <a:latin typeface="Amazon Ember Medium"/>
                  <a:ea typeface="+mn-ea"/>
                  <a:cs typeface="+mn-cs"/>
                </a:rPr>
                <a:t>Operate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232F3E"/>
                </a:solidFill>
                <a:effectLst/>
                <a:uLnTx/>
                <a:uFillTx/>
                <a:latin typeface="Amazon Ember Medium"/>
                <a:ea typeface="+mn-ea"/>
                <a:cs typeface="+mn-cs"/>
              </a:endParaRPr>
            </a:p>
          </p:txBody>
        </p:sp>
        <p:pic>
          <p:nvPicPr>
            <p:cNvPr id="46" name="Graphic 25">
              <a:extLst>
                <a:ext uri="{FF2B5EF4-FFF2-40B4-BE49-F238E27FC236}">
                  <a16:creationId xmlns:a16="http://schemas.microsoft.com/office/drawing/2014/main" id="{C1C055F2-7BF0-D913-5F53-77D0B81EA8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43893" y="2562396"/>
              <a:ext cx="2613101" cy="2613101"/>
            </a:xfrm>
            <a:prstGeom prst="rect">
              <a:avLst/>
            </a:prstGeom>
          </p:spPr>
        </p:pic>
      </p:grpSp>
      <p:sp>
        <p:nvSpPr>
          <p:cNvPr id="4" name="Rectangle 3">
            <a:extLst>
              <a:ext uri="{FF2B5EF4-FFF2-40B4-BE49-F238E27FC236}">
                <a16:creationId xmlns:a16="http://schemas.microsoft.com/office/drawing/2014/main" id="{35A1D41E-4C86-A550-22D4-BE7901103670}"/>
              </a:ext>
              <a:ext uri="{C183D7F6-B498-43B3-948B-1728B52AA6E4}">
                <adec:decorative xmlns:adec="http://schemas.microsoft.com/office/drawing/2017/decorative" val="1"/>
              </a:ext>
            </a:extLst>
          </p:cNvPr>
          <p:cNvSpPr/>
          <p:nvPr/>
        </p:nvSpPr>
        <p:spPr>
          <a:xfrm>
            <a:off x="71702" y="1392878"/>
            <a:ext cx="11575287" cy="5465122"/>
          </a:xfrm>
          <a:prstGeom prst="rect">
            <a:avLst/>
          </a:prstGeom>
          <a:solidFill>
            <a:schemeClr val="bg1">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47" name="TextBox 46">
            <a:extLst>
              <a:ext uri="{FF2B5EF4-FFF2-40B4-BE49-F238E27FC236}">
                <a16:creationId xmlns:a16="http://schemas.microsoft.com/office/drawing/2014/main" id="{5BA25E55-D11A-9C17-BA8B-B3CEE64A72A7}"/>
              </a:ext>
            </a:extLst>
          </p:cNvPr>
          <p:cNvSpPr txBox="1"/>
          <p:nvPr/>
        </p:nvSpPr>
        <p:spPr>
          <a:xfrm>
            <a:off x="1187571" y="2459504"/>
            <a:ext cx="9816858" cy="1938992"/>
          </a:xfrm>
          <a:prstGeom prst="rect">
            <a:avLst/>
          </a:prstGeom>
          <a:solidFill>
            <a:schemeClr val="bg1"/>
          </a:solidFill>
          <a:ln w="57150">
            <a:solidFill>
              <a:schemeClr val="tx2"/>
            </a:solidFill>
          </a:ln>
          <a:effectLst>
            <a:outerShdw blurRad="50800" dist="38100" dir="2700000" algn="tl" rotWithShape="0">
              <a:prstClr val="black">
                <a:alpha val="40000"/>
              </a:prstClr>
            </a:outerShdw>
          </a:effectLst>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232F3E"/>
                </a:solidFill>
                <a:effectLst/>
                <a:uLnTx/>
                <a:uFillTx/>
                <a:latin typeface="Amazon Ember Light"/>
                <a:ea typeface="+mn-ea"/>
                <a:cs typeface="+mn-cs"/>
              </a:rPr>
              <a:t>No matter which part of the lifecycle you’re working on, you should always consider RAI</a:t>
            </a:r>
            <a:endParaRPr kumimoji="0" lang="en-US" sz="4000" b="0" i="0" u="none" strike="noStrike" kern="1200" cap="none" spc="0" normalizeH="0" baseline="0" noProof="0" dirty="0">
              <a:ln>
                <a:noFill/>
              </a:ln>
              <a:solidFill>
                <a:srgbClr val="232F3E"/>
              </a:solidFill>
              <a:effectLst/>
              <a:uLnTx/>
              <a:uFillTx/>
              <a:latin typeface="Amazon Ember Light"/>
              <a:ea typeface="+mn-ea"/>
              <a:cs typeface="+mn-cs"/>
            </a:endParaRPr>
          </a:p>
        </p:txBody>
      </p:sp>
    </p:spTree>
    <p:extLst>
      <p:ext uri="{BB962C8B-B14F-4D97-AF65-F5344CB8AC3E}">
        <p14:creationId xmlns:p14="http://schemas.microsoft.com/office/powerpoint/2010/main" val="757326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3EF6DD-F074-BA4C-3A2F-366E368A0700}"/>
              </a:ext>
            </a:extLst>
          </p:cNvPr>
          <p:cNvSpPr>
            <a:spLocks noGrp="1"/>
          </p:cNvSpPr>
          <p:nvPr>
            <p:ph type="sldNum" idx="97"/>
          </p:nvPr>
        </p:nvSpPr>
        <p:spPr/>
        <p:txBody>
          <a:bodyPr/>
          <a:lstStyle/>
          <a:p>
            <a:fld id="{86A8BF56-6CB3-514C-9A64-F39D95C9E25B}" type="slidenum">
              <a:rPr lang="en-US" smtClean="0"/>
              <a:t>13</a:t>
            </a:fld>
            <a:endParaRPr lang="en-US"/>
          </a:p>
        </p:txBody>
      </p:sp>
      <p:sp>
        <p:nvSpPr>
          <p:cNvPr id="3" name="Title 2">
            <a:extLst>
              <a:ext uri="{FF2B5EF4-FFF2-40B4-BE49-F238E27FC236}">
                <a16:creationId xmlns:a16="http://schemas.microsoft.com/office/drawing/2014/main" id="{B21357FB-3DD0-09B4-6AFE-9271BE9B6DD5}"/>
              </a:ext>
            </a:extLst>
          </p:cNvPr>
          <p:cNvSpPr>
            <a:spLocks noGrp="1"/>
          </p:cNvSpPr>
          <p:nvPr>
            <p:ph type="title" idx="1"/>
          </p:nvPr>
        </p:nvSpPr>
        <p:spPr/>
        <p:txBody>
          <a:bodyPr/>
          <a:lstStyle/>
          <a:p>
            <a:r>
              <a:rPr lang="en-US" dirty="0"/>
              <a:t>Define business problem and assess risk</a:t>
            </a:r>
          </a:p>
        </p:txBody>
      </p:sp>
      <p:sp>
        <p:nvSpPr>
          <p:cNvPr id="9" name="Content Placeholder 3">
            <a:extLst>
              <a:ext uri="{FF2B5EF4-FFF2-40B4-BE49-F238E27FC236}">
                <a16:creationId xmlns:a16="http://schemas.microsoft.com/office/drawing/2014/main" id="{18EF935A-1E5A-6033-9FB0-9FA1A57ACA5B}"/>
              </a:ext>
            </a:extLst>
          </p:cNvPr>
          <p:cNvSpPr txBox="1">
            <a:spLocks/>
          </p:cNvSpPr>
          <p:nvPr/>
        </p:nvSpPr>
        <p:spPr>
          <a:xfrm>
            <a:off x="3687828" y="1673527"/>
            <a:ext cx="7888822" cy="4390845"/>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3600" kern="1200">
                <a:solidFill>
                  <a:srgbClr val="232F3E"/>
                </a:solidFill>
                <a:latin typeface="Amazon Ember Display Heavy"/>
              </a:defRPr>
            </a:lvl1pPr>
          </a:lstStyle>
          <a:p>
            <a:pPr marL="571500" indent="-571500">
              <a:buFont typeface="Arial" panose="020B0604020202020204" pitchFamily="34" charset="0"/>
              <a:buChar char="•"/>
            </a:pPr>
            <a:r>
              <a:rPr lang="en-US" sz="2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Discuss the use case with </a:t>
            </a:r>
            <a:r>
              <a:rPr lang="en-US" sz="2800" dirty="0">
                <a:latin typeface="Amazon Ember" panose="020B0603020204020204" pitchFamily="34" charset="0"/>
                <a:ea typeface="Amazon Ember" panose="020B0603020204020204" pitchFamily="34" charset="0"/>
                <a:cs typeface="Amazon Ember" panose="020B0603020204020204" pitchFamily="34" charset="0"/>
              </a:rPr>
              <a:t>different stakeholders </a:t>
            </a:r>
            <a:r>
              <a:rPr lang="en-US" sz="2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and </a:t>
            </a:r>
            <a:r>
              <a:rPr lang="en-US" sz="28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diverse groups</a:t>
            </a:r>
            <a:r>
              <a:rPr lang="en-US" sz="2800" dirty="0">
                <a:latin typeface="Amazon Ember" panose="020B0603020204020204" pitchFamily="34" charset="0"/>
                <a:ea typeface="Amazon Ember" panose="020B0603020204020204" pitchFamily="34" charset="0"/>
                <a:cs typeface="Amazon Ember" panose="020B0603020204020204" pitchFamily="34" charset="0"/>
              </a:rPr>
              <a:t>. </a:t>
            </a:r>
          </a:p>
          <a:p>
            <a:pPr marL="571500" indent="-571500">
              <a:buFont typeface="Arial" panose="020B0604020202020204" pitchFamily="34" charset="0"/>
              <a:buChar char="•"/>
            </a:pPr>
            <a:endParaRPr lang="en-US" sz="2800" dirty="0">
              <a:latin typeface="Amazon Ember" panose="020B0603020204020204" pitchFamily="34" charset="0"/>
              <a:ea typeface="Amazon Ember" panose="020B0603020204020204" pitchFamily="34" charset="0"/>
              <a:cs typeface="Amazon Ember" panose="020B0603020204020204" pitchFamily="34" charset="0"/>
            </a:endParaRPr>
          </a:p>
          <a:p>
            <a:pPr marL="571500" indent="-571500">
              <a:buFont typeface="Arial" panose="020B0604020202020204" pitchFamily="34" charset="0"/>
              <a:buChar char="•"/>
            </a:pPr>
            <a:r>
              <a:rPr lang="en-US" sz="2800" dirty="0">
                <a:latin typeface="Amazon Ember" panose="020B0603020204020204" pitchFamily="34" charset="0"/>
                <a:ea typeface="Amazon Ember" panose="020B0603020204020204" pitchFamily="34" charset="0"/>
                <a:cs typeface="Amazon Ember" panose="020B0603020204020204" pitchFamily="34" charset="0"/>
              </a:rPr>
              <a:t>Evaluate if AI adds </a:t>
            </a:r>
            <a:r>
              <a:rPr lang="en-US" sz="28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value</a:t>
            </a:r>
            <a:r>
              <a:rPr lang="en-US" sz="2800" dirty="0">
                <a:latin typeface="Amazon Ember" panose="020B0603020204020204" pitchFamily="34" charset="0"/>
                <a:ea typeface="Amazon Ember" panose="020B0603020204020204" pitchFamily="34" charset="0"/>
                <a:cs typeface="Amazon Ember" panose="020B0603020204020204" pitchFamily="34" charset="0"/>
              </a:rPr>
              <a:t> to any potential solution.</a:t>
            </a:r>
          </a:p>
          <a:p>
            <a:pPr marL="571500" indent="-571500">
              <a:buFont typeface="Arial" panose="020B0604020202020204" pitchFamily="34" charset="0"/>
              <a:buChar char="•"/>
            </a:pPr>
            <a:endParaRPr lang="en-US" sz="2800" dirty="0">
              <a:latin typeface="Amazon Ember" panose="020B0603020204020204" pitchFamily="34" charset="0"/>
              <a:ea typeface="Amazon Ember" panose="020B0603020204020204" pitchFamily="34" charset="0"/>
              <a:cs typeface="Amazon Ember" panose="020B0603020204020204" pitchFamily="34" charset="0"/>
            </a:endParaRPr>
          </a:p>
          <a:p>
            <a:pPr marL="571500" indent="-571500">
              <a:buFont typeface="Arial" panose="020B0604020202020204" pitchFamily="34" charset="0"/>
              <a:buChar char="•"/>
            </a:pPr>
            <a:r>
              <a:rPr lang="en-US" sz="2800" dirty="0">
                <a:latin typeface="Amazon Ember" panose="020B0603020204020204" pitchFamily="34" charset="0"/>
                <a:ea typeface="Amazon Ember" panose="020B0603020204020204" pitchFamily="34" charset="0"/>
                <a:cs typeface="Amazon Ember" panose="020B0603020204020204" pitchFamily="34" charset="0"/>
              </a:rPr>
              <a:t>Conduct a thorough </a:t>
            </a:r>
            <a:r>
              <a:rPr lang="en-US" sz="28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risk assessment </a:t>
            </a:r>
            <a:r>
              <a:rPr lang="en-US" sz="2800" dirty="0">
                <a:latin typeface="Amazon Ember" panose="020B0603020204020204" pitchFamily="34" charset="0"/>
                <a:ea typeface="Amazon Ember" panose="020B0603020204020204" pitchFamily="34" charset="0"/>
                <a:cs typeface="Amazon Ember" panose="020B0603020204020204" pitchFamily="34" charset="0"/>
              </a:rPr>
              <a:t>of the proposed use case. </a:t>
            </a:r>
          </a:p>
          <a:p>
            <a:endParaRPr lang="en-US" dirty="0">
              <a:latin typeface="+mn-lt"/>
            </a:endParaRPr>
          </a:p>
        </p:txBody>
      </p:sp>
      <p:grpSp>
        <p:nvGrpSpPr>
          <p:cNvPr id="10" name="Group 9" descr="design icon">
            <a:extLst>
              <a:ext uri="{FF2B5EF4-FFF2-40B4-BE49-F238E27FC236}">
                <a16:creationId xmlns:a16="http://schemas.microsoft.com/office/drawing/2014/main" id="{1B2B78BF-AC87-5883-33F1-6A03F31C9294}"/>
              </a:ext>
            </a:extLst>
          </p:cNvPr>
          <p:cNvGrpSpPr/>
          <p:nvPr/>
        </p:nvGrpSpPr>
        <p:grpSpPr>
          <a:xfrm>
            <a:off x="615350" y="1741714"/>
            <a:ext cx="2685287" cy="4322655"/>
            <a:chOff x="615350" y="1741714"/>
            <a:chExt cx="2685287" cy="4322655"/>
          </a:xfrm>
        </p:grpSpPr>
        <p:sp>
          <p:nvSpPr>
            <p:cNvPr id="11" name="Rectangle: Rounded Corners 63">
              <a:extLst>
                <a:ext uri="{FF2B5EF4-FFF2-40B4-BE49-F238E27FC236}">
                  <a16:creationId xmlns:a16="http://schemas.microsoft.com/office/drawing/2014/main" id="{873D9C65-03EB-0A4B-AF47-DD818FF7C01B}"/>
                </a:ext>
              </a:extLst>
            </p:cNvPr>
            <p:cNvSpPr/>
            <p:nvPr/>
          </p:nvSpPr>
          <p:spPr>
            <a:xfrm>
              <a:off x="648227"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p>
              <a:pPr algn="ctr"/>
              <a:r>
                <a:rPr lang="en-US" sz="3200" dirty="0">
                  <a:latin typeface="+mj-lt"/>
                </a:rPr>
                <a:t>Design</a:t>
              </a:r>
            </a:p>
          </p:txBody>
        </p:sp>
        <p:pic>
          <p:nvPicPr>
            <p:cNvPr id="12" name="Graphic 11">
              <a:extLst>
                <a:ext uri="{FF2B5EF4-FFF2-40B4-BE49-F238E27FC236}">
                  <a16:creationId xmlns:a16="http://schemas.microsoft.com/office/drawing/2014/main" id="{31F328F5-43E6-A2A0-EB24-01CC7A5F2E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350" y="2576835"/>
              <a:ext cx="2652411" cy="2652411"/>
            </a:xfrm>
            <a:prstGeom prst="rect">
              <a:avLst/>
            </a:prstGeom>
          </p:spPr>
        </p:pic>
      </p:grpSp>
    </p:spTree>
    <p:extLst>
      <p:ext uri="{BB962C8B-B14F-4D97-AF65-F5344CB8AC3E}">
        <p14:creationId xmlns:p14="http://schemas.microsoft.com/office/powerpoint/2010/main" val="604825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74883E-8742-BA0A-A435-41B46D458744}"/>
              </a:ext>
            </a:extLst>
          </p:cNvPr>
          <p:cNvSpPr>
            <a:spLocks noGrp="1"/>
          </p:cNvSpPr>
          <p:nvPr>
            <p:ph type="sldNum" idx="97"/>
          </p:nvPr>
        </p:nvSpPr>
        <p:spPr/>
        <p:txBody>
          <a:bodyPr/>
          <a:lstStyle/>
          <a:p>
            <a:fld id="{86A8BF56-6CB3-514C-9A64-F39D95C9E25B}" type="slidenum">
              <a:rPr lang="en-US" smtClean="0"/>
              <a:t>14</a:t>
            </a:fld>
            <a:endParaRPr lang="en-US"/>
          </a:p>
        </p:txBody>
      </p:sp>
      <p:sp>
        <p:nvSpPr>
          <p:cNvPr id="3" name="Title 2">
            <a:extLst>
              <a:ext uri="{FF2B5EF4-FFF2-40B4-BE49-F238E27FC236}">
                <a16:creationId xmlns:a16="http://schemas.microsoft.com/office/drawing/2014/main" id="{E78C35F4-C54D-DA73-0025-FD2D8BA43D2C}"/>
              </a:ext>
            </a:extLst>
          </p:cNvPr>
          <p:cNvSpPr>
            <a:spLocks noGrp="1"/>
          </p:cNvSpPr>
          <p:nvPr>
            <p:ph type="title" idx="1"/>
          </p:nvPr>
        </p:nvSpPr>
        <p:spPr/>
        <p:txBody>
          <a:bodyPr/>
          <a:lstStyle/>
          <a:p>
            <a:r>
              <a:rPr lang="en-US" dirty="0"/>
              <a:t>Train, test and evaluate an AI/ML system</a:t>
            </a:r>
          </a:p>
        </p:txBody>
      </p:sp>
      <p:sp>
        <p:nvSpPr>
          <p:cNvPr id="5" name="Content Placeholder 3">
            <a:extLst>
              <a:ext uri="{FF2B5EF4-FFF2-40B4-BE49-F238E27FC236}">
                <a16:creationId xmlns:a16="http://schemas.microsoft.com/office/drawing/2014/main" id="{F113A296-1B12-076F-B749-A0A64A5B849D}"/>
              </a:ext>
            </a:extLst>
          </p:cNvPr>
          <p:cNvSpPr txBox="1">
            <a:spLocks/>
          </p:cNvSpPr>
          <p:nvPr/>
        </p:nvSpPr>
        <p:spPr>
          <a:xfrm>
            <a:off x="648226" y="1741716"/>
            <a:ext cx="4109538" cy="4555092"/>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3600" kern="1200">
                <a:solidFill>
                  <a:srgbClr val="232F3E"/>
                </a:solidFill>
                <a:latin typeface="Amazon Ember Display Heavy"/>
              </a:defRPr>
            </a:lvl1pPr>
          </a:lstStyle>
          <a:p>
            <a:pPr marL="457200" indent="-457200">
              <a:buFont typeface="Arial" panose="020B0604020202020204" pitchFamily="34" charset="0"/>
              <a:buChar char="•"/>
            </a:pPr>
            <a:r>
              <a:rPr lang="en-US" sz="2800">
                <a:solidFill>
                  <a:schemeClr val="tx1"/>
                </a:solidFill>
                <a:latin typeface="Amazon Ember" panose="020B0603020204020204" pitchFamily="34" charset="0"/>
                <a:ea typeface="Amazon Ember" panose="020B0603020204020204" pitchFamily="34" charset="0"/>
                <a:cs typeface="Amazon Ember" panose="020B0603020204020204" pitchFamily="34" charset="0"/>
              </a:rPr>
              <a:t>Verify </a:t>
            </a:r>
            <a:r>
              <a:rPr lang="en-US" sz="2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training data is </a:t>
            </a:r>
            <a:r>
              <a:rPr lang="en-US" sz="2800" dirty="0">
                <a:solidFill>
                  <a:srgbClr val="DF2A5D"/>
                </a:solidFill>
                <a:latin typeface="Amazon Ember" panose="020B0603020204020204" pitchFamily="34" charset="0"/>
                <a:ea typeface="Amazon Ember" panose="020B0603020204020204" pitchFamily="34" charset="0"/>
                <a:cs typeface="Amazon Ember" panose="020B0603020204020204" pitchFamily="34" charset="0"/>
              </a:rPr>
              <a:t>safe</a:t>
            </a:r>
            <a:r>
              <a:rPr lang="en-US" sz="2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r>
              <a:rPr lang="en-US" sz="28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8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relevant</a:t>
            </a:r>
            <a:r>
              <a:rPr lang="en-US" sz="2800" dirty="0">
                <a:latin typeface="Amazon Ember" panose="020B0603020204020204" pitchFamily="34" charset="0"/>
                <a:ea typeface="Amazon Ember" panose="020B0603020204020204" pitchFamily="34" charset="0"/>
                <a:cs typeface="Amazon Ember" panose="020B0603020204020204" pitchFamily="34" charset="0"/>
              </a:rPr>
              <a:t>, and </a:t>
            </a:r>
            <a:r>
              <a:rPr lang="en-US" sz="28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representative</a:t>
            </a:r>
            <a:r>
              <a:rPr lang="en-US" sz="2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a:p>
            <a:pPr marL="457200" indent="-457200">
              <a:buFont typeface="Arial" panose="020B0604020202020204" pitchFamily="34" charset="0"/>
              <a:buChar char="•"/>
            </a:pPr>
            <a:endParaRPr lang="en-US" sz="2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 typeface="Arial" panose="020B0604020202020204" pitchFamily="34" charset="0"/>
              <a:buChar char="•"/>
            </a:pPr>
            <a:r>
              <a:rPr lang="en-US" sz="2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Consider </a:t>
            </a:r>
            <a:r>
              <a:rPr lang="en-US" sz="28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legal requirements</a:t>
            </a:r>
            <a:r>
              <a:rPr lang="en-US" sz="28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where applicable (e.g. licensing, privacy, consent).</a:t>
            </a:r>
            <a:endParaRPr lang="en-US" sz="2800" dirty="0">
              <a:latin typeface="Amazon Ember" panose="020B0603020204020204" pitchFamily="34" charset="0"/>
              <a:ea typeface="Amazon Ember" panose="020B0603020204020204" pitchFamily="34" charset="0"/>
              <a:cs typeface="Amazon Ember" panose="020B0603020204020204" pitchFamily="34" charset="0"/>
            </a:endParaRPr>
          </a:p>
          <a:p>
            <a:endParaRPr lang="en-US" sz="28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TextBox 5">
            <a:extLst>
              <a:ext uri="{FF2B5EF4-FFF2-40B4-BE49-F238E27FC236}">
                <a16:creationId xmlns:a16="http://schemas.microsoft.com/office/drawing/2014/main" id="{EA138E92-83CB-8B23-4394-4420F830F591}"/>
              </a:ext>
            </a:extLst>
          </p:cNvPr>
          <p:cNvSpPr txBox="1"/>
          <p:nvPr/>
        </p:nvSpPr>
        <p:spPr>
          <a:xfrm>
            <a:off x="7924427" y="1741717"/>
            <a:ext cx="3652225" cy="4555093"/>
          </a:xfrm>
          <a:prstGeom prst="rect">
            <a:avLst/>
          </a:prstGeom>
          <a:noFill/>
        </p:spPr>
        <p:txBody>
          <a:bodyPr wrap="square">
            <a:spAutoFit/>
          </a:bodyPr>
          <a:lstStyle/>
          <a:p>
            <a:pPr marL="344488" indent="-344488" defTabSz="91440">
              <a:spcAft>
                <a:spcPts val="600"/>
              </a:spcAft>
              <a:buClr>
                <a:srgbClr val="1D212E"/>
              </a:buClr>
              <a:buSzPct val="100000"/>
              <a:buBlip>
                <a:blip r:embed="rId3">
                  <a:extLst>
                    <a:ext uri="{96DAC541-7B7A-43D3-8B79-37D633B846F1}">
                      <asvg:svgBlip xmlns:asvg="http://schemas.microsoft.com/office/drawing/2016/SVG/main" r:embed="rId4"/>
                    </a:ext>
                  </a:extLst>
                </a:blip>
              </a:buBlip>
              <a:tabLst>
                <a:tab pos="227013" algn="l"/>
              </a:tabLst>
              <a:defRPr/>
            </a:pPr>
            <a:r>
              <a:rPr lang="en-US" sz="2800"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Use </a:t>
            </a:r>
            <a:r>
              <a:rPr lang="en-US" sz="2800" dirty="0">
                <a:solidFill>
                  <a:srgbClr val="DF2A5D"/>
                </a:solidFill>
                <a:latin typeface="Amazon Ember Medium"/>
                <a:ea typeface="Amazon Ember Light" panose="020B0403020204020204" pitchFamily="34" charset="0"/>
                <a:cs typeface="Amazon Ember Light" panose="020B0403020204020204" pitchFamily="34" charset="0"/>
              </a:rPr>
              <a:t>metrics</a:t>
            </a:r>
            <a:r>
              <a:rPr lang="en-US" sz="2800" dirty="0">
                <a:solidFill>
                  <a:srgbClr val="DF2A5D"/>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800"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to evaluate outcomes; </a:t>
            </a:r>
            <a:r>
              <a:rPr lang="en-US" sz="2800" dirty="0">
                <a:solidFill>
                  <a:srgbClr val="DF2A5D"/>
                </a:solidFill>
                <a:latin typeface="Amazon Ember Medium"/>
                <a:ea typeface="Amazon Ember Light" panose="020B0403020204020204" pitchFamily="34" charset="0"/>
                <a:cs typeface="Amazon Ember Light" panose="020B0403020204020204" pitchFamily="34" charset="0"/>
              </a:rPr>
              <a:t>include confidence intervals</a:t>
            </a:r>
            <a:r>
              <a:rPr lang="en-US" sz="2800"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a:t>
            </a:r>
          </a:p>
          <a:p>
            <a:pPr marL="344488" indent="-344488" defTabSz="91440">
              <a:spcAft>
                <a:spcPts val="600"/>
              </a:spcAft>
              <a:buClr>
                <a:srgbClr val="1D212E"/>
              </a:buClr>
              <a:buSzPct val="100000"/>
              <a:buBlip>
                <a:blip r:embed="rId3">
                  <a:extLst>
                    <a:ext uri="{96DAC541-7B7A-43D3-8B79-37D633B846F1}">
                      <asvg:svgBlip xmlns:asvg="http://schemas.microsoft.com/office/drawing/2016/SVG/main" r:embed="rId4"/>
                    </a:ext>
                  </a:extLst>
                </a:blip>
              </a:buBlip>
              <a:tabLst>
                <a:tab pos="227013" algn="l"/>
              </a:tabLst>
              <a:defRPr/>
            </a:pPr>
            <a:endParaRPr lang="en-US" sz="2800"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44488" indent="-344488" defTabSz="91440">
              <a:spcAft>
                <a:spcPts val="600"/>
              </a:spcAft>
              <a:buClr>
                <a:srgbClr val="1D212E"/>
              </a:buClr>
              <a:buSzPct val="100000"/>
              <a:buBlip>
                <a:blip r:embed="rId3">
                  <a:extLst>
                    <a:ext uri="{96DAC541-7B7A-43D3-8B79-37D633B846F1}">
                      <asvg:svgBlip xmlns:asvg="http://schemas.microsoft.com/office/drawing/2016/SVG/main" r:embed="rId4"/>
                    </a:ext>
                  </a:extLst>
                </a:blip>
              </a:buBlip>
              <a:tabLst>
                <a:tab pos="227013" algn="l"/>
              </a:tabLst>
              <a:defRPr/>
            </a:pPr>
            <a:r>
              <a:rPr lang="en-US" sz="2800"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Consider model disgorgement, </a:t>
            </a:r>
            <a:r>
              <a:rPr lang="en-US" sz="2800" dirty="0">
                <a:solidFill>
                  <a:srgbClr val="DF2A5D"/>
                </a:solidFill>
                <a:latin typeface="Amazon Ember Medium"/>
                <a:ea typeface="Amazon Ember Light" panose="020B0403020204020204" pitchFamily="34" charset="0"/>
                <a:cs typeface="Amazon Ember Light" panose="020B0403020204020204" pitchFamily="34" charset="0"/>
              </a:rPr>
              <a:t>value alignment</a:t>
            </a:r>
            <a:r>
              <a:rPr lang="en-US" sz="2800"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 and use </a:t>
            </a:r>
            <a:r>
              <a:rPr lang="en-US" sz="2800" dirty="0">
                <a:solidFill>
                  <a:srgbClr val="DF2A5D"/>
                </a:solidFill>
                <a:latin typeface="Amazon Ember Medium"/>
                <a:ea typeface="Amazon Ember Light" panose="020B0403020204020204" pitchFamily="34" charset="0"/>
                <a:cs typeface="Amazon Ember Light" panose="020B0403020204020204" pitchFamily="34" charset="0"/>
              </a:rPr>
              <a:t>safeguards</a:t>
            </a:r>
            <a:r>
              <a:rPr lang="en-US" sz="2800"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 to mitigate risk.</a:t>
            </a:r>
          </a:p>
        </p:txBody>
      </p:sp>
      <p:grpSp>
        <p:nvGrpSpPr>
          <p:cNvPr id="7" name="Group 6" descr="Build icon">
            <a:extLst>
              <a:ext uri="{FF2B5EF4-FFF2-40B4-BE49-F238E27FC236}">
                <a16:creationId xmlns:a16="http://schemas.microsoft.com/office/drawing/2014/main" id="{BB9A9A33-C83A-C4AE-C8D7-F166008410A1}"/>
              </a:ext>
            </a:extLst>
          </p:cNvPr>
          <p:cNvGrpSpPr/>
          <p:nvPr/>
        </p:nvGrpSpPr>
        <p:grpSpPr>
          <a:xfrm>
            <a:off x="4769797" y="1741716"/>
            <a:ext cx="2664443" cy="4322655"/>
            <a:chOff x="4769795" y="1741714"/>
            <a:chExt cx="2664443" cy="4322655"/>
          </a:xfrm>
        </p:grpSpPr>
        <p:sp>
          <p:nvSpPr>
            <p:cNvPr id="8" name="Rectangle: Rounded Corners 3">
              <a:extLst>
                <a:ext uri="{FF2B5EF4-FFF2-40B4-BE49-F238E27FC236}">
                  <a16:creationId xmlns:a16="http://schemas.microsoft.com/office/drawing/2014/main" id="{B84D7472-324D-460E-1A1B-D02588AC6859}"/>
                </a:ext>
              </a:extLst>
            </p:cNvPr>
            <p:cNvSpPr/>
            <p:nvPr/>
          </p:nvSpPr>
          <p:spPr>
            <a:xfrm>
              <a:off x="4781828"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p>
              <a:pPr algn="ctr"/>
              <a:r>
                <a:rPr lang="en-US" sz="3200" dirty="0">
                  <a:latin typeface="+mj-lt"/>
                </a:rPr>
                <a:t>Build</a:t>
              </a:r>
            </a:p>
            <a:p>
              <a:pPr algn="ctr"/>
              <a:endParaRPr lang="en-US" sz="3200" dirty="0">
                <a:latin typeface="+mj-lt"/>
              </a:endParaRPr>
            </a:p>
          </p:txBody>
        </p:sp>
        <p:pic>
          <p:nvPicPr>
            <p:cNvPr id="9" name="Graphic 8">
              <a:extLst>
                <a:ext uri="{FF2B5EF4-FFF2-40B4-BE49-F238E27FC236}">
                  <a16:creationId xmlns:a16="http://schemas.microsoft.com/office/drawing/2014/main" id="{69DAF119-1DA9-5A99-C6DF-9C41F88EC7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9795" y="2576836"/>
              <a:ext cx="2652410" cy="2652410"/>
            </a:xfrm>
            <a:prstGeom prst="rect">
              <a:avLst/>
            </a:prstGeom>
          </p:spPr>
        </p:pic>
      </p:grpSp>
    </p:spTree>
    <p:extLst>
      <p:ext uri="{BB962C8B-B14F-4D97-AF65-F5344CB8AC3E}">
        <p14:creationId xmlns:p14="http://schemas.microsoft.com/office/powerpoint/2010/main" val="5835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D45F5E-A352-588F-BC54-493FA814942B}"/>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5361BA57-3ACE-8990-EDA3-80EF95F7C860}"/>
              </a:ext>
            </a:extLst>
          </p:cNvPr>
          <p:cNvSpPr>
            <a:spLocks noGrp="1"/>
          </p:cNvSpPr>
          <p:nvPr>
            <p:ph type="title" idx="1"/>
          </p:nvPr>
        </p:nvSpPr>
        <p:spPr/>
        <p:txBody>
          <a:bodyPr/>
          <a:lstStyle/>
          <a:p>
            <a:r>
              <a:rPr lang="en-US" dirty="0"/>
              <a:t>Deploying and using an AI/ML system</a:t>
            </a:r>
          </a:p>
        </p:txBody>
      </p:sp>
      <p:sp>
        <p:nvSpPr>
          <p:cNvPr id="5" name="Content Placeholder 3">
            <a:extLst>
              <a:ext uri="{FF2B5EF4-FFF2-40B4-BE49-F238E27FC236}">
                <a16:creationId xmlns:a16="http://schemas.microsoft.com/office/drawing/2014/main" id="{A0F53A8D-DD1D-74F1-2846-74F2957DAAFF}"/>
              </a:ext>
            </a:extLst>
          </p:cNvPr>
          <p:cNvSpPr txBox="1">
            <a:spLocks/>
          </p:cNvSpPr>
          <p:nvPr/>
        </p:nvSpPr>
        <p:spPr>
          <a:xfrm>
            <a:off x="648227" y="1673525"/>
            <a:ext cx="6991925" cy="4390845"/>
          </a:xfrm>
          <a:prstGeom prst="rect">
            <a:avLst/>
          </a:prstGeom>
        </p:spPr>
        <p:txBody>
          <a:bodyPr vert="horz" lIns="91440" tIns="45720" rIns="91440" bIns="45720" rtlCol="0" anchor="ctr">
            <a:normAutofit lnSpcReduction="10000"/>
          </a:bodyPr>
          <a:lstStyle>
            <a:lvl1pPr algn="l" defTabSz="914400" rtl="0" eaLnBrk="1" latinLnBrk="0" hangingPunct="1">
              <a:lnSpc>
                <a:spcPct val="100000"/>
              </a:lnSpc>
              <a:spcBef>
                <a:spcPct val="0"/>
              </a:spcBef>
              <a:buNone/>
              <a:defRPr sz="3600" kern="1200">
                <a:solidFill>
                  <a:srgbClr val="232F3E"/>
                </a:solidFill>
                <a:latin typeface="Amazon Ember Display Heavy"/>
              </a:defRPr>
            </a:lvl1pPr>
          </a:lstStyle>
          <a:p>
            <a:pPr marL="457200" indent="-457200">
              <a:buFont typeface="Arial" panose="020B0604020202020204" pitchFamily="34" charset="0"/>
              <a:buChar char="•"/>
            </a:pPr>
            <a:r>
              <a:rPr lang="en-US" sz="3000" dirty="0">
                <a:latin typeface="Amazon Ember" panose="020B0603020204020204" pitchFamily="34" charset="0"/>
                <a:ea typeface="Amazon Ember" panose="020B0603020204020204" pitchFamily="34" charset="0"/>
                <a:cs typeface="Amazon Ember" panose="020B0603020204020204" pitchFamily="34" charset="0"/>
              </a:rPr>
              <a:t>Offer end users a way to </a:t>
            </a:r>
            <a:r>
              <a:rPr lang="en-US" sz="30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inquire about outputs</a:t>
            </a:r>
            <a:r>
              <a:rPr lang="en-US" sz="30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3000" dirty="0">
                <a:latin typeface="Amazon Ember" panose="020B0603020204020204" pitchFamily="34" charset="0"/>
                <a:ea typeface="Amazon Ember" panose="020B0603020204020204" pitchFamily="34" charset="0"/>
                <a:cs typeface="Amazon Ember" panose="020B0603020204020204" pitchFamily="34" charset="0"/>
              </a:rPr>
              <a:t>for high risk use cases (through e.g. feedback/request forms) and </a:t>
            </a:r>
            <a:r>
              <a:rPr lang="en-US" sz="30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be </a:t>
            </a:r>
            <a:r>
              <a:rPr lang="en-US" sz="30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transparent about limitations.</a:t>
            </a:r>
            <a:endParaRPr lang="en-US" sz="3000" i="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 typeface="Arial" panose="020B0604020202020204" pitchFamily="34" charset="0"/>
              <a:buChar char="•"/>
            </a:pPr>
            <a:endParaRPr lang="en-US" sz="30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 typeface="Arial" panose="020B0604020202020204" pitchFamily="34" charset="0"/>
              <a:buChar char="•"/>
            </a:pPr>
            <a:r>
              <a:rPr lang="en-US" sz="3000" dirty="0">
                <a:latin typeface="Amazon Ember" panose="020B0603020204020204" pitchFamily="34" charset="0"/>
                <a:ea typeface="Amazon Ember" panose="020B0603020204020204" pitchFamily="34" charset="0"/>
                <a:cs typeface="Amazon Ember" panose="020B0603020204020204" pitchFamily="34" charset="0"/>
              </a:rPr>
              <a:t>Check for </a:t>
            </a:r>
            <a:r>
              <a:rPr lang="en-US" sz="30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model drift </a:t>
            </a:r>
            <a:r>
              <a:rPr lang="en-US" sz="3000" dirty="0">
                <a:latin typeface="Amazon Ember" panose="020B0603020204020204" pitchFamily="34" charset="0"/>
                <a:ea typeface="Amazon Ember" panose="020B0603020204020204" pitchFamily="34" charset="0"/>
                <a:cs typeface="Amazon Ember" panose="020B0603020204020204" pitchFamily="34" charset="0"/>
              </a:rPr>
              <a:t>(the world evolves) and </a:t>
            </a:r>
            <a:r>
              <a:rPr lang="en-US" sz="30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ensure the model is used as intended </a:t>
            </a:r>
            <a:r>
              <a:rPr lang="en-US" sz="3000" dirty="0">
                <a:latin typeface="Amazon Ember" panose="020B0603020204020204" pitchFamily="34" charset="0"/>
                <a:ea typeface="Amazon Ember" panose="020B0603020204020204" pitchFamily="34" charset="0"/>
                <a:cs typeface="Amazon Ember" panose="020B0603020204020204" pitchFamily="34" charset="0"/>
              </a:rPr>
              <a:t>(e.g. trained on US, should be used for US).</a:t>
            </a:r>
          </a:p>
          <a:p>
            <a:endParaRPr lang="en-US" dirty="0"/>
          </a:p>
        </p:txBody>
      </p:sp>
      <p:grpSp>
        <p:nvGrpSpPr>
          <p:cNvPr id="6" name="Group 5" descr="Operate icon">
            <a:extLst>
              <a:ext uri="{FF2B5EF4-FFF2-40B4-BE49-F238E27FC236}">
                <a16:creationId xmlns:a16="http://schemas.microsoft.com/office/drawing/2014/main" id="{C0D1AC7B-96C7-D5B7-53A0-6B55A7FB874B}"/>
              </a:ext>
            </a:extLst>
          </p:cNvPr>
          <p:cNvGrpSpPr/>
          <p:nvPr/>
        </p:nvGrpSpPr>
        <p:grpSpPr>
          <a:xfrm>
            <a:off x="8924239" y="1741716"/>
            <a:ext cx="2652410" cy="4322655"/>
            <a:chOff x="8924239" y="1741714"/>
            <a:chExt cx="2652410" cy="4322655"/>
          </a:xfrm>
        </p:grpSpPr>
        <p:sp>
          <p:nvSpPr>
            <p:cNvPr id="7" name="Rectangle: Rounded Corners 3">
              <a:extLst>
                <a:ext uri="{FF2B5EF4-FFF2-40B4-BE49-F238E27FC236}">
                  <a16:creationId xmlns:a16="http://schemas.microsoft.com/office/drawing/2014/main" id="{542E9E07-5671-06F2-7DB5-5FFEAAAB5DB4}"/>
                </a:ext>
              </a:extLst>
            </p:cNvPr>
            <p:cNvSpPr/>
            <p:nvPr/>
          </p:nvSpPr>
          <p:spPr>
            <a:xfrm>
              <a:off x="8924239" y="1741714"/>
              <a:ext cx="2652410" cy="4322655"/>
            </a:xfrm>
            <a:prstGeom prst="roundRect">
              <a:avLst>
                <a:gd name="adj" fmla="val 4396"/>
              </a:avLst>
            </a:prstGeom>
            <a:solidFill>
              <a:schemeClr val="bg1"/>
            </a:solidFill>
            <a:ln w="63500" cap="flat">
              <a:gradFill flip="none" rotWithShape="1">
                <a:gsLst>
                  <a:gs pos="0">
                    <a:srgbClr val="C0225F"/>
                  </a:gs>
                  <a:gs pos="77000">
                    <a:schemeClr val="accent1"/>
                  </a:gs>
                  <a:gs pos="48000">
                    <a:schemeClr val="accent3"/>
                  </a:gs>
                  <a:gs pos="15000">
                    <a:schemeClr val="tx2"/>
                  </a:gs>
                  <a:gs pos="0">
                    <a:srgbClr val="242D3F"/>
                  </a:gs>
                  <a:gs pos="100000">
                    <a:schemeClr val="accent5"/>
                  </a:gs>
                </a:gsLst>
                <a:lin ang="18900000" scaled="1"/>
                <a:tileRect/>
              </a:gradFill>
              <a:prstDash val="solid"/>
              <a:miter lim="800000"/>
              <a:headEnd/>
              <a:tailEnd/>
            </a:ln>
            <a:effectLst>
              <a:outerShdw blurRad="50800" dist="38100" dir="2700000" algn="tl" rotWithShape="0">
                <a:prstClr val="black">
                  <a:alpha val="40000"/>
                </a:prstClr>
              </a:outerShdw>
            </a:effectLst>
          </p:spPr>
          <p:txBody>
            <a:bodyPr lIns="91440" tIns="91440" rIns="91440" bIns="91440" rtlCol="0" anchor="t" anchorCtr="0"/>
            <a:lstStyle/>
            <a:p>
              <a:pPr algn="ctr"/>
              <a:r>
                <a:rPr lang="en-US" sz="3200" dirty="0">
                  <a:latin typeface="+mj-lt"/>
                </a:rPr>
                <a:t>Operate</a:t>
              </a:r>
            </a:p>
            <a:p>
              <a:pPr algn="ctr"/>
              <a:endParaRPr lang="en-US" sz="3200" dirty="0">
                <a:latin typeface="+mj-lt"/>
              </a:endParaRPr>
            </a:p>
          </p:txBody>
        </p:sp>
        <p:pic>
          <p:nvPicPr>
            <p:cNvPr id="8" name="Graphic 7">
              <a:extLst>
                <a:ext uri="{FF2B5EF4-FFF2-40B4-BE49-F238E27FC236}">
                  <a16:creationId xmlns:a16="http://schemas.microsoft.com/office/drawing/2014/main" id="{B1526487-163E-C39B-B145-ECA72EB27A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3893" y="2562396"/>
              <a:ext cx="2613101" cy="2613101"/>
            </a:xfrm>
            <a:prstGeom prst="rect">
              <a:avLst/>
            </a:prstGeom>
          </p:spPr>
        </p:pic>
      </p:grpSp>
    </p:spTree>
    <p:extLst>
      <p:ext uri="{BB962C8B-B14F-4D97-AF65-F5344CB8AC3E}">
        <p14:creationId xmlns:p14="http://schemas.microsoft.com/office/powerpoint/2010/main" val="198037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16</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a:t>Assessing the risk of an AI application</a:t>
            </a:r>
          </a:p>
        </p:txBody>
      </p:sp>
    </p:spTree>
    <p:extLst>
      <p:ext uri="{BB962C8B-B14F-4D97-AF65-F5344CB8AC3E}">
        <p14:creationId xmlns:p14="http://schemas.microsoft.com/office/powerpoint/2010/main" val="3659843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259EE042-6471-56F8-0508-AC396A600BB9}"/>
              </a:ext>
            </a:extLst>
          </p:cNvPr>
          <p:cNvCxnSpPr>
            <a:cxnSpLocks/>
          </p:cNvCxnSpPr>
          <p:nvPr/>
        </p:nvCxnSpPr>
        <p:spPr>
          <a:xfrm>
            <a:off x="0" y="3209775"/>
            <a:ext cx="12192000" cy="0"/>
          </a:xfrm>
          <a:prstGeom prst="line">
            <a:avLst/>
          </a:prstGeom>
          <a:ln w="1905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2" name="Title 2">
            <a:extLst>
              <a:ext uri="{FF2B5EF4-FFF2-40B4-BE49-F238E27FC236}">
                <a16:creationId xmlns:a16="http://schemas.microsoft.com/office/drawing/2014/main" id="{12CFDAD3-8B53-FC1B-09B8-38CB4BEC7766}"/>
              </a:ext>
            </a:extLst>
          </p:cNvPr>
          <p:cNvSpPr>
            <a:spLocks noGrp="1"/>
          </p:cNvSpPr>
          <p:nvPr>
            <p:ph type="title"/>
          </p:nvPr>
        </p:nvSpPr>
        <p:spPr/>
        <p:txBody>
          <a:bodyPr/>
          <a:lstStyle/>
          <a:p>
            <a:r>
              <a:rPr lang="en-US" dirty="0"/>
              <a:t>Risk assessment process</a:t>
            </a:r>
          </a:p>
        </p:txBody>
      </p:sp>
      <p:grpSp>
        <p:nvGrpSpPr>
          <p:cNvPr id="7" name="Group 6" descr="Step 1: Assemble the team and define the service use cases&#10;">
            <a:extLst>
              <a:ext uri="{FF2B5EF4-FFF2-40B4-BE49-F238E27FC236}">
                <a16:creationId xmlns:a16="http://schemas.microsoft.com/office/drawing/2014/main" id="{DF38FF94-3272-5414-1F5C-3027D8447050}"/>
              </a:ext>
            </a:extLst>
          </p:cNvPr>
          <p:cNvGrpSpPr/>
          <p:nvPr/>
        </p:nvGrpSpPr>
        <p:grpSpPr>
          <a:xfrm>
            <a:off x="622594" y="1964597"/>
            <a:ext cx="3283668" cy="3481882"/>
            <a:chOff x="679938" y="1964597"/>
            <a:chExt cx="3283668" cy="3481882"/>
          </a:xfrm>
        </p:grpSpPr>
        <p:sp>
          <p:nvSpPr>
            <p:cNvPr id="9" name="Oval 8">
              <a:extLst>
                <a:ext uri="{FF2B5EF4-FFF2-40B4-BE49-F238E27FC236}">
                  <a16:creationId xmlns:a16="http://schemas.microsoft.com/office/drawing/2014/main" id="{D78E33AA-9E87-384E-3812-B9C9084B241E}"/>
                </a:ext>
              </a:extLst>
            </p:cNvPr>
            <p:cNvSpPr/>
            <p:nvPr/>
          </p:nvSpPr>
          <p:spPr>
            <a:xfrm>
              <a:off x="1079126" y="1964597"/>
              <a:ext cx="2485292" cy="248529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defRPr/>
              </a:pPr>
              <a:endParaRPr lang="en-US" dirty="0">
                <a:solidFill>
                  <a:prstClr val="black"/>
                </a:solidFill>
                <a:latin typeface="Amazon Ember Display"/>
              </a:endParaRPr>
            </a:p>
          </p:txBody>
        </p:sp>
        <p:sp>
          <p:nvSpPr>
            <p:cNvPr id="10" name="TextBox 9">
              <a:extLst>
                <a:ext uri="{FF2B5EF4-FFF2-40B4-BE49-F238E27FC236}">
                  <a16:creationId xmlns:a16="http://schemas.microsoft.com/office/drawing/2014/main" id="{2DBD7E24-4853-02B5-8E5B-BDE2F39CA92F}"/>
                </a:ext>
              </a:extLst>
            </p:cNvPr>
            <p:cNvSpPr txBox="1"/>
            <p:nvPr/>
          </p:nvSpPr>
          <p:spPr>
            <a:xfrm>
              <a:off x="1359897" y="2245368"/>
              <a:ext cx="1923750" cy="1923750"/>
            </a:xfrm>
            <a:prstGeom prst="ellipse">
              <a:avLst/>
            </a:prstGeom>
            <a:solidFill>
              <a:schemeClr val="accent4"/>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a:defRPr/>
              </a:pPr>
              <a:r>
                <a:rPr lang="en-US" sz="10000" dirty="0">
                  <a:solidFill>
                    <a:prstClr val="white"/>
                  </a:solidFill>
                  <a:latin typeface="Amazon Ember Display Heavy"/>
                </a:rPr>
                <a:t>1</a:t>
              </a:r>
            </a:p>
          </p:txBody>
        </p:sp>
        <p:sp>
          <p:nvSpPr>
            <p:cNvPr id="11" name="TextBox 10">
              <a:extLst>
                <a:ext uri="{FF2B5EF4-FFF2-40B4-BE49-F238E27FC236}">
                  <a16:creationId xmlns:a16="http://schemas.microsoft.com/office/drawing/2014/main" id="{7DA5926B-ADC0-2651-095F-EA0A492F759F}"/>
                </a:ext>
              </a:extLst>
            </p:cNvPr>
            <p:cNvSpPr txBox="1"/>
            <p:nvPr/>
          </p:nvSpPr>
          <p:spPr>
            <a:xfrm>
              <a:off x="679938" y="4707815"/>
              <a:ext cx="3283668" cy="738664"/>
            </a:xfrm>
            <a:prstGeom prst="rect">
              <a:avLst/>
            </a:prstGeom>
            <a:noFill/>
          </p:spPr>
          <p:txBody>
            <a:bodyPr wrap="square" lIns="0" tIns="0" rIns="0" bIns="0" rtlCol="0">
              <a:spAutoFit/>
            </a:bodyPr>
            <a:lstStyle/>
            <a:p>
              <a:pPr algn="ctr"/>
              <a:r>
                <a:rPr lang="en-US" sz="2400" dirty="0"/>
                <a:t>Define the use case and relevant stakeholders</a:t>
              </a:r>
            </a:p>
          </p:txBody>
        </p:sp>
      </p:grpSp>
      <p:sp>
        <p:nvSpPr>
          <p:cNvPr id="3" name="Slide Number Placeholder 2">
            <a:extLst>
              <a:ext uri="{FF2B5EF4-FFF2-40B4-BE49-F238E27FC236}">
                <a16:creationId xmlns:a16="http://schemas.microsoft.com/office/drawing/2014/main" id="{80928ED0-E245-3079-07C8-A77F94D6F330}"/>
              </a:ext>
            </a:extLst>
          </p:cNvPr>
          <p:cNvSpPr>
            <a:spLocks noGrp="1"/>
          </p:cNvSpPr>
          <p:nvPr>
            <p:ph type="sldNum" sz="quarter" idx="12"/>
          </p:nvPr>
        </p:nvSpPr>
        <p:spPr/>
        <p:txBody>
          <a:bodyPr/>
          <a:lstStyle/>
          <a:p>
            <a:pPr>
              <a:defRPr/>
            </a:pPr>
            <a:fld id="{2613A35D-97EF-7A48-AACF-97D95E22C11E}" type="slidenum">
              <a:rPr lang="en-US" smtClean="0">
                <a:solidFill>
                  <a:srgbClr val="232F3E"/>
                </a:solidFill>
              </a:rPr>
              <a:pPr>
                <a:defRPr/>
              </a:pPr>
              <a:t>17</a:t>
            </a:fld>
            <a:endParaRPr lang="en-US" dirty="0">
              <a:solidFill>
                <a:srgbClr val="232F3E"/>
              </a:solidFill>
            </a:endParaRPr>
          </a:p>
        </p:txBody>
      </p:sp>
    </p:spTree>
    <p:extLst>
      <p:ext uri="{BB962C8B-B14F-4D97-AF65-F5344CB8AC3E}">
        <p14:creationId xmlns:p14="http://schemas.microsoft.com/office/powerpoint/2010/main" val="59424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63" presetClass="path" presetSubtype="0" accel="50000" decel="50000" fill="hold" nodeType="withEffect">
                                  <p:stCondLst>
                                    <p:cond delay="0"/>
                                  </p:stCondLst>
                                  <p:childTnLst>
                                    <p:animMotion origin="layout" path="M -0.02253 2.22222E-6 L 2.91667E-6 2.22222E-6 " pathEditMode="relative" rAng="0" ptsTypes="AA">
                                      <p:cBhvr>
                                        <p:cTn id="9" dur="500" fill="hold"/>
                                        <p:tgtEl>
                                          <p:spTgt spid="7"/>
                                        </p:tgtEl>
                                        <p:attrNameLst>
                                          <p:attrName>ppt_x</p:attrName>
                                          <p:attrName>ppt_y</p:attrName>
                                        </p:attrNameLst>
                                      </p:cBhvr>
                                      <p:rCtr x="112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259EE042-6471-56F8-0508-AC396A600BB9}"/>
              </a:ext>
            </a:extLst>
          </p:cNvPr>
          <p:cNvCxnSpPr>
            <a:cxnSpLocks/>
          </p:cNvCxnSpPr>
          <p:nvPr/>
        </p:nvCxnSpPr>
        <p:spPr>
          <a:xfrm>
            <a:off x="0" y="3209775"/>
            <a:ext cx="12192000" cy="0"/>
          </a:xfrm>
          <a:prstGeom prst="line">
            <a:avLst/>
          </a:prstGeom>
          <a:ln w="1905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2" name="Title 2">
            <a:extLst>
              <a:ext uri="{FF2B5EF4-FFF2-40B4-BE49-F238E27FC236}">
                <a16:creationId xmlns:a16="http://schemas.microsoft.com/office/drawing/2014/main" id="{12CFDAD3-8B53-FC1B-09B8-38CB4BEC7766}"/>
              </a:ext>
            </a:extLst>
          </p:cNvPr>
          <p:cNvSpPr>
            <a:spLocks noGrp="1"/>
          </p:cNvSpPr>
          <p:nvPr>
            <p:ph type="title"/>
          </p:nvPr>
        </p:nvSpPr>
        <p:spPr/>
        <p:txBody>
          <a:bodyPr/>
          <a:lstStyle/>
          <a:p>
            <a:r>
              <a:rPr lang="en-US" dirty="0"/>
              <a:t>Risk assessment process</a:t>
            </a:r>
          </a:p>
        </p:txBody>
      </p:sp>
      <p:grpSp>
        <p:nvGrpSpPr>
          <p:cNvPr id="3" name="Group 2" descr="Step 2: Identify harmful events&#10;">
            <a:extLst>
              <a:ext uri="{FF2B5EF4-FFF2-40B4-BE49-F238E27FC236}">
                <a16:creationId xmlns:a16="http://schemas.microsoft.com/office/drawing/2014/main" id="{B111D36C-CE92-CC87-2519-27052839D7AB}"/>
              </a:ext>
            </a:extLst>
          </p:cNvPr>
          <p:cNvGrpSpPr/>
          <p:nvPr/>
        </p:nvGrpSpPr>
        <p:grpSpPr>
          <a:xfrm>
            <a:off x="4138863" y="1967129"/>
            <a:ext cx="3826042" cy="3848682"/>
            <a:chOff x="4150026" y="1967129"/>
            <a:chExt cx="3826042" cy="3848682"/>
          </a:xfrm>
        </p:grpSpPr>
        <p:sp>
          <p:nvSpPr>
            <p:cNvPr id="4" name="Oval 3">
              <a:extLst>
                <a:ext uri="{FF2B5EF4-FFF2-40B4-BE49-F238E27FC236}">
                  <a16:creationId xmlns:a16="http://schemas.microsoft.com/office/drawing/2014/main" id="{2D85551C-627F-C405-8408-2BBB0C35B973}"/>
                </a:ext>
              </a:extLst>
            </p:cNvPr>
            <p:cNvSpPr/>
            <p:nvPr/>
          </p:nvSpPr>
          <p:spPr>
            <a:xfrm>
              <a:off x="4853354" y="1967129"/>
              <a:ext cx="2485292" cy="248529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defRPr/>
              </a:pPr>
              <a:endParaRPr lang="en-US" dirty="0">
                <a:solidFill>
                  <a:prstClr val="black"/>
                </a:solidFill>
                <a:latin typeface="Amazon Ember Display"/>
              </a:endParaRPr>
            </a:p>
          </p:txBody>
        </p:sp>
        <p:sp>
          <p:nvSpPr>
            <p:cNvPr id="5" name="TextBox 4">
              <a:extLst>
                <a:ext uri="{FF2B5EF4-FFF2-40B4-BE49-F238E27FC236}">
                  <a16:creationId xmlns:a16="http://schemas.microsoft.com/office/drawing/2014/main" id="{422EBE4D-AD1F-CD07-2455-1BC764ADDE07}"/>
                </a:ext>
              </a:extLst>
            </p:cNvPr>
            <p:cNvSpPr txBox="1"/>
            <p:nvPr/>
          </p:nvSpPr>
          <p:spPr>
            <a:xfrm>
              <a:off x="5134125" y="2247900"/>
              <a:ext cx="1923750" cy="1923750"/>
            </a:xfrm>
            <a:prstGeom prst="ellipse">
              <a:avLst/>
            </a:prstGeom>
            <a:solidFill>
              <a:schemeClr val="accent4"/>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a:defRPr/>
              </a:pPr>
              <a:r>
                <a:rPr lang="en-US" sz="10000" dirty="0">
                  <a:solidFill>
                    <a:prstClr val="white"/>
                  </a:solidFill>
                  <a:latin typeface="Amazon Ember Display Heavy"/>
                </a:rPr>
                <a:t>2</a:t>
              </a:r>
            </a:p>
          </p:txBody>
        </p:sp>
        <p:sp>
          <p:nvSpPr>
            <p:cNvPr id="6" name="TextBox 5">
              <a:extLst>
                <a:ext uri="{FF2B5EF4-FFF2-40B4-BE49-F238E27FC236}">
                  <a16:creationId xmlns:a16="http://schemas.microsoft.com/office/drawing/2014/main" id="{88C2F575-44A6-864E-8036-AA8A0C803B4E}"/>
                </a:ext>
              </a:extLst>
            </p:cNvPr>
            <p:cNvSpPr txBox="1"/>
            <p:nvPr/>
          </p:nvSpPr>
          <p:spPr>
            <a:xfrm>
              <a:off x="4150026" y="4707815"/>
              <a:ext cx="3826042" cy="1107996"/>
            </a:xfrm>
            <a:prstGeom prst="rect">
              <a:avLst/>
            </a:prstGeom>
            <a:noFill/>
          </p:spPr>
          <p:txBody>
            <a:bodyPr wrap="square" lIns="0" tIns="0" rIns="0" bIns="0" rtlCol="0">
              <a:spAutoFit/>
            </a:bodyPr>
            <a:lstStyle/>
            <a:p>
              <a:pPr algn="ctr">
                <a:defRPr/>
              </a:pPr>
              <a:r>
                <a:rPr lang="en-US" sz="2400" dirty="0"/>
                <a:t>Identify harmful events,  evaluate inherent and residual risk</a:t>
              </a:r>
            </a:p>
          </p:txBody>
        </p:sp>
      </p:grpSp>
      <p:grpSp>
        <p:nvGrpSpPr>
          <p:cNvPr id="7" name="Group 6" descr="Step 1: Assemble the team and define the service use cases&#10;">
            <a:extLst>
              <a:ext uri="{FF2B5EF4-FFF2-40B4-BE49-F238E27FC236}">
                <a16:creationId xmlns:a16="http://schemas.microsoft.com/office/drawing/2014/main" id="{DF38FF94-3272-5414-1F5C-3027D8447050}"/>
              </a:ext>
            </a:extLst>
          </p:cNvPr>
          <p:cNvGrpSpPr/>
          <p:nvPr/>
        </p:nvGrpSpPr>
        <p:grpSpPr>
          <a:xfrm>
            <a:off x="622594" y="1964597"/>
            <a:ext cx="3283668" cy="3481882"/>
            <a:chOff x="679938" y="1964597"/>
            <a:chExt cx="3283668" cy="3481882"/>
          </a:xfrm>
        </p:grpSpPr>
        <p:sp>
          <p:nvSpPr>
            <p:cNvPr id="9" name="Oval 8">
              <a:extLst>
                <a:ext uri="{FF2B5EF4-FFF2-40B4-BE49-F238E27FC236}">
                  <a16:creationId xmlns:a16="http://schemas.microsoft.com/office/drawing/2014/main" id="{D78E33AA-9E87-384E-3812-B9C9084B241E}"/>
                </a:ext>
              </a:extLst>
            </p:cNvPr>
            <p:cNvSpPr/>
            <p:nvPr/>
          </p:nvSpPr>
          <p:spPr>
            <a:xfrm>
              <a:off x="1079126" y="1964597"/>
              <a:ext cx="2485292" cy="248529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defRPr/>
              </a:pPr>
              <a:endParaRPr lang="en-US" dirty="0">
                <a:solidFill>
                  <a:prstClr val="black"/>
                </a:solidFill>
                <a:latin typeface="Amazon Ember Display"/>
              </a:endParaRPr>
            </a:p>
          </p:txBody>
        </p:sp>
        <p:sp>
          <p:nvSpPr>
            <p:cNvPr id="10" name="TextBox 9">
              <a:extLst>
                <a:ext uri="{FF2B5EF4-FFF2-40B4-BE49-F238E27FC236}">
                  <a16:creationId xmlns:a16="http://schemas.microsoft.com/office/drawing/2014/main" id="{2DBD7E24-4853-02B5-8E5B-BDE2F39CA92F}"/>
                </a:ext>
              </a:extLst>
            </p:cNvPr>
            <p:cNvSpPr txBox="1"/>
            <p:nvPr/>
          </p:nvSpPr>
          <p:spPr>
            <a:xfrm>
              <a:off x="1359897" y="2245368"/>
              <a:ext cx="1923750" cy="1923750"/>
            </a:xfrm>
            <a:prstGeom prst="ellipse">
              <a:avLst/>
            </a:prstGeom>
            <a:solidFill>
              <a:schemeClr val="accent4"/>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a:defRPr/>
              </a:pPr>
              <a:r>
                <a:rPr lang="en-US" sz="10000" dirty="0">
                  <a:solidFill>
                    <a:prstClr val="white"/>
                  </a:solidFill>
                  <a:latin typeface="Amazon Ember Display Heavy"/>
                </a:rPr>
                <a:t>1</a:t>
              </a:r>
            </a:p>
          </p:txBody>
        </p:sp>
        <p:sp>
          <p:nvSpPr>
            <p:cNvPr id="11" name="TextBox 10">
              <a:extLst>
                <a:ext uri="{FF2B5EF4-FFF2-40B4-BE49-F238E27FC236}">
                  <a16:creationId xmlns:a16="http://schemas.microsoft.com/office/drawing/2014/main" id="{7DA5926B-ADC0-2651-095F-EA0A492F759F}"/>
                </a:ext>
              </a:extLst>
            </p:cNvPr>
            <p:cNvSpPr txBox="1"/>
            <p:nvPr/>
          </p:nvSpPr>
          <p:spPr>
            <a:xfrm>
              <a:off x="679938" y="4707815"/>
              <a:ext cx="3283668" cy="738664"/>
            </a:xfrm>
            <a:prstGeom prst="rect">
              <a:avLst/>
            </a:prstGeom>
            <a:noFill/>
          </p:spPr>
          <p:txBody>
            <a:bodyPr wrap="square" lIns="0" tIns="0" rIns="0" bIns="0" rtlCol="0">
              <a:spAutoFit/>
            </a:bodyPr>
            <a:lstStyle/>
            <a:p>
              <a:pPr algn="ctr"/>
              <a:r>
                <a:rPr lang="en-US" sz="2400" dirty="0"/>
                <a:t>Define the use case and relevant stakeholders</a:t>
              </a:r>
            </a:p>
          </p:txBody>
        </p:sp>
      </p:grpSp>
      <p:sp>
        <p:nvSpPr>
          <p:cNvPr id="8" name="Slide Number Placeholder 7">
            <a:extLst>
              <a:ext uri="{FF2B5EF4-FFF2-40B4-BE49-F238E27FC236}">
                <a16:creationId xmlns:a16="http://schemas.microsoft.com/office/drawing/2014/main" id="{ABBE3F9E-D980-A2BE-05F6-C656719B8FF9}"/>
              </a:ext>
            </a:extLst>
          </p:cNvPr>
          <p:cNvSpPr>
            <a:spLocks noGrp="1"/>
          </p:cNvSpPr>
          <p:nvPr>
            <p:ph type="sldNum" sz="quarter" idx="12"/>
          </p:nvPr>
        </p:nvSpPr>
        <p:spPr/>
        <p:txBody>
          <a:bodyPr/>
          <a:lstStyle/>
          <a:p>
            <a:pPr>
              <a:defRPr/>
            </a:pPr>
            <a:fld id="{2613A35D-97EF-7A48-AACF-97D95E22C11E}" type="slidenum">
              <a:rPr lang="en-US" smtClean="0">
                <a:solidFill>
                  <a:srgbClr val="232F3E"/>
                </a:solidFill>
              </a:rPr>
              <a:pPr>
                <a:defRPr/>
              </a:pPr>
              <a:t>18</a:t>
            </a:fld>
            <a:endParaRPr lang="en-US" dirty="0">
              <a:solidFill>
                <a:srgbClr val="232F3E"/>
              </a:solidFill>
            </a:endParaRPr>
          </a:p>
        </p:txBody>
      </p:sp>
    </p:spTree>
    <p:extLst>
      <p:ext uri="{BB962C8B-B14F-4D97-AF65-F5344CB8AC3E}">
        <p14:creationId xmlns:p14="http://schemas.microsoft.com/office/powerpoint/2010/main" val="149421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63" presetClass="path" presetSubtype="0" accel="50000" decel="50000" fill="hold" nodeType="withEffect">
                                  <p:stCondLst>
                                    <p:cond delay="0"/>
                                  </p:stCondLst>
                                  <p:childTnLst>
                                    <p:animMotion origin="layout" path="M -0.02252 -1.11111E-6 L -4.16667E-6 -1.11111E-6 " pathEditMode="relative" rAng="0" ptsTypes="AA">
                                      <p:cBhvr>
                                        <p:cTn id="9" dur="500" fill="hold"/>
                                        <p:tgtEl>
                                          <p:spTgt spid="3"/>
                                        </p:tgtEl>
                                        <p:attrNameLst>
                                          <p:attrName>ppt_x</p:attrName>
                                          <p:attrName>ppt_y</p:attrName>
                                        </p:attrNameLst>
                                      </p:cBhvr>
                                      <p:rCtr x="112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259EE042-6471-56F8-0508-AC396A600BB9}"/>
              </a:ext>
            </a:extLst>
          </p:cNvPr>
          <p:cNvCxnSpPr>
            <a:cxnSpLocks/>
          </p:cNvCxnSpPr>
          <p:nvPr/>
        </p:nvCxnSpPr>
        <p:spPr>
          <a:xfrm>
            <a:off x="0" y="3209775"/>
            <a:ext cx="12192000" cy="0"/>
          </a:xfrm>
          <a:prstGeom prst="line">
            <a:avLst/>
          </a:prstGeom>
          <a:ln w="1905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2" name="Title 2">
            <a:extLst>
              <a:ext uri="{FF2B5EF4-FFF2-40B4-BE49-F238E27FC236}">
                <a16:creationId xmlns:a16="http://schemas.microsoft.com/office/drawing/2014/main" id="{12CFDAD3-8B53-FC1B-09B8-38CB4BEC7766}"/>
              </a:ext>
            </a:extLst>
          </p:cNvPr>
          <p:cNvSpPr>
            <a:spLocks noGrp="1"/>
          </p:cNvSpPr>
          <p:nvPr>
            <p:ph type="title"/>
          </p:nvPr>
        </p:nvSpPr>
        <p:spPr/>
        <p:txBody>
          <a:bodyPr/>
          <a:lstStyle/>
          <a:p>
            <a:r>
              <a:rPr lang="en-US" dirty="0"/>
              <a:t>Risk assessment process</a:t>
            </a:r>
          </a:p>
        </p:txBody>
      </p:sp>
      <p:grpSp>
        <p:nvGrpSpPr>
          <p:cNvPr id="24" name="Group 23" descr="Step 3: Assess the Inherent Risk Rating&#10;">
            <a:extLst>
              <a:ext uri="{FF2B5EF4-FFF2-40B4-BE49-F238E27FC236}">
                <a16:creationId xmlns:a16="http://schemas.microsoft.com/office/drawing/2014/main" id="{9BC0DC77-B3A2-2758-2687-5800F69FF4B2}"/>
              </a:ext>
            </a:extLst>
          </p:cNvPr>
          <p:cNvGrpSpPr/>
          <p:nvPr/>
        </p:nvGrpSpPr>
        <p:grpSpPr>
          <a:xfrm>
            <a:off x="8285738" y="1967129"/>
            <a:ext cx="3226324" cy="4218014"/>
            <a:chOff x="8285738" y="1967129"/>
            <a:chExt cx="3226324" cy="4218014"/>
          </a:xfrm>
        </p:grpSpPr>
        <p:sp>
          <p:nvSpPr>
            <p:cNvPr id="18" name="Oval 17">
              <a:extLst>
                <a:ext uri="{FF2B5EF4-FFF2-40B4-BE49-F238E27FC236}">
                  <a16:creationId xmlns:a16="http://schemas.microsoft.com/office/drawing/2014/main" id="{6DF564B6-EE52-F764-0F3A-7A7DBD63CFBB}"/>
                </a:ext>
              </a:extLst>
            </p:cNvPr>
            <p:cNvSpPr/>
            <p:nvPr/>
          </p:nvSpPr>
          <p:spPr>
            <a:xfrm>
              <a:off x="8627582" y="1967129"/>
              <a:ext cx="2485292" cy="248529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defRPr/>
              </a:pPr>
              <a:endParaRPr lang="en-US" dirty="0">
                <a:solidFill>
                  <a:prstClr val="black"/>
                </a:solidFill>
                <a:latin typeface="Amazon Ember Display"/>
              </a:endParaRPr>
            </a:p>
          </p:txBody>
        </p:sp>
        <p:sp>
          <p:nvSpPr>
            <p:cNvPr id="8" name="TextBox 7">
              <a:extLst>
                <a:ext uri="{FF2B5EF4-FFF2-40B4-BE49-F238E27FC236}">
                  <a16:creationId xmlns:a16="http://schemas.microsoft.com/office/drawing/2014/main" id="{B0FDE43E-2E4C-ED4C-0A84-A937065227ED}"/>
                </a:ext>
              </a:extLst>
            </p:cNvPr>
            <p:cNvSpPr txBox="1"/>
            <p:nvPr/>
          </p:nvSpPr>
          <p:spPr>
            <a:xfrm>
              <a:off x="8908353" y="2247900"/>
              <a:ext cx="1923750" cy="1923750"/>
            </a:xfrm>
            <a:prstGeom prst="ellipse">
              <a:avLst/>
            </a:prstGeom>
            <a:solidFill>
              <a:schemeClr val="accent4"/>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a:defRPr/>
              </a:pPr>
              <a:r>
                <a:rPr lang="en-US" sz="10000" dirty="0">
                  <a:solidFill>
                    <a:prstClr val="white"/>
                  </a:solidFill>
                  <a:latin typeface="Amazon Ember Display Heavy"/>
                </a:rPr>
                <a:t>3</a:t>
              </a:r>
            </a:p>
          </p:txBody>
        </p:sp>
        <p:sp>
          <p:nvSpPr>
            <p:cNvPr id="17" name="TextBox 16">
              <a:extLst>
                <a:ext uri="{FF2B5EF4-FFF2-40B4-BE49-F238E27FC236}">
                  <a16:creationId xmlns:a16="http://schemas.microsoft.com/office/drawing/2014/main" id="{139ECEBC-F0AC-4F09-9F34-7E858690CD14}"/>
                </a:ext>
              </a:extLst>
            </p:cNvPr>
            <p:cNvSpPr txBox="1"/>
            <p:nvPr/>
          </p:nvSpPr>
          <p:spPr>
            <a:xfrm>
              <a:off x="8285738" y="4707815"/>
              <a:ext cx="3226324" cy="1477328"/>
            </a:xfrm>
            <a:prstGeom prst="rect">
              <a:avLst/>
            </a:prstGeom>
            <a:noFill/>
          </p:spPr>
          <p:txBody>
            <a:bodyPr wrap="square" lIns="0" tIns="0" rIns="0" bIns="0" rtlCol="0">
              <a:spAutoFit/>
            </a:bodyPr>
            <a:lstStyle/>
            <a:p>
              <a:pPr algn="ctr"/>
              <a:r>
                <a:rPr lang="en-US" sz="2400" dirty="0"/>
                <a:t>Summarize risk levels for all risk dimensions and conclude findings</a:t>
              </a:r>
              <a:endParaRPr lang="en-US" sz="2400" dirty="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algn="ctr" defTabSz="914377">
                <a:defRPr/>
              </a:pPr>
              <a:endParaRPr lang="en-US" sz="2400" dirty="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grpSp>
      <p:grpSp>
        <p:nvGrpSpPr>
          <p:cNvPr id="3" name="Group 2" descr="Step 2: Identify harmful events&#10;">
            <a:extLst>
              <a:ext uri="{FF2B5EF4-FFF2-40B4-BE49-F238E27FC236}">
                <a16:creationId xmlns:a16="http://schemas.microsoft.com/office/drawing/2014/main" id="{B111D36C-CE92-CC87-2519-27052839D7AB}"/>
              </a:ext>
            </a:extLst>
          </p:cNvPr>
          <p:cNvGrpSpPr/>
          <p:nvPr/>
        </p:nvGrpSpPr>
        <p:grpSpPr>
          <a:xfrm>
            <a:off x="4138863" y="1967129"/>
            <a:ext cx="3826042" cy="3848682"/>
            <a:chOff x="4150026" y="1967129"/>
            <a:chExt cx="3826042" cy="3848682"/>
          </a:xfrm>
        </p:grpSpPr>
        <p:sp>
          <p:nvSpPr>
            <p:cNvPr id="4" name="Oval 3">
              <a:extLst>
                <a:ext uri="{FF2B5EF4-FFF2-40B4-BE49-F238E27FC236}">
                  <a16:creationId xmlns:a16="http://schemas.microsoft.com/office/drawing/2014/main" id="{2D85551C-627F-C405-8408-2BBB0C35B973}"/>
                </a:ext>
              </a:extLst>
            </p:cNvPr>
            <p:cNvSpPr/>
            <p:nvPr/>
          </p:nvSpPr>
          <p:spPr>
            <a:xfrm>
              <a:off x="4853354" y="1967129"/>
              <a:ext cx="2485292" cy="248529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defRPr/>
              </a:pPr>
              <a:endParaRPr lang="en-US" dirty="0">
                <a:solidFill>
                  <a:prstClr val="black"/>
                </a:solidFill>
                <a:latin typeface="Amazon Ember Display"/>
              </a:endParaRPr>
            </a:p>
          </p:txBody>
        </p:sp>
        <p:sp>
          <p:nvSpPr>
            <p:cNvPr id="5" name="TextBox 4">
              <a:extLst>
                <a:ext uri="{FF2B5EF4-FFF2-40B4-BE49-F238E27FC236}">
                  <a16:creationId xmlns:a16="http://schemas.microsoft.com/office/drawing/2014/main" id="{422EBE4D-AD1F-CD07-2455-1BC764ADDE07}"/>
                </a:ext>
              </a:extLst>
            </p:cNvPr>
            <p:cNvSpPr txBox="1"/>
            <p:nvPr/>
          </p:nvSpPr>
          <p:spPr>
            <a:xfrm>
              <a:off x="5134125" y="2247900"/>
              <a:ext cx="1923750" cy="1923750"/>
            </a:xfrm>
            <a:prstGeom prst="ellipse">
              <a:avLst/>
            </a:prstGeom>
            <a:solidFill>
              <a:schemeClr val="accent4"/>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a:defRPr/>
              </a:pPr>
              <a:r>
                <a:rPr lang="en-US" sz="10000" dirty="0">
                  <a:solidFill>
                    <a:prstClr val="white"/>
                  </a:solidFill>
                  <a:latin typeface="Amazon Ember Display Heavy"/>
                </a:rPr>
                <a:t>2</a:t>
              </a:r>
            </a:p>
          </p:txBody>
        </p:sp>
        <p:sp>
          <p:nvSpPr>
            <p:cNvPr id="6" name="TextBox 5">
              <a:extLst>
                <a:ext uri="{FF2B5EF4-FFF2-40B4-BE49-F238E27FC236}">
                  <a16:creationId xmlns:a16="http://schemas.microsoft.com/office/drawing/2014/main" id="{88C2F575-44A6-864E-8036-AA8A0C803B4E}"/>
                </a:ext>
              </a:extLst>
            </p:cNvPr>
            <p:cNvSpPr txBox="1"/>
            <p:nvPr/>
          </p:nvSpPr>
          <p:spPr>
            <a:xfrm>
              <a:off x="4150026" y="4707815"/>
              <a:ext cx="3826042" cy="1107996"/>
            </a:xfrm>
            <a:prstGeom prst="rect">
              <a:avLst/>
            </a:prstGeom>
            <a:noFill/>
          </p:spPr>
          <p:txBody>
            <a:bodyPr wrap="square" lIns="0" tIns="0" rIns="0" bIns="0" rtlCol="0">
              <a:spAutoFit/>
            </a:bodyPr>
            <a:lstStyle/>
            <a:p>
              <a:pPr algn="ctr">
                <a:defRPr/>
              </a:pPr>
              <a:r>
                <a:rPr lang="en-US" sz="2400" dirty="0"/>
                <a:t>Identify harmful events,  evaluate inherent and residual risk</a:t>
              </a:r>
            </a:p>
          </p:txBody>
        </p:sp>
      </p:grpSp>
      <p:grpSp>
        <p:nvGrpSpPr>
          <p:cNvPr id="7" name="Group 6" descr="Step 1: Assemble the team and define the service use cases&#10;">
            <a:extLst>
              <a:ext uri="{FF2B5EF4-FFF2-40B4-BE49-F238E27FC236}">
                <a16:creationId xmlns:a16="http://schemas.microsoft.com/office/drawing/2014/main" id="{DF38FF94-3272-5414-1F5C-3027D8447050}"/>
              </a:ext>
            </a:extLst>
          </p:cNvPr>
          <p:cNvGrpSpPr/>
          <p:nvPr/>
        </p:nvGrpSpPr>
        <p:grpSpPr>
          <a:xfrm>
            <a:off x="622594" y="1964597"/>
            <a:ext cx="3283668" cy="3481882"/>
            <a:chOff x="679938" y="1964597"/>
            <a:chExt cx="3283668" cy="3481882"/>
          </a:xfrm>
        </p:grpSpPr>
        <p:sp>
          <p:nvSpPr>
            <p:cNvPr id="9" name="Oval 8">
              <a:extLst>
                <a:ext uri="{FF2B5EF4-FFF2-40B4-BE49-F238E27FC236}">
                  <a16:creationId xmlns:a16="http://schemas.microsoft.com/office/drawing/2014/main" id="{D78E33AA-9E87-384E-3812-B9C9084B241E}"/>
                </a:ext>
              </a:extLst>
            </p:cNvPr>
            <p:cNvSpPr/>
            <p:nvPr/>
          </p:nvSpPr>
          <p:spPr>
            <a:xfrm>
              <a:off x="1079126" y="1964597"/>
              <a:ext cx="2485292" cy="248529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defRPr/>
              </a:pPr>
              <a:endParaRPr lang="en-US" dirty="0">
                <a:solidFill>
                  <a:prstClr val="black"/>
                </a:solidFill>
                <a:latin typeface="Amazon Ember Display"/>
              </a:endParaRPr>
            </a:p>
          </p:txBody>
        </p:sp>
        <p:sp>
          <p:nvSpPr>
            <p:cNvPr id="10" name="TextBox 9">
              <a:extLst>
                <a:ext uri="{FF2B5EF4-FFF2-40B4-BE49-F238E27FC236}">
                  <a16:creationId xmlns:a16="http://schemas.microsoft.com/office/drawing/2014/main" id="{2DBD7E24-4853-02B5-8E5B-BDE2F39CA92F}"/>
                </a:ext>
              </a:extLst>
            </p:cNvPr>
            <p:cNvSpPr txBox="1"/>
            <p:nvPr/>
          </p:nvSpPr>
          <p:spPr>
            <a:xfrm>
              <a:off x="1359897" y="2245368"/>
              <a:ext cx="1923750" cy="1923750"/>
            </a:xfrm>
            <a:prstGeom prst="ellipse">
              <a:avLst/>
            </a:prstGeom>
            <a:solidFill>
              <a:schemeClr val="accent4"/>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a:defRPr/>
              </a:pPr>
              <a:r>
                <a:rPr lang="en-US" sz="10000" dirty="0">
                  <a:solidFill>
                    <a:prstClr val="white"/>
                  </a:solidFill>
                  <a:latin typeface="Amazon Ember Display Heavy"/>
                </a:rPr>
                <a:t>1</a:t>
              </a:r>
            </a:p>
          </p:txBody>
        </p:sp>
        <p:sp>
          <p:nvSpPr>
            <p:cNvPr id="11" name="TextBox 10">
              <a:extLst>
                <a:ext uri="{FF2B5EF4-FFF2-40B4-BE49-F238E27FC236}">
                  <a16:creationId xmlns:a16="http://schemas.microsoft.com/office/drawing/2014/main" id="{7DA5926B-ADC0-2651-095F-EA0A492F759F}"/>
                </a:ext>
              </a:extLst>
            </p:cNvPr>
            <p:cNvSpPr txBox="1"/>
            <p:nvPr/>
          </p:nvSpPr>
          <p:spPr>
            <a:xfrm>
              <a:off x="679938" y="4707815"/>
              <a:ext cx="3283668" cy="738664"/>
            </a:xfrm>
            <a:prstGeom prst="rect">
              <a:avLst/>
            </a:prstGeom>
            <a:noFill/>
          </p:spPr>
          <p:txBody>
            <a:bodyPr wrap="square" lIns="0" tIns="0" rIns="0" bIns="0" rtlCol="0">
              <a:spAutoFit/>
            </a:bodyPr>
            <a:lstStyle/>
            <a:p>
              <a:pPr algn="ctr"/>
              <a:r>
                <a:rPr lang="en-US" sz="2400" dirty="0"/>
                <a:t>Define the use case and relevant stakeholders</a:t>
              </a:r>
            </a:p>
          </p:txBody>
        </p:sp>
      </p:grpSp>
      <p:sp>
        <p:nvSpPr>
          <p:cNvPr id="13" name="Slide Number Placeholder 12">
            <a:extLst>
              <a:ext uri="{FF2B5EF4-FFF2-40B4-BE49-F238E27FC236}">
                <a16:creationId xmlns:a16="http://schemas.microsoft.com/office/drawing/2014/main" id="{0FC5ADD1-FA6A-17FD-586B-A7E5986DB757}"/>
              </a:ext>
            </a:extLst>
          </p:cNvPr>
          <p:cNvSpPr>
            <a:spLocks noGrp="1"/>
          </p:cNvSpPr>
          <p:nvPr>
            <p:ph type="sldNum" sz="quarter" idx="12"/>
          </p:nvPr>
        </p:nvSpPr>
        <p:spPr/>
        <p:txBody>
          <a:bodyPr/>
          <a:lstStyle/>
          <a:p>
            <a:pPr>
              <a:defRPr/>
            </a:pPr>
            <a:fld id="{2613A35D-97EF-7A48-AACF-97D95E22C11E}" type="slidenum">
              <a:rPr lang="en-US" smtClean="0">
                <a:solidFill>
                  <a:srgbClr val="232F3E"/>
                </a:solidFill>
              </a:rPr>
              <a:pPr>
                <a:defRPr/>
              </a:pPr>
              <a:t>19</a:t>
            </a:fld>
            <a:endParaRPr lang="en-US" dirty="0">
              <a:solidFill>
                <a:srgbClr val="232F3E"/>
              </a:solidFill>
            </a:endParaRPr>
          </a:p>
        </p:txBody>
      </p:sp>
    </p:spTree>
    <p:extLst>
      <p:ext uri="{BB962C8B-B14F-4D97-AF65-F5344CB8AC3E}">
        <p14:creationId xmlns:p14="http://schemas.microsoft.com/office/powerpoint/2010/main" val="327944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63" presetClass="path" presetSubtype="0" accel="50000" decel="50000" fill="hold" nodeType="withEffect">
                                  <p:stCondLst>
                                    <p:cond delay="0"/>
                                  </p:stCondLst>
                                  <p:childTnLst>
                                    <p:animMotion origin="layout" path="M -0.02292 -2.96296E-6 L 1.04167E-6 -2.96296E-6 " pathEditMode="relative" rAng="0" ptsTypes="AA">
                                      <p:cBhvr>
                                        <p:cTn id="9" dur="500" fill="hold"/>
                                        <p:tgtEl>
                                          <p:spTgt spid="24"/>
                                        </p:tgtEl>
                                        <p:attrNameLst>
                                          <p:attrName>ppt_x</p:attrName>
                                          <p:attrName>ppt_y</p:attrName>
                                        </p:attrNameLst>
                                      </p:cBhvr>
                                      <p:rCtr x="114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A6B319-6B34-9A8B-B8A3-FAD7B0B7981F}"/>
              </a:ext>
            </a:extLst>
          </p:cNvPr>
          <p:cNvSpPr>
            <a:spLocks noGrp="1"/>
          </p:cNvSpPr>
          <p:nvPr>
            <p:ph type="sldNum" idx="97"/>
          </p:nvPr>
        </p:nvSpPr>
        <p:spPr/>
        <p:txBody>
          <a:bodyPr/>
          <a:lstStyle/>
          <a:p>
            <a:fld id="{86A8BF56-6CB3-514C-9A64-F39D95C9E25B}" type="slidenum">
              <a:rPr lang="en-US" smtClean="0"/>
              <a:t>20</a:t>
            </a:fld>
            <a:endParaRPr lang="en-US"/>
          </a:p>
        </p:txBody>
      </p:sp>
      <p:sp>
        <p:nvSpPr>
          <p:cNvPr id="3" name="Title 2">
            <a:extLst>
              <a:ext uri="{FF2B5EF4-FFF2-40B4-BE49-F238E27FC236}">
                <a16:creationId xmlns:a16="http://schemas.microsoft.com/office/drawing/2014/main" id="{1CF11D81-4FB5-4F11-1C0C-1917A61E2464}"/>
              </a:ext>
            </a:extLst>
          </p:cNvPr>
          <p:cNvSpPr>
            <a:spLocks noGrp="1"/>
          </p:cNvSpPr>
          <p:nvPr>
            <p:ph type="title" idx="1"/>
          </p:nvPr>
        </p:nvSpPr>
        <p:spPr/>
        <p:txBody>
          <a:bodyPr/>
          <a:lstStyle/>
          <a:p>
            <a:r>
              <a:rPr lang="en-US" dirty="0"/>
              <a:t>Quantifying AI system risk</a:t>
            </a:r>
          </a:p>
        </p:txBody>
      </p:sp>
      <p:sp>
        <p:nvSpPr>
          <p:cNvPr id="5" name="Content Placeholder 2">
            <a:extLst>
              <a:ext uri="{FF2B5EF4-FFF2-40B4-BE49-F238E27FC236}">
                <a16:creationId xmlns:a16="http://schemas.microsoft.com/office/drawing/2014/main" id="{9276D397-3EC6-F204-2E16-2752384A2914}"/>
              </a:ext>
            </a:extLst>
          </p:cNvPr>
          <p:cNvSpPr txBox="1">
            <a:spLocks/>
          </p:cNvSpPr>
          <p:nvPr/>
        </p:nvSpPr>
        <p:spPr>
          <a:xfrm>
            <a:off x="534352" y="2423160"/>
            <a:ext cx="3981450" cy="1005840"/>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algn="r" defTabSz="91440">
              <a:lnSpc>
                <a:spcPct val="100000"/>
              </a:lnSpc>
              <a:spcBef>
                <a:spcPts val="0"/>
              </a:spcBef>
              <a:spcAft>
                <a:spcPts val="600"/>
              </a:spcAft>
              <a:buClr>
                <a:srgbClr val="1D212E"/>
              </a:buClr>
              <a:buSzPct val="110000"/>
              <a:buFont typeface="Amazon Ember Display"/>
              <a:buNone/>
              <a:tabLst>
                <a:tab pos="227013" algn="l"/>
              </a:tabLst>
            </a:pPr>
            <a:r>
              <a:rPr lang="en-US">
                <a:latin typeface="Amazon Ember Light" panose="020B0403020204020204" pitchFamily="34" charset="0"/>
                <a:ea typeface="Amazon Ember Light" panose="020B0403020204020204" pitchFamily="34" charset="0"/>
                <a:cs typeface="Amazon Ember Light" panose="020B0403020204020204" pitchFamily="34" charset="0"/>
              </a:rPr>
              <a:t>measure of an event’s probability of occurring</a:t>
            </a:r>
          </a:p>
        </p:txBody>
      </p:sp>
      <p:sp>
        <p:nvSpPr>
          <p:cNvPr id="6" name="Content Placeholder 6">
            <a:extLst>
              <a:ext uri="{FF2B5EF4-FFF2-40B4-BE49-F238E27FC236}">
                <a16:creationId xmlns:a16="http://schemas.microsoft.com/office/drawing/2014/main" id="{BFCEAF19-8E2E-7D71-00A9-AA7D09561728}"/>
              </a:ext>
            </a:extLst>
          </p:cNvPr>
          <p:cNvSpPr txBox="1">
            <a:spLocks/>
          </p:cNvSpPr>
          <p:nvPr/>
        </p:nvSpPr>
        <p:spPr>
          <a:xfrm>
            <a:off x="7239105" y="2423159"/>
            <a:ext cx="4108599" cy="1005840"/>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defTabSz="91440">
              <a:lnSpc>
                <a:spcPct val="100000"/>
              </a:lnSpc>
              <a:spcBef>
                <a:spcPts val="0"/>
              </a:spcBef>
              <a:spcAft>
                <a:spcPts val="600"/>
              </a:spcAft>
              <a:buClr>
                <a:srgbClr val="1D212E"/>
              </a:buClr>
              <a:buSzPct val="110000"/>
              <a:buFont typeface="Amazon Ember Display"/>
              <a:buNone/>
              <a:tabLst>
                <a:tab pos="227013" algn="l"/>
              </a:tabLst>
            </a:pPr>
            <a:r>
              <a:rPr lang="en-US">
                <a:latin typeface="Amazon Ember Light" panose="020B0403020204020204" pitchFamily="34" charset="0"/>
                <a:ea typeface="Amazon Ember Light" panose="020B0403020204020204" pitchFamily="34" charset="0"/>
                <a:cs typeface="Amazon Ember Light" panose="020B0403020204020204" pitchFamily="34" charset="0"/>
              </a:rPr>
              <a:t>magnitude or degree of the consequences</a:t>
            </a:r>
          </a:p>
        </p:txBody>
      </p:sp>
      <p:sp>
        <p:nvSpPr>
          <p:cNvPr id="7" name="TextBox 6">
            <a:extLst>
              <a:ext uri="{FF2B5EF4-FFF2-40B4-BE49-F238E27FC236}">
                <a16:creationId xmlns:a16="http://schemas.microsoft.com/office/drawing/2014/main" id="{E1A1F97A-03DC-8096-42A4-8A2C98ADAA77}"/>
              </a:ext>
            </a:extLst>
          </p:cNvPr>
          <p:cNvSpPr txBox="1"/>
          <p:nvPr/>
        </p:nvSpPr>
        <p:spPr>
          <a:xfrm>
            <a:off x="1570077" y="5616838"/>
            <a:ext cx="8824097" cy="338554"/>
          </a:xfrm>
          <a:prstGeom prst="rect">
            <a:avLst/>
          </a:prstGeom>
          <a:noFill/>
        </p:spPr>
        <p:txBody>
          <a:bodyPr wrap="square">
            <a:spAutoFit/>
          </a:bodyPr>
          <a:lstStyle/>
          <a:p>
            <a:pPr algn="ctr"/>
            <a:r>
              <a:rPr lang="en-US" sz="1600" i="1" dirty="0"/>
              <a:t>Source: National Institute of Standards and Technology, </a:t>
            </a:r>
            <a:r>
              <a:rPr lang="en-US" sz="1600" i="1" dirty="0">
                <a:hlinkClick r:id="rId3"/>
              </a:rPr>
              <a:t>AI Risk Management Framework 1.0</a:t>
            </a:r>
            <a:endParaRPr lang="en-US" sz="1600" i="1" dirty="0"/>
          </a:p>
        </p:txBody>
      </p:sp>
      <p:sp>
        <p:nvSpPr>
          <p:cNvPr id="8" name="Cross 7">
            <a:extLst>
              <a:ext uri="{FF2B5EF4-FFF2-40B4-BE49-F238E27FC236}">
                <a16:creationId xmlns:a16="http://schemas.microsoft.com/office/drawing/2014/main" id="{3B7CB155-9DE8-DA1F-3FEA-15CCF6EEABD6}"/>
              </a:ext>
            </a:extLst>
          </p:cNvPr>
          <p:cNvSpPr/>
          <p:nvPr/>
        </p:nvSpPr>
        <p:spPr>
          <a:xfrm rot="2700000">
            <a:off x="5408813" y="2349935"/>
            <a:ext cx="1146625" cy="1146625"/>
          </a:xfrm>
          <a:prstGeom prst="plus">
            <a:avLst>
              <a:gd name="adj" fmla="val 41402"/>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Left Brace 8">
            <a:extLst>
              <a:ext uri="{FF2B5EF4-FFF2-40B4-BE49-F238E27FC236}">
                <a16:creationId xmlns:a16="http://schemas.microsoft.com/office/drawing/2014/main" id="{0948DE29-3515-6026-94BA-9B74E7C2379D}"/>
              </a:ext>
            </a:extLst>
          </p:cNvPr>
          <p:cNvSpPr/>
          <p:nvPr/>
        </p:nvSpPr>
        <p:spPr>
          <a:xfrm rot="16200000">
            <a:off x="2341020" y="2009556"/>
            <a:ext cx="532500" cy="3981452"/>
          </a:xfrm>
          <a:prstGeom prst="leftBrace">
            <a:avLst>
              <a:gd name="adj1" fmla="val 36568"/>
              <a:gd name="adj2" fmla="val 50000"/>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76C12B27-4B37-BE2E-87B0-88BB087F658A}"/>
              </a:ext>
            </a:extLst>
          </p:cNvPr>
          <p:cNvSpPr txBox="1">
            <a:spLocks/>
          </p:cNvSpPr>
          <p:nvPr/>
        </p:nvSpPr>
        <p:spPr>
          <a:xfrm>
            <a:off x="616547" y="4229455"/>
            <a:ext cx="3981450" cy="1061238"/>
          </a:xfrm>
          <a:prstGeom prst="rect">
            <a:avLst/>
          </a:prstGeom>
        </p:spPr>
        <p:txBody>
          <a:bodyPr vert="horz" lIns="91440" tIns="45720" rIns="91440" bIns="45720" rtlCol="0" anchor="ctr">
            <a:noAutofit/>
          </a:bodyPr>
          <a:lstStyle>
            <a:lvl1pPr marL="228600" marR="0" indent="-228600" algn="l" defTabSz="914400" rtl="0" eaLnBrk="1" fontAlgn="auto" latinLnBrk="0" hangingPunct="1">
              <a:lnSpc>
                <a:spcPct val="90000"/>
              </a:lnSpc>
              <a:spcBef>
                <a:spcPts val="1000"/>
              </a:spcBef>
              <a:spcAft>
                <a:spcPts val="0"/>
              </a:spcAft>
              <a:buClrTx/>
              <a:buSzTx/>
              <a:buFontTx/>
              <a:buBlip>
                <a:blip r:embed="rId4">
                  <a:extLst>
                    <a:ext uri="{96DAC541-7B7A-43D3-8B79-37D633B846F1}">
                      <asvg:svgBlip xmlns:asvg="http://schemas.microsoft.com/office/drawing/2016/SVG/main" r:embed="rId5"/>
                    </a:ext>
                  </a:extLst>
                </a:blip>
              </a:buBlip>
              <a:tabLst/>
              <a:defRPr sz="2000" kern="1200" baseline="0">
                <a:solidFill>
                  <a:schemeClr val="tx1"/>
                </a:solidFill>
                <a:latin typeface="Amazon Ember Display Medium" panose="020F0603020204020204" pitchFamily="34" charset="0"/>
                <a:ea typeface="+mn-ea"/>
                <a:cs typeface="+mn-cs"/>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baseline="0">
                <a:solidFill>
                  <a:schemeClr val="tx1"/>
                </a:solidFill>
                <a:latin typeface="Amazon Ember Display Medium" panose="020F0603020204020204" pitchFamily="34" charset="0"/>
                <a:ea typeface="+mn-ea"/>
                <a:cs typeface="+mn-cs"/>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600" kern="1200" baseline="0">
                <a:solidFill>
                  <a:schemeClr val="tx1"/>
                </a:solidFill>
                <a:latin typeface="Amazon Ember Display Medium" panose="020F0603020204020204" pitchFamily="34" charset="0"/>
                <a:ea typeface="+mn-ea"/>
                <a:cs typeface="+mn-cs"/>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400" kern="1200" baseline="0">
                <a:solidFill>
                  <a:schemeClr val="tx1"/>
                </a:solidFill>
                <a:latin typeface="Amazon Ember Display Medium" panose="020F06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Amazon Ember Display Medium"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40">
              <a:lnSpc>
                <a:spcPct val="100000"/>
              </a:lnSpc>
              <a:spcBef>
                <a:spcPts val="0"/>
              </a:spcBef>
              <a:spcAft>
                <a:spcPts val="600"/>
              </a:spcAft>
              <a:buClr>
                <a:srgbClr val="1D212E"/>
              </a:buClr>
              <a:buSzPct val="110000"/>
              <a:buNone/>
              <a:tabLst>
                <a:tab pos="227013" algn="l"/>
              </a:tabLst>
            </a:pPr>
            <a:r>
              <a:rPr lang="en-US" sz="2800" dirty="0">
                <a:solidFill>
                  <a:schemeClr val="accent6"/>
                </a:solidFill>
                <a:latin typeface="+mj-lt"/>
                <a:ea typeface="Amazon Ember Light" panose="020B0403020204020204" pitchFamily="34" charset="0"/>
                <a:cs typeface="Amazon Ember Light" panose="020B0403020204020204" pitchFamily="34" charset="0"/>
              </a:rPr>
              <a:t>likelihood</a:t>
            </a:r>
          </a:p>
        </p:txBody>
      </p:sp>
      <p:sp>
        <p:nvSpPr>
          <p:cNvPr id="11" name="Left Brace 10">
            <a:extLst>
              <a:ext uri="{FF2B5EF4-FFF2-40B4-BE49-F238E27FC236}">
                <a16:creationId xmlns:a16="http://schemas.microsoft.com/office/drawing/2014/main" id="{4AB0BB71-80FE-3CA0-10E9-6D8AABC403CE}"/>
              </a:ext>
            </a:extLst>
          </p:cNvPr>
          <p:cNvSpPr/>
          <p:nvPr/>
        </p:nvSpPr>
        <p:spPr>
          <a:xfrm rot="16200000">
            <a:off x="9027154" y="1945984"/>
            <a:ext cx="532500" cy="4108596"/>
          </a:xfrm>
          <a:prstGeom prst="leftBrace">
            <a:avLst>
              <a:gd name="adj1" fmla="val 36568"/>
              <a:gd name="adj2" fmla="val 50000"/>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18080F19-6A47-7C0F-B5CD-5F7DC6F70649}"/>
              </a:ext>
            </a:extLst>
          </p:cNvPr>
          <p:cNvSpPr txBox="1">
            <a:spLocks/>
          </p:cNvSpPr>
          <p:nvPr/>
        </p:nvSpPr>
        <p:spPr>
          <a:xfrm>
            <a:off x="7315601" y="4229454"/>
            <a:ext cx="3955611" cy="1061238"/>
          </a:xfrm>
          <a:prstGeom prst="rect">
            <a:avLst/>
          </a:prstGeom>
        </p:spPr>
        <p:txBody>
          <a:bodyPr vert="horz" lIns="91440" tIns="45720" rIns="91440" bIns="45720" rtlCol="0" anchor="ctr">
            <a:noAutofit/>
          </a:bodyPr>
          <a:lstStyle>
            <a:lvl1pPr marL="228600" marR="0" indent="-228600" algn="l" defTabSz="914400" rtl="0" eaLnBrk="1" fontAlgn="auto" latinLnBrk="0" hangingPunct="1">
              <a:lnSpc>
                <a:spcPct val="90000"/>
              </a:lnSpc>
              <a:spcBef>
                <a:spcPts val="1000"/>
              </a:spcBef>
              <a:spcAft>
                <a:spcPts val="0"/>
              </a:spcAft>
              <a:buClrTx/>
              <a:buSzTx/>
              <a:buFontTx/>
              <a:buBlip>
                <a:blip r:embed="rId4">
                  <a:extLst>
                    <a:ext uri="{96DAC541-7B7A-43D3-8B79-37D633B846F1}">
                      <asvg:svgBlip xmlns:asvg="http://schemas.microsoft.com/office/drawing/2016/SVG/main" r:embed="rId5"/>
                    </a:ext>
                  </a:extLst>
                </a:blip>
              </a:buBlip>
              <a:tabLst/>
              <a:defRPr sz="2000" kern="1200" baseline="0">
                <a:solidFill>
                  <a:schemeClr val="tx1"/>
                </a:solidFill>
                <a:latin typeface="Amazon Ember Display Medium" panose="020F0603020204020204" pitchFamily="34" charset="0"/>
                <a:ea typeface="+mn-ea"/>
                <a:cs typeface="+mn-cs"/>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baseline="0">
                <a:solidFill>
                  <a:schemeClr val="tx1"/>
                </a:solidFill>
                <a:latin typeface="Amazon Ember Display Medium" panose="020F0603020204020204" pitchFamily="34" charset="0"/>
                <a:ea typeface="+mn-ea"/>
                <a:cs typeface="+mn-cs"/>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600" kern="1200" baseline="0">
                <a:solidFill>
                  <a:schemeClr val="tx1"/>
                </a:solidFill>
                <a:latin typeface="Amazon Ember Display Medium" panose="020F0603020204020204" pitchFamily="34" charset="0"/>
                <a:ea typeface="+mn-ea"/>
                <a:cs typeface="+mn-cs"/>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400" kern="1200" baseline="0">
                <a:solidFill>
                  <a:schemeClr val="tx1"/>
                </a:solidFill>
                <a:latin typeface="Amazon Ember Display Medium" panose="020F06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Amazon Ember Display Medium"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40">
              <a:lnSpc>
                <a:spcPct val="100000"/>
              </a:lnSpc>
              <a:spcBef>
                <a:spcPts val="0"/>
              </a:spcBef>
              <a:spcAft>
                <a:spcPts val="600"/>
              </a:spcAft>
              <a:buClr>
                <a:srgbClr val="1D212E"/>
              </a:buClr>
              <a:buSzPct val="110000"/>
              <a:buNone/>
              <a:tabLst>
                <a:tab pos="227013" algn="l"/>
              </a:tabLst>
            </a:pPr>
            <a:r>
              <a:rPr lang="en-US" sz="2800" dirty="0">
                <a:solidFill>
                  <a:schemeClr val="accent6"/>
                </a:solidFill>
                <a:latin typeface="+mj-lt"/>
                <a:ea typeface="Amazon Ember Light" panose="020B0403020204020204" pitchFamily="34" charset="0"/>
                <a:cs typeface="Amazon Ember Light" panose="020B0403020204020204" pitchFamily="34" charset="0"/>
              </a:rPr>
              <a:t>severity</a:t>
            </a:r>
          </a:p>
        </p:txBody>
      </p:sp>
    </p:spTree>
    <p:extLst>
      <p:ext uri="{BB962C8B-B14F-4D97-AF65-F5344CB8AC3E}">
        <p14:creationId xmlns:p14="http://schemas.microsoft.com/office/powerpoint/2010/main" val="2734622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9D4D81-0E6C-96AD-CF6E-09703036A0CF}"/>
              </a:ext>
            </a:extLst>
          </p:cNvPr>
          <p:cNvSpPr>
            <a:spLocks noGrp="1"/>
          </p:cNvSpPr>
          <p:nvPr>
            <p:ph type="sldNum" idx="97"/>
          </p:nvPr>
        </p:nvSpPr>
        <p:spPr/>
        <p:txBody>
          <a:bodyPr/>
          <a:lstStyle/>
          <a:p>
            <a:fld id="{86A8BF56-6CB3-514C-9A64-F39D95C9E25B}" type="slidenum">
              <a:rPr lang="en-US" smtClean="0"/>
              <a:t>21</a:t>
            </a:fld>
            <a:endParaRPr lang="en-US"/>
          </a:p>
        </p:txBody>
      </p:sp>
      <p:sp>
        <p:nvSpPr>
          <p:cNvPr id="3" name="Title 2">
            <a:extLst>
              <a:ext uri="{FF2B5EF4-FFF2-40B4-BE49-F238E27FC236}">
                <a16:creationId xmlns:a16="http://schemas.microsoft.com/office/drawing/2014/main" id="{1682CE0A-B3AF-1EC3-4524-9DA34181FF01}"/>
              </a:ext>
            </a:extLst>
          </p:cNvPr>
          <p:cNvSpPr>
            <a:spLocks noGrp="1"/>
          </p:cNvSpPr>
          <p:nvPr>
            <p:ph type="title" idx="1"/>
          </p:nvPr>
        </p:nvSpPr>
        <p:spPr/>
        <p:txBody>
          <a:bodyPr/>
          <a:lstStyle/>
          <a:p>
            <a:r>
              <a:rPr lang="en-US" dirty="0"/>
              <a:t>Let’s summarize risk for one dimension</a:t>
            </a:r>
          </a:p>
        </p:txBody>
      </p:sp>
      <p:sp>
        <p:nvSpPr>
          <p:cNvPr id="5" name="Rectangle: Rounded Corners 63">
            <a:extLst>
              <a:ext uri="{FF2B5EF4-FFF2-40B4-BE49-F238E27FC236}">
                <a16:creationId xmlns:a16="http://schemas.microsoft.com/office/drawing/2014/main" id="{6AD70E3B-FFF8-B8BA-F2E0-81D1A54FACAB}"/>
              </a:ext>
            </a:extLst>
          </p:cNvPr>
          <p:cNvSpPr/>
          <p:nvPr/>
        </p:nvSpPr>
        <p:spPr>
          <a:xfrm>
            <a:off x="2250040" y="2311686"/>
            <a:ext cx="7828908" cy="3223306"/>
          </a:xfrm>
          <a:prstGeom prst="roundRect">
            <a:avLst>
              <a:gd name="adj" fmla="val 4396"/>
            </a:avLst>
          </a:prstGeom>
          <a:solidFill>
            <a:schemeClr val="bg1">
              <a:lumMod val="95000"/>
            </a:schemeClr>
          </a:solidFill>
          <a:ln w="28575" cap="rnd">
            <a:solidFill>
              <a:schemeClr val="accent1"/>
            </a:solidFill>
            <a:headEnd type="none" w="lg" len="lg"/>
            <a:tailEnd type="none"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45720" tIns="1188720" rIns="45720" bIns="91440" rtlCol="0" anchor="t" anchorCtr="0"/>
          <a:lstStyle/>
          <a:p>
            <a:pPr algn="ctr"/>
            <a:endParaRPr lang="en-US" sz="2400" b="1" dirty="0">
              <a:solidFill>
                <a:srgbClr val="FFFFFF"/>
              </a:solidFill>
              <a:latin typeface="Amazon Ember Display"/>
            </a:endParaRPr>
          </a:p>
        </p:txBody>
      </p:sp>
      <p:sp>
        <p:nvSpPr>
          <p:cNvPr id="6" name="Rectangle 5">
            <a:extLst>
              <a:ext uri="{FF2B5EF4-FFF2-40B4-BE49-F238E27FC236}">
                <a16:creationId xmlns:a16="http://schemas.microsoft.com/office/drawing/2014/main" id="{3099179D-CBB6-2646-BACB-143EBA07F424}"/>
              </a:ext>
            </a:extLst>
          </p:cNvPr>
          <p:cNvSpPr/>
          <p:nvPr/>
        </p:nvSpPr>
        <p:spPr>
          <a:xfrm>
            <a:off x="2638961" y="3076956"/>
            <a:ext cx="7051069" cy="1692771"/>
          </a:xfrm>
          <a:prstGeom prst="rect">
            <a:avLst/>
          </a:prstGeom>
          <a:noFill/>
          <a:ln>
            <a:noFill/>
          </a:ln>
        </p:spPr>
        <p:txBody>
          <a:bodyPr wrap="square" anchor="ctr">
            <a:spAutoFit/>
          </a:bodyPr>
          <a:lstStyle/>
          <a:p>
            <a:pPr lvl="0" algn="ctr">
              <a:defRPr/>
            </a:pPr>
            <a:r>
              <a:rPr lang="en-US" sz="2800" b="1" dirty="0">
                <a:solidFill>
                  <a:schemeClr val="accent6"/>
                </a:solidFill>
                <a:latin typeface="+mj-lt"/>
              </a:rPr>
              <a:t>Veracity (risk)</a:t>
            </a:r>
          </a:p>
          <a:p>
            <a:pPr lvl="0" algn="ctr">
              <a:defRPr/>
            </a:pPr>
            <a:endParaRPr lang="en-US" sz="2800" b="1" dirty="0">
              <a:solidFill>
                <a:schemeClr val="accent1"/>
              </a:solidFill>
            </a:endParaRPr>
          </a:p>
          <a:p>
            <a:pPr lvl="0" algn="ctr">
              <a:defRPr/>
            </a:pPr>
            <a:r>
              <a:rPr lang="en-US" sz="2400" dirty="0">
                <a:solidFill>
                  <a:srgbClr val="232F3E"/>
                </a:solidFill>
              </a:rPr>
              <a:t>Generating content that is not verifiably correct (such as hallucinations from generative AI systems).</a:t>
            </a:r>
            <a:endParaRPr lang="en-US" sz="2400" dirty="0">
              <a:solidFill>
                <a:srgbClr val="232F3E"/>
              </a:solidFill>
              <a:latin typeface="Amazon Ember Light"/>
            </a:endParaRPr>
          </a:p>
        </p:txBody>
      </p:sp>
    </p:spTree>
    <p:extLst>
      <p:ext uri="{BB962C8B-B14F-4D97-AF65-F5344CB8AC3E}">
        <p14:creationId xmlns:p14="http://schemas.microsoft.com/office/powerpoint/2010/main" val="3870404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ADFBB3-B566-C455-2F9C-5AAD5E300426}"/>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FDE98109-5865-386B-BED2-7DAAB92AC3A1}"/>
              </a:ext>
            </a:extLst>
          </p:cNvPr>
          <p:cNvSpPr>
            <a:spLocks noGrp="1"/>
          </p:cNvSpPr>
          <p:nvPr>
            <p:ph type="title" idx="1"/>
          </p:nvPr>
        </p:nvSpPr>
        <p:spPr/>
        <p:txBody>
          <a:bodyPr/>
          <a:lstStyle/>
          <a:p>
            <a:r>
              <a:rPr lang="en-US" dirty="0"/>
              <a:t>Likelihood scale and criteria</a:t>
            </a:r>
          </a:p>
        </p:txBody>
      </p:sp>
      <p:graphicFrame>
        <p:nvGraphicFramePr>
          <p:cNvPr id="5" name="Content Placeholder 6">
            <a:extLst>
              <a:ext uri="{FF2B5EF4-FFF2-40B4-BE49-F238E27FC236}">
                <a16:creationId xmlns:a16="http://schemas.microsoft.com/office/drawing/2014/main" id="{7970BB0F-338D-9CA3-09BE-64E5E30D33DE}"/>
              </a:ext>
            </a:extLst>
          </p:cNvPr>
          <p:cNvGraphicFramePr>
            <a:graphicFrameLocks/>
          </p:cNvGraphicFramePr>
          <p:nvPr/>
        </p:nvGraphicFramePr>
        <p:xfrm>
          <a:off x="284085" y="1597982"/>
          <a:ext cx="11527817" cy="4503492"/>
        </p:xfrm>
        <a:graphic>
          <a:graphicData uri="http://schemas.openxmlformats.org/drawingml/2006/table">
            <a:tbl>
              <a:tblPr firstRow="1" bandRow="1">
                <a:tableStyleId>{793D81CF-94F2-401A-BA57-92F5A7B2D0C5}</a:tableStyleId>
              </a:tblPr>
              <a:tblGrid>
                <a:gridCol w="2379216">
                  <a:extLst>
                    <a:ext uri="{9D8B030D-6E8A-4147-A177-3AD203B41FA5}">
                      <a16:colId xmlns:a16="http://schemas.microsoft.com/office/drawing/2014/main" val="2669995229"/>
                    </a:ext>
                  </a:extLst>
                </a:gridCol>
                <a:gridCol w="9148601">
                  <a:extLst>
                    <a:ext uri="{9D8B030D-6E8A-4147-A177-3AD203B41FA5}">
                      <a16:colId xmlns:a16="http://schemas.microsoft.com/office/drawing/2014/main" val="2005375879"/>
                    </a:ext>
                  </a:extLst>
                </a:gridCol>
              </a:tblGrid>
              <a:tr h="587630">
                <a:tc>
                  <a:txBody>
                    <a:bodyPr/>
                    <a:lstStyle/>
                    <a:p>
                      <a:pPr algn="r"/>
                      <a:r>
                        <a:rPr lang="en-US" sz="2000" b="1" dirty="0">
                          <a:solidFill>
                            <a:schemeClr val="bg1"/>
                          </a:solidFill>
                        </a:rPr>
                        <a:t>Likelihood scale</a:t>
                      </a:r>
                      <a:endParaRPr lang="en-US" sz="2000" b="1" dirty="0">
                        <a:solidFill>
                          <a:schemeClr val="bg1"/>
                        </a:solidFill>
                        <a:latin typeface="+mj-lt"/>
                      </a:endParaRPr>
                    </a:p>
                  </a:txBody>
                  <a:tcPr marL="152400" marR="76200" marT="38105" marB="38105" anchor="ctr"/>
                </a:tc>
                <a:tc>
                  <a:txBody>
                    <a:bodyPr/>
                    <a:lstStyle/>
                    <a:p>
                      <a:pPr algn="ctr"/>
                      <a:r>
                        <a:rPr lang="en-US" sz="2000" b="1" kern="1200" dirty="0">
                          <a:solidFill>
                            <a:schemeClr val="bg1"/>
                          </a:solidFill>
                          <a:effectLst/>
                        </a:rPr>
                        <a:t>Criteria </a:t>
                      </a:r>
                      <a:endParaRPr lang="en-US" sz="2400" b="1" dirty="0">
                        <a:solidFill>
                          <a:schemeClr val="bg1"/>
                        </a:solidFill>
                      </a:endParaRPr>
                    </a:p>
                  </a:txBody>
                  <a:tcPr marL="152400" marR="76200" marT="38105" marB="38105" anchor="ctr"/>
                </a:tc>
                <a:extLst>
                  <a:ext uri="{0D108BD9-81ED-4DB2-BD59-A6C34878D82A}">
                    <a16:rowId xmlns:a16="http://schemas.microsoft.com/office/drawing/2014/main" val="3356896290"/>
                  </a:ext>
                </a:extLst>
              </a:tr>
              <a:tr h="777803">
                <a:tc>
                  <a:txBody>
                    <a:bodyPr/>
                    <a:lstStyle/>
                    <a:p>
                      <a:pPr algn="r" fontAlgn="t"/>
                      <a:r>
                        <a:rPr lang="en-US" sz="2000" b="1" dirty="0">
                          <a:effectLst/>
                        </a:rPr>
                        <a:t>Frequent:</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Occurs more than 100 times a year; or probability is close to 100%.</a:t>
                      </a:r>
                      <a:endParaRPr lang="en-US" sz="20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1409520784"/>
                  </a:ext>
                </a:extLst>
              </a:tr>
              <a:tr h="777803">
                <a:tc>
                  <a:txBody>
                    <a:bodyPr/>
                    <a:lstStyle/>
                    <a:p>
                      <a:pPr algn="r" fontAlgn="t"/>
                      <a:r>
                        <a:rPr lang="en-US" sz="2000" b="1" dirty="0">
                          <a:effectLst/>
                        </a:rPr>
                        <a:t>Likely:</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Occurs between 10-100 times a year; or probability is between 50% to 99%.</a:t>
                      </a:r>
                      <a:endParaRPr lang="en-US" sz="20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2106316775"/>
                  </a:ext>
                </a:extLst>
              </a:tr>
              <a:tr h="777803">
                <a:tc>
                  <a:txBody>
                    <a:bodyPr/>
                    <a:lstStyle/>
                    <a:p>
                      <a:pPr algn="r" fontAlgn="t"/>
                      <a:r>
                        <a:rPr lang="en-US" sz="2000" b="1" dirty="0">
                          <a:effectLst/>
                        </a:rPr>
                        <a:t>Possible:</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Occurs between 1-10 times a year; or probability is between 1% to 49%.</a:t>
                      </a:r>
                      <a:endParaRPr lang="en-US" sz="20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3187449898"/>
                  </a:ext>
                </a:extLst>
              </a:tr>
              <a:tr h="804650">
                <a:tc>
                  <a:txBody>
                    <a:bodyPr/>
                    <a:lstStyle/>
                    <a:p>
                      <a:pPr algn="r" fontAlgn="t"/>
                      <a:r>
                        <a:rPr lang="en-US" sz="2000" b="1" dirty="0">
                          <a:effectLst/>
                        </a:rPr>
                        <a:t>Unlikely:</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Occurs less than 1x/year, but &gt; once every 10 years; or probability is close to 1%.</a:t>
                      </a:r>
                      <a:endParaRPr lang="en-US" sz="20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1671338028"/>
                  </a:ext>
                </a:extLst>
              </a:tr>
              <a:tr h="777803">
                <a:tc>
                  <a:txBody>
                    <a:bodyPr/>
                    <a:lstStyle/>
                    <a:p>
                      <a:pPr algn="r" fontAlgn="t"/>
                      <a:r>
                        <a:rPr lang="en-US" sz="2000" b="1" dirty="0">
                          <a:effectLst/>
                        </a:rPr>
                        <a:t>Highly unlikely:</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Occurs less than once every 10 years; or probability is nearly 0%.</a:t>
                      </a:r>
                      <a:endParaRPr lang="en-US" sz="20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3112477878"/>
                  </a:ext>
                </a:extLst>
              </a:tr>
            </a:tbl>
          </a:graphicData>
        </a:graphic>
      </p:graphicFrame>
    </p:spTree>
    <p:extLst>
      <p:ext uri="{BB962C8B-B14F-4D97-AF65-F5344CB8AC3E}">
        <p14:creationId xmlns:p14="http://schemas.microsoft.com/office/powerpoint/2010/main" val="3514128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9D8549-B576-036B-628F-C77A7358D968}"/>
              </a:ext>
            </a:extLst>
          </p:cNvPr>
          <p:cNvSpPr>
            <a:spLocks noGrp="1"/>
          </p:cNvSpPr>
          <p:nvPr>
            <p:ph type="sldNum" idx="97"/>
          </p:nvPr>
        </p:nvSpPr>
        <p:spPr/>
        <p:txBody>
          <a:bodyPr/>
          <a:lstStyle/>
          <a:p>
            <a:fld id="{86A8BF56-6CB3-514C-9A64-F39D95C9E25B}" type="slidenum">
              <a:rPr lang="en-US" smtClean="0"/>
              <a:t>23</a:t>
            </a:fld>
            <a:endParaRPr lang="en-US"/>
          </a:p>
        </p:txBody>
      </p:sp>
      <p:sp>
        <p:nvSpPr>
          <p:cNvPr id="3" name="Title 2">
            <a:extLst>
              <a:ext uri="{FF2B5EF4-FFF2-40B4-BE49-F238E27FC236}">
                <a16:creationId xmlns:a16="http://schemas.microsoft.com/office/drawing/2014/main" id="{6C5A5544-4166-13CF-C66F-9862228C6FC2}"/>
              </a:ext>
            </a:extLst>
          </p:cNvPr>
          <p:cNvSpPr>
            <a:spLocks noGrp="1"/>
          </p:cNvSpPr>
          <p:nvPr>
            <p:ph type="title" idx="1"/>
          </p:nvPr>
        </p:nvSpPr>
        <p:spPr/>
        <p:txBody>
          <a:bodyPr/>
          <a:lstStyle/>
          <a:p>
            <a:r>
              <a:rPr lang="en-US" dirty="0"/>
              <a:t>Severity scale example: </a:t>
            </a:r>
            <a:r>
              <a:rPr lang="en-US" u="sng" dirty="0"/>
              <a:t>Veracity</a:t>
            </a:r>
            <a:endParaRPr lang="en-US" dirty="0"/>
          </a:p>
        </p:txBody>
      </p:sp>
      <p:graphicFrame>
        <p:nvGraphicFramePr>
          <p:cNvPr id="5" name="Content Placeholder 6">
            <a:extLst>
              <a:ext uri="{FF2B5EF4-FFF2-40B4-BE49-F238E27FC236}">
                <a16:creationId xmlns:a16="http://schemas.microsoft.com/office/drawing/2014/main" id="{A00E77DF-BC44-1965-DAAA-ED875C40D774}"/>
              </a:ext>
            </a:extLst>
          </p:cNvPr>
          <p:cNvGraphicFramePr>
            <a:graphicFrameLocks/>
          </p:cNvGraphicFramePr>
          <p:nvPr/>
        </p:nvGraphicFramePr>
        <p:xfrm>
          <a:off x="284084" y="1597982"/>
          <a:ext cx="11527817" cy="4503494"/>
        </p:xfrm>
        <a:graphic>
          <a:graphicData uri="http://schemas.openxmlformats.org/drawingml/2006/table">
            <a:tbl>
              <a:tblPr firstRow="1" bandRow="1">
                <a:tableStyleId>{B301B821-A1FF-4177-AEE7-76D212191A09}</a:tableStyleId>
              </a:tblPr>
              <a:tblGrid>
                <a:gridCol w="2127182">
                  <a:extLst>
                    <a:ext uri="{9D8B030D-6E8A-4147-A177-3AD203B41FA5}">
                      <a16:colId xmlns:a16="http://schemas.microsoft.com/office/drawing/2014/main" val="2669995229"/>
                    </a:ext>
                  </a:extLst>
                </a:gridCol>
                <a:gridCol w="9400635">
                  <a:extLst>
                    <a:ext uri="{9D8B030D-6E8A-4147-A177-3AD203B41FA5}">
                      <a16:colId xmlns:a16="http://schemas.microsoft.com/office/drawing/2014/main" val="2005375879"/>
                    </a:ext>
                  </a:extLst>
                </a:gridCol>
              </a:tblGrid>
              <a:tr h="573944">
                <a:tc>
                  <a:txBody>
                    <a:bodyPr/>
                    <a:lstStyle/>
                    <a:p>
                      <a:pPr algn="r"/>
                      <a:r>
                        <a:rPr lang="en-US" sz="2000" b="1" dirty="0">
                          <a:solidFill>
                            <a:schemeClr val="bg1"/>
                          </a:solidFill>
                        </a:rPr>
                        <a:t>Severity scale</a:t>
                      </a:r>
                      <a:endParaRPr lang="en-US" sz="2000" b="1" dirty="0">
                        <a:solidFill>
                          <a:schemeClr val="bg1"/>
                        </a:solidFill>
                        <a:latin typeface="+mj-lt"/>
                      </a:endParaRPr>
                    </a:p>
                  </a:txBody>
                  <a:tcPr marL="152400" marR="76200" marT="38105" marB="38105" anchor="ctr"/>
                </a:tc>
                <a:tc>
                  <a:txBody>
                    <a:bodyPr/>
                    <a:lstStyle/>
                    <a:p>
                      <a:pPr algn="ctr"/>
                      <a:r>
                        <a:rPr lang="en-US" sz="2000" b="1" kern="1200" dirty="0">
                          <a:solidFill>
                            <a:schemeClr val="bg1"/>
                          </a:solidFill>
                          <a:effectLst/>
                        </a:rPr>
                        <a:t>Criteria</a:t>
                      </a:r>
                      <a:endParaRPr lang="en-US" sz="2400" b="1" dirty="0">
                        <a:solidFill>
                          <a:schemeClr val="bg1"/>
                        </a:solidFill>
                        <a:latin typeface="+mj-lt"/>
                      </a:endParaRPr>
                    </a:p>
                  </a:txBody>
                  <a:tcPr marL="152400" marR="76200" marT="38105" marB="38105" anchor="ctr"/>
                </a:tc>
                <a:extLst>
                  <a:ext uri="{0D108BD9-81ED-4DB2-BD59-A6C34878D82A}">
                    <a16:rowId xmlns:a16="http://schemas.microsoft.com/office/drawing/2014/main" val="3356896290"/>
                  </a:ext>
                </a:extLst>
              </a:tr>
              <a:tr h="785910">
                <a:tc>
                  <a:txBody>
                    <a:bodyPr/>
                    <a:lstStyle/>
                    <a:p>
                      <a:pPr algn="r" fontAlgn="t"/>
                      <a:r>
                        <a:rPr lang="en-US" sz="2000" b="1" dirty="0">
                          <a:effectLst/>
                        </a:rPr>
                        <a:t>Extreme:</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Persuasive, dangerous output results in irreversible negative outcome to the real world, including social impact.</a:t>
                      </a:r>
                      <a:endParaRPr lang="en-US" sz="24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1409520784"/>
                  </a:ext>
                </a:extLst>
              </a:tr>
              <a:tr h="785910">
                <a:tc>
                  <a:txBody>
                    <a:bodyPr/>
                    <a:lstStyle/>
                    <a:p>
                      <a:pPr algn="r" fontAlgn="t"/>
                      <a:r>
                        <a:rPr lang="en-US" sz="2000" b="1" dirty="0">
                          <a:effectLst/>
                        </a:rPr>
                        <a:t>Major:</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Largely fabricated output results in substantial negative impact to the real world, including social impact.</a:t>
                      </a:r>
                      <a:endParaRPr lang="en-US" sz="24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2106316775"/>
                  </a:ext>
                </a:extLst>
              </a:tr>
              <a:tr h="785910">
                <a:tc>
                  <a:txBody>
                    <a:bodyPr/>
                    <a:lstStyle/>
                    <a:p>
                      <a:pPr algn="r" fontAlgn="t"/>
                      <a:r>
                        <a:rPr lang="en-US" sz="2000" b="1" dirty="0">
                          <a:effectLst/>
                        </a:rPr>
                        <a:t>Moderate:</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Hallucinated output that leads to clear errors and degrades model performance and reliability in key tasks.</a:t>
                      </a:r>
                      <a:endParaRPr lang="en-US" sz="24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3187449898"/>
                  </a:ext>
                </a:extLst>
              </a:tr>
              <a:tr h="785910">
                <a:tc>
                  <a:txBody>
                    <a:bodyPr/>
                    <a:lstStyle/>
                    <a:p>
                      <a:pPr algn="r" fontAlgn="t"/>
                      <a:r>
                        <a:rPr lang="en-US" sz="2000" b="1" dirty="0">
                          <a:effectLst/>
                        </a:rPr>
                        <a:t>Low:</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Hallucinations output causes minor errors but does not significantly alter model performance.</a:t>
                      </a:r>
                      <a:endParaRPr lang="en-US" sz="24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1671338028"/>
                  </a:ext>
                </a:extLst>
              </a:tr>
              <a:tr h="785910">
                <a:tc>
                  <a:txBody>
                    <a:bodyPr/>
                    <a:lstStyle/>
                    <a:p>
                      <a:pPr algn="r" fontAlgn="t"/>
                      <a:r>
                        <a:rPr lang="en-US" sz="2000" b="1" dirty="0">
                          <a:effectLst/>
                        </a:rPr>
                        <a:t>Very low:</a:t>
                      </a:r>
                      <a:endParaRPr lang="en-US" sz="2000" b="1" dirty="0">
                        <a:effectLst/>
                        <a:latin typeface="+mj-lt"/>
                      </a:endParaRPr>
                    </a:p>
                  </a:txBody>
                  <a:tcPr marL="76200" marR="76200" marT="76200" marB="76200" anchor="ctr"/>
                </a:tc>
                <a:tc>
                  <a:txBody>
                    <a:bodyPr/>
                    <a:lstStyle/>
                    <a:p>
                      <a:pPr algn="l" fontAlgn="t"/>
                      <a:r>
                        <a:rPr lang="en-US" sz="2000" b="0" kern="1200" dirty="0">
                          <a:solidFill>
                            <a:schemeClr val="tx1"/>
                          </a:solidFill>
                          <a:effectLst/>
                        </a:rPr>
                        <a:t>Minimal amount of hallucination in output that causes negligible impact on model performance.</a:t>
                      </a:r>
                      <a:endParaRPr lang="en-US" sz="2400" b="0" kern="1200" dirty="0">
                        <a:solidFill>
                          <a:schemeClr val="tx1"/>
                        </a:solidFill>
                        <a:effectLst/>
                        <a:latin typeface="+mn-lt"/>
                        <a:ea typeface="+mn-ea"/>
                        <a:cs typeface="+mn-cs"/>
                      </a:endParaRPr>
                    </a:p>
                  </a:txBody>
                  <a:tcPr marL="76200" marR="76200" marT="76200" marB="76200" anchor="ctr"/>
                </a:tc>
                <a:extLst>
                  <a:ext uri="{0D108BD9-81ED-4DB2-BD59-A6C34878D82A}">
                    <a16:rowId xmlns:a16="http://schemas.microsoft.com/office/drawing/2014/main" val="3112477878"/>
                  </a:ext>
                </a:extLst>
              </a:tr>
            </a:tbl>
          </a:graphicData>
        </a:graphic>
      </p:graphicFrame>
    </p:spTree>
    <p:extLst>
      <p:ext uri="{BB962C8B-B14F-4D97-AF65-F5344CB8AC3E}">
        <p14:creationId xmlns:p14="http://schemas.microsoft.com/office/powerpoint/2010/main" val="2194202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F1C924-EA59-4DBF-8C23-9B5040F654CA}"/>
              </a:ext>
            </a:extLst>
          </p:cNvPr>
          <p:cNvSpPr>
            <a:spLocks noGrp="1"/>
          </p:cNvSpPr>
          <p:nvPr>
            <p:ph type="sldNum" idx="97"/>
          </p:nvPr>
        </p:nvSpPr>
        <p:spPr/>
        <p:txBody>
          <a:bodyPr/>
          <a:lstStyle/>
          <a:p>
            <a:fld id="{86A8BF56-6CB3-514C-9A64-F39D95C9E25B}" type="slidenum">
              <a:rPr lang="en-US" smtClean="0"/>
              <a:t>24</a:t>
            </a:fld>
            <a:endParaRPr lang="en-US"/>
          </a:p>
        </p:txBody>
      </p:sp>
      <p:sp>
        <p:nvSpPr>
          <p:cNvPr id="3" name="Title 2">
            <a:extLst>
              <a:ext uri="{FF2B5EF4-FFF2-40B4-BE49-F238E27FC236}">
                <a16:creationId xmlns:a16="http://schemas.microsoft.com/office/drawing/2014/main" id="{BC4EA7B6-56E6-6E90-4856-A85810280746}"/>
              </a:ext>
            </a:extLst>
          </p:cNvPr>
          <p:cNvSpPr>
            <a:spLocks noGrp="1"/>
          </p:cNvSpPr>
          <p:nvPr>
            <p:ph type="title" idx="1"/>
          </p:nvPr>
        </p:nvSpPr>
        <p:spPr/>
        <p:txBody>
          <a:bodyPr/>
          <a:lstStyle/>
          <a:p>
            <a:r>
              <a:rPr lang="en-US" dirty="0"/>
              <a:t>Likelihood and severity</a:t>
            </a:r>
          </a:p>
        </p:txBody>
      </p:sp>
      <p:graphicFrame>
        <p:nvGraphicFramePr>
          <p:cNvPr id="7" name="Content Placeholder 6">
            <a:extLst>
              <a:ext uri="{FF2B5EF4-FFF2-40B4-BE49-F238E27FC236}">
                <a16:creationId xmlns:a16="http://schemas.microsoft.com/office/drawing/2014/main" id="{2CA28A30-828E-4932-B2E0-374C1C0B37E9}"/>
              </a:ext>
            </a:extLst>
          </p:cNvPr>
          <p:cNvGraphicFramePr>
            <a:graphicFrameLocks/>
          </p:cNvGraphicFramePr>
          <p:nvPr>
            <p:extLst>
              <p:ext uri="{D42A27DB-BD31-4B8C-83A1-F6EECF244321}">
                <p14:modId xmlns:p14="http://schemas.microsoft.com/office/powerpoint/2010/main" val="728579645"/>
              </p:ext>
            </p:extLst>
          </p:nvPr>
        </p:nvGraphicFramePr>
        <p:xfrm>
          <a:off x="648227" y="1564105"/>
          <a:ext cx="10289880" cy="4646418"/>
        </p:xfrm>
        <a:graphic>
          <a:graphicData uri="http://schemas.openxmlformats.org/drawingml/2006/table">
            <a:tbl>
              <a:tblPr firstRow="1" bandRow="1">
                <a:tableStyleId>{69012ECD-51FC-41F1-AA8D-1B2483CD663E}</a:tableStyleId>
              </a:tblPr>
              <a:tblGrid>
                <a:gridCol w="521667">
                  <a:extLst>
                    <a:ext uri="{9D8B030D-6E8A-4147-A177-3AD203B41FA5}">
                      <a16:colId xmlns:a16="http://schemas.microsoft.com/office/drawing/2014/main" val="2669995229"/>
                    </a:ext>
                  </a:extLst>
                </a:gridCol>
                <a:gridCol w="1770418">
                  <a:extLst>
                    <a:ext uri="{9D8B030D-6E8A-4147-A177-3AD203B41FA5}">
                      <a16:colId xmlns:a16="http://schemas.microsoft.com/office/drawing/2014/main" val="2479802073"/>
                    </a:ext>
                  </a:extLst>
                </a:gridCol>
                <a:gridCol w="1599559">
                  <a:extLst>
                    <a:ext uri="{9D8B030D-6E8A-4147-A177-3AD203B41FA5}">
                      <a16:colId xmlns:a16="http://schemas.microsoft.com/office/drawing/2014/main" val="3380896331"/>
                    </a:ext>
                  </a:extLst>
                </a:gridCol>
                <a:gridCol w="1599559">
                  <a:extLst>
                    <a:ext uri="{9D8B030D-6E8A-4147-A177-3AD203B41FA5}">
                      <a16:colId xmlns:a16="http://schemas.microsoft.com/office/drawing/2014/main" val="107234591"/>
                    </a:ext>
                  </a:extLst>
                </a:gridCol>
                <a:gridCol w="1599559">
                  <a:extLst>
                    <a:ext uri="{9D8B030D-6E8A-4147-A177-3AD203B41FA5}">
                      <a16:colId xmlns:a16="http://schemas.microsoft.com/office/drawing/2014/main" val="2548378739"/>
                    </a:ext>
                  </a:extLst>
                </a:gridCol>
                <a:gridCol w="1599559">
                  <a:extLst>
                    <a:ext uri="{9D8B030D-6E8A-4147-A177-3AD203B41FA5}">
                      <a16:colId xmlns:a16="http://schemas.microsoft.com/office/drawing/2014/main" val="1813099083"/>
                    </a:ext>
                  </a:extLst>
                </a:gridCol>
                <a:gridCol w="1599559">
                  <a:extLst>
                    <a:ext uri="{9D8B030D-6E8A-4147-A177-3AD203B41FA5}">
                      <a16:colId xmlns:a16="http://schemas.microsoft.com/office/drawing/2014/main" val="1899627097"/>
                    </a:ext>
                  </a:extLst>
                </a:gridCol>
              </a:tblGrid>
              <a:tr h="517893">
                <a:tc>
                  <a:txBody>
                    <a:bodyPr/>
                    <a:lstStyle/>
                    <a:p>
                      <a:pPr algn="ctr"/>
                      <a:endParaRPr lang="en-US" sz="1800" b="1" dirty="0">
                        <a:solidFill>
                          <a:schemeClr val="tx1"/>
                        </a:solidFill>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kern="1200" dirty="0">
                        <a:solidFill>
                          <a:schemeClr val="tx1"/>
                        </a:solidFill>
                        <a:latin typeface="+mn-lt"/>
                        <a:ea typeface="+mn-ea"/>
                        <a:cs typeface="+mn-cs"/>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2800" b="1" kern="1200" dirty="0">
                          <a:solidFill>
                            <a:schemeClr val="tx1"/>
                          </a:solidFill>
                          <a:latin typeface="+mn-lt"/>
                          <a:ea typeface="+mn-ea"/>
                          <a:cs typeface="+mn-cs"/>
                        </a:rPr>
                        <a:t>Severity</a:t>
                      </a: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2000" b="1" kern="1200" dirty="0">
                        <a:solidFill>
                          <a:schemeClr val="tx1"/>
                        </a:solidFill>
                        <a:latin typeface="+mn-lt"/>
                        <a:ea typeface="+mn-ea"/>
                        <a:cs typeface="+mn-cs"/>
                      </a:endParaRPr>
                    </a:p>
                  </a:txBody>
                  <a:tcPr marL="152400" marR="76200" marT="38105" marB="38105"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noFill/>
                  </a:tcPr>
                </a:tc>
                <a:tc hMerge="1">
                  <a:txBody>
                    <a:bodyPr/>
                    <a:lstStyle/>
                    <a:p>
                      <a:endParaRPr lang="en-US" sz="2000" b="1" kern="1200" dirty="0">
                        <a:solidFill>
                          <a:schemeClr val="tx1"/>
                        </a:solidFill>
                        <a:latin typeface="+mn-lt"/>
                        <a:ea typeface="+mn-ea"/>
                        <a:cs typeface="+mn-cs"/>
                      </a:endParaRPr>
                    </a:p>
                  </a:txBody>
                  <a:tcPr marL="152400" marR="76200" marT="38105" marB="38105"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noFill/>
                  </a:tcPr>
                </a:tc>
                <a:tc hMerge="1">
                  <a:txBody>
                    <a:bodyPr/>
                    <a:lstStyle/>
                    <a:p>
                      <a:endParaRPr lang="en-US" sz="2000" b="1" kern="1200" dirty="0">
                        <a:solidFill>
                          <a:schemeClr val="tx1"/>
                        </a:solidFill>
                        <a:latin typeface="+mn-lt"/>
                        <a:ea typeface="+mn-ea"/>
                        <a:cs typeface="+mn-cs"/>
                      </a:endParaRPr>
                    </a:p>
                  </a:txBody>
                  <a:tcPr marL="152400" marR="76200" marT="38105" marB="38105"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noFill/>
                  </a:tcPr>
                </a:tc>
                <a:tc hMerge="1">
                  <a:txBody>
                    <a:bodyPr/>
                    <a:lstStyle/>
                    <a:p>
                      <a:endParaRPr lang="en-US" sz="2000" b="1" kern="1200" dirty="0">
                        <a:solidFill>
                          <a:schemeClr val="tx1"/>
                        </a:solidFill>
                        <a:latin typeface="+mn-lt"/>
                        <a:ea typeface="+mn-ea"/>
                        <a:cs typeface="+mn-cs"/>
                      </a:endParaRPr>
                    </a:p>
                  </a:txBody>
                  <a:tcPr marL="152400" marR="76200" marT="38105" marB="38105" anchor="ctr">
                    <a:lnL w="9525" cap="flat" cmpd="sng" algn="ctr">
                      <a:solidFill>
                        <a:schemeClr val="accent1"/>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6896290"/>
                  </a:ext>
                </a:extLst>
              </a:tr>
              <a:tr h="685497">
                <a:tc rowSpan="6">
                  <a:txBody>
                    <a:bodyPr/>
                    <a:lstStyle/>
                    <a:p>
                      <a:pPr algn="ctr" fontAlgn="t"/>
                      <a:r>
                        <a:rPr lang="en-US" sz="2800" b="1" dirty="0">
                          <a:effectLst/>
                          <a:latin typeface="+mn-lt"/>
                        </a:rPr>
                        <a:t>Likelihood</a:t>
                      </a:r>
                    </a:p>
                  </a:txBody>
                  <a:tcPr marL="76200" marR="76200" marT="76200" marB="76200" vert="vert27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endParaRPr lang="en-US" sz="1800" b="1" dirty="0">
                        <a:effectLst/>
                        <a:latin typeface="+mn-lt"/>
                      </a:endParaRPr>
                    </a:p>
                  </a:txBody>
                  <a:tcPr marL="76200" marR="76200" marT="76200" marB="762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kern="1200" dirty="0">
                          <a:solidFill>
                            <a:schemeClr val="tx1"/>
                          </a:solidFill>
                        </a:rPr>
                        <a:t>Very low</a:t>
                      </a:r>
                      <a:endParaRPr lang="en-US" sz="1800" b="1" kern="1200" dirty="0">
                        <a:solidFill>
                          <a:schemeClr val="tx1"/>
                        </a:solidFill>
                        <a:latin typeface="+mn-lt"/>
                        <a:ea typeface="+mn-ea"/>
                        <a:cs typeface="+mn-cs"/>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kern="1200" dirty="0">
                          <a:solidFill>
                            <a:schemeClr val="tx1"/>
                          </a:solidFill>
                          <a:latin typeface="+mn-lt"/>
                          <a:ea typeface="+mn-ea"/>
                          <a:cs typeface="+mn-cs"/>
                        </a:rPr>
                        <a:t>Low</a:t>
                      </a: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kern="1200" dirty="0">
                          <a:solidFill>
                            <a:schemeClr val="tx1"/>
                          </a:solidFill>
                          <a:latin typeface="+mn-lt"/>
                          <a:ea typeface="+mn-ea"/>
                          <a:cs typeface="+mn-cs"/>
                        </a:rPr>
                        <a:t>Moderate</a:t>
                      </a: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kern="1200" dirty="0">
                          <a:solidFill>
                            <a:schemeClr val="tx1"/>
                          </a:solidFill>
                          <a:latin typeface="+mn-lt"/>
                          <a:ea typeface="+mn-ea"/>
                          <a:cs typeface="+mn-cs"/>
                        </a:rPr>
                        <a:t>Major</a:t>
                      </a: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kern="1200" dirty="0">
                          <a:solidFill>
                            <a:schemeClr val="tx1"/>
                          </a:solidFill>
                          <a:latin typeface="+mn-lt"/>
                          <a:ea typeface="+mn-ea"/>
                          <a:cs typeface="+mn-cs"/>
                        </a:rPr>
                        <a:t>Extreme</a:t>
                      </a: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9520784"/>
                  </a:ext>
                </a:extLst>
              </a:tr>
              <a:tr h="685497">
                <a:tc vMerge="1">
                  <a:txBody>
                    <a:bodyPr/>
                    <a:lstStyle/>
                    <a:p>
                      <a:pPr algn="l" fontAlgn="t"/>
                      <a:endParaRPr lang="en-US" sz="2000" b="1" dirty="0">
                        <a:effectLst/>
                        <a:latin typeface="+mn-lt"/>
                      </a:endParaRPr>
                    </a:p>
                  </a:txBody>
                  <a:tcPr marL="76200" marR="76200" marT="76200" marB="76200"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l" fontAlgn="t"/>
                      <a:r>
                        <a:rPr lang="en-US" sz="1800" b="1" dirty="0">
                          <a:effectLst/>
                          <a:latin typeface="+mn-lt"/>
                        </a:rPr>
                        <a:t>Frequent</a:t>
                      </a:r>
                    </a:p>
                  </a:txBody>
                  <a:tcPr marL="76200" marR="76200" marT="76200" marB="762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tx1"/>
                          </a:solidFill>
                          <a:effectLst/>
                          <a:latin typeface="+mn-lt"/>
                        </a:rPr>
                        <a:t>Low</a:t>
                      </a:r>
                      <a:endParaRPr lang="en-US" sz="1800" dirty="0">
                        <a:solidFill>
                          <a:schemeClr val="bg1"/>
                        </a:solidFill>
                        <a:effectLst/>
                        <a:latin typeface="+mn-lt"/>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t"/>
                      <a:r>
                        <a:rPr lang="en-US" sz="1800" dirty="0">
                          <a:solidFill>
                            <a:schemeClr val="tx1"/>
                          </a:solidFill>
                          <a:effectLst/>
                          <a:latin typeface="+mn-lt"/>
                        </a:rPr>
                        <a:t>Medium</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t"/>
                      <a:r>
                        <a:rPr lang="en-US" sz="1800" dirty="0">
                          <a:solidFill>
                            <a:schemeClr val="tx1"/>
                          </a:solidFill>
                          <a:effectLst/>
                          <a:latin typeface="+mn-lt"/>
                        </a:rPr>
                        <a:t>High</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bg1"/>
                          </a:solidFill>
                          <a:effectLst/>
                          <a:latin typeface="+mn-lt"/>
                        </a:rPr>
                        <a:t>Critical</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t"/>
                      <a:r>
                        <a:rPr lang="en-US" sz="1800" dirty="0">
                          <a:solidFill>
                            <a:schemeClr val="bg1"/>
                          </a:solidFill>
                          <a:effectLst/>
                          <a:latin typeface="+mn-lt"/>
                        </a:rPr>
                        <a:t>Critical</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106316775"/>
                  </a:ext>
                </a:extLst>
              </a:tr>
              <a:tr h="685497">
                <a:tc vMerge="1">
                  <a:txBody>
                    <a:bodyPr/>
                    <a:lstStyle/>
                    <a:p>
                      <a:pPr algn="l" fontAlgn="t"/>
                      <a:endParaRPr lang="en-US" sz="2000" b="1" dirty="0">
                        <a:effectLst/>
                        <a:latin typeface="+mn-lt"/>
                      </a:endParaRPr>
                    </a:p>
                  </a:txBody>
                  <a:tcPr marL="76200" marR="76200" marT="76200" marB="76200"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l" fontAlgn="t"/>
                      <a:r>
                        <a:rPr lang="en-US" sz="1800" b="1" dirty="0">
                          <a:effectLst/>
                          <a:latin typeface="+mn-lt"/>
                        </a:rPr>
                        <a:t>Likely</a:t>
                      </a:r>
                    </a:p>
                  </a:txBody>
                  <a:tcPr marL="76200" marR="76200" marT="76200" marB="762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800" dirty="0">
                          <a:solidFill>
                            <a:schemeClr val="bg1"/>
                          </a:solidFill>
                          <a:effectLst/>
                          <a:latin typeface="+mn-lt"/>
                        </a:rPr>
                        <a:t>Very 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051"/>
                    </a:solidFill>
                  </a:tcPr>
                </a:tc>
                <a:tc>
                  <a:txBody>
                    <a:bodyPr/>
                    <a:lstStyle/>
                    <a:p>
                      <a:pPr algn="ctr" fontAlgn="t"/>
                      <a:r>
                        <a:rPr lang="en-US" sz="1800" dirty="0">
                          <a:solidFill>
                            <a:schemeClr val="tx1"/>
                          </a:solidFill>
                          <a:effectLst/>
                          <a:latin typeface="+mn-lt"/>
                        </a:rPr>
                        <a:t>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t"/>
                      <a:r>
                        <a:rPr lang="en-US" sz="1800" dirty="0">
                          <a:solidFill>
                            <a:schemeClr val="tx1"/>
                          </a:solidFill>
                          <a:effectLst/>
                          <a:latin typeface="+mn-lt"/>
                        </a:rPr>
                        <a:t>Medium</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t"/>
                      <a:r>
                        <a:rPr lang="en-US" sz="1800" dirty="0">
                          <a:solidFill>
                            <a:schemeClr val="tx1"/>
                          </a:solidFill>
                          <a:effectLst/>
                          <a:latin typeface="+mn-lt"/>
                        </a:rPr>
                        <a:t>High</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800" dirty="0">
                          <a:solidFill>
                            <a:schemeClr val="bg1"/>
                          </a:solidFill>
                          <a:effectLst/>
                          <a:latin typeface="+mn-lt"/>
                        </a:rPr>
                        <a:t>Critical</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3187449898"/>
                  </a:ext>
                </a:extLst>
              </a:tr>
              <a:tr h="685497">
                <a:tc vMerge="1">
                  <a:txBody>
                    <a:bodyPr/>
                    <a:lstStyle/>
                    <a:p>
                      <a:pPr algn="l" fontAlgn="t"/>
                      <a:endParaRPr lang="en-US" sz="2000" b="1" dirty="0">
                        <a:effectLst/>
                        <a:latin typeface="+mn-lt"/>
                      </a:endParaRPr>
                    </a:p>
                  </a:txBody>
                  <a:tcPr marL="76200" marR="76200" marT="76200" marB="76200"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l" fontAlgn="t"/>
                      <a:r>
                        <a:rPr lang="en-US" sz="1800" b="1" dirty="0">
                          <a:effectLst/>
                          <a:latin typeface="+mn-lt"/>
                        </a:rPr>
                        <a:t>Possible</a:t>
                      </a:r>
                    </a:p>
                  </a:txBody>
                  <a:tcPr marL="76200" marR="76200" marT="76200" marB="762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bg1"/>
                          </a:solidFill>
                          <a:effectLst/>
                          <a:latin typeface="+mn-lt"/>
                        </a:rPr>
                        <a:t>Very 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051"/>
                    </a:solidFill>
                  </a:tcPr>
                </a:tc>
                <a:tc>
                  <a:txBody>
                    <a:bodyPr/>
                    <a:lstStyle/>
                    <a:p>
                      <a:pPr algn="ctr" fontAlgn="t"/>
                      <a:r>
                        <a:rPr lang="en-US" sz="1800" dirty="0">
                          <a:solidFill>
                            <a:schemeClr val="tx1"/>
                          </a:solidFill>
                          <a:effectLst/>
                          <a:latin typeface="+mn-lt"/>
                        </a:rPr>
                        <a:t>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t"/>
                      <a:r>
                        <a:rPr lang="en-US" sz="1800" dirty="0">
                          <a:solidFill>
                            <a:schemeClr val="tx1"/>
                          </a:solidFill>
                          <a:effectLst/>
                          <a:latin typeface="+mn-lt"/>
                        </a:rPr>
                        <a:t>Medium</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t"/>
                      <a:r>
                        <a:rPr lang="en-US" sz="1800" dirty="0">
                          <a:solidFill>
                            <a:schemeClr val="tx1"/>
                          </a:solidFill>
                          <a:effectLst/>
                          <a:latin typeface="+mn-lt"/>
                        </a:rPr>
                        <a:t>High</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bg1"/>
                          </a:solidFill>
                          <a:effectLst/>
                          <a:latin typeface="+mn-lt"/>
                        </a:rPr>
                        <a:t>Critical</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671338028"/>
                  </a:ext>
                </a:extLst>
              </a:tr>
              <a:tr h="685497">
                <a:tc vMerge="1">
                  <a:txBody>
                    <a:bodyPr/>
                    <a:lstStyle/>
                    <a:p>
                      <a:pPr algn="l" fontAlgn="t"/>
                      <a:endParaRPr lang="en-US" sz="2000" b="1" dirty="0">
                        <a:effectLst/>
                        <a:latin typeface="+mn-lt"/>
                      </a:endParaRPr>
                    </a:p>
                  </a:txBody>
                  <a:tcPr marL="76200" marR="76200" marT="76200" marB="76200"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noFill/>
                      <a:prstDash val="solid"/>
                      <a:round/>
                      <a:headEnd type="none" w="med" len="med"/>
                      <a:tailEnd type="none" w="med" len="med"/>
                    </a:lnB>
                  </a:tcPr>
                </a:tc>
                <a:tc>
                  <a:txBody>
                    <a:bodyPr/>
                    <a:lstStyle/>
                    <a:p>
                      <a:pPr algn="l" fontAlgn="t"/>
                      <a:r>
                        <a:rPr lang="en-US" sz="1800" b="1" dirty="0">
                          <a:effectLst/>
                          <a:latin typeface="+mn-lt"/>
                        </a:rPr>
                        <a:t>Unlikely</a:t>
                      </a:r>
                    </a:p>
                  </a:txBody>
                  <a:tcPr marL="76200" marR="76200" marT="76200" marB="762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bg1"/>
                          </a:solidFill>
                          <a:effectLst/>
                          <a:latin typeface="+mn-lt"/>
                        </a:rPr>
                        <a:t>Very 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05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bg1"/>
                          </a:solidFill>
                          <a:effectLst/>
                          <a:latin typeface="+mn-lt"/>
                        </a:rPr>
                        <a:t>Very 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051"/>
                    </a:solidFill>
                  </a:tcPr>
                </a:tc>
                <a:tc>
                  <a:txBody>
                    <a:bodyPr/>
                    <a:lstStyle/>
                    <a:p>
                      <a:pPr algn="ctr" fontAlgn="t"/>
                      <a:r>
                        <a:rPr lang="en-US" sz="1800" dirty="0">
                          <a:solidFill>
                            <a:schemeClr val="tx1"/>
                          </a:solidFill>
                          <a:effectLst/>
                          <a:latin typeface="+mn-lt"/>
                        </a:rPr>
                        <a:t>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t"/>
                      <a:r>
                        <a:rPr lang="en-US" sz="1800" dirty="0">
                          <a:solidFill>
                            <a:schemeClr val="tx1"/>
                          </a:solidFill>
                          <a:effectLst/>
                          <a:latin typeface="+mn-lt"/>
                        </a:rPr>
                        <a:t>Medium</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tx1"/>
                          </a:solidFill>
                          <a:effectLst/>
                          <a:latin typeface="+mn-lt"/>
                        </a:rPr>
                        <a:t>High</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112477878"/>
                  </a:ext>
                </a:extLst>
              </a:tr>
              <a:tr h="685497">
                <a:tc vMerge="1">
                  <a:txBody>
                    <a:bodyPr/>
                    <a:lstStyle/>
                    <a:p>
                      <a:pPr algn="ctr" fontAlgn="t"/>
                      <a:endParaRPr lang="en-US" sz="1800" b="1" dirty="0">
                        <a:effectLst/>
                        <a:latin typeface="+mn-lt"/>
                      </a:endParaRPr>
                    </a:p>
                  </a:txBody>
                  <a:tcPr marL="76200" marR="76200" marT="76200" marB="76200" vert="vert270"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tcPr>
                </a:tc>
                <a:tc>
                  <a:txBody>
                    <a:bodyPr/>
                    <a:lstStyle/>
                    <a:p>
                      <a:pPr algn="l" fontAlgn="t"/>
                      <a:r>
                        <a:rPr lang="en-US" sz="1800" b="1" dirty="0">
                          <a:effectLst/>
                          <a:latin typeface="+mn-lt"/>
                        </a:rPr>
                        <a:t>Highly unlikely</a:t>
                      </a:r>
                    </a:p>
                  </a:txBody>
                  <a:tcPr marL="76200" marR="76200" marT="76200" marB="762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bg1"/>
                          </a:solidFill>
                          <a:effectLst/>
                          <a:latin typeface="+mn-lt"/>
                        </a:rPr>
                        <a:t>Very 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05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bg1"/>
                          </a:solidFill>
                          <a:effectLst/>
                          <a:latin typeface="+mn-lt"/>
                        </a:rPr>
                        <a:t>Very 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05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bg1"/>
                          </a:solidFill>
                          <a:effectLst/>
                          <a:latin typeface="+mn-lt"/>
                        </a:rPr>
                        <a:t>Very Low</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05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tx1"/>
                          </a:solidFill>
                          <a:effectLst/>
                          <a:latin typeface="+mn-lt"/>
                        </a:rPr>
                        <a:t>Low</a:t>
                      </a:r>
                      <a:endParaRPr lang="en-US" sz="1800" dirty="0">
                        <a:solidFill>
                          <a:schemeClr val="bg1"/>
                        </a:solidFill>
                        <a:effectLst/>
                        <a:latin typeface="+mn-lt"/>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dirty="0">
                          <a:solidFill>
                            <a:schemeClr val="tx1"/>
                          </a:solidFill>
                          <a:effectLst/>
                          <a:latin typeface="+mn-lt"/>
                        </a:rPr>
                        <a:t>High</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84718512"/>
                  </a:ext>
                </a:extLst>
              </a:tr>
            </a:tbl>
          </a:graphicData>
        </a:graphic>
      </p:graphicFrame>
    </p:spTree>
    <p:extLst>
      <p:ext uri="{BB962C8B-B14F-4D97-AF65-F5344CB8AC3E}">
        <p14:creationId xmlns:p14="http://schemas.microsoft.com/office/powerpoint/2010/main" val="545584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4E0FB9-D9D9-AFDF-09D4-526EAF944E81}"/>
              </a:ext>
            </a:extLst>
          </p:cNvPr>
          <p:cNvSpPr>
            <a:spLocks noGrp="1"/>
          </p:cNvSpPr>
          <p:nvPr>
            <p:ph type="sldNum" idx="97"/>
          </p:nvPr>
        </p:nvSpPr>
        <p:spPr/>
        <p:txBody>
          <a:bodyPr/>
          <a:lstStyle/>
          <a:p>
            <a:fld id="{86A8BF56-6CB3-514C-9A64-F39D95C9E25B}" type="slidenum">
              <a:rPr lang="en-US" smtClean="0"/>
              <a:t>25</a:t>
            </a:fld>
            <a:endParaRPr lang="en-US"/>
          </a:p>
        </p:txBody>
      </p:sp>
      <p:sp>
        <p:nvSpPr>
          <p:cNvPr id="3" name="Title 2">
            <a:extLst>
              <a:ext uri="{FF2B5EF4-FFF2-40B4-BE49-F238E27FC236}">
                <a16:creationId xmlns:a16="http://schemas.microsoft.com/office/drawing/2014/main" id="{0615DF4E-2399-9580-EB65-8C4597D73034}"/>
              </a:ext>
            </a:extLst>
          </p:cNvPr>
          <p:cNvSpPr>
            <a:spLocks noGrp="1"/>
          </p:cNvSpPr>
          <p:nvPr>
            <p:ph type="title" idx="1"/>
          </p:nvPr>
        </p:nvSpPr>
        <p:spPr/>
        <p:txBody>
          <a:bodyPr/>
          <a:lstStyle/>
          <a:p>
            <a:r>
              <a:rPr lang="en-US" dirty="0"/>
              <a:t>Key takeaways</a:t>
            </a:r>
          </a:p>
        </p:txBody>
      </p:sp>
      <p:sp>
        <p:nvSpPr>
          <p:cNvPr id="4" name="Content Placeholder 3">
            <a:extLst>
              <a:ext uri="{FF2B5EF4-FFF2-40B4-BE49-F238E27FC236}">
                <a16:creationId xmlns:a16="http://schemas.microsoft.com/office/drawing/2014/main" id="{8041ADEF-DFF1-4DC6-4359-B0D739F5A934}"/>
              </a:ext>
            </a:extLst>
          </p:cNvPr>
          <p:cNvSpPr>
            <a:spLocks noGrp="1"/>
          </p:cNvSpPr>
          <p:nvPr>
            <p:ph idx="2"/>
          </p:nvPr>
        </p:nvSpPr>
        <p:spPr/>
        <p:txBody>
          <a:bodyPr/>
          <a:lstStyle/>
          <a:p>
            <a:pPr marL="461963" indent="-461963">
              <a:spcAft>
                <a:spcPts val="1800"/>
              </a:spcAft>
            </a:pPr>
            <a:r>
              <a:rPr lang="en-US" sz="2800" dirty="0"/>
              <a:t>Designing, building and operating AI responsibly can help mitigate harm, build trust with customers, and allows organizations align with relevant regulatory requirements.</a:t>
            </a:r>
          </a:p>
          <a:p>
            <a:pPr marL="461963" indent="-461963">
              <a:spcAft>
                <a:spcPts val="1800"/>
              </a:spcAft>
            </a:pPr>
            <a:r>
              <a:rPr lang="en-US" sz="2800" dirty="0"/>
              <a:t>Responsible AI has different dimensions; as the science evolves dimensions may change.</a:t>
            </a:r>
          </a:p>
          <a:p>
            <a:pPr marL="461963" indent="-461963">
              <a:spcAft>
                <a:spcPts val="1800"/>
              </a:spcAft>
            </a:pPr>
            <a:r>
              <a:rPr lang="en-US" sz="2800" dirty="0"/>
              <a:t>Governance helps to carry out RAI practices across teams and organizations.</a:t>
            </a:r>
          </a:p>
        </p:txBody>
      </p:sp>
    </p:spTree>
    <p:extLst>
      <p:ext uri="{BB962C8B-B14F-4D97-AF65-F5344CB8AC3E}">
        <p14:creationId xmlns:p14="http://schemas.microsoft.com/office/powerpoint/2010/main" val="1204815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26</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covered topics related to </a:t>
            </a:r>
            <a:r>
              <a:rPr lang="en-US"/>
              <a:t>responsible AI.</a:t>
            </a:r>
            <a:endParaRPr lang="en-US" dirty="0"/>
          </a:p>
          <a:p>
            <a:r>
              <a:rPr lang="en-US" dirty="0"/>
              <a:t>In the next lesson, you will learn about specific dimensions of responsible AI.</a:t>
            </a:r>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27</a:t>
            </a:fld>
            <a:endParaRPr lang="en-US"/>
          </a:p>
        </p:txBody>
      </p:sp>
    </p:spTree>
    <p:extLst>
      <p:ext uri="{BB962C8B-B14F-4D97-AF65-F5344CB8AC3E}">
        <p14:creationId xmlns:p14="http://schemas.microsoft.com/office/powerpoint/2010/main" val="2598545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7F5875-47BC-311A-F663-451CFFA936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BE3D98-92CB-1096-A665-5E2BCCD71340}"/>
              </a:ext>
            </a:extLst>
          </p:cNvPr>
          <p:cNvSpPr>
            <a:spLocks noGrp="1"/>
          </p:cNvSpPr>
          <p:nvPr>
            <p:ph type="sldNum" idx="97"/>
          </p:nvPr>
        </p:nvSpPr>
        <p:spPr/>
        <p:txBody>
          <a:bodyPr/>
          <a:lstStyle/>
          <a:p>
            <a:fld id="{86A8BF56-6CB3-514C-9A64-F39D95C9E25B}" type="slidenum">
              <a:rPr lang="en-US" smtClean="0"/>
              <a:t>28</a:t>
            </a:fld>
            <a:endParaRPr lang="en-US"/>
          </a:p>
        </p:txBody>
      </p:sp>
      <p:sp>
        <p:nvSpPr>
          <p:cNvPr id="3" name="Title 2">
            <a:extLst>
              <a:ext uri="{FF2B5EF4-FFF2-40B4-BE49-F238E27FC236}">
                <a16:creationId xmlns:a16="http://schemas.microsoft.com/office/drawing/2014/main" id="{4D3197D8-8F03-D4D6-C888-16AFED00E32B}"/>
              </a:ext>
            </a:extLst>
          </p:cNvPr>
          <p:cNvSpPr>
            <a:spLocks noGrp="1"/>
          </p:cNvSpPr>
          <p:nvPr>
            <p:ph type="title" idx="1"/>
          </p:nvPr>
        </p:nvSpPr>
        <p:spPr/>
        <p:txBody>
          <a:bodyPr/>
          <a:lstStyle/>
          <a:p>
            <a:r>
              <a:rPr lang="en-US" dirty="0"/>
              <a:t>Review: Evaluating LLMs</a:t>
            </a:r>
          </a:p>
        </p:txBody>
      </p:sp>
      <p:sp>
        <p:nvSpPr>
          <p:cNvPr id="5" name="Rounded Rectangle 4">
            <a:extLst>
              <a:ext uri="{FF2B5EF4-FFF2-40B4-BE49-F238E27FC236}">
                <a16:creationId xmlns:a16="http://schemas.microsoft.com/office/drawing/2014/main" id="{5D608090-3486-0754-CCCB-0261D93C68B3}"/>
              </a:ext>
              <a:ext uri="{C183D7F6-B498-43B3-948B-1728B52AA6E4}">
                <adec:decorative xmlns:adec="http://schemas.microsoft.com/office/drawing/2017/decorative" val="1"/>
              </a:ext>
            </a:extLst>
          </p:cNvPr>
          <p:cNvSpPr/>
          <p:nvPr/>
        </p:nvSpPr>
        <p:spPr>
          <a:xfrm>
            <a:off x="648227" y="2443828"/>
            <a:ext cx="11265877" cy="664476"/>
          </a:xfrm>
          <a:prstGeom prst="roundRect">
            <a:avLst/>
          </a:prstGeom>
          <a:gradFill flip="none" rotWithShape="1">
            <a:gsLst>
              <a:gs pos="51000">
                <a:schemeClr val="accent5">
                  <a:lumMod val="40000"/>
                  <a:lumOff val="60000"/>
                </a:schemeClr>
              </a:gs>
              <a:gs pos="0">
                <a:schemeClr val="accent3"/>
              </a:gs>
              <a:gs pos="100000">
                <a:schemeClr val="accent5">
                  <a:lumMod val="75000"/>
                </a:schemeClr>
              </a:gs>
            </a:gsLst>
            <a:path path="circle">
              <a:fillToRect l="100000" t="100000"/>
            </a:path>
            <a:tileRect r="-100000" b="-100000"/>
          </a:gra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6" name="TextBox 5">
            <a:extLst>
              <a:ext uri="{FF2B5EF4-FFF2-40B4-BE49-F238E27FC236}">
                <a16:creationId xmlns:a16="http://schemas.microsoft.com/office/drawing/2014/main" id="{3064242A-FFA4-0243-C386-8051238DF496}"/>
              </a:ext>
            </a:extLst>
          </p:cNvPr>
          <p:cNvSpPr txBox="1"/>
          <p:nvPr/>
        </p:nvSpPr>
        <p:spPr>
          <a:xfrm>
            <a:off x="1504012" y="1837072"/>
            <a:ext cx="196720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DF2A5D"/>
                </a:solidFill>
                <a:effectLst/>
                <a:uLnTx/>
                <a:uFillTx/>
                <a:latin typeface="Amazon Ember Medium"/>
                <a:ea typeface="+mn-ea"/>
                <a:cs typeface="+mn-cs"/>
              </a:rPr>
              <a:t>Objective</a:t>
            </a:r>
          </a:p>
        </p:txBody>
      </p:sp>
      <p:sp>
        <p:nvSpPr>
          <p:cNvPr id="7" name="TextBox 6">
            <a:extLst>
              <a:ext uri="{FF2B5EF4-FFF2-40B4-BE49-F238E27FC236}">
                <a16:creationId xmlns:a16="http://schemas.microsoft.com/office/drawing/2014/main" id="{D2D0CF63-B5FA-BFFA-F150-17E1D1F167DB}"/>
              </a:ext>
            </a:extLst>
          </p:cNvPr>
          <p:cNvSpPr txBox="1"/>
          <p:nvPr/>
        </p:nvSpPr>
        <p:spPr>
          <a:xfrm>
            <a:off x="8795196" y="1815091"/>
            <a:ext cx="21307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DF2A5D"/>
                </a:solidFill>
                <a:effectLst/>
                <a:uLnTx/>
                <a:uFillTx/>
                <a:latin typeface="Amazon Ember Medium"/>
                <a:ea typeface="+mn-ea"/>
                <a:cs typeface="+mn-cs"/>
              </a:rPr>
              <a:t>Subjective</a:t>
            </a:r>
          </a:p>
        </p:txBody>
      </p:sp>
      <p:sp>
        <p:nvSpPr>
          <p:cNvPr id="8" name="Right Arrow 7">
            <a:extLst>
              <a:ext uri="{FF2B5EF4-FFF2-40B4-BE49-F238E27FC236}">
                <a16:creationId xmlns:a16="http://schemas.microsoft.com/office/drawing/2014/main" id="{C5404B04-47E0-0545-380C-3DCC29D7E183}"/>
              </a:ext>
              <a:ext uri="{C183D7F6-B498-43B3-948B-1728B52AA6E4}">
                <adec:decorative xmlns:adec="http://schemas.microsoft.com/office/drawing/2017/decorative" val="1"/>
              </a:ext>
            </a:extLst>
          </p:cNvPr>
          <p:cNvSpPr/>
          <p:nvPr/>
        </p:nvSpPr>
        <p:spPr>
          <a:xfrm>
            <a:off x="10925907" y="1906648"/>
            <a:ext cx="855785" cy="449257"/>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9" name="Right Arrow 8">
            <a:extLst>
              <a:ext uri="{FF2B5EF4-FFF2-40B4-BE49-F238E27FC236}">
                <a16:creationId xmlns:a16="http://schemas.microsoft.com/office/drawing/2014/main" id="{903E9EFF-9A34-C5F3-A038-5B0CC57FA85E}"/>
              </a:ext>
              <a:ext uri="{C183D7F6-B498-43B3-948B-1728B52AA6E4}">
                <adec:decorative xmlns:adec="http://schemas.microsoft.com/office/drawing/2017/decorative" val="1"/>
              </a:ext>
            </a:extLst>
          </p:cNvPr>
          <p:cNvSpPr/>
          <p:nvPr/>
        </p:nvSpPr>
        <p:spPr>
          <a:xfrm rot="10800000">
            <a:off x="648227" y="1882848"/>
            <a:ext cx="855785" cy="449257"/>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cxnSp>
        <p:nvCxnSpPr>
          <p:cNvPr id="10" name="Straight Arrow Connector 9">
            <a:extLst>
              <a:ext uri="{FF2B5EF4-FFF2-40B4-BE49-F238E27FC236}">
                <a16:creationId xmlns:a16="http://schemas.microsoft.com/office/drawing/2014/main" id="{B5CE482A-105D-3FA7-2378-5ADEA4B23699}"/>
              </a:ext>
              <a:ext uri="{C183D7F6-B498-43B3-948B-1728B52AA6E4}">
                <adec:decorative xmlns:adec="http://schemas.microsoft.com/office/drawing/2017/decorative" val="1"/>
              </a:ext>
            </a:extLst>
          </p:cNvPr>
          <p:cNvCxnSpPr>
            <a:cxnSpLocks/>
          </p:cNvCxnSpPr>
          <p:nvPr/>
        </p:nvCxnSpPr>
        <p:spPr>
          <a:xfrm>
            <a:off x="1076119" y="3108304"/>
            <a:ext cx="0" cy="2307324"/>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13B03D3-D038-AC6F-59C4-F9B6186E8ED8}"/>
              </a:ext>
            </a:extLst>
          </p:cNvPr>
          <p:cNvSpPr txBox="1"/>
          <p:nvPr/>
        </p:nvSpPr>
        <p:spPr>
          <a:xfrm>
            <a:off x="11943" y="5367818"/>
            <a:ext cx="3028393"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Accuracy, precision, </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BLEU, Perplexity</a:t>
            </a:r>
          </a:p>
        </p:txBody>
      </p:sp>
      <p:cxnSp>
        <p:nvCxnSpPr>
          <p:cNvPr id="12" name="Straight Arrow Connector 11">
            <a:extLst>
              <a:ext uri="{FF2B5EF4-FFF2-40B4-BE49-F238E27FC236}">
                <a16:creationId xmlns:a16="http://schemas.microsoft.com/office/drawing/2014/main" id="{AB9CF53A-C92F-A174-D7BE-E73FA9D4F984}"/>
              </a:ext>
              <a:ext uri="{C183D7F6-B498-43B3-948B-1728B52AA6E4}">
                <adec:decorative xmlns:adec="http://schemas.microsoft.com/office/drawing/2017/decorative" val="1"/>
              </a:ext>
            </a:extLst>
          </p:cNvPr>
          <p:cNvCxnSpPr>
            <a:cxnSpLocks/>
          </p:cNvCxnSpPr>
          <p:nvPr/>
        </p:nvCxnSpPr>
        <p:spPr>
          <a:xfrm>
            <a:off x="11461579" y="3108304"/>
            <a:ext cx="0" cy="1768063"/>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78189E4-B8D6-4142-4E81-71E4B746F0AF}"/>
              </a:ext>
            </a:extLst>
          </p:cNvPr>
          <p:cNvSpPr txBox="1"/>
          <p:nvPr/>
        </p:nvSpPr>
        <p:spPr>
          <a:xfrm>
            <a:off x="9860230" y="4888856"/>
            <a:ext cx="2414444"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Manual Human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Evaluation</a:t>
            </a:r>
          </a:p>
        </p:txBody>
      </p:sp>
      <p:cxnSp>
        <p:nvCxnSpPr>
          <p:cNvPr id="14" name="Straight Arrow Connector 13">
            <a:extLst>
              <a:ext uri="{FF2B5EF4-FFF2-40B4-BE49-F238E27FC236}">
                <a16:creationId xmlns:a16="http://schemas.microsoft.com/office/drawing/2014/main" id="{06254F55-405E-302D-CF3A-00B1CA49E937}"/>
              </a:ext>
              <a:ext uri="{C183D7F6-B498-43B3-948B-1728B52AA6E4}">
                <adec:decorative xmlns:adec="http://schemas.microsoft.com/office/drawing/2017/decorative" val="1"/>
              </a:ext>
            </a:extLst>
          </p:cNvPr>
          <p:cNvCxnSpPr>
            <a:cxnSpLocks/>
          </p:cNvCxnSpPr>
          <p:nvPr/>
        </p:nvCxnSpPr>
        <p:spPr>
          <a:xfrm>
            <a:off x="3877935" y="3108304"/>
            <a:ext cx="0" cy="990537"/>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83BB23B-5FFF-6F2D-2F52-56669476C233}"/>
              </a:ext>
              <a:ext uri="{C183D7F6-B498-43B3-948B-1728B52AA6E4}">
                <adec:decorative xmlns:adec="http://schemas.microsoft.com/office/drawing/2017/decorative" val="1"/>
              </a:ext>
            </a:extLst>
          </p:cNvPr>
          <p:cNvCxnSpPr>
            <a:cxnSpLocks/>
            <a:stCxn id="5" idx="2"/>
          </p:cNvCxnSpPr>
          <p:nvPr/>
        </p:nvCxnSpPr>
        <p:spPr>
          <a:xfrm flipH="1">
            <a:off x="6281165" y="3108304"/>
            <a:ext cx="1" cy="2307324"/>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213DA59-D464-DA88-F805-7D75162C7B28}"/>
              </a:ext>
              <a:ext uri="{C183D7F6-B498-43B3-948B-1728B52AA6E4}">
                <adec:decorative xmlns:adec="http://schemas.microsoft.com/office/drawing/2017/decorative" val="1"/>
              </a:ext>
            </a:extLst>
          </p:cNvPr>
          <p:cNvCxnSpPr>
            <a:cxnSpLocks/>
          </p:cNvCxnSpPr>
          <p:nvPr/>
        </p:nvCxnSpPr>
        <p:spPr>
          <a:xfrm>
            <a:off x="8781069" y="3108304"/>
            <a:ext cx="0" cy="990537"/>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5E09C61-FE74-D9ED-B363-30D1F020C6A9}"/>
              </a:ext>
            </a:extLst>
          </p:cNvPr>
          <p:cNvSpPr txBox="1"/>
          <p:nvPr/>
        </p:nvSpPr>
        <p:spPr>
          <a:xfrm>
            <a:off x="7545795" y="4069697"/>
            <a:ext cx="2470548"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Feedback-based</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(A/B Testing)</a:t>
            </a:r>
          </a:p>
        </p:txBody>
      </p:sp>
      <p:sp>
        <p:nvSpPr>
          <p:cNvPr id="18" name="TextBox 17">
            <a:extLst>
              <a:ext uri="{FF2B5EF4-FFF2-40B4-BE49-F238E27FC236}">
                <a16:creationId xmlns:a16="http://schemas.microsoft.com/office/drawing/2014/main" id="{52A92043-CF6C-7460-9646-043431FF267E}"/>
              </a:ext>
            </a:extLst>
          </p:cNvPr>
          <p:cNvSpPr txBox="1"/>
          <p:nvPr/>
        </p:nvSpPr>
        <p:spPr>
          <a:xfrm>
            <a:off x="5110816" y="5383207"/>
            <a:ext cx="2340705"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LLM Evaluators</a:t>
            </a:r>
          </a:p>
        </p:txBody>
      </p:sp>
      <p:sp>
        <p:nvSpPr>
          <p:cNvPr id="19" name="TextBox 18">
            <a:extLst>
              <a:ext uri="{FF2B5EF4-FFF2-40B4-BE49-F238E27FC236}">
                <a16:creationId xmlns:a16="http://schemas.microsoft.com/office/drawing/2014/main" id="{6755B360-573A-6742-A36D-A5E6E26B99E1}"/>
              </a:ext>
            </a:extLst>
          </p:cNvPr>
          <p:cNvSpPr txBox="1"/>
          <p:nvPr/>
        </p:nvSpPr>
        <p:spPr>
          <a:xfrm>
            <a:off x="2666706" y="3974332"/>
            <a:ext cx="2422458" cy="120032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Evaluation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Datasets</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(Benchmarking)</a:t>
            </a:r>
          </a:p>
        </p:txBody>
      </p:sp>
    </p:spTree>
    <p:extLst>
      <p:ext uri="{BB962C8B-B14F-4D97-AF65-F5344CB8AC3E}">
        <p14:creationId xmlns:p14="http://schemas.microsoft.com/office/powerpoint/2010/main" val="39327198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2027</TotalTime>
  <Words>7240</Words>
  <Application>Microsoft Macintosh PowerPoint</Application>
  <PresentationFormat>Widescreen</PresentationFormat>
  <Paragraphs>932</Paragraphs>
  <Slides>28</Slides>
  <Notes>28</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Amazon Ember</vt:lpstr>
      <vt:lpstr>Amazon Ember Display</vt:lpstr>
      <vt:lpstr>Amazon Ember Display Heavy</vt:lpstr>
      <vt:lpstr>Amazon Ember Heavy</vt:lpstr>
      <vt:lpstr>Amazon Ember Light</vt:lpstr>
      <vt:lpstr>Amazon Ember Medium</vt:lpstr>
      <vt:lpstr>Arial</vt:lpstr>
      <vt:lpstr>Calibri</vt:lpstr>
      <vt:lpstr>Helvetica Neue</vt:lpstr>
      <vt:lpstr>Lucida Console</vt:lpstr>
      <vt:lpstr>EEP-GitHub</vt:lpstr>
      <vt:lpstr>Foundations of Responsible AI</vt:lpstr>
      <vt:lpstr>Today’s activities</vt:lpstr>
      <vt:lpstr>Review: Why is it important to evaluate LLMs?</vt:lpstr>
      <vt:lpstr>Review: Evaluating LLMs</vt:lpstr>
      <vt:lpstr>Introduction to responsible AI</vt:lpstr>
      <vt:lpstr>What is responsible AI?</vt:lpstr>
      <vt:lpstr>Organizational culture of responsible AI</vt:lpstr>
      <vt:lpstr>Why so much focus on responsible AI?</vt:lpstr>
      <vt:lpstr>Regulatory landscape under development</vt:lpstr>
      <vt:lpstr>Responsible AI dimensions</vt:lpstr>
      <vt:lpstr>Who should think about RAI?</vt:lpstr>
      <vt:lpstr>Everyone must consider RAI!</vt:lpstr>
      <vt:lpstr>Define business problem and assess risk</vt:lpstr>
      <vt:lpstr>Train, test and evaluate an AI/ML system</vt:lpstr>
      <vt:lpstr>Deploying and using an AI/ML system</vt:lpstr>
      <vt:lpstr>Assessing the risk of an AI application</vt:lpstr>
      <vt:lpstr>Risk assessment process</vt:lpstr>
      <vt:lpstr>Risk assessment process</vt:lpstr>
      <vt:lpstr>Risk assessment process</vt:lpstr>
      <vt:lpstr>Quantifying AI system risk</vt:lpstr>
      <vt:lpstr>Let’s summarize risk for one dimension</vt:lpstr>
      <vt:lpstr>Likelihood scale and criteria</vt:lpstr>
      <vt:lpstr>Severity scale example: Veracity</vt:lpstr>
      <vt:lpstr>Likelihood and severity</vt:lpstr>
      <vt:lpstr>Key takeaways</vt:lpstr>
      <vt:lpstr>Next lesson</vt:lpstr>
      <vt:lpstr>PowerPoint Presentation</vt:lpstr>
      <vt:lpstr>Review: Evaluating LLMs</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Bugbee, Erin</cp:lastModifiedBy>
  <cp:revision>78</cp:revision>
  <cp:lastPrinted>2025-06-17T21:02:38Z</cp:lastPrinted>
  <dcterms:created xsi:type="dcterms:W3CDTF">2022-11-16T15:46:36Z</dcterms:created>
  <dcterms:modified xsi:type="dcterms:W3CDTF">2025-09-29T21:03:22Z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2025-06-17T19:47:43Z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fe6945f1-ef97-4ff2-9bb4-1b88f0692c0f</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